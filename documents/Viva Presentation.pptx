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84" r:id="rId2"/>
    <p:sldId id="285" r:id="rId3"/>
    <p:sldId id="303" r:id="rId4"/>
    <p:sldId id="286" r:id="rId5"/>
    <p:sldId id="302" r:id="rId6"/>
    <p:sldId id="298" r:id="rId7"/>
    <p:sldId id="287" r:id="rId8"/>
    <p:sldId id="300" r:id="rId9"/>
    <p:sldId id="288" r:id="rId10"/>
    <p:sldId id="289" r:id="rId11"/>
    <p:sldId id="290" r:id="rId12"/>
    <p:sldId id="310" r:id="rId13"/>
    <p:sldId id="291" r:id="rId14"/>
    <p:sldId id="292" r:id="rId15"/>
    <p:sldId id="293" r:id="rId16"/>
    <p:sldId id="294" r:id="rId17"/>
    <p:sldId id="295" r:id="rId18"/>
    <p:sldId id="296" r:id="rId19"/>
    <p:sldId id="311" r:id="rId20"/>
    <p:sldId id="312" r:id="rId21"/>
    <p:sldId id="297" r:id="rId22"/>
    <p:sldId id="306" r:id="rId23"/>
    <p:sldId id="307" r:id="rId24"/>
    <p:sldId id="308" r:id="rId25"/>
    <p:sldId id="30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392" autoAdjust="0"/>
  </p:normalViewPr>
  <p:slideViewPr>
    <p:cSldViewPr snapToGrid="0">
      <p:cViewPr varScale="1">
        <p:scale>
          <a:sx n="84" d="100"/>
          <a:sy n="84" d="100"/>
        </p:scale>
        <p:origin x="16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ctr">
              <a:def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rPr>
              <a:t>Intent Classification Accuracy </a:t>
            </a:r>
          </a:p>
          <a:p>
            <a:pPr algn="ctr">
              <a:def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rPr>
              <a:t>(2,016-sample test set)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 (%)</c:v>
          </c:tx>
          <c:spPr>
            <a:noFill/>
          </c:spPr>
          <c:invertIfNegative val="1"/>
          <c:dPt>
            <c:idx val="0"/>
            <c:invertIfNegative val="1"/>
            <c:bubble3D val="0"/>
            <c:spPr>
              <a:solidFill>
                <a:srgbClr val="2C5F7C"/>
              </a:solidFill>
            </c:spPr>
            <c:extLst>
              <c:ext xmlns:c16="http://schemas.microsoft.com/office/drawing/2014/chart" uri="{C3380CC4-5D6E-409C-BE32-E72D297353CC}">
                <c16:uniqueId val="{00000001-8E2A-4C6B-B0CB-7A3DF06D7325}"/>
              </c:ext>
            </c:extLst>
          </c:dPt>
          <c:dPt>
            <c:idx val="1"/>
            <c:invertIfNegative val="1"/>
            <c:bubble3D val="0"/>
            <c:spPr>
              <a:solidFill>
                <a:srgbClr val="C4956A"/>
              </a:solidFill>
            </c:spPr>
            <c:extLst>
              <c:ext xmlns:c16="http://schemas.microsoft.com/office/drawing/2014/chart" uri="{C3380CC4-5D6E-409C-BE32-E72D297353CC}">
                <c16:uniqueId val="{00000003-8E2A-4C6B-B0CB-7A3DF06D7325}"/>
              </c:ext>
            </c:extLst>
          </c:dPt>
          <c:dPt>
            <c:idx val="2"/>
            <c:invertIfNegative val="1"/>
            <c:bubble3D val="0"/>
            <c:spPr>
              <a:solidFill>
                <a:srgbClr val="8B6F9C"/>
              </a:solidFill>
            </c:spPr>
            <c:extLst>
              <c:ext xmlns:c16="http://schemas.microsoft.com/office/drawing/2014/chart" uri="{C3380CC4-5D6E-409C-BE32-E72D297353CC}">
                <c16:uniqueId val="{00000005-8E2A-4C6B-B0CB-7A3DF06D7325}"/>
              </c:ext>
            </c:extLst>
          </c:dPt>
          <c:dPt>
            <c:idx val="3"/>
            <c:invertIfNegative val="1"/>
            <c:bubble3D val="0"/>
            <c:spPr>
              <a:solidFill>
                <a:srgbClr val="6B8F71"/>
              </a:solidFill>
            </c:spPr>
            <c:extLst>
              <c:ext xmlns:c16="http://schemas.microsoft.com/office/drawing/2014/chart" uri="{C3380CC4-5D6E-409C-BE32-E72D297353CC}">
                <c16:uniqueId val="{00000007-8E2A-4C6B-B0CB-7A3DF06D7325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4A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Model A
(Clean Input)</c:v>
              </c:pt>
              <c:pt idx="1">
                <c:v>Model A
(Vosk Input)</c:v>
              </c:pt>
              <c:pt idx="2">
                <c:v>Model B
(Vosk Input)</c:v>
              </c:pt>
              <c:pt idx="3">
                <c:v>Model C
(Vosk Input)</c:v>
              </c:pt>
            </c:strLit>
          </c:cat>
          <c:val>
            <c:numLit>
              <c:formatCode>General</c:formatCode>
              <c:ptCount val="4"/>
              <c:pt idx="0">
                <c:v>98.07</c:v>
              </c:pt>
              <c:pt idx="1">
                <c:v>89.34</c:v>
              </c:pt>
              <c:pt idx="2">
                <c:v>96.38</c:v>
              </c:pt>
              <c:pt idx="3">
                <c:v>99.06</c:v>
              </c:pt>
            </c:numLit>
          </c:val>
          <c:extLst>
            <c:ext xmlns:c16="http://schemas.microsoft.com/office/drawing/2014/chart" uri="{C3380CC4-5D6E-409C-BE32-E72D297353CC}">
              <c16:uniqueId val="{00000008-8E2A-4C6B-B0CB-7A3DF06D73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5"/>
          <c:min val="80"/>
        </c:scaling>
        <c:delete val="0"/>
        <c:axPos val="l"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449912-72E7-44B2-8958-223EDC198C7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1C570-53BE-46F6-9D3E-69DD73653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2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1C570-53BE-46F6-9D3E-69DD73653F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39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57E47-2505-A2AA-C4EA-080DD851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F3C4A-1D18-C052-078D-5590D0225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D0C3AE-0ECF-F3C1-4B65-4C896977D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67169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CE6F-2980-2D81-B7E0-2DA81F2C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4C0A6-7181-11AC-376B-BD13B9AE6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C8F503-AE1E-C203-66D2-233A7F288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34883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830F8-EC9B-D640-3818-F83479722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9280CE-9A24-69C0-AC3A-B08249375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22389-1130-42F9-7A7A-C6C3810BE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460855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D51C0-2BF5-D2E9-91A3-87EB6765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22645-6193-3D6F-FBDD-35DF222BE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E1EC7-EFF2-10BE-A1BB-2B784CBFE1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411067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A5284-702E-60C0-DD84-2BF0E5C5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DDB01-D2A7-5D78-3618-181549970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B854-CF64-527D-7FED-11CE89B44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16672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D89EC-87BF-885A-1040-86F525DE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21E8C9-9C27-3463-1AC6-0C9B7C8CE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1CBEB-4DA8-5EE8-E3B3-1F918AB52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71736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A8A5-7BB0-1860-77C3-EDB03DAA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E29EC-3292-7760-2784-2B8A7543C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79DDA-18E0-00D9-F35E-26102278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21059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B6CB-9431-6BE8-4BA2-8CA9A40A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BE8A-DD0B-57A7-DE12-798A01E95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06EF5-0DD9-E777-DA4D-DB5255210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7343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CCCD-36AC-86FD-40AB-BDD4AE15D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A5FDC-E9B7-5DC9-5DCA-F0D63E491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C6104-2BEC-DDB4-E9B3-EFC96B3D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53F3F-4660-4700-9F5B-A506E0C71572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7CE3-DE6C-9EC0-BB3B-1FF073CE5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EBD9-8CC6-B38B-ACF5-CC6E98A1B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40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4249D-BA72-9EB9-AE49-BD005CBDD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3FCD-2A8F-A54A-FE94-AC1E7E31A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238B0-D101-E095-A47B-1DB9B58CC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CDF4-DBAE-4F1B-9F2F-0437977C0D6A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BCE0B-8986-7A1E-5E22-8D828A11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8801B-1789-42FB-CA25-7FF6136D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67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5EB4-D773-D046-9C75-86014CD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F963C-3A03-684F-2EBC-4FDC31247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F09EA-DA0E-2D4E-67C8-035CECA76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DC765-BF7F-44EA-BB87-AE4B47EE0CFB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22C14-7BAF-239F-9B86-A989C727F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26B08-6C9F-376C-B724-0FAF4F88A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16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25BEA-5AAE-9009-F203-A1F5CD7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EB357-FDBC-8D80-1F83-595A26387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6655-2BB6-0B70-21C2-ABF2F68B9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FBC3A-D513-EAEA-C24A-353BA3EF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44CB-F700-4586-8D93-64F8C3A9A84D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9CCF3-D61C-814A-36ED-CAE857EB7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04A-312C-1A81-25B7-79EC896C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00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9AE52-BC42-E346-F0A9-EBE76BA74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D125B-553F-F78F-0B3C-9C45C8CE5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D280AD-ACCF-A949-18A3-260FFFD24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0D5B3-649B-D5EB-400F-DE9208CF51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E17AD-E455-1A19-5BC1-9C85F6DF7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2320EC-C138-01F6-011D-769F7DB76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B2F92-DE44-41D1-8237-53690E1FE645}" type="datetime1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B207A-747F-2A33-963F-341058515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CBF614-492B-DE7A-682F-1EEEE90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748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1C4C9-9A6C-9B44-2C38-0FCE71B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70A036-B35F-BEEE-541C-1A85E312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1B072-B9D0-42AE-97C8-CB2FA2B6C3D7}" type="datetime1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FCC73-B5C1-44E4-9B19-A834BE5E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1B10AC-E7D2-6255-089C-1D67DD65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45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566C9C-EEC6-4451-FF3C-F89330AB6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4EA85-D809-434B-81E9-BDCE20D58EE7}" type="datetime1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CF0E36-D9C1-56CD-8140-5E1066758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D1B4-54C6-C7B7-70E5-6B576106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903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26FF0-37BF-896D-E327-9842A701F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445E1-A853-4A91-FAC2-4C03B606C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EE65C-1E99-A5FC-92CE-9810E3AFF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EFF4D-7E66-7316-E3E9-CA729B830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4E8A-CED7-4200-8189-F6205532AB5A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10280-2020-C728-AD58-8490B5A47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E3B08-C646-36E6-3C1E-CE5AAAF1B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823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B8EAE-0149-7E60-6D9A-5C938EDDD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8A205F-7D9D-E5AA-8688-AC5508DD22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DA380-A23C-FB6E-F99C-1B211D0092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4D3D7-5B7D-F216-A6C2-30A6D8FF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E2F06-0CB0-4B78-969A-26083473BDFF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1A029B-275D-6ACC-4201-DD937AD1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E15DE-6494-8A97-7F2F-F7B727AA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48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2A73D-43D1-9B6C-B535-E12F5784D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7547C-F875-2A06-222E-643C6CE69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C331C-B8EB-5760-6178-9ED936DAD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28D9F-DB8F-481A-9398-4E577FB5AB55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A1655-DBE2-A7B0-7926-2438669B7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C7BB-D61F-51AF-CCBC-1ADE1492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34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480166-E883-8CC3-7892-D89A320B5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50B6A-2D6B-BA1B-0343-3AAF06EAD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49A21-4E95-A64C-708F-09DE5BC75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99F97-AF0B-49AF-B987-CCCFD847E1B3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43B32-E4C3-F6A9-4F68-476A7AFBE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6DC43-D722-00D2-C6CF-F140F557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2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1D8806-D441-66B9-36EF-AFD845D14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5C595-9D6C-5411-3EF7-D2026B538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0F47B-8967-8BA0-EC06-E21766EA6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C6C94B-3B24-40A5-A029-F594780BE176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F82AE-8B71-EC78-8311-D8276554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2C5BF-A3EB-819E-1697-9C5295400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 userDrawn="1"/>
        </p:nvSpPr>
        <p:spPr>
          <a:xfrm>
            <a:off x="0" y="6583050"/>
            <a:ext cx="12192000" cy="27432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airline"/>
          <p:cNvSpPr/>
          <p:nvPr userDrawn="1"/>
        </p:nvSpPr>
        <p:spPr>
          <a:xfrm>
            <a:off x="0" y="6548438"/>
            <a:ext cx="12192000" cy="34612"/>
          </a:xfrm>
          <a:prstGeom prst="rect">
            <a:avLst/>
          </a:prstGeom>
          <a:solidFill>
            <a:srgbClr val="C4956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38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2A4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A4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B2A4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A4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B2A4A"/>
          </a:solidFill>
        </a:defRPr>
      </a:defPPr>
      <a:lvl1pPr marL="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5D760-34C5-FE12-9CA6-45605C5A0A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810" y="616584"/>
            <a:ext cx="10309860" cy="30368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Low-Cost Offline Voice Assistant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for Hospitality Services in Sri Lanka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Using Small-Scale Neural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3929-044A-2235-0BD7-E5D458B5C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471" y="4975228"/>
            <a:ext cx="4724400" cy="1655762"/>
          </a:xfrm>
        </p:spPr>
        <p:txBody>
          <a:bodyPr>
            <a:noAutofit/>
          </a:bodyPr>
          <a:lstStyle/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Module: Data Science Project (Research)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Code: NIB7150CEM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Supervisor: Mr. </a:t>
            </a:r>
            <a:r>
              <a:rPr lang="en-US" sz="1800" dirty="0" err="1">
                <a:latin typeface="Amasis MT Pro Medium" panose="02040604050005020304" pitchFamily="18" charset="0"/>
              </a:rPr>
              <a:t>Dumira</a:t>
            </a:r>
            <a:r>
              <a:rPr lang="en-US" sz="1800" dirty="0">
                <a:latin typeface="Amasis MT Pro Medium" panose="02040604050005020304" pitchFamily="18" charset="0"/>
              </a:rPr>
              <a:t> Athukorala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5AB3537-EF06-2071-BB36-3B75E2B7B84D}"/>
              </a:ext>
            </a:extLst>
          </p:cNvPr>
          <p:cNvSpPr txBox="1">
            <a:spLocks/>
          </p:cNvSpPr>
          <p:nvPr/>
        </p:nvSpPr>
        <p:spPr>
          <a:xfrm>
            <a:off x="6755130" y="4975228"/>
            <a:ext cx="5033011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  <a:latin typeface="Amasis MT Pro Medium" panose="02040604050005020304" pitchFamily="18" charset="0"/>
              </a:defRPr>
            </a:lvl1pPr>
            <a:lvl2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>
                <a:solidFill>
                  <a:srgbClr val="1B2A4A"/>
                </a:solidFill>
              </a:defRPr>
            </a:lvl2pPr>
            <a:lvl3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</a:defRPr>
            </a:lvl3pPr>
            <a:lvl4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4pPr>
            <a:lvl5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5pPr>
            <a:lvl6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6pPr>
            <a:lvl7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7pPr>
            <a:lvl8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8pPr>
            <a:lvl9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9pPr>
          </a:lstStyle>
          <a:p>
            <a:r>
              <a:rPr lang="en-US" dirty="0"/>
              <a:t>Student Name: M. D. P. Wijesuriya</a:t>
            </a:r>
          </a:p>
          <a:p>
            <a:r>
              <a:rPr lang="en-US" dirty="0"/>
              <a:t>Student ID: COMScDS241P-002</a:t>
            </a:r>
          </a:p>
          <a:p>
            <a:r>
              <a:rPr lang="en-US" dirty="0"/>
              <a:t>Email: COMScDS241P-002@student.nibm.lk</a:t>
            </a:r>
          </a:p>
        </p:txBody>
      </p:sp>
    </p:spTree>
    <p:extLst>
      <p:ext uri="{BB962C8B-B14F-4D97-AF65-F5344CB8AC3E}">
        <p14:creationId xmlns:p14="http://schemas.microsoft.com/office/powerpoint/2010/main" val="355720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D939-3F98-F947-9129-9BD50A73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445" y="136525"/>
            <a:ext cx="10841355" cy="868363"/>
          </a:xfrm>
        </p:spPr>
        <p:txBody>
          <a:bodyPr/>
          <a:lstStyle/>
          <a:p>
            <a:r>
              <a:rPr lang="en-US" dirty="0"/>
              <a:t>Research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A3866-A58B-AAB4-E72F-4B18A3FBE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796" y="1325880"/>
            <a:ext cx="11860529" cy="53955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guests request room service today</a:t>
            </a:r>
          </a:p>
          <a:p>
            <a:pPr>
              <a:spcAft>
                <a:spcPts val="300"/>
              </a:spcAft>
            </a:pPr>
            <a:r>
              <a:rPr lang="en-US" sz="2400" dirty="0"/>
              <a:t>Rely on phone-based guest requests - </a:t>
            </a:r>
            <a:r>
              <a:rPr lang="en-US" sz="2100" dirty="0">
                <a:solidFill>
                  <a:schemeClr val="accent3">
                    <a:lumMod val="75000"/>
                  </a:schemeClr>
                </a:solidFill>
              </a:rPr>
              <a:t>Staff unavailable, language barriers, difficult to track or audit</a:t>
            </a:r>
          </a:p>
          <a:p>
            <a:r>
              <a:rPr lang="en-US" sz="2400" dirty="0"/>
              <a:t>Paper forms - </a:t>
            </a:r>
            <a:r>
              <a:rPr lang="en-US" sz="2100" dirty="0">
                <a:solidFill>
                  <a:schemeClr val="accent3">
                    <a:lumMod val="75000"/>
                  </a:schemeClr>
                </a:solidFill>
              </a:rPr>
              <a:t>Slow, unreliable, error-prone </a:t>
            </a:r>
          </a:p>
          <a:p>
            <a:pPr marL="0" indent="0">
              <a:buNone/>
            </a:pPr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Commercial voice assistants exist - but are not viable for hotels in developing economies  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Require cloud, proprietary hardware, subscriptions (Alexa)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Too costly for most hotels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Cloud-dependent systems add ongoing internet bandwidth costs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Internet is a managed expense, not a free utility, unreliable outside Sri Lankan cities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Privacy risks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Cloud devices/ services can expose guest data</a:t>
            </a:r>
          </a:p>
          <a:p>
            <a:pPr marL="0" indent="0">
              <a:spcAft>
                <a:spcPts val="300"/>
              </a:spcAft>
              <a:buNone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4E047-0582-1F67-DFA2-7C035A3D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53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4BCB5-D069-8F0B-BF9F-3FF933B71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3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7F1F24-D1BF-3A37-C8E5-8A577D496299}"/>
              </a:ext>
            </a:extLst>
          </p:cNvPr>
          <p:cNvSpPr txBox="1">
            <a:spLocks/>
          </p:cNvSpPr>
          <p:nvPr/>
        </p:nvSpPr>
        <p:spPr>
          <a:xfrm>
            <a:off x="571977" y="1348741"/>
            <a:ext cx="10841355" cy="539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This research builds an alternative:</a:t>
            </a:r>
          </a:p>
          <a:p>
            <a:pPr algn="l">
              <a:spcAft>
                <a:spcPts val="300"/>
              </a:spcAft>
            </a:pPr>
            <a:endParaRPr lang="en-US" sz="3200" dirty="0"/>
          </a:p>
          <a:p>
            <a:pPr>
              <a:spcAft>
                <a:spcPts val="300"/>
              </a:spcAft>
            </a:pPr>
            <a:r>
              <a:rPr lang="en-US" sz="3200" i="1" dirty="0"/>
              <a:t>A fully offline voice assistant </a:t>
            </a:r>
          </a:p>
          <a:p>
            <a:pPr>
              <a:spcAft>
                <a:spcPts val="300"/>
              </a:spcAft>
            </a:pPr>
            <a:r>
              <a:rPr lang="en-US" sz="3200" i="1" dirty="0"/>
              <a:t>that runs entirely on a budget Android tablet </a:t>
            </a:r>
          </a:p>
          <a:p>
            <a:pPr>
              <a:spcAft>
                <a:spcPts val="300"/>
              </a:spcAft>
            </a:pPr>
            <a:r>
              <a:rPr lang="en-US" sz="3200" i="1" dirty="0"/>
              <a:t>no cloud, no internet, no recurring fees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20CDCCF-DE57-3852-F5CA-81B74B7E6516}"/>
              </a:ext>
            </a:extLst>
          </p:cNvPr>
          <p:cNvSpPr txBox="1">
            <a:spLocks/>
          </p:cNvSpPr>
          <p:nvPr/>
        </p:nvSpPr>
        <p:spPr>
          <a:xfrm>
            <a:off x="571976" y="113664"/>
            <a:ext cx="10841355" cy="8683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highlight>
                  <a:srgbClr val="00FF00"/>
                </a:highlight>
              </a:rPr>
              <a:t>R</a:t>
            </a:r>
            <a:r>
              <a:rPr lang="en-US" sz="4400" dirty="0"/>
              <a:t>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3601011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2C12-AF91-2A53-F593-FDAFA1F0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190" y="148590"/>
            <a:ext cx="10515600" cy="879158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R</a:t>
            </a:r>
            <a:r>
              <a:rPr lang="en-US" dirty="0"/>
              <a:t>esearch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A54E8-1996-11C1-CAB2-CC48895C3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490" y="1394460"/>
            <a:ext cx="10934700" cy="5068253"/>
          </a:xfrm>
        </p:spPr>
        <p:txBody>
          <a:bodyPr>
            <a:normAutofit/>
          </a:bodyPr>
          <a:lstStyle/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Design and develop a low-cost, offline voice assistant prototype for hospitality services on commodity Android hardware; no cloud or internet dependency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Build a hospitality-domain intent dataset covering most common service request categories and train a noise-aware </a:t>
            </a:r>
            <a:r>
              <a:rPr lang="en-US" sz="2400" dirty="0" err="1"/>
              <a:t>MobileBERT</a:t>
            </a:r>
            <a:r>
              <a:rPr lang="en-US" sz="2400" dirty="0"/>
              <a:t> intent classifier using </a:t>
            </a:r>
            <a:r>
              <a:rPr lang="en-US" sz="2400" dirty="0" err="1"/>
              <a:t>Vosk</a:t>
            </a:r>
            <a:r>
              <a:rPr lang="en-US" sz="2400" dirty="0"/>
              <a:t>-transcribed training data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Build a lightweight </a:t>
            </a:r>
            <a:r>
              <a:rPr lang="en-US" sz="2400" dirty="0" err="1"/>
              <a:t>FastAPI</a:t>
            </a:r>
            <a:r>
              <a:rPr lang="en-US" sz="2400" dirty="0"/>
              <a:t> + SQLite backend with automated department routing and real-time staff communication via WebSocket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Evaluate intent classification accuracy, Speech-to-Text (STT) word error rate, end-to-end latency, and cost-effectiveness for viability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B176-D280-CCCC-EA6E-5399430CD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9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2B5D4-D798-D31A-269F-35600C6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42DB4-AF84-3787-72AF-1E4E2F26B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190" y="148590"/>
            <a:ext cx="10515600" cy="879158"/>
          </a:xfrm>
        </p:spPr>
        <p:txBody>
          <a:bodyPr/>
          <a:lstStyle/>
          <a:p>
            <a:r>
              <a:rPr lang="en-US" dirty="0"/>
              <a:t>Context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F402E-8676-8ED5-216B-7278F2A31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" y="1157922"/>
            <a:ext cx="10934700" cy="5068253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spcAft>
                <a:spcPts val="400"/>
              </a:spcAft>
              <a:buNone/>
            </a:pPr>
            <a:r>
              <a:rPr lang="en-US" sz="5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Why This Research Matters?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b="1" dirty="0"/>
              <a:t>Technology is ready - but not combined:</a:t>
            </a:r>
            <a:endParaRPr lang="en-US" dirty="0"/>
          </a:p>
          <a:p>
            <a:r>
              <a:rPr lang="en-US" dirty="0" err="1"/>
              <a:t>Vosk</a:t>
            </a:r>
            <a:r>
              <a:rPr lang="en-US" dirty="0"/>
              <a:t>: lightweight offline STT, proven on edge hardware</a:t>
            </a:r>
          </a:p>
          <a:p>
            <a:r>
              <a:rPr lang="en-US" dirty="0" err="1"/>
              <a:t>MobileBERT</a:t>
            </a:r>
            <a:r>
              <a:rPr lang="en-US" dirty="0"/>
              <a:t>: on-device NLU, 4.3× smaller than BERT</a:t>
            </a:r>
          </a:p>
          <a:p>
            <a:r>
              <a:rPr lang="en-US" dirty="0"/>
              <a:t>Hotel NLU datasets and offline hospitality pipelines: </a:t>
            </a:r>
            <a:r>
              <a:rPr lang="en-US" b="1" dirty="0"/>
              <a:t>do not exist in published literature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The gap nobody has addressed:</a:t>
            </a:r>
            <a:endParaRPr lang="en-US" dirty="0"/>
          </a:p>
          <a:p>
            <a:r>
              <a:rPr lang="en-US" dirty="0"/>
              <a:t>STT noise degrades NLU accuracy - but this has never been measured for offline hospitality systems</a:t>
            </a:r>
          </a:p>
          <a:p>
            <a:r>
              <a:rPr lang="en-US" dirty="0"/>
              <a:t>No published system combines offline STT + on-device NLU + real-time hotel management backend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Significance:</a:t>
            </a:r>
            <a:endParaRPr lang="en-US" dirty="0"/>
          </a:p>
          <a:p>
            <a:r>
              <a:rPr lang="en-US" dirty="0"/>
              <a:t>Directly applicable to hotels in developing economies</a:t>
            </a:r>
          </a:p>
          <a:p>
            <a:r>
              <a:rPr lang="en-US" dirty="0"/>
              <a:t>Privacy-by-design: structural guarantee, not a policy promise</a:t>
            </a:r>
          </a:p>
          <a:p>
            <a:r>
              <a:rPr lang="en-US" sz="2900" dirty="0"/>
              <a:t>Novel hospitality intent dataset with paired STT noise transcriptions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4AF5F-3920-376A-B098-9BD739CEE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943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71450"/>
            <a:ext cx="10515600" cy="822008"/>
          </a:xfrm>
        </p:spPr>
        <p:txBody>
          <a:bodyPr/>
          <a:lstStyle/>
          <a:p>
            <a:r>
              <a:rPr dirty="0">
                <a:highlight>
                  <a:srgbClr val="00FF00"/>
                </a:highlight>
              </a:rPr>
              <a:t>R</a:t>
            </a:r>
            <a:r>
              <a:rPr dirty="0"/>
              <a:t>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2510" y="2161222"/>
            <a:ext cx="10515600" cy="176339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i="1" dirty="0"/>
              <a:t>Can a low-cost, fully offline voice assistant system, built on a standard commodity device, achieve sufficient technical accuracy and performance to be a viable alternative to traditional room service communication in Sri Lankan hotels</a:t>
            </a:r>
            <a:r>
              <a:rPr i="1" dirty="0"/>
              <a:t>?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A8365-BE8F-9260-66E4-C2A1808B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39D2-CDCC-D0F5-40F8-1D925DF00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673418"/>
          </a:xfrm>
        </p:spPr>
        <p:txBody>
          <a:bodyPr>
            <a:normAutofit fontScale="90000"/>
          </a:bodyPr>
          <a:lstStyle/>
          <a:p>
            <a:r>
              <a:rPr lang="en-US" dirty="0">
                <a:highlight>
                  <a:srgbClr val="00FF00"/>
                </a:highlight>
              </a:rPr>
              <a:t>L</a:t>
            </a:r>
            <a:r>
              <a:rPr lang="en-US" dirty="0"/>
              <a:t>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5ECF9-03A4-4E76-B7BF-2AA7767BF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030" y="1253331"/>
            <a:ext cx="109004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Commercial Voice Assistants in Hotels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Alexa for Hospitality (Marriott, Hilton) reduces front desk workload (</a:t>
            </a:r>
            <a:r>
              <a:rPr lang="en-US" sz="2000" dirty="0" err="1"/>
              <a:t>Buhalis</a:t>
            </a:r>
            <a:r>
              <a:rPr lang="en-US" sz="2000" dirty="0"/>
              <a:t> &amp; </a:t>
            </a:r>
            <a:r>
              <a:rPr lang="en-US" sz="2000" dirty="0" err="1"/>
              <a:t>Moldavska</a:t>
            </a:r>
            <a:r>
              <a:rPr lang="en-US" sz="2000" dirty="0"/>
              <a:t>, 2022; Hwang &amp; Erdem, 2025)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67% of guests uncomfortable with cloud-connected microphones (</a:t>
            </a:r>
            <a:r>
              <a:rPr lang="en-US" sz="2000" dirty="0" err="1"/>
              <a:t>Buhalis</a:t>
            </a:r>
            <a:r>
              <a:rPr lang="en-US" sz="2000" dirty="0"/>
              <a:t> &amp; </a:t>
            </a:r>
            <a:r>
              <a:rPr lang="en-US" sz="2000" dirty="0" err="1"/>
              <a:t>Moldavska</a:t>
            </a:r>
            <a:r>
              <a:rPr lang="en-US" sz="2000" dirty="0"/>
              <a:t>, 2022)</a:t>
            </a:r>
          </a:p>
          <a:p>
            <a:pPr marL="0" indent="0">
              <a:buNone/>
            </a:pPr>
            <a:endParaRPr lang="en-US" sz="2000" b="1" dirty="0">
              <a:solidFill>
                <a:srgbClr val="2C5F7C"/>
              </a:solidFill>
            </a:endParaRPr>
          </a:p>
          <a:p>
            <a:pPr marL="0" indent="0">
              <a:buNone/>
            </a:pPr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Edge STT and Compact NLU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 err="1"/>
              <a:t>Vosk</a:t>
            </a:r>
            <a:r>
              <a:rPr lang="en-US" sz="2000" dirty="0"/>
              <a:t>: real-time offline STT, comparable latency to cloud for short commands (Korkmaz et al., 2025)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 err="1"/>
              <a:t>MobileBERT</a:t>
            </a:r>
            <a:r>
              <a:rPr lang="en-US" sz="2000" dirty="0"/>
              <a:t>: 4.3× compression, 62ms inference on mobile (Sun et al., 2020)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Edge computing preserves privacy — voice data never leaves the device (Shi et al., 2016)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F9EB2-3057-EBB6-9610-CFCDDB40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6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0F3C45-075F-0E7A-15AC-47DFE21FE4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337310"/>
            <a:ext cx="10911840" cy="4549140"/>
          </a:xfrm>
        </p:spPr>
        <p:txBody>
          <a:bodyPr>
            <a:normAutofit/>
          </a:bodyPr>
          <a:lstStyle/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STT Noise Impact on NLU (Core Research Gap) : </a:t>
            </a:r>
            <a:r>
              <a:rPr lang="en-US" dirty="0"/>
              <a:t>No quantification of how offline STT noise degrades NLU accuracy in a hospitality context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On-Device NLU for Hospitality in a Real STT Pipeline: </a:t>
            </a:r>
            <a:r>
              <a:rPr lang="en-US" dirty="0"/>
              <a:t>No evaluation of compact on-device NLU models on hospitality intents within a real offline STT pipeline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Integrated Offline Hospitality System : </a:t>
            </a:r>
            <a:r>
              <a:rPr lang="en-US" dirty="0"/>
              <a:t>No end-to-end system combining offline STT, on-device NLU, and real-time staff dashboard without cloud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Developing Economy Context : </a:t>
            </a:r>
            <a:r>
              <a:rPr lang="en-US" dirty="0"/>
              <a:t>No such system built for developing economy conditions like Sri Lanka; low cost, no subscriptions, local serviceability</a:t>
            </a:r>
          </a:p>
          <a:p>
            <a:pPr marL="457200" indent="-457200" algn="l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6E3574-DC44-3C20-5DDA-08AD21D3E99A}"/>
              </a:ext>
            </a:extLst>
          </p:cNvPr>
          <p:cNvSpPr txBox="1">
            <a:spLocks/>
          </p:cNvSpPr>
          <p:nvPr/>
        </p:nvSpPr>
        <p:spPr>
          <a:xfrm>
            <a:off x="838200" y="228600"/>
            <a:ext cx="6088380" cy="6734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highlight>
                  <a:srgbClr val="00FF00"/>
                </a:highlight>
              </a:rPr>
              <a:t>T</a:t>
            </a:r>
            <a:r>
              <a:rPr lang="en-US" sz="4400" dirty="0"/>
              <a:t>he Research Gap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BCDB07-0CCA-9E4C-052A-871EC652E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8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B406-99F3-65E5-BA5F-F465EFD31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90" y="148590"/>
            <a:ext cx="10515600" cy="787718"/>
          </a:xfrm>
        </p:spPr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3C3C2-BB64-0FB2-0DAA-A20CEA90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890" y="103695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Design Science Research (Hevner et al., 2004)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Build and evaluate an IT artefact that solves a real practical problem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Performance can only be measured with a working system on real hardware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Iterative Prototyping — 4 Build Cycles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On-device STT</a:t>
            </a:r>
            <a:r>
              <a:rPr lang="en-US" sz="2000" dirty="0"/>
              <a:t> — Vosk integration, model selection, memory testing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NLU pipeline</a:t>
            </a:r>
            <a:r>
              <a:rPr lang="en-US" sz="2000" dirty="0"/>
              <a:t> — Dataset creation, MobileBERT training, TFLite conversion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Backend + Dashboard</a:t>
            </a:r>
            <a:r>
              <a:rPr lang="en-US" sz="2000" dirty="0"/>
              <a:t> — FastAPI server, SQLite, WebSocket, staff UI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Integration + Evaluation</a:t>
            </a:r>
            <a:r>
              <a:rPr lang="en-US" sz="2000" dirty="0"/>
              <a:t> — End-to-end testing, 3-model NLU comparison, WER analysis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Evaluation Strategy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Controlled 3-model NLU comparison on shared 2,016-sample test set</a:t>
            </a:r>
          </a:p>
          <a:p>
            <a:pPr marL="228600" indent="-228600">
              <a:buFont typeface="Arial"/>
              <a:buChar char="•"/>
            </a:pPr>
            <a:r>
              <a:rPr lang="en-US" sz="2000" dirty="0"/>
              <a:t>WER analysis on 10,080 TTS-Vosk paired utterances; end-to-end latency profiling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BD5E5-FCAD-8A77-366B-C89367A67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8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056A-412B-7315-EBFD-81881ECD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170" y="136525"/>
            <a:ext cx="10515600" cy="867728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D</a:t>
            </a:r>
            <a:r>
              <a:rPr lang="en-US" dirty="0"/>
              <a:t>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705-C893-70B3-F41C-70B66CCE1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170" y="1391284"/>
            <a:ext cx="11403330" cy="487235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Elicitation: Literature + Guest Survey (n=20)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b="1" dirty="0"/>
              <a:t>75%</a:t>
            </a:r>
            <a:r>
              <a:rPr lang="en-US" sz="1800" dirty="0"/>
              <a:t> experienced delays or miscommunication with phone-based requests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b="1" dirty="0"/>
              <a:t>65%</a:t>
            </a:r>
            <a:r>
              <a:rPr lang="en-US" sz="1800" dirty="0"/>
              <a:t> would use a voice assistant if audio stays on-device (privacy assured)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b="1" dirty="0"/>
              <a:t>80%</a:t>
            </a:r>
            <a:r>
              <a:rPr lang="en-US" sz="1800" dirty="0"/>
              <a:t> preferred voice input with on-screen text confirmation before submission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dirty="0"/>
              <a:t>Top services: towels/bedding (90%), housekeeping (85%), food &amp; beverage (80%)</a:t>
            </a:r>
          </a:p>
          <a:p>
            <a:pPr marL="0" indent="0">
              <a:spcAft>
                <a:spcPts val="200"/>
              </a:spcAft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Key Requirements Derived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dirty="0"/>
              <a:t>Fully offline operation — no internet dependency for day-to-day use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dirty="0"/>
              <a:t>On-device voice processing — no audio leaves the guest’s tablet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800" dirty="0"/>
              <a:t>18 hotel service intent categories across 5 departments</a:t>
            </a:r>
          </a:p>
          <a:p>
            <a:pPr marL="228600" indent="-228600">
              <a:buFont typeface="Arial"/>
              <a:buChar char="•"/>
            </a:pPr>
            <a:r>
              <a:rPr lang="en-US" sz="1800" dirty="0"/>
              <a:t>End-to-end response &lt; 5 seconds; ≥90% intent classification accuracy on real speech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B20FE-DD49-6BB3-65A2-7683C663B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1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34E7-DEDA-3ACE-3336-05528CC5C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D</a:t>
            </a:r>
            <a:r>
              <a:rPr lang="en-US" dirty="0"/>
              <a:t>esign and Architecture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72DD50-33EE-9BAF-04F4-FEDFCDDB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94AB62-E955-A42F-21C6-7F8ADED16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21" b="23947"/>
          <a:stretch>
            <a:fillRect/>
          </a:stretch>
        </p:blipFill>
        <p:spPr>
          <a:xfrm>
            <a:off x="608582" y="2028825"/>
            <a:ext cx="10974835" cy="28003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FDAD13-8792-2ED1-1087-667FBB9E4C19}"/>
              </a:ext>
            </a:extLst>
          </p:cNvPr>
          <p:cNvSpPr txBox="1"/>
          <p:nvPr/>
        </p:nvSpPr>
        <p:spPr>
          <a:xfrm>
            <a:off x="762000" y="1048298"/>
            <a:ext cx="60979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High-Level System Conceptual View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16497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0FF5-305C-BA99-CC0C-BF454808E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0B19-62A1-2D3B-4983-B24F28B57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D</a:t>
            </a:r>
            <a:r>
              <a:rPr lang="en-US" dirty="0"/>
              <a:t>esign and Architecture </a:t>
            </a:r>
          </a:p>
        </p:txBody>
      </p:sp>
      <p:sp>
        <p:nvSpPr>
          <p:cNvPr id="50" name="NetworkLabel">
            <a:extLst>
              <a:ext uri="{FF2B5EF4-FFF2-40B4-BE49-F238E27FC236}">
                <a16:creationId xmlns:a16="http://schemas.microsoft.com/office/drawing/2014/main" id="{8980DF5F-91CB-732F-5D3A-8711530843F7}"/>
              </a:ext>
            </a:extLst>
          </p:cNvPr>
          <p:cNvSpPr/>
          <p:nvPr/>
        </p:nvSpPr>
        <p:spPr>
          <a:xfrm>
            <a:off x="379095" y="5949962"/>
            <a:ext cx="11433810" cy="39369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/>
              </a:rPr>
              <a:t>HOTEL LOCAL AREA NETWORK (No Internet Required)</a:t>
            </a:r>
          </a:p>
        </p:txBody>
      </p:sp>
      <p:sp>
        <p:nvSpPr>
          <p:cNvPr id="51" name="Tier1BG">
            <a:extLst>
              <a:ext uri="{FF2B5EF4-FFF2-40B4-BE49-F238E27FC236}">
                <a16:creationId xmlns:a16="http://schemas.microsoft.com/office/drawing/2014/main" id="{19271D1C-E88E-D126-8638-0821869FD337}"/>
              </a:ext>
            </a:extLst>
          </p:cNvPr>
          <p:cNvSpPr/>
          <p:nvPr/>
        </p:nvSpPr>
        <p:spPr>
          <a:xfrm>
            <a:off x="39624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2" name="Tier1Header">
            <a:extLst>
              <a:ext uri="{FF2B5EF4-FFF2-40B4-BE49-F238E27FC236}">
                <a16:creationId xmlns:a16="http://schemas.microsoft.com/office/drawing/2014/main" id="{85B46542-682A-929D-6A6C-392E96A75E0F}"/>
              </a:ext>
            </a:extLst>
          </p:cNvPr>
          <p:cNvSpPr/>
          <p:nvPr/>
        </p:nvSpPr>
        <p:spPr>
          <a:xfrm>
            <a:off x="762000" y="1610349"/>
            <a:ext cx="2541270" cy="355600"/>
          </a:xfrm>
          <a:prstGeom prst="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1: GUEST DEVICE</a:t>
            </a:r>
          </a:p>
        </p:txBody>
      </p:sp>
      <p:sp>
        <p:nvSpPr>
          <p:cNvPr id="53" name="Tier1Sub">
            <a:extLst>
              <a:ext uri="{FF2B5EF4-FFF2-40B4-BE49-F238E27FC236}">
                <a16:creationId xmlns:a16="http://schemas.microsoft.com/office/drawing/2014/main" id="{60778A32-9B79-770A-0FA8-692302F871C0}"/>
              </a:ext>
            </a:extLst>
          </p:cNvPr>
          <p:cNvSpPr/>
          <p:nvPr/>
        </p:nvSpPr>
        <p:spPr>
          <a:xfrm>
            <a:off x="472440" y="2089150"/>
            <a:ext cx="3175000" cy="228600"/>
          </a:xfrm>
          <a:prstGeom prst="rect">
            <a:avLst/>
          </a:prstGeom>
          <a:solidFill>
            <a:srgbClr val="F0EDE6"/>
          </a:solidFill>
          <a:ln w="12700">
            <a:solidFill>
              <a:srgbClr val="F0EDE6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Android Tablet (per room)</a:t>
            </a:r>
          </a:p>
        </p:txBody>
      </p:sp>
      <p:sp>
        <p:nvSpPr>
          <p:cNvPr id="54" name="VoskBox">
            <a:extLst>
              <a:ext uri="{FF2B5EF4-FFF2-40B4-BE49-F238E27FC236}">
                <a16:creationId xmlns:a16="http://schemas.microsoft.com/office/drawing/2014/main" id="{C6AB5C6A-6132-7EF7-7032-EC38894E2C97}"/>
              </a:ext>
            </a:extLst>
          </p:cNvPr>
          <p:cNvSpPr/>
          <p:nvPr/>
        </p:nvSpPr>
        <p:spPr>
          <a:xfrm>
            <a:off x="650240" y="2489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Vosk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STT</a:t>
            </a:r>
          </a:p>
        </p:txBody>
      </p:sp>
      <p:sp>
        <p:nvSpPr>
          <p:cNvPr id="55" name="NLUBox">
            <a:extLst>
              <a:ext uri="{FF2B5EF4-FFF2-40B4-BE49-F238E27FC236}">
                <a16:creationId xmlns:a16="http://schemas.microsoft.com/office/drawing/2014/main" id="{93B32AA3-E8B1-3FBE-3EF5-DE58E765D26A}"/>
              </a:ext>
            </a:extLst>
          </p:cNvPr>
          <p:cNvSpPr/>
          <p:nvPr/>
        </p:nvSpPr>
        <p:spPr>
          <a:xfrm>
            <a:off x="650240" y="3251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MobileBERT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NLU</a:t>
            </a:r>
          </a:p>
        </p:txBody>
      </p:sp>
      <p:sp>
        <p:nvSpPr>
          <p:cNvPr id="56" name="HybridBox">
            <a:extLst>
              <a:ext uri="{FF2B5EF4-FFF2-40B4-BE49-F238E27FC236}">
                <a16:creationId xmlns:a16="http://schemas.microsoft.com/office/drawing/2014/main" id="{F54E98AC-7EA8-35C4-BFD6-767E0E30AAD9}"/>
              </a:ext>
            </a:extLst>
          </p:cNvPr>
          <p:cNvSpPr/>
          <p:nvPr/>
        </p:nvSpPr>
        <p:spPr>
          <a:xfrm>
            <a:off x="650240" y="4013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Hybrid Pipeline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Keyword rules + Neural model</a:t>
            </a:r>
          </a:p>
        </p:txBody>
      </p:sp>
      <p:sp>
        <p:nvSpPr>
          <p:cNvPr id="57" name="TTSBox">
            <a:extLst>
              <a:ext uri="{FF2B5EF4-FFF2-40B4-BE49-F238E27FC236}">
                <a16:creationId xmlns:a16="http://schemas.microsoft.com/office/drawing/2014/main" id="{D3067FC4-CAA7-E7F9-15CC-A359B36051F4}"/>
              </a:ext>
            </a:extLst>
          </p:cNvPr>
          <p:cNvSpPr/>
          <p:nvPr/>
        </p:nvSpPr>
        <p:spPr>
          <a:xfrm>
            <a:off x="650240" y="4775200"/>
            <a:ext cx="2857500" cy="381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Android TTS (voice feedback)</a:t>
            </a:r>
          </a:p>
        </p:txBody>
      </p:sp>
      <p:sp>
        <p:nvSpPr>
          <p:cNvPr id="70" name="Arr1">
            <a:extLst>
              <a:ext uri="{FF2B5EF4-FFF2-40B4-BE49-F238E27FC236}">
                <a16:creationId xmlns:a16="http://schemas.microsoft.com/office/drawing/2014/main" id="{6C0FB1BC-945C-A9FC-8C1E-AEA5287BB3E6}"/>
              </a:ext>
            </a:extLst>
          </p:cNvPr>
          <p:cNvSpPr/>
          <p:nvPr/>
        </p:nvSpPr>
        <p:spPr>
          <a:xfrm>
            <a:off x="2085340" y="3124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Arr2">
            <a:extLst>
              <a:ext uri="{FF2B5EF4-FFF2-40B4-BE49-F238E27FC236}">
                <a16:creationId xmlns:a16="http://schemas.microsoft.com/office/drawing/2014/main" id="{BDA1930E-27EB-576F-095F-82E911C65AFF}"/>
              </a:ext>
            </a:extLst>
          </p:cNvPr>
          <p:cNvSpPr/>
          <p:nvPr/>
        </p:nvSpPr>
        <p:spPr>
          <a:xfrm>
            <a:off x="2085340" y="3886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2" name="Arr3">
            <a:extLst>
              <a:ext uri="{FF2B5EF4-FFF2-40B4-BE49-F238E27FC236}">
                <a16:creationId xmlns:a16="http://schemas.microsoft.com/office/drawing/2014/main" id="{928F0656-672D-9312-420C-C38281432B16}"/>
              </a:ext>
            </a:extLst>
          </p:cNvPr>
          <p:cNvSpPr/>
          <p:nvPr/>
        </p:nvSpPr>
        <p:spPr>
          <a:xfrm>
            <a:off x="2085340" y="4648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ier2BG">
            <a:extLst>
              <a:ext uri="{FF2B5EF4-FFF2-40B4-BE49-F238E27FC236}">
                <a16:creationId xmlns:a16="http://schemas.microsoft.com/office/drawing/2014/main" id="{B6C7101C-BFA9-EBB8-3B5A-785EF05292DD}"/>
              </a:ext>
            </a:extLst>
          </p:cNvPr>
          <p:cNvSpPr/>
          <p:nvPr/>
        </p:nvSpPr>
        <p:spPr>
          <a:xfrm>
            <a:off x="4491990" y="1701800"/>
            <a:ext cx="319151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9" name="Tier2Header">
            <a:extLst>
              <a:ext uri="{FF2B5EF4-FFF2-40B4-BE49-F238E27FC236}">
                <a16:creationId xmlns:a16="http://schemas.microsoft.com/office/drawing/2014/main" id="{A236FBAD-0C41-A808-525E-BC37257A8FCE}"/>
              </a:ext>
            </a:extLst>
          </p:cNvPr>
          <p:cNvSpPr/>
          <p:nvPr/>
        </p:nvSpPr>
        <p:spPr>
          <a:xfrm>
            <a:off x="4854575" y="1549401"/>
            <a:ext cx="2400300" cy="355600"/>
          </a:xfrm>
          <a:prstGeom prst="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2: HOTEL SERVER</a:t>
            </a:r>
          </a:p>
        </p:txBody>
      </p:sp>
      <p:sp>
        <p:nvSpPr>
          <p:cNvPr id="60" name="Tier2Sub">
            <a:extLst>
              <a:ext uri="{FF2B5EF4-FFF2-40B4-BE49-F238E27FC236}">
                <a16:creationId xmlns:a16="http://schemas.microsoft.com/office/drawing/2014/main" id="{92895403-56F2-8A14-97DD-5B80D22A2FB9}"/>
              </a:ext>
            </a:extLst>
          </p:cNvPr>
          <p:cNvSpPr/>
          <p:nvPr/>
        </p:nvSpPr>
        <p:spPr>
          <a:xfrm>
            <a:off x="4635500" y="2101836"/>
            <a:ext cx="2921000" cy="228601"/>
          </a:xfrm>
          <a:prstGeom prst="rect">
            <a:avLst/>
          </a:prstGeom>
          <a:solidFill>
            <a:srgbClr val="EEF2EE"/>
          </a:solidFill>
          <a:ln w="12700">
            <a:solidFill>
              <a:srgbClr val="EEF2EE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low-cost PC / Laptop</a:t>
            </a:r>
          </a:p>
        </p:txBody>
      </p:sp>
      <p:sp>
        <p:nvSpPr>
          <p:cNvPr id="61" name="FastAPIBox">
            <a:extLst>
              <a:ext uri="{FF2B5EF4-FFF2-40B4-BE49-F238E27FC236}">
                <a16:creationId xmlns:a16="http://schemas.microsoft.com/office/drawing/2014/main" id="{6C571F2B-EF0E-FFA4-D1C1-0C4754F00171}"/>
              </a:ext>
            </a:extLst>
          </p:cNvPr>
          <p:cNvSpPr/>
          <p:nvPr/>
        </p:nvSpPr>
        <p:spPr>
          <a:xfrm>
            <a:off x="4635500" y="2489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FastAPI Backend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REST API + WebSocket Hub</a:t>
            </a:r>
          </a:p>
        </p:txBody>
      </p:sp>
      <p:sp>
        <p:nvSpPr>
          <p:cNvPr id="62" name="SQLiteBox">
            <a:extLst>
              <a:ext uri="{FF2B5EF4-FFF2-40B4-BE49-F238E27FC236}">
                <a16:creationId xmlns:a16="http://schemas.microsoft.com/office/drawing/2014/main" id="{01F5C761-7ADD-8647-5162-A7B11197210C}"/>
              </a:ext>
            </a:extLst>
          </p:cNvPr>
          <p:cNvSpPr/>
          <p:nvPr/>
        </p:nvSpPr>
        <p:spPr>
          <a:xfrm>
            <a:off x="4635500" y="3251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SQLite Database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5 tables • Request persistence</a:t>
            </a:r>
          </a:p>
        </p:txBody>
      </p:sp>
      <p:sp>
        <p:nvSpPr>
          <p:cNvPr id="63" name="RoutingBox">
            <a:extLst>
              <a:ext uri="{FF2B5EF4-FFF2-40B4-BE49-F238E27FC236}">
                <a16:creationId xmlns:a16="http://schemas.microsoft.com/office/drawing/2014/main" id="{0EE9F73E-7DBE-E294-8161-0023BEF793BE}"/>
              </a:ext>
            </a:extLst>
          </p:cNvPr>
          <p:cNvSpPr/>
          <p:nvPr/>
        </p:nvSpPr>
        <p:spPr>
          <a:xfrm>
            <a:off x="4635500" y="4013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Routing Engine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DB-driven + keyword fallback</a:t>
            </a:r>
          </a:p>
        </p:txBody>
      </p:sp>
      <p:sp>
        <p:nvSpPr>
          <p:cNvPr id="64" name="WSBox">
            <a:extLst>
              <a:ext uri="{FF2B5EF4-FFF2-40B4-BE49-F238E27FC236}">
                <a16:creationId xmlns:a16="http://schemas.microsoft.com/office/drawing/2014/main" id="{824B6401-D5FB-070E-FBB1-633D1199713D}"/>
              </a:ext>
            </a:extLst>
          </p:cNvPr>
          <p:cNvSpPr/>
          <p:nvPr/>
        </p:nvSpPr>
        <p:spPr>
          <a:xfrm>
            <a:off x="4635500" y="4775200"/>
            <a:ext cx="2921000" cy="381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WebSocket Connection Manager</a:t>
            </a:r>
          </a:p>
        </p:txBody>
      </p:sp>
      <p:sp>
        <p:nvSpPr>
          <p:cNvPr id="65" name="Tier3BG">
            <a:extLst>
              <a:ext uri="{FF2B5EF4-FFF2-40B4-BE49-F238E27FC236}">
                <a16:creationId xmlns:a16="http://schemas.microsoft.com/office/drawing/2014/main" id="{ADF9E986-2688-FE5F-E33C-A3C80E301864}"/>
              </a:ext>
            </a:extLst>
          </p:cNvPr>
          <p:cNvSpPr/>
          <p:nvPr/>
        </p:nvSpPr>
        <p:spPr>
          <a:xfrm>
            <a:off x="852805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66" name="Tier3Header">
            <a:extLst>
              <a:ext uri="{FF2B5EF4-FFF2-40B4-BE49-F238E27FC236}">
                <a16:creationId xmlns:a16="http://schemas.microsoft.com/office/drawing/2014/main" id="{0746C1A1-9ADF-8FBB-AA34-0D180BAA63B0}"/>
              </a:ext>
            </a:extLst>
          </p:cNvPr>
          <p:cNvSpPr/>
          <p:nvPr/>
        </p:nvSpPr>
        <p:spPr>
          <a:xfrm>
            <a:off x="8994140" y="1562100"/>
            <a:ext cx="2369820" cy="3556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3: STAFF DASHBOARD</a:t>
            </a:r>
          </a:p>
        </p:txBody>
      </p:sp>
      <p:sp>
        <p:nvSpPr>
          <p:cNvPr id="67" name="Tier3Sub">
            <a:extLst>
              <a:ext uri="{FF2B5EF4-FFF2-40B4-BE49-F238E27FC236}">
                <a16:creationId xmlns:a16="http://schemas.microsoft.com/office/drawing/2014/main" id="{1547B0AB-E65F-8B12-EA14-EA8E28DDC6BF}"/>
              </a:ext>
            </a:extLst>
          </p:cNvPr>
          <p:cNvSpPr/>
          <p:nvPr/>
        </p:nvSpPr>
        <p:spPr>
          <a:xfrm>
            <a:off x="8607425" y="2089150"/>
            <a:ext cx="3175000" cy="228600"/>
          </a:xfrm>
          <a:prstGeom prst="rect">
            <a:avLst/>
          </a:prstGeom>
          <a:solidFill>
            <a:srgbClr val="F5EDE8"/>
          </a:solidFill>
          <a:ln w="12700">
            <a:solidFill>
              <a:srgbClr val="F5EDE8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Web Browser</a:t>
            </a:r>
          </a:p>
        </p:txBody>
      </p:sp>
      <p:sp>
        <p:nvSpPr>
          <p:cNvPr id="68" name="DashBoard">
            <a:extLst>
              <a:ext uri="{FF2B5EF4-FFF2-40B4-BE49-F238E27FC236}">
                <a16:creationId xmlns:a16="http://schemas.microsoft.com/office/drawing/2014/main" id="{5F1FEBB2-A77F-59B4-1D96-86EE0DF7FBC1}"/>
              </a:ext>
            </a:extLst>
          </p:cNvPr>
          <p:cNvSpPr/>
          <p:nvPr/>
        </p:nvSpPr>
        <p:spPr>
          <a:xfrm>
            <a:off x="8718550" y="2489200"/>
            <a:ext cx="2921000" cy="762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Department Queues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Filtered by: Housekeeping,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Room Service, F&amp;B, Maintenance</a:t>
            </a:r>
          </a:p>
        </p:txBody>
      </p:sp>
      <p:sp>
        <p:nvSpPr>
          <p:cNvPr id="69" name="StatusBox">
            <a:extLst>
              <a:ext uri="{FF2B5EF4-FFF2-40B4-BE49-F238E27FC236}">
                <a16:creationId xmlns:a16="http://schemas.microsoft.com/office/drawing/2014/main" id="{794E9718-9E56-5D8D-793B-19EA96581400}"/>
              </a:ext>
            </a:extLst>
          </p:cNvPr>
          <p:cNvSpPr/>
          <p:nvPr/>
        </p:nvSpPr>
        <p:spPr>
          <a:xfrm>
            <a:off x="8718550" y="3378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Status Management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Pending → In Progress → Completed</a:t>
            </a:r>
          </a:p>
        </p:txBody>
      </p:sp>
      <p:sp>
        <p:nvSpPr>
          <p:cNvPr id="73" name="MsgBox">
            <a:extLst>
              <a:ext uri="{FF2B5EF4-FFF2-40B4-BE49-F238E27FC236}">
                <a16:creationId xmlns:a16="http://schemas.microsoft.com/office/drawing/2014/main" id="{AF3E7BB7-D0DE-E8FE-B94B-821FD08FDFE7}"/>
              </a:ext>
            </a:extLst>
          </p:cNvPr>
          <p:cNvSpPr/>
          <p:nvPr/>
        </p:nvSpPr>
        <p:spPr>
          <a:xfrm>
            <a:off x="8718550" y="4140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Real-Time Messaging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Bidirectional staff ↔ guest</a:t>
            </a:r>
          </a:p>
        </p:txBody>
      </p:sp>
      <p:sp>
        <p:nvSpPr>
          <p:cNvPr id="74" name="RatingBox">
            <a:extLst>
              <a:ext uri="{FF2B5EF4-FFF2-40B4-BE49-F238E27FC236}">
                <a16:creationId xmlns:a16="http://schemas.microsoft.com/office/drawing/2014/main" id="{54FF36C9-4737-2B4D-F6B0-EF855F28DA4E}"/>
              </a:ext>
            </a:extLst>
          </p:cNvPr>
          <p:cNvSpPr/>
          <p:nvPr/>
        </p:nvSpPr>
        <p:spPr>
          <a:xfrm>
            <a:off x="8718550" y="4902200"/>
            <a:ext cx="2921000" cy="3556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Guest satisfaction rating</a:t>
            </a:r>
          </a:p>
        </p:txBody>
      </p:sp>
      <p:sp>
        <p:nvSpPr>
          <p:cNvPr id="82" name="HTTPLabel">
            <a:extLst>
              <a:ext uri="{FF2B5EF4-FFF2-40B4-BE49-F238E27FC236}">
                <a16:creationId xmlns:a16="http://schemas.microsoft.com/office/drawing/2014/main" id="{C0289E6A-00A3-6730-31C5-79EAE6FB2A90}"/>
              </a:ext>
            </a:extLst>
          </p:cNvPr>
          <p:cNvSpPr/>
          <p:nvPr/>
        </p:nvSpPr>
        <p:spPr>
          <a:xfrm>
            <a:off x="7848600" y="3784600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83" name="WSLabel">
            <a:extLst>
              <a:ext uri="{FF2B5EF4-FFF2-40B4-BE49-F238E27FC236}">
                <a16:creationId xmlns:a16="http://schemas.microsoft.com/office/drawing/2014/main" id="{1BAF4352-C890-F17E-7738-CFAB7C22838D}"/>
              </a:ext>
            </a:extLst>
          </p:cNvPr>
          <p:cNvSpPr/>
          <p:nvPr/>
        </p:nvSpPr>
        <p:spPr>
          <a:xfrm>
            <a:off x="7670800" y="3218176"/>
            <a:ext cx="908050" cy="228593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90" name="PrivacyBadge">
            <a:extLst>
              <a:ext uri="{FF2B5EF4-FFF2-40B4-BE49-F238E27FC236}">
                <a16:creationId xmlns:a16="http://schemas.microsoft.com/office/drawing/2014/main" id="{8EEB8F32-F09F-55D5-7CEF-CEDE3EE66511}"/>
              </a:ext>
            </a:extLst>
          </p:cNvPr>
          <p:cNvSpPr/>
          <p:nvPr/>
        </p:nvSpPr>
        <p:spPr>
          <a:xfrm>
            <a:off x="650240" y="5384800"/>
            <a:ext cx="2794000" cy="406398"/>
          </a:xfrm>
          <a:prstGeom prst="round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All voice data stays on-device</a:t>
            </a:r>
          </a:p>
        </p:txBody>
      </p:sp>
      <p:sp>
        <p:nvSpPr>
          <p:cNvPr id="91" name="CostBadge">
            <a:extLst>
              <a:ext uri="{FF2B5EF4-FFF2-40B4-BE49-F238E27FC236}">
                <a16:creationId xmlns:a16="http://schemas.microsoft.com/office/drawing/2014/main" id="{9CB00809-F0B5-B932-AC3F-466CEA6CE504}"/>
              </a:ext>
            </a:extLst>
          </p:cNvPr>
          <p:cNvSpPr/>
          <p:nvPr/>
        </p:nvSpPr>
        <p:spPr>
          <a:xfrm>
            <a:off x="4699000" y="5384800"/>
            <a:ext cx="2794000" cy="406399"/>
          </a:xfrm>
          <a:prstGeom prst="round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cloud costs 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subscriptions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D5D073-15C3-14AA-CC38-9B56D8BF0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12</a:t>
            </a:fld>
            <a:endParaRPr lang="en-US"/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7ECF4C8-D763-185C-C438-43A8B8D9176D}"/>
              </a:ext>
            </a:extLst>
          </p:cNvPr>
          <p:cNvSpPr/>
          <p:nvPr/>
        </p:nvSpPr>
        <p:spPr>
          <a:xfrm>
            <a:off x="7747000" y="3486150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TTPLabel">
            <a:extLst>
              <a:ext uri="{FF2B5EF4-FFF2-40B4-BE49-F238E27FC236}">
                <a16:creationId xmlns:a16="http://schemas.microsoft.com/office/drawing/2014/main" id="{63F8B40B-6144-BFED-17BB-17408CB8CF47}"/>
              </a:ext>
            </a:extLst>
          </p:cNvPr>
          <p:cNvSpPr/>
          <p:nvPr/>
        </p:nvSpPr>
        <p:spPr>
          <a:xfrm>
            <a:off x="3797300" y="3218169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BE4A6215-EFB8-5AA9-8913-7A255CB5357E}"/>
              </a:ext>
            </a:extLst>
          </p:cNvPr>
          <p:cNvSpPr/>
          <p:nvPr/>
        </p:nvSpPr>
        <p:spPr>
          <a:xfrm>
            <a:off x="3681095" y="3454407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SLabel">
            <a:extLst>
              <a:ext uri="{FF2B5EF4-FFF2-40B4-BE49-F238E27FC236}">
                <a16:creationId xmlns:a16="http://schemas.microsoft.com/office/drawing/2014/main" id="{4D317DC4-081B-AB2F-B488-EA1E09C200C1}"/>
              </a:ext>
            </a:extLst>
          </p:cNvPr>
          <p:cNvSpPr/>
          <p:nvPr/>
        </p:nvSpPr>
        <p:spPr>
          <a:xfrm>
            <a:off x="3675379" y="3779528"/>
            <a:ext cx="817879" cy="226042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816A18-4FE4-3FFC-512D-C63570F21E87}"/>
              </a:ext>
            </a:extLst>
          </p:cNvPr>
          <p:cNvSpPr txBox="1"/>
          <p:nvPr/>
        </p:nvSpPr>
        <p:spPr>
          <a:xfrm>
            <a:off x="762000" y="956311"/>
            <a:ext cx="33756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3-Tier Architecture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36238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BCE3-A368-87E1-CCF0-237497532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610" y="227965"/>
            <a:ext cx="10515600" cy="70929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T</a:t>
            </a:r>
            <a:r>
              <a:rPr lang="en-US" dirty="0"/>
              <a:t>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7B27B-BD80-FCE6-8528-15C98C35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30"/>
            <a:ext cx="11521440" cy="4976813"/>
          </a:xfrm>
        </p:spPr>
        <p:txBody>
          <a:bodyPr>
            <a:norm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Speech Recognition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Vosk</a:t>
            </a:r>
            <a:r>
              <a:rPr lang="en-US" sz="2200" dirty="0"/>
              <a:t> vosk-model-small-en-in-0.4 (Indian English, ~36 MB) - Optimized for South Asian accents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dirty="0"/>
              <a:t>16 kHz, 16-bit PCM mono; real-time streaming with VAD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Intent Classification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MobileBERT</a:t>
            </a:r>
            <a:r>
              <a:rPr lang="en-US" sz="2200" dirty="0"/>
              <a:t> fine-tuned TFLite (26 MB)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Hybrid pipeline:</a:t>
            </a:r>
            <a:r>
              <a:rPr lang="en-US" sz="2200" dirty="0"/>
              <a:t> Step 1 - Keyword regex → Step 2 - Neural inference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Frontend + Backend + Staff Dashboard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Android:</a:t>
            </a:r>
            <a:r>
              <a:rPr lang="en-US" sz="2200" dirty="0"/>
              <a:t> Kotlin + Jetpack Compose</a:t>
            </a:r>
            <a:endParaRPr lang="en-US" sz="2200" b="1" dirty="0"/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FastAPI</a:t>
            </a:r>
            <a:r>
              <a:rPr lang="en-US" sz="2200" b="1" dirty="0"/>
              <a:t> + SQLite</a:t>
            </a:r>
            <a:r>
              <a:rPr lang="en-US" sz="2200" dirty="0"/>
              <a:t> - REST endpoints + WebSocket for real-time push notifications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Staff Dashboard:</a:t>
            </a:r>
            <a:r>
              <a:rPr lang="en-US" sz="2200" dirty="0"/>
              <a:t> Vanilla HTML/CSS/JS</a:t>
            </a:r>
          </a:p>
          <a:p>
            <a:pPr marL="0" indent="0">
              <a:spcAft>
                <a:spcPts val="150"/>
              </a:spcAft>
              <a:buNone/>
            </a:pPr>
            <a:r>
              <a:rPr lang="en-US" sz="2600" dirty="0">
                <a:solidFill>
                  <a:srgbClr val="0070C0"/>
                </a:solidFill>
              </a:rPr>
              <a:t>100% open-source stack - zero licensing costs, minimal external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28495-4F93-19B1-DA51-CEA67B6F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74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B582-925B-4496-7563-1651AFE4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750" y="239395"/>
            <a:ext cx="10515600" cy="709295"/>
          </a:xfrm>
        </p:spPr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8A5FA-EDFF-08A5-69A7-BEF636620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223010"/>
            <a:ext cx="11635740" cy="4953953"/>
          </a:xfrm>
        </p:spPr>
        <p:txBody>
          <a:bodyPr>
            <a:no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Dataset Creation (10,080 Phrases)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18 intent categories × 560 phrases — exact class balance across 5 departments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Paired dataset: each phrase has clean text + Vosk-transcribed version (via gTTS → Vosk pipeline)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Three-Model Training Strategy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A</a:t>
            </a:r>
            <a:r>
              <a:rPr lang="en-US" sz="2000" dirty="0"/>
              <a:t> — trained on </a:t>
            </a:r>
            <a:r>
              <a:rPr lang="en-US" sz="2000" i="1" u="sng" dirty="0"/>
              <a:t>clean text only</a:t>
            </a:r>
            <a:r>
              <a:rPr lang="en-US" sz="2000" dirty="0"/>
              <a:t> (10,080 samples, baseline)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B</a:t>
            </a:r>
            <a:r>
              <a:rPr lang="en-US" sz="2000" dirty="0"/>
              <a:t> — trained on </a:t>
            </a:r>
            <a:r>
              <a:rPr lang="en-US" sz="2000" i="1" u="sng" dirty="0"/>
              <a:t>Vosk-transcribed text only</a:t>
            </a:r>
            <a:r>
              <a:rPr lang="en-US" sz="2000" dirty="0"/>
              <a:t> (10,080 samples)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C</a:t>
            </a:r>
            <a:r>
              <a:rPr lang="en-US" sz="2000" dirty="0"/>
              <a:t> — trained on </a:t>
            </a:r>
            <a:r>
              <a:rPr lang="en-US" sz="2000" i="1" u="sng" dirty="0"/>
              <a:t>mixed clean + Vosk </a:t>
            </a:r>
            <a:r>
              <a:rPr lang="en-US" sz="2000" dirty="0"/>
              <a:t>(14,864 deduplicated, noise-aware)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Key Implementation Challenges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Large Vosk model caused OOM on budget tablet → switched to small Indian English model</a:t>
            </a:r>
          </a:p>
          <a:p>
            <a:pPr lvl="1">
              <a:buFont typeface="Arial"/>
              <a:buChar char="•"/>
            </a:pPr>
            <a:r>
              <a:rPr lang="en-US" sz="2000" dirty="0"/>
              <a:t>TFLite label ordering mismatch; simplified word-level tokeniser (whole-word vocabulary lookup; no subword splitting)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15749-9DEC-9863-4F19-9B25E84B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87F50-3403-105C-5BBC-4987AA631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358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M</a:t>
            </a:r>
            <a:r>
              <a:rPr lang="en-US" dirty="0"/>
              <a:t>odels Evaluation Results</a:t>
            </a:r>
          </a:p>
        </p:txBody>
      </p:sp>
      <p:graphicFrame>
        <p:nvGraphicFramePr>
          <p:cNvPr id="101" name="Chart 1"/>
          <p:cNvGraphicFramePr/>
          <p:nvPr>
            <p:extLst>
              <p:ext uri="{D42A27DB-BD31-4B8C-83A1-F6EECF244321}">
                <p14:modId xmlns:p14="http://schemas.microsoft.com/office/powerpoint/2010/main" val="971119206"/>
              </p:ext>
            </p:extLst>
          </p:nvPr>
        </p:nvGraphicFramePr>
        <p:xfrm>
          <a:off x="457200" y="1457960"/>
          <a:ext cx="6263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0" name="KeyFinding"/>
          <p:cNvSpPr/>
          <p:nvPr/>
        </p:nvSpPr>
        <p:spPr>
          <a:xfrm>
            <a:off x="7018020" y="1567180"/>
            <a:ext cx="4876800" cy="4462780"/>
          </a:xfrm>
          <a:prstGeom prst="roundRect">
            <a:avLst>
              <a:gd name="adj" fmla="val 5000"/>
            </a:avLst>
          </a:prstGeom>
          <a:solidFill>
            <a:srgbClr val="F0EDE6"/>
          </a:solidFill>
          <a:ln w="12700">
            <a:solidFill>
              <a:srgbClr val="2C5F7C"/>
            </a:solidFill>
          </a:ln>
        </p:spPr>
        <p:txBody>
          <a:bodyPr wrap="square" lIns="91440" tIns="68580" rIns="91440" bIns="68580" anchor="t"/>
          <a:lstStyle/>
          <a:p>
            <a:pPr algn="l">
              <a:buNone/>
            </a:pPr>
            <a:r>
              <a:rPr lang="en-US" sz="2400" b="1" dirty="0">
                <a:solidFill>
                  <a:srgbClr val="2C5F7C"/>
                </a:solidFill>
              </a:rPr>
              <a:t>Key Findings</a:t>
            </a:r>
          </a:p>
          <a:p>
            <a:pPr algn="l">
              <a:buNone/>
            </a:pPr>
            <a:endParaRPr lang="en-US" sz="1400" b="1" dirty="0">
              <a:solidFill>
                <a:srgbClr val="2C5F7C"/>
              </a:solidFill>
              <a:latin typeface="Georgia"/>
            </a:endParaRP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A drops 8.73 pp when given Vosk output instead of clean text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C (noise-aware) achieves 99.06% on Vosk output - exceeding clean baseline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Gap recovery: 111.3% - noise-aware training more than compensates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All 18 intents achieve F1 &gt; 0.97 with Model C</a:t>
            </a:r>
          </a:p>
          <a:p>
            <a:pPr marL="228600" indent="-228600"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NFR-05 target (≥90%) exceeded by 9+ percentage points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69A9DA-A0DA-ECF8-F67C-4C1F2D2F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53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8B7EB-AF0B-9BF5-43F9-FAD2595B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Speech Recognition &amp; System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572D5-2B06-4185-936B-5B863922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Word Error Rate (WER) — 10,080 Utterances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Overall WER: </a:t>
            </a:r>
            <a:r>
              <a:rPr lang="en-US" sz="1300" b="1" dirty="0"/>
              <a:t>11.43%</a:t>
            </a:r>
            <a:r>
              <a:rPr lang="en-US" sz="1300" dirty="0"/>
              <a:t> (72,133 reference words); WER on changed sentences: </a:t>
            </a:r>
            <a:r>
              <a:rPr lang="en-US" sz="1300" b="1" dirty="0"/>
              <a:t>23.84%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47.8%</a:t>
            </a:r>
            <a:r>
              <a:rPr lang="en-US" sz="1300" dirty="0"/>
              <a:t> of utterances changed by Vosk — nearly half of all guest requests arrive distorted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Highest WER: temperature_control (16.83%), towel_request (16.33%); Lowest: emergency (6.78%)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i="1" dirty="0"/>
              <a:t>Note: WER measured on TTS-synthesised audio, not real human speech (acknowledged limitation)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End-to-End Latency (20 Test Requests)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P95 end-to-end: </a:t>
            </a:r>
            <a:r>
              <a:rPr lang="en-US" sz="1300" b="1" dirty="0"/>
              <a:t>2,801 ms</a:t>
            </a:r>
            <a:r>
              <a:rPr lang="en-US" sz="1300" dirty="0"/>
              <a:t> — well within 5-second target (NFR-03)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Vosk STT ~302 ms | NLU ~4 ms (keywords) / ~60 ms (MobileBERT) | Backend ~2,060 ms | TTS ~316 ms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NFR Compliance Summary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NFR-02 (privacy): ✓ All voice processing on-device | NFR-03 (latency): ✓ P95 2,801 ms &lt; 5,000 ms</a:t>
            </a:r>
          </a:p>
          <a:p>
            <a:pPr marL="228600" indent="-228600">
              <a:buFont typeface="Arial"/>
              <a:buChar char="•"/>
            </a:pPr>
            <a:r>
              <a:rPr lang="en-US" sz="1300" dirty="0"/>
              <a:t>NFR-05 (accuracy ≥90%): ✓ Model C at 99.06% | All backend API tests passed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D7AF0-60ED-B294-A48A-76FE46C71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550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DAB1B-A93C-5675-0A13-BA4774F0C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786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ost-Effectiveness Analysis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D96871-BB76-4828-B8BE-EFFB27D6C9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763030"/>
              </p:ext>
            </p:extLst>
          </p:nvPr>
        </p:nvGraphicFramePr>
        <p:xfrm>
          <a:off x="635000" y="1524000"/>
          <a:ext cx="10922000" cy="234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3489851340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819073788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959331852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071550899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Cost 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This 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Cloud STT (Google)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Commercial (Alexa)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30110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Hardware (50 tablets)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$5,000–$10,000+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66657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Server + Network + UPS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Cloud-hosted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90723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Software / API (3 yr)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$1,095–$2,200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Proprietary terms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74937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Estimated 3-Year 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6B8F71"/>
                          </a:solidFill>
                          <a:latin typeface="Calibri"/>
                          <a:ea typeface="Calibri"/>
                          <a:cs typeface="Calibri"/>
                        </a:rPr>
                        <a:t>$3,220–$8,800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$4,315–$11,000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Significantly higher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3459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CB8F8E-109F-4C25-AB18-4E0DB35A09FE}"/>
              </a:ext>
            </a:extLst>
          </p:cNvPr>
          <p:cNvSpPr txBox="1"/>
          <p:nvPr/>
        </p:nvSpPr>
        <p:spPr>
          <a:xfrm>
            <a:off x="635000" y="4381500"/>
            <a:ext cx="10922000" cy="18312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C5F7C"/>
                </a:solidFill>
              </a:rPr>
              <a:t>Key Cost Advantages</a:t>
            </a:r>
          </a:p>
          <a:p>
            <a:pPr marL="0" indent="0">
              <a:buNone/>
            </a:pPr>
            <a:endParaRPr lang="en-US" b="1" dirty="0">
              <a:solidFill>
                <a:srgbClr val="2C5F7C"/>
              </a:solidFill>
            </a:endParaRP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$21–$59 per room per year -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over 3 years (50-room hotel)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Zero recurring software costs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- 100% open-source, no per-request or subscription billing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Commodity hardware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Android tablets ($50–$150) from local retailers, locally repairable</a:t>
            </a:r>
          </a:p>
          <a:p>
            <a:pPr marL="228600" indent="-228600"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Market fit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within reach of Sri Lankan hotels (SLTDA, 2024)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32FE0-0880-4155-1359-868C9844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59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C6EB-EB2D-F0D2-773E-C2549F87A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150F-4BD4-3CB6-A444-4609BBC95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1303020"/>
            <a:ext cx="1118997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Strengths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Quantified the real-world accuracy gap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</a:t>
            </a:r>
          </a:p>
          <a:p>
            <a:pPr marL="457200" lvl="1" indent="0">
              <a:spcAft>
                <a:spcPts val="200"/>
              </a:spcAft>
              <a:buNone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	Model A dropped from 98.07% (clean text) to 89.34%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speech output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Effective Noise-Aware Training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000" dirty="0"/>
              <a:t>	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Mixed training approach (clean + noisy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text) achieved 99.06% accuracy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	output. 	Outperformed both clean-only and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-only models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Strong Experimental Design</a:t>
            </a:r>
          </a:p>
          <a:p>
            <a:pPr marL="914400" lvl="2" indent="0">
              <a:spcAft>
                <a:spcPts val="200"/>
              </a:spcAft>
              <a:buNone/>
            </a:pPr>
            <a:r>
              <a:rPr lang="en-US" dirty="0">
                <a:ln w="0"/>
                <a:solidFill>
                  <a:schemeClr val="bg2">
                    <a:lumMod val="10000"/>
                  </a:schemeClr>
                </a:solidFill>
              </a:rPr>
              <a:t>Balanced dataset: 10,080 phrases, 18 intents, 560 samples per intent. 		</a:t>
            </a:r>
          </a:p>
          <a:p>
            <a:pPr marL="914400" lvl="2" indent="0">
              <a:spcAft>
                <a:spcPts val="200"/>
              </a:spcAft>
              <a:buNone/>
            </a:pPr>
            <a:r>
              <a:rPr lang="en-US" dirty="0">
                <a:ln w="0"/>
                <a:solidFill>
                  <a:schemeClr val="bg2">
                    <a:lumMod val="10000"/>
                  </a:schemeClr>
                </a:solidFill>
              </a:rPr>
              <a:t>Fixed and consistent test set, across all experiments: Fair comparison and reproducibility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Cost-Effectiveness and Viability 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	Fully offline, Low cost, Strong privacy protection by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DF623-70B9-0915-3546-3D9179F3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0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E9EC7-6729-D593-1A64-E5FC1092A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73EC-CDA5-93B8-0B58-AEF56C58A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/>
              <a:t>Critical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9EB9B-4170-8616-D205-A076080AC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15" y="1234440"/>
            <a:ext cx="11189970" cy="4771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Limitations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Synthetic speech only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TTS audio, not real hotel guests; real-world WER likely higher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Tokeniser mismatch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Kotlin WordPiece implementation differs from Python; on-device accuracy lower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No field deployment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No real hotel environment testing; no real user feedback</a:t>
            </a:r>
          </a:p>
          <a:p>
            <a:pPr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Accent and Language Scope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 Mainly using English requests with Sri Lankan accents</a:t>
            </a:r>
          </a:p>
          <a:p>
            <a:pPr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Prototype-scale architecture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</a:t>
            </a: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Not production-ready without further engineering 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	</a:t>
            </a:r>
          </a:p>
          <a:p>
            <a:pPr marL="0" indent="0">
              <a:buNone/>
            </a:pPr>
            <a:endParaRPr lang="en-US" sz="2400" b="1" dirty="0">
              <a:ln w="0"/>
              <a:solidFill>
                <a:schemeClr val="bg2">
                  <a:lumMod val="10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sz="24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2CA2C-FB4B-F2DE-F1F2-A3BF1AE28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372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5F42-8881-E009-0476-FB7D871FB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AD07-D3A6-C14D-4816-3F2C12830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/>
              <a:t>Critical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5BCF-29F9-4A2E-9192-08EA20B02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930" y="1315085"/>
            <a:ext cx="11189970" cy="517779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Suggestions for Future Research</a:t>
            </a:r>
          </a:p>
          <a:p>
            <a:pPr marL="0" indent="0">
              <a:buNone/>
            </a:pPr>
            <a:endParaRPr lang="en-US" sz="1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>
              <a:lnSpc>
                <a:spcPct val="120000"/>
              </a:lnSpc>
            </a:pPr>
            <a:r>
              <a:rPr lang="en-US" sz="2600" b="1" dirty="0"/>
              <a:t>Field Deployment and User Study </a:t>
            </a:r>
            <a:r>
              <a:rPr lang="en-US" sz="2600" dirty="0"/>
              <a:t>- To evaluate performance with genuine guest interactions and room acoustic conditions.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Real Speech Data Collection and Model Retraining </a:t>
            </a:r>
            <a:r>
              <a:rPr lang="en-US" sz="2600" dirty="0"/>
              <a:t>– To improve speech recognition accuracy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Implement proper </a:t>
            </a:r>
            <a:r>
              <a:rPr lang="en-US" sz="2600" b="1" dirty="0" err="1"/>
              <a:t>WordPiece</a:t>
            </a:r>
            <a:r>
              <a:rPr lang="en-US" sz="2600" b="1" dirty="0"/>
              <a:t> tokenization on Android</a:t>
            </a:r>
            <a:r>
              <a:rPr lang="en-US" sz="2600" dirty="0"/>
              <a:t> - To reduce the on-device accuracy gap.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Extend the system with multilingual support </a:t>
            </a:r>
            <a:r>
              <a:rPr lang="en-US" sz="2600" dirty="0"/>
              <a:t>– To support Sinhala, Tamil, Other Foreign Languages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Improve the NLU layer </a:t>
            </a:r>
            <a:r>
              <a:rPr lang="en-US" sz="2600" dirty="0"/>
              <a:t>using: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Train hospitality-specific </a:t>
            </a:r>
            <a:r>
              <a:rPr lang="en-US" sz="2600" dirty="0" err="1"/>
              <a:t>Vosk</a:t>
            </a:r>
            <a:r>
              <a:rPr lang="en-US" sz="2600" dirty="0"/>
              <a:t> language models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Out-of-scope intent detection,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Multi-step conversational request handling.</a:t>
            </a:r>
          </a:p>
          <a:p>
            <a:pPr marL="0" indent="0">
              <a:buNone/>
            </a:pPr>
            <a:endParaRPr lang="en-US" sz="2400" b="1" dirty="0">
              <a:ln w="0"/>
              <a:solidFill>
                <a:schemeClr val="bg2">
                  <a:lumMod val="10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sz="24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B26FE-6B83-B49A-D6D1-B5046218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2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774F4-E92F-9879-3663-CB0D53B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943B7-E19B-4F76-2C3C-C274FE311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21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4E12C-165A-8E2C-9B03-7DDF57C4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Developed a fully offline, low-cost smart hotel voice assistant that runs on commodity Android tablets costing around USD 50–150 per room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Complete workflow from guest voice request → speech recognition → intent classification → staff notification without internet connectivity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A custom hospitality dataset of 10,080 labelled phrases across 18 intent categories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most important finding was that evaluating only on clean text, gives overly optimistic results.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A achieved 98.07% on clean text but dropped to 89.34%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speech transcriptions.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proposed noise-aware training approach (Model C) recovered this gap and achieved 99.06% accuracy on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output.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system achieved a WER of 11.43%, P95 latency of 2.8 seconds, and all AI processing remained entirely on-device, ensuring privacy-preserving operation.</a:t>
            </a:r>
          </a:p>
          <a:p>
            <a:pPr>
              <a:lnSpc>
                <a:spcPct val="100000"/>
              </a:lnSpc>
            </a:pPr>
            <a:endParaRPr lang="en-US" sz="20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8876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2CAE7-3B40-2312-D212-5D078BB94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07F1D-7DF7-6CFE-FF1F-829047A28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8458B-3E6A-0DB3-2B39-EEB65189C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FE2DAC-1541-A24C-A305-AD2632E38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Contributions to the Field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Hospitality-domain intent dataset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Labelled phrases across major intent categories, paired with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-transcribed noisy versions, which can support future research in hotel automation and multilingual hospitality AI systems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Noise-aware NLU training for offline STT pipelines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Shows how speech recognition errors significantly affect downstream intent classification and how mixed clean + noisy training can recover performance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Fully offline, low-cost voice assistant prototype for hospitality domain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AI processing is on commodity Android hardware. No cloud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dependancy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, no voice data leaving device. 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Hybrid NLU pipeline for resource-constrained on-device deployment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 Two-tier architecture: rule-based keyword matching +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MobileBERT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neural inference.</a:t>
            </a:r>
          </a:p>
        </p:txBody>
      </p:sp>
    </p:spTree>
    <p:extLst>
      <p:ext uri="{BB962C8B-B14F-4D97-AF65-F5344CB8AC3E}">
        <p14:creationId xmlns:p14="http://schemas.microsoft.com/office/powerpoint/2010/main" val="3718294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4B410-C390-5D1B-32FA-3CCCE0818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1ED25-F37D-FEC5-962D-29101B54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0F794-E6F0-17E2-D6F7-1350FCF6F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A40E3E-ACAA-B63C-8839-50312DFFA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000" dirty="0"/>
              <a:t>The system provides a practical alternative to traditional hotel communication methods </a:t>
            </a:r>
          </a:p>
          <a:p>
            <a:pPr lvl="1" algn="just"/>
            <a:r>
              <a:rPr lang="en-US" sz="2000" dirty="0"/>
              <a:t>Phone calls </a:t>
            </a:r>
          </a:p>
          <a:p>
            <a:pPr lvl="1" algn="just"/>
            <a:r>
              <a:rPr lang="en-US" sz="2000" dirty="0"/>
              <a:t>Manual logbooks</a:t>
            </a:r>
          </a:p>
          <a:p>
            <a:pPr algn="just"/>
            <a:r>
              <a:rPr lang="en-US" sz="2000" dirty="0"/>
              <a:t>Hotels can deploy the solution using low-cost Android tablets and local network infrastructure without paying recurring cloud or subscription fees.</a:t>
            </a:r>
          </a:p>
          <a:p>
            <a:r>
              <a:rPr lang="en-US" sz="2000" dirty="0"/>
              <a:t>Compared to commercial cloud-based platforms, the solution offers:</a:t>
            </a:r>
          </a:p>
          <a:p>
            <a:pPr lvl="1"/>
            <a:r>
              <a:rPr lang="en-US" sz="2000" dirty="0"/>
              <a:t>Zero recurring software costs </a:t>
            </a:r>
          </a:p>
          <a:p>
            <a:pPr lvl="1"/>
            <a:r>
              <a:rPr lang="en-US" sz="2000" dirty="0"/>
              <a:t>No internet dependency </a:t>
            </a:r>
          </a:p>
          <a:p>
            <a:pPr lvl="1"/>
            <a:r>
              <a:rPr lang="en-US" sz="2000" dirty="0"/>
              <a:t>No vendor lock-in </a:t>
            </a:r>
          </a:p>
          <a:p>
            <a:pPr lvl="1"/>
            <a:r>
              <a:rPr lang="en-US" sz="2000" dirty="0"/>
              <a:t>Improved guest privacy because voice data never leaves the device</a:t>
            </a:r>
          </a:p>
        </p:txBody>
      </p:sp>
    </p:spTree>
    <p:extLst>
      <p:ext uri="{BB962C8B-B14F-4D97-AF65-F5344CB8AC3E}">
        <p14:creationId xmlns:p14="http://schemas.microsoft.com/office/powerpoint/2010/main" val="35713331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273B7-E13E-8340-872A-C0AF47099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31E7-6B21-7D36-482E-B4A19DA8E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12C39-EBF2-06E9-9C1B-ADB9D8C1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24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4BB28-F3F5-ECA7-3E6E-D60163582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000" dirty="0"/>
              <a:t>The estimated deployment cost for a 50-room hotel is approximately USD 3,200 -8,800 over three years, making it affordable for hotels in Sri Lanka and similar developing economies.</a:t>
            </a:r>
          </a:p>
          <a:p>
            <a:r>
              <a:rPr lang="en-US" sz="2000" dirty="0"/>
              <a:t>The findings also provide recommendations for future deployment, including:</a:t>
            </a:r>
          </a:p>
          <a:p>
            <a:pPr lvl="1"/>
            <a:r>
              <a:rPr lang="en-US" sz="2000" dirty="0"/>
              <a:t>Collecting real guest speech data</a:t>
            </a:r>
          </a:p>
          <a:p>
            <a:pPr lvl="1"/>
            <a:r>
              <a:rPr lang="en-US" sz="2000" dirty="0"/>
              <a:t>Implementing proper </a:t>
            </a:r>
            <a:r>
              <a:rPr lang="en-US" sz="2000" dirty="0" err="1"/>
              <a:t>WordPiece</a:t>
            </a:r>
            <a:r>
              <a:rPr lang="en-US" sz="2000" dirty="0"/>
              <a:t> tokenization on Android</a:t>
            </a:r>
          </a:p>
          <a:p>
            <a:pPr lvl="1"/>
            <a:r>
              <a:rPr lang="en-US" sz="2000" dirty="0"/>
              <a:t>Adding multilingual support</a:t>
            </a:r>
          </a:p>
          <a:p>
            <a:pPr lvl="1"/>
            <a:r>
              <a:rPr lang="en-US" sz="2000" dirty="0"/>
              <a:t>Conducting real hotel field studies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 algn="just">
              <a:buNone/>
            </a:pPr>
            <a:r>
              <a:rPr lang="en-US" sz="2000" b="1" i="1" dirty="0"/>
              <a:t>Overall, the research demonstrates that offline, privacy-preserving hospitality voice assistants are technically and economically feasible for real-world deployment.</a:t>
            </a:r>
          </a:p>
        </p:txBody>
      </p:sp>
    </p:spTree>
    <p:extLst>
      <p:ext uri="{BB962C8B-B14F-4D97-AF65-F5344CB8AC3E}">
        <p14:creationId xmlns:p14="http://schemas.microsoft.com/office/powerpoint/2010/main" val="32465770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F7CBA-B995-8887-F2FE-3F24239C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BA93-43FA-8CE0-7143-C999E8E5F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E02D6-D19A-7D6B-9D0D-661DA471B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BEEFE-DC07-02EB-BBE7-E5B00C43B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20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4707681357]">
  <a:themeElements>
    <a:clrScheme name="Academic Formal">
      <a:dk1>
        <a:srgbClr val="1B2A4A"/>
      </a:dk1>
      <a:lt1>
        <a:srgbClr val="F7F5F0"/>
      </a:lt1>
      <a:dk2>
        <a:srgbClr val="2C3E6B"/>
      </a:dk2>
      <a:lt2>
        <a:srgbClr val="EBE8E0"/>
      </a:lt2>
      <a:accent1>
        <a:srgbClr val="2C5F7C"/>
      </a:accent1>
      <a:accent2>
        <a:srgbClr val="6B8F71"/>
      </a:accent2>
      <a:accent3>
        <a:srgbClr val="C4956A"/>
      </a:accent3>
      <a:accent4>
        <a:srgbClr val="8B6F9C"/>
      </a:accent4>
      <a:accent5>
        <a:srgbClr val="4A7C8F"/>
      </a:accent5>
      <a:accent6>
        <a:srgbClr val="9B7653"/>
      </a:accent6>
      <a:hlink>
        <a:srgbClr val="467886"/>
      </a:hlink>
      <a:folHlink>
        <a:srgbClr val="96607D"/>
      </a:folHlink>
    </a:clrScheme>
    <a:fontScheme name="Academic Formal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8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74B2DD8-8821-4663-BB90-C7B2341542B2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2295</Words>
  <Application>Microsoft Office PowerPoint</Application>
  <PresentationFormat>Widescreen</PresentationFormat>
  <Paragraphs>283</Paragraphs>
  <Slides>25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Amasis MT Pro Medium</vt:lpstr>
      <vt:lpstr>Aptos</vt:lpstr>
      <vt:lpstr>Arial</vt:lpstr>
      <vt:lpstr>Calibri</vt:lpstr>
      <vt:lpstr>Georgia</vt:lpstr>
      <vt:lpstr>Office Theme [1774707681357]</vt:lpstr>
      <vt:lpstr>Low-Cost Offline Voice Assistant  for Hospitality Services in Sri Lanka  Using Small-Scale Neural Models</vt:lpstr>
      <vt:lpstr>Research Overview</vt:lpstr>
      <vt:lpstr>PowerPoint Presentation</vt:lpstr>
      <vt:lpstr>Research Objectives</vt:lpstr>
      <vt:lpstr>Context &amp; Significance</vt:lpstr>
      <vt:lpstr>Research Question</vt:lpstr>
      <vt:lpstr>Literature Review</vt:lpstr>
      <vt:lpstr>PowerPoint Presentation</vt:lpstr>
      <vt:lpstr>Methodology</vt:lpstr>
      <vt:lpstr>Data Collection</vt:lpstr>
      <vt:lpstr>Design and Architecture </vt:lpstr>
      <vt:lpstr>Design and Architecture </vt:lpstr>
      <vt:lpstr>Technology Stack</vt:lpstr>
      <vt:lpstr>Implementation</vt:lpstr>
      <vt:lpstr>Models Evaluation Results</vt:lpstr>
      <vt:lpstr>Speech Recognition &amp; System Testing</vt:lpstr>
      <vt:lpstr>Cost-Effectiveness Analysis</vt:lpstr>
      <vt:lpstr>Critical Appraisal &amp; Limitations</vt:lpstr>
      <vt:lpstr>Critical Appraisal &amp; Limitations</vt:lpstr>
      <vt:lpstr>Critical Appraisal &amp; Limitations</vt:lpstr>
      <vt:lpstr>Conclusion</vt:lpstr>
      <vt:lpstr>Conclusion</vt:lpstr>
      <vt:lpstr>Conclusion</vt:lpstr>
      <vt:lpstr>Conclusion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Wijesuriya</dc:creator>
  <cp:lastModifiedBy>Dinesh Wijesuriya</cp:lastModifiedBy>
  <cp:revision>69</cp:revision>
  <dcterms:created xsi:type="dcterms:W3CDTF">2026-03-28T14:21:21Z</dcterms:created>
  <dcterms:modified xsi:type="dcterms:W3CDTF">2026-05-13T18:37:31Z</dcterms:modified>
</cp:coreProperties>
</file>