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3"/>
  </p:notesMasterIdLst>
  <p:sldIdLst>
    <p:sldId id="284" r:id="rId2"/>
    <p:sldId id="303" r:id="rId3"/>
    <p:sldId id="298" r:id="rId4"/>
    <p:sldId id="257" r:id="rId5"/>
    <p:sldId id="300" r:id="rId6"/>
    <p:sldId id="258" r:id="rId7"/>
    <p:sldId id="313" r:id="rId8"/>
    <p:sldId id="290" r:id="rId9"/>
    <p:sldId id="310" r:id="rId10"/>
    <p:sldId id="316" r:id="rId11"/>
    <p:sldId id="292" r:id="rId12"/>
    <p:sldId id="294" r:id="rId13"/>
    <p:sldId id="293" r:id="rId14"/>
    <p:sldId id="314" r:id="rId15"/>
    <p:sldId id="295" r:id="rId16"/>
    <p:sldId id="296" r:id="rId17"/>
    <p:sldId id="264" r:id="rId18"/>
    <p:sldId id="265" r:id="rId19"/>
    <p:sldId id="315" r:id="rId20"/>
    <p:sldId id="308" r:id="rId21"/>
    <p:sldId id="30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F4CA"/>
    <a:srgbClr val="06983E"/>
    <a:srgbClr val="00B050"/>
    <a:srgbClr val="F9C3C8"/>
    <a:srgbClr val="F38993"/>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9588" autoAdjust="0"/>
  </p:normalViewPr>
  <p:slideViewPr>
    <p:cSldViewPr snapToGrid="0">
      <p:cViewPr varScale="1">
        <p:scale>
          <a:sx n="99" d="100"/>
          <a:sy n="99" d="100"/>
        </p:scale>
        <p:origin x="103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ctr">
              <a:defRPr lang="en-US" sz="2000" kern="1200" dirty="0">
                <a:ln w="0"/>
                <a:solidFill>
                  <a:schemeClr val="tx2">
                    <a:lumMod val="60000"/>
                    <a:lumOff val="40000"/>
                  </a:schemeClr>
                </a:solidFill>
                <a:latin typeface="+mn-lt"/>
                <a:ea typeface="+mn-ea"/>
                <a:cs typeface="+mn-cs"/>
              </a:defRPr>
            </a:pPr>
            <a:r>
              <a:rPr lang="en-US" sz="2000" kern="1200" dirty="0">
                <a:ln w="0"/>
                <a:solidFill>
                  <a:schemeClr val="tx2">
                    <a:lumMod val="60000"/>
                    <a:lumOff val="40000"/>
                  </a:schemeClr>
                </a:solidFill>
                <a:latin typeface="+mn-lt"/>
                <a:ea typeface="+mn-ea"/>
                <a:cs typeface="+mn-cs"/>
              </a:rPr>
              <a:t>Intent Classification Accuracy </a:t>
            </a:r>
          </a:p>
          <a:p>
            <a:pPr algn="ctr">
              <a:defRPr lang="en-US" sz="2000" kern="1200" dirty="0">
                <a:ln w="0"/>
                <a:solidFill>
                  <a:schemeClr val="tx2">
                    <a:lumMod val="60000"/>
                    <a:lumOff val="40000"/>
                  </a:schemeClr>
                </a:solidFill>
                <a:latin typeface="+mn-lt"/>
                <a:ea typeface="+mn-ea"/>
                <a:cs typeface="+mn-cs"/>
              </a:defRPr>
            </a:pPr>
            <a:r>
              <a:rPr lang="en-US" sz="2000" kern="1200" dirty="0">
                <a:ln w="0"/>
                <a:solidFill>
                  <a:schemeClr val="tx2">
                    <a:lumMod val="60000"/>
                    <a:lumOff val="40000"/>
                  </a:schemeClr>
                </a:solidFill>
                <a:latin typeface="+mn-lt"/>
                <a:ea typeface="+mn-ea"/>
                <a:cs typeface="+mn-cs"/>
              </a:rPr>
              <a:t>(2,016-sample test set)</a:t>
            </a:r>
          </a:p>
        </c:rich>
      </c:tx>
      <c:layout>
        <c:manualLayout>
          <c:xMode val="edge"/>
          <c:yMode val="edge"/>
          <c:x val="0.24869724313657873"/>
          <c:y val="1.6666666666666666E-2"/>
        </c:manualLayout>
      </c:layout>
      <c:overlay val="0"/>
    </c:title>
    <c:autoTitleDeleted val="0"/>
    <c:plotArea>
      <c:layout/>
      <c:barChart>
        <c:barDir val="col"/>
        <c:grouping val="clustered"/>
        <c:varyColors val="1"/>
        <c:ser>
          <c:idx val="0"/>
          <c:order val="0"/>
          <c:tx>
            <c:strRef>
              <c:f>Sheet1!$B$1</c:f>
              <c:strCache>
                <c:ptCount val="1"/>
                <c:pt idx="0">
                  <c:v>Accuracy (%)</c:v>
                </c:pt>
              </c:strCache>
            </c:strRef>
          </c:tx>
          <c:spPr>
            <a:noFill/>
          </c:spPr>
          <c:invertIfNegative val="1"/>
          <c:dPt>
            <c:idx val="0"/>
            <c:invertIfNegative val="1"/>
            <c:bubble3D val="0"/>
            <c:spPr>
              <a:solidFill>
                <a:srgbClr val="2C5F7C"/>
              </a:solidFill>
            </c:spPr>
            <c:extLst>
              <c:ext xmlns:c16="http://schemas.microsoft.com/office/drawing/2014/chart" uri="{C3380CC4-5D6E-409C-BE32-E72D297353CC}">
                <c16:uniqueId val="{00000001-8E2A-4C6B-B0CB-7A3DF06D7325}"/>
              </c:ext>
            </c:extLst>
          </c:dPt>
          <c:dPt>
            <c:idx val="1"/>
            <c:invertIfNegative val="1"/>
            <c:bubble3D val="0"/>
            <c:spPr>
              <a:solidFill>
                <a:srgbClr val="C4956A"/>
              </a:solidFill>
            </c:spPr>
            <c:extLst>
              <c:ext xmlns:c16="http://schemas.microsoft.com/office/drawing/2014/chart" uri="{C3380CC4-5D6E-409C-BE32-E72D297353CC}">
                <c16:uniqueId val="{00000003-8E2A-4C6B-B0CB-7A3DF06D7325}"/>
              </c:ext>
            </c:extLst>
          </c:dPt>
          <c:dPt>
            <c:idx val="2"/>
            <c:invertIfNegative val="1"/>
            <c:bubble3D val="0"/>
            <c:spPr>
              <a:solidFill>
                <a:srgbClr val="8B6F9C"/>
              </a:solidFill>
            </c:spPr>
            <c:extLst>
              <c:ext xmlns:c16="http://schemas.microsoft.com/office/drawing/2014/chart" uri="{C3380CC4-5D6E-409C-BE32-E72D297353CC}">
                <c16:uniqueId val="{00000005-8E2A-4C6B-B0CB-7A3DF06D7325}"/>
              </c:ext>
            </c:extLst>
          </c:dPt>
          <c:dPt>
            <c:idx val="3"/>
            <c:invertIfNegative val="1"/>
            <c:bubble3D val="0"/>
            <c:spPr>
              <a:solidFill>
                <a:srgbClr val="6B8F71"/>
              </a:solidFill>
            </c:spPr>
            <c:extLst>
              <c:ext xmlns:c16="http://schemas.microsoft.com/office/drawing/2014/chart" uri="{C3380CC4-5D6E-409C-BE32-E72D297353CC}">
                <c16:uniqueId val="{00000007-8E2A-4C6B-B0CB-7A3DF06D7325}"/>
              </c:ext>
            </c:extLst>
          </c:dPt>
          <c:dLbls>
            <c:numFmt formatCode="0.00&quot;%&quot;" sourceLinked="0"/>
            <c:spPr>
              <a:noFill/>
              <a:ln>
                <a:noFill/>
              </a:ln>
              <a:effectLst/>
            </c:spPr>
            <c:txPr>
              <a:bodyPr/>
              <a:lstStyle/>
              <a:p>
                <a:pPr>
                  <a:defRPr sz="1400" b="1">
                    <a:solidFill>
                      <a:srgbClr val="1B2A4A"/>
                    </a:solidFill>
                    <a:latin typeface="Calibri"/>
                  </a:defRPr>
                </a:pPr>
                <a:endParaRPr lang="en-US"/>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Ref>
              <c:f>Sheet1!$A$2:$A$5</c:f>
              <c:strCache>
                <c:ptCount val="4"/>
                <c:pt idx="0">
                  <c:v>Model A
(Clean Input)</c:v>
                </c:pt>
                <c:pt idx="1">
                  <c:v>Model A
(Vosk Input)</c:v>
                </c:pt>
                <c:pt idx="2">
                  <c:v>Model B
(Vosk Input)</c:v>
                </c:pt>
                <c:pt idx="3">
                  <c:v>Model C
(Clean + Vosk)</c:v>
                </c:pt>
              </c:strCache>
            </c:strRef>
          </c:cat>
          <c:val>
            <c:numRef>
              <c:f>Sheet1!$B$2:$B$5</c:f>
              <c:numCache>
                <c:formatCode>General</c:formatCode>
                <c:ptCount val="4"/>
                <c:pt idx="0">
                  <c:v>98.07</c:v>
                </c:pt>
                <c:pt idx="1">
                  <c:v>89.34</c:v>
                </c:pt>
                <c:pt idx="2">
                  <c:v>96.38</c:v>
                </c:pt>
                <c:pt idx="3">
                  <c:v>99.06</c:v>
                </c:pt>
              </c:numCache>
            </c:numRef>
          </c:val>
          <c:extLst>
            <c:ext xmlns:c16="http://schemas.microsoft.com/office/drawing/2014/chart" uri="{C3380CC4-5D6E-409C-BE32-E72D297353CC}">
              <c16:uniqueId val="{00000008-8E2A-4C6B-B0CB-7A3DF06D7325}"/>
            </c:ext>
          </c:extLst>
        </c:ser>
        <c:dLbls>
          <c:showLegendKey val="0"/>
          <c:showVal val="0"/>
          <c:showCatName val="0"/>
          <c:showSerName val="0"/>
          <c:showPercent val="0"/>
          <c:showBubbleSize val="0"/>
        </c:dLbls>
        <c:gapWidth val="150"/>
        <c:axId val="1"/>
        <c:axId val="2"/>
      </c:barChart>
      <c:catAx>
        <c:axId val="1"/>
        <c:scaling>
          <c:orientation val="minMax"/>
        </c:scaling>
        <c:delete val="0"/>
        <c:axPos val="b"/>
        <c:numFmt formatCode="General" sourceLinked="0"/>
        <c:majorTickMark val="none"/>
        <c:minorTickMark val="none"/>
        <c:tickLblPos val="nextTo"/>
        <c:txPr>
          <a:bodyPr/>
          <a:lstStyle/>
          <a:p>
            <a:pPr>
              <a:defRPr sz="1100">
                <a:solidFill>
                  <a:srgbClr val="1B2A4A"/>
                </a:solidFill>
                <a:latin typeface="Calibri"/>
              </a:defRPr>
            </a:pPr>
            <a:endParaRPr lang="en-US"/>
          </a:p>
        </c:txPr>
        <c:crossAx val="2"/>
        <c:crosses val="autoZero"/>
        <c:auto val="1"/>
        <c:lblAlgn val="ctr"/>
        <c:lblOffset val="100"/>
        <c:noMultiLvlLbl val="1"/>
      </c:catAx>
      <c:valAx>
        <c:axId val="2"/>
        <c:scaling>
          <c:orientation val="minMax"/>
          <c:max val="100"/>
          <c:min val="80"/>
        </c:scaling>
        <c:delete val="0"/>
        <c:axPos val="l"/>
        <c:numFmt formatCode="0&quot;%&quot;" sourceLinked="0"/>
        <c:majorTickMark val="out"/>
        <c:minorTickMark val="none"/>
        <c:tickLblPos val="nextTo"/>
        <c:txPr>
          <a:bodyPr/>
          <a:lstStyle/>
          <a:p>
            <a:pPr>
              <a:defRPr sz="1100">
                <a:solidFill>
                  <a:srgbClr val="1B2A4A"/>
                </a:solidFill>
                <a:latin typeface="Calibri"/>
              </a:defRPr>
            </a:pPr>
            <a:endParaRPr lang="en-US"/>
          </a:p>
        </c:txPr>
        <c:crossAx val="1"/>
        <c:crosses val="autoZero"/>
        <c:crossBetween val="between"/>
        <c:majorUnit val="5"/>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449912-72E7-44B2-8958-223EDC198C7E}" type="datetimeFigureOut">
              <a:rPr lang="en-US" smtClean="0"/>
              <a:t>5/22/2026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21C570-53BE-46F6-9D3E-69DD73653F98}" type="slidenum">
              <a:rPr lang="en-US" smtClean="0"/>
              <a:t>‹#›</a:t>
            </a:fld>
            <a:endParaRPr lang="en-US"/>
          </a:p>
        </p:txBody>
      </p:sp>
    </p:spTree>
    <p:extLst>
      <p:ext uri="{BB962C8B-B14F-4D97-AF65-F5344CB8AC3E}">
        <p14:creationId xmlns:p14="http://schemas.microsoft.com/office/powerpoint/2010/main" val="282842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21C570-53BE-46F6-9D3E-69DD73653F98}" type="slidenum">
              <a:rPr lang="en-US" smtClean="0"/>
              <a:t>2</a:t>
            </a:fld>
            <a:endParaRPr lang="en-US"/>
          </a:p>
        </p:txBody>
      </p:sp>
    </p:spTree>
    <p:extLst>
      <p:ext uri="{BB962C8B-B14F-4D97-AF65-F5344CB8AC3E}">
        <p14:creationId xmlns:p14="http://schemas.microsoft.com/office/powerpoint/2010/main" val="34991390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29F0B-F0DA-6100-1528-24B2A6A3CC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FB943-A7BA-F261-08B9-50B45A8147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474F1-B8E4-BDA1-3630-025AE48506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BF5FD6-EF7C-F942-351E-B2EDA9938D3B}"/>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584819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4CE6F-2980-2D81-B7E0-2DA81F2CD7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C4C0A6-7181-11AC-376B-BD13B9AE65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C8F503-AE1E-C203-66D2-233A7F288464}"/>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103488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9708D-6939-58CB-A4DD-34947A55D5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745B6-85BD-8C0C-D038-7BCA84F4C0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82A69B-7052-B5A1-8F0D-DCB639DA86F3}"/>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36371822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What is WER?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E8E67-92A0-EEC2-0351-481B65E625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0901C-148A-AF3E-7FA2-37129B291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E825B-829A-217A-7529-5619AB4B29C3}"/>
              </a:ext>
            </a:extLst>
          </p:cNvPr>
          <p:cNvSpPr>
            <a:spLocks noGrp="1"/>
          </p:cNvSpPr>
          <p:nvPr>
            <p:ph type="body" idx="1"/>
          </p:nvPr>
        </p:nvSpPr>
        <p:spPr/>
        <p:txBody>
          <a:bodyPr/>
          <a:lstStyle/>
          <a:p>
            <a:r>
              <a:rPr lang="en-US" dirty="0"/>
              <a:t>The 95th percentile (P95) latency for each stage was computed independently using sorted latency samples. The overall end-to-end P95 latency is not equal to the sum of individual stage P95 values, because each stage’s P95 may originate from different requests. Therefore, percentiles are non-additive, and the total P95 reflects the 95th percentile of complete request durations rather than a combination of per-stage worst cases.</a:t>
            </a:r>
          </a:p>
          <a:p>
            <a:endParaRPr lang="en-US" sz="1200" dirty="0"/>
          </a:p>
          <a:p>
            <a:r>
              <a:rPr lang="en-US" dirty="0"/>
              <a:t>Because:</a:t>
            </a:r>
          </a:p>
          <a:p>
            <a:r>
              <a:rPr lang="en-US" dirty="0"/>
              <a:t>The request with </a:t>
            </a:r>
            <a:r>
              <a:rPr lang="en-US" b="1" dirty="0"/>
              <a:t>worst API</a:t>
            </a:r>
            <a:r>
              <a:rPr lang="en-US" dirty="0"/>
              <a:t> did NOT have worst STT + worst TTS at the same time </a:t>
            </a:r>
          </a:p>
          <a:p>
            <a:r>
              <a:rPr lang="en-US" dirty="0"/>
              <a:t>So the combined worst-case is </a:t>
            </a:r>
            <a:r>
              <a:rPr lang="en-US" b="1" dirty="0"/>
              <a:t>less than sum of individual worsts</a:t>
            </a:r>
            <a:endParaRPr lang="en-US" dirty="0"/>
          </a:p>
          <a:p>
            <a:endParaRPr lang="en-US" sz="1200" dirty="0"/>
          </a:p>
        </p:txBody>
      </p:sp>
    </p:spTree>
    <p:extLst>
      <p:ext uri="{BB962C8B-B14F-4D97-AF65-F5344CB8AC3E}">
        <p14:creationId xmlns:p14="http://schemas.microsoft.com/office/powerpoint/2010/main" val="3373314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total hardware investment is amortized over a three-year period to estimate annual cost. Dividing the total deployment cost (USD 3,220–8,800) by three results in an annual cost of approximately USD 1,073–2,933 for the entire hotel. Then divide by 50. Then it becomes </a:t>
            </a:r>
            <a:r>
              <a:rPr lang="en-US" sz="1200" b="1" dirty="0">
                <a:solidFill>
                  <a:srgbClr val="1B2A4A"/>
                </a:solidFill>
                <a:latin typeface="Calibri"/>
              </a:rPr>
              <a:t>$21–$59 per room , per year</a:t>
            </a:r>
            <a:endParaRPr lang="en-US"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5F87A-0DE7-1D4D-E600-FDAF87E2F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C2BD98-B755-6C7F-896A-081FB8C848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82781A-732D-0277-3BB7-6A71B0545B53}"/>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22364877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7A8A5-7BB0-1860-77C3-EDB03DAAAF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5E29EC-3292-7760-2784-2B8A7543C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679DDA-18E0-00D9-F35E-26102278C5A9}"/>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1821059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B6CB-9431-6BE8-4BA2-8CA9A40A02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C3BE8A-DD0B-57A7-DE12-798A01E95A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B06EF5-0DD9-E777-DA4D-DB52552107DA}"/>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6173435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CCCCD-36AC-86FD-40AB-BDD4AE15DF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AA5FDC-E9B7-5DC9-5DCA-F0D63E491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DC6104-2BEC-DDB4-E9B3-EFC96B3DE705}"/>
              </a:ext>
            </a:extLst>
          </p:cNvPr>
          <p:cNvSpPr>
            <a:spLocks noGrp="1"/>
          </p:cNvSpPr>
          <p:nvPr>
            <p:ph type="dt" sz="half" idx="10"/>
          </p:nvPr>
        </p:nvSpPr>
        <p:spPr/>
        <p:txBody>
          <a:bodyPr/>
          <a:lstStyle/>
          <a:p>
            <a:fld id="{DE353F3F-4660-4700-9F5B-A506E0C71572}" type="datetime1">
              <a:rPr lang="en-US" smtClean="0"/>
              <a:t>5/22/2026</a:t>
            </a:fld>
            <a:endParaRPr lang="en-US"/>
          </a:p>
        </p:txBody>
      </p:sp>
      <p:sp>
        <p:nvSpPr>
          <p:cNvPr id="5" name="Footer Placeholder 4">
            <a:extLst>
              <a:ext uri="{FF2B5EF4-FFF2-40B4-BE49-F238E27FC236}">
                <a16:creationId xmlns:a16="http://schemas.microsoft.com/office/drawing/2014/main" id="{A5227CE3-DE6C-9EC0-BB3B-1FF073CE5F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3EEBD9-8CC6-B38B-ACF5-CC6E98A1B767}"/>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3722406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4249D-BA72-9EB9-AE49-BD005CBDDD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243FCD-2A8F-A54A-FE94-AC1E7E31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4238B0-D101-E095-A47B-1DB9B58CC141}"/>
              </a:ext>
            </a:extLst>
          </p:cNvPr>
          <p:cNvSpPr>
            <a:spLocks noGrp="1"/>
          </p:cNvSpPr>
          <p:nvPr>
            <p:ph type="dt" sz="half" idx="10"/>
          </p:nvPr>
        </p:nvSpPr>
        <p:spPr/>
        <p:txBody>
          <a:bodyPr/>
          <a:lstStyle/>
          <a:p>
            <a:fld id="{9BAECDF4-DBAE-4F1B-9F2F-0437977C0D6A}" type="datetime1">
              <a:rPr lang="en-US" smtClean="0"/>
              <a:t>5/22/2026</a:t>
            </a:fld>
            <a:endParaRPr lang="en-US"/>
          </a:p>
        </p:txBody>
      </p:sp>
      <p:sp>
        <p:nvSpPr>
          <p:cNvPr id="5" name="Footer Placeholder 4">
            <a:extLst>
              <a:ext uri="{FF2B5EF4-FFF2-40B4-BE49-F238E27FC236}">
                <a16:creationId xmlns:a16="http://schemas.microsoft.com/office/drawing/2014/main" id="{E3CBCE0B-8986-7A1E-5E22-8D828A11B6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08801B-1789-42FB-CA25-7FF6136D4711}"/>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3609677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55EB4-D773-D046-9C75-86014CDFE4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7F963C-3A03-684F-2EBC-4FDC312471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FF09EA-DA0E-2D4E-67C8-035CECA76E08}"/>
              </a:ext>
            </a:extLst>
          </p:cNvPr>
          <p:cNvSpPr>
            <a:spLocks noGrp="1"/>
          </p:cNvSpPr>
          <p:nvPr>
            <p:ph type="dt" sz="half" idx="10"/>
          </p:nvPr>
        </p:nvSpPr>
        <p:spPr/>
        <p:txBody>
          <a:bodyPr/>
          <a:lstStyle/>
          <a:p>
            <a:fld id="{806DC765-BF7F-44EA-BB87-AE4B47EE0CFB}" type="datetime1">
              <a:rPr lang="en-US" smtClean="0"/>
              <a:t>5/22/2026</a:t>
            </a:fld>
            <a:endParaRPr lang="en-US"/>
          </a:p>
        </p:txBody>
      </p:sp>
      <p:sp>
        <p:nvSpPr>
          <p:cNvPr id="5" name="Footer Placeholder 4">
            <a:extLst>
              <a:ext uri="{FF2B5EF4-FFF2-40B4-BE49-F238E27FC236}">
                <a16:creationId xmlns:a16="http://schemas.microsoft.com/office/drawing/2014/main" id="{0BC22C14-7BAF-239F-9B86-A989C727F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526B08-6C9F-376C-B724-0FAF4F88AFC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750716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5BEA-5AAE-9009-F203-A1F5CD79EEF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6EB357-FDBC-8D80-1F83-595A263879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6A46655-2BB6-0B70-21C2-ABF2F68B9A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3FFBC3A-D513-EAEA-C24A-353BA3EF7E28}"/>
              </a:ext>
            </a:extLst>
          </p:cNvPr>
          <p:cNvSpPr>
            <a:spLocks noGrp="1"/>
          </p:cNvSpPr>
          <p:nvPr>
            <p:ph type="dt" sz="half" idx="10"/>
          </p:nvPr>
        </p:nvSpPr>
        <p:spPr/>
        <p:txBody>
          <a:bodyPr/>
          <a:lstStyle/>
          <a:p>
            <a:fld id="{1D5644CB-F700-4586-8D93-64F8C3A9A84D}" type="datetime1">
              <a:rPr lang="en-US" smtClean="0"/>
              <a:t>5/22/2026</a:t>
            </a:fld>
            <a:endParaRPr lang="en-US"/>
          </a:p>
        </p:txBody>
      </p:sp>
      <p:sp>
        <p:nvSpPr>
          <p:cNvPr id="6" name="Footer Placeholder 5">
            <a:extLst>
              <a:ext uri="{FF2B5EF4-FFF2-40B4-BE49-F238E27FC236}">
                <a16:creationId xmlns:a16="http://schemas.microsoft.com/office/drawing/2014/main" id="{0EA9CCF3-D61C-814A-36ED-CAE857EB7E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14A04A-312C-1A81-25B7-79EC896C4969}"/>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540800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9AE52-BC42-E346-F0A9-EBE76BA749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7D125B-553F-F78F-0B3C-9C45C8CE54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D280AD-ACCF-A949-18A3-260FFFD245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20D5B3-649B-D5EB-400F-DE9208CF51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BE17AD-E455-1A19-5BC1-9C85F6DF7B2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2320EC-C138-01F6-011D-769F7DB76147}"/>
              </a:ext>
            </a:extLst>
          </p:cNvPr>
          <p:cNvSpPr>
            <a:spLocks noGrp="1"/>
          </p:cNvSpPr>
          <p:nvPr>
            <p:ph type="dt" sz="half" idx="10"/>
          </p:nvPr>
        </p:nvSpPr>
        <p:spPr/>
        <p:txBody>
          <a:bodyPr/>
          <a:lstStyle/>
          <a:p>
            <a:fld id="{919B2F92-DE44-41D1-8237-53690E1FE645}" type="datetime1">
              <a:rPr lang="en-US" smtClean="0"/>
              <a:t>5/22/2026</a:t>
            </a:fld>
            <a:endParaRPr lang="en-US"/>
          </a:p>
        </p:txBody>
      </p:sp>
      <p:sp>
        <p:nvSpPr>
          <p:cNvPr id="8" name="Footer Placeholder 7">
            <a:extLst>
              <a:ext uri="{FF2B5EF4-FFF2-40B4-BE49-F238E27FC236}">
                <a16:creationId xmlns:a16="http://schemas.microsoft.com/office/drawing/2014/main" id="{3A4B207A-747F-2A33-963F-34105851581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9CBF614-492B-DE7A-682F-1EEEE90F0992}"/>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862748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1C4C9-9A6C-9B44-2C38-0FCE71BD56D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870A036-B35F-BEEE-541C-1A85E3127EC6}"/>
              </a:ext>
            </a:extLst>
          </p:cNvPr>
          <p:cNvSpPr>
            <a:spLocks noGrp="1"/>
          </p:cNvSpPr>
          <p:nvPr>
            <p:ph type="dt" sz="half" idx="10"/>
          </p:nvPr>
        </p:nvSpPr>
        <p:spPr/>
        <p:txBody>
          <a:bodyPr/>
          <a:lstStyle/>
          <a:p>
            <a:fld id="{5841B072-B9D0-42AE-97C8-CB2FA2B6C3D7}" type="datetime1">
              <a:rPr lang="en-US" smtClean="0"/>
              <a:t>5/22/2026</a:t>
            </a:fld>
            <a:endParaRPr lang="en-US"/>
          </a:p>
        </p:txBody>
      </p:sp>
      <p:sp>
        <p:nvSpPr>
          <p:cNvPr id="4" name="Footer Placeholder 3">
            <a:extLst>
              <a:ext uri="{FF2B5EF4-FFF2-40B4-BE49-F238E27FC236}">
                <a16:creationId xmlns:a16="http://schemas.microsoft.com/office/drawing/2014/main" id="{973FCC73-B5C1-44E4-9B19-A834BE5E354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91B10AC-E7D2-6255-089C-1D67DD6542BB}"/>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95045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66C9C-EEC6-4451-FF3C-F89330AB6D7F}"/>
              </a:ext>
            </a:extLst>
          </p:cNvPr>
          <p:cNvSpPr>
            <a:spLocks noGrp="1"/>
          </p:cNvSpPr>
          <p:nvPr>
            <p:ph type="dt" sz="half" idx="10"/>
          </p:nvPr>
        </p:nvSpPr>
        <p:spPr/>
        <p:txBody>
          <a:bodyPr/>
          <a:lstStyle/>
          <a:p>
            <a:fld id="{7244EA85-D809-434B-81E9-BDCE20D58EE7}" type="datetime1">
              <a:rPr lang="en-US" smtClean="0"/>
              <a:t>5/22/2026</a:t>
            </a:fld>
            <a:endParaRPr lang="en-US"/>
          </a:p>
        </p:txBody>
      </p:sp>
      <p:sp>
        <p:nvSpPr>
          <p:cNvPr id="3" name="Footer Placeholder 2">
            <a:extLst>
              <a:ext uri="{FF2B5EF4-FFF2-40B4-BE49-F238E27FC236}">
                <a16:creationId xmlns:a16="http://schemas.microsoft.com/office/drawing/2014/main" id="{DECF0E36-D9C1-56CD-8140-5E10667588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A3D1B4-54C6-C7B7-70E5-6B5761068DD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422290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26FF0-37BF-896D-E327-9842A701F0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E445E1-A853-4A91-FAC2-4C03B606CF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FEE65C-1E99-A5FC-92CE-9810E3AFF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4EFF4D-7E66-7316-E3E9-CA729B8309F9}"/>
              </a:ext>
            </a:extLst>
          </p:cNvPr>
          <p:cNvSpPr>
            <a:spLocks noGrp="1"/>
          </p:cNvSpPr>
          <p:nvPr>
            <p:ph type="dt" sz="half" idx="10"/>
          </p:nvPr>
        </p:nvSpPr>
        <p:spPr/>
        <p:txBody>
          <a:bodyPr/>
          <a:lstStyle/>
          <a:p>
            <a:fld id="{67204E8A-CED7-4200-8189-F6205532AB5A}" type="datetime1">
              <a:rPr lang="en-US" smtClean="0"/>
              <a:t>5/22/2026</a:t>
            </a:fld>
            <a:endParaRPr lang="en-US"/>
          </a:p>
        </p:txBody>
      </p:sp>
      <p:sp>
        <p:nvSpPr>
          <p:cNvPr id="6" name="Footer Placeholder 5">
            <a:extLst>
              <a:ext uri="{FF2B5EF4-FFF2-40B4-BE49-F238E27FC236}">
                <a16:creationId xmlns:a16="http://schemas.microsoft.com/office/drawing/2014/main" id="{6EC10280-2020-C728-AD58-8490B5A479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8E3B08-C646-36E6-3C1E-CE5AAAF1BCCE}"/>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0558232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B8EAE-0149-7E60-6D9A-5C938EDDD0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8A205F-7D9D-E5AA-8688-AC5508DD22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1DA380-A23C-FB6E-F99C-1B211D009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44D3D7-5B7D-F216-A6C2-30A6D8FF0613}"/>
              </a:ext>
            </a:extLst>
          </p:cNvPr>
          <p:cNvSpPr>
            <a:spLocks noGrp="1"/>
          </p:cNvSpPr>
          <p:nvPr>
            <p:ph type="dt" sz="half" idx="10"/>
          </p:nvPr>
        </p:nvSpPr>
        <p:spPr/>
        <p:txBody>
          <a:bodyPr/>
          <a:lstStyle/>
          <a:p>
            <a:fld id="{167E2F06-0CB0-4B78-969A-26083473BDFF}" type="datetime1">
              <a:rPr lang="en-US" smtClean="0"/>
              <a:t>5/22/2026</a:t>
            </a:fld>
            <a:endParaRPr lang="en-US"/>
          </a:p>
        </p:txBody>
      </p:sp>
      <p:sp>
        <p:nvSpPr>
          <p:cNvPr id="6" name="Footer Placeholder 5">
            <a:extLst>
              <a:ext uri="{FF2B5EF4-FFF2-40B4-BE49-F238E27FC236}">
                <a16:creationId xmlns:a16="http://schemas.microsoft.com/office/drawing/2014/main" id="{A91A029B-275D-6ACC-4201-DD937AD169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9E15DE-6494-8A97-7F2F-F7B727AACD0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311848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2A73D-43D1-9B6C-B535-E12F5784DE5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C7547C-F875-2A06-222E-643C6CE699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8C331C-B8EB-5760-6178-9ED936DADBB3}"/>
              </a:ext>
            </a:extLst>
          </p:cNvPr>
          <p:cNvSpPr>
            <a:spLocks noGrp="1"/>
          </p:cNvSpPr>
          <p:nvPr>
            <p:ph type="dt" sz="half" idx="10"/>
          </p:nvPr>
        </p:nvSpPr>
        <p:spPr/>
        <p:txBody>
          <a:bodyPr/>
          <a:lstStyle/>
          <a:p>
            <a:fld id="{66428D9F-DB8F-481A-9398-4E577FB5AB55}" type="datetime1">
              <a:rPr lang="en-US" smtClean="0"/>
              <a:t>5/22/2026</a:t>
            </a:fld>
            <a:endParaRPr lang="en-US"/>
          </a:p>
        </p:txBody>
      </p:sp>
      <p:sp>
        <p:nvSpPr>
          <p:cNvPr id="5" name="Footer Placeholder 4">
            <a:extLst>
              <a:ext uri="{FF2B5EF4-FFF2-40B4-BE49-F238E27FC236}">
                <a16:creationId xmlns:a16="http://schemas.microsoft.com/office/drawing/2014/main" id="{977A1655-DBE2-A7B0-7926-2438669B79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03C7BB-D61F-51AF-CCBC-1ADE14925BC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668534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480166-E883-8CC3-7892-D89A320B51F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0750B6A-2D6B-BA1B-0343-3AAF06EAD5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149A21-4E95-A64C-708F-09DE5BC758B8}"/>
              </a:ext>
            </a:extLst>
          </p:cNvPr>
          <p:cNvSpPr>
            <a:spLocks noGrp="1"/>
          </p:cNvSpPr>
          <p:nvPr>
            <p:ph type="dt" sz="half" idx="10"/>
          </p:nvPr>
        </p:nvSpPr>
        <p:spPr/>
        <p:txBody>
          <a:bodyPr/>
          <a:lstStyle/>
          <a:p>
            <a:fld id="{20B99F97-AF0B-49AF-B987-CCCFD847E1B3}" type="datetime1">
              <a:rPr lang="en-US" smtClean="0"/>
              <a:t>5/22/2026</a:t>
            </a:fld>
            <a:endParaRPr lang="en-US"/>
          </a:p>
        </p:txBody>
      </p:sp>
      <p:sp>
        <p:nvSpPr>
          <p:cNvPr id="5" name="Footer Placeholder 4">
            <a:extLst>
              <a:ext uri="{FF2B5EF4-FFF2-40B4-BE49-F238E27FC236}">
                <a16:creationId xmlns:a16="http://schemas.microsoft.com/office/drawing/2014/main" id="{71543B32-E4C3-F6A9-4F68-476A7AFBEB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96DC43-D722-00D2-C6CF-F140F557DAA3}"/>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86552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4822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1D8806-D441-66B9-36EF-AFD845D14C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5C595-9D6C-5411-3EF7-D2026B5381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50F47B-8967-8BA0-EC06-E21766EA68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C6C94B-3B24-40A5-A029-F594780BE176}" type="datetime1">
              <a:rPr lang="en-US" smtClean="0"/>
              <a:t>5/22/2026</a:t>
            </a:fld>
            <a:endParaRPr lang="en-US"/>
          </a:p>
        </p:txBody>
      </p:sp>
      <p:sp>
        <p:nvSpPr>
          <p:cNvPr id="5" name="Footer Placeholder 4">
            <a:extLst>
              <a:ext uri="{FF2B5EF4-FFF2-40B4-BE49-F238E27FC236}">
                <a16:creationId xmlns:a16="http://schemas.microsoft.com/office/drawing/2014/main" id="{CC6F82AE-8B71-EC78-8311-D8276554CB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832C5BF-A3EB-819E-1697-9C52954006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90CE2D-2882-48A4-88CB-3A003AF6C150}" type="slidenum">
              <a:rPr lang="en-US" smtClean="0"/>
              <a:t>‹#›</a:t>
            </a:fld>
            <a:endParaRPr lang="en-US"/>
          </a:p>
        </p:txBody>
      </p:sp>
      <p:sp>
        <p:nvSpPr>
          <p:cNvPr id="900" name="AccentBar"/>
          <p:cNvSpPr/>
          <p:nvPr userDrawn="1"/>
        </p:nvSpPr>
        <p:spPr>
          <a:xfrm>
            <a:off x="0" y="6583050"/>
            <a:ext cx="12192000" cy="274320"/>
          </a:xfrm>
          <a:prstGeom prst="rect">
            <a:avLst/>
          </a:prstGeom>
          <a:solidFill>
            <a:srgbClr val="2C5F7C"/>
          </a:solidFill>
          <a:ln>
            <a:noFill/>
          </a:ln>
        </p:spPr>
        <p:txBody>
          <a:bodyPr/>
          <a:lstStyle/>
          <a:p>
            <a:endParaRPr lang="en-US"/>
          </a:p>
        </p:txBody>
      </p:sp>
      <p:sp>
        <p:nvSpPr>
          <p:cNvPr id="901" name="Hairline"/>
          <p:cNvSpPr/>
          <p:nvPr userDrawn="1"/>
        </p:nvSpPr>
        <p:spPr>
          <a:xfrm>
            <a:off x="0" y="6548438"/>
            <a:ext cx="12192000" cy="34612"/>
          </a:xfrm>
          <a:prstGeom prst="rect">
            <a:avLst/>
          </a:prstGeom>
          <a:solidFill>
            <a:srgbClr val="C4956A"/>
          </a:solidFill>
          <a:ln>
            <a:noFill/>
          </a:ln>
        </p:spPr>
        <p:txBody>
          <a:bodyPr/>
          <a:lstStyle/>
          <a:p>
            <a:endParaRPr lang="en-US"/>
          </a:p>
        </p:txBody>
      </p:sp>
    </p:spTree>
    <p:extLst>
      <p:ext uri="{BB962C8B-B14F-4D97-AF65-F5344CB8AC3E}">
        <p14:creationId xmlns:p14="http://schemas.microsoft.com/office/powerpoint/2010/main" val="25543834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B2A4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B2A4A"/>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B2A4A"/>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9pPr>
    </p:bodyStyle>
    <p:otherStyle>
      <a:defPPr>
        <a:defRPr lang="en-US">
          <a:solidFill>
            <a:srgbClr val="1B2A4A"/>
          </a:solidFill>
        </a:defRPr>
      </a:defPPr>
      <a:lvl1pPr marL="0" algn="l" defTabSz="914400" rtl="0" eaLnBrk="1" latinLnBrk="0" hangingPunct="1">
        <a:defRPr sz="1800" kern="1200">
          <a:solidFill>
            <a:srgbClr val="1B2A4A"/>
          </a:solidFill>
          <a:latin typeface="+mn-lt"/>
          <a:ea typeface="+mn-ea"/>
          <a:cs typeface="+mn-cs"/>
        </a:defRPr>
      </a:lvl1pPr>
      <a:lvl2pPr marL="457200" algn="l" defTabSz="914400" rtl="0" eaLnBrk="1" latinLnBrk="0" hangingPunct="1">
        <a:defRPr sz="1800" kern="1200">
          <a:solidFill>
            <a:srgbClr val="1B2A4A"/>
          </a:solidFill>
          <a:latin typeface="+mn-lt"/>
          <a:ea typeface="+mn-ea"/>
          <a:cs typeface="+mn-cs"/>
        </a:defRPr>
      </a:lvl2pPr>
      <a:lvl3pPr marL="914400" algn="l" defTabSz="914400" rtl="0" eaLnBrk="1" latinLnBrk="0" hangingPunct="1">
        <a:defRPr sz="1800" kern="1200">
          <a:solidFill>
            <a:srgbClr val="1B2A4A"/>
          </a:solidFill>
          <a:latin typeface="+mn-lt"/>
          <a:ea typeface="+mn-ea"/>
          <a:cs typeface="+mn-cs"/>
        </a:defRPr>
      </a:lvl3pPr>
      <a:lvl4pPr marL="1371600" algn="l" defTabSz="914400" rtl="0" eaLnBrk="1" latinLnBrk="0" hangingPunct="1">
        <a:defRPr sz="1800" kern="1200">
          <a:solidFill>
            <a:srgbClr val="1B2A4A"/>
          </a:solidFill>
          <a:latin typeface="+mn-lt"/>
          <a:ea typeface="+mn-ea"/>
          <a:cs typeface="+mn-cs"/>
        </a:defRPr>
      </a:lvl4pPr>
      <a:lvl5pPr marL="1828800" algn="l" defTabSz="914400" rtl="0" eaLnBrk="1" latinLnBrk="0" hangingPunct="1">
        <a:defRPr sz="1800" kern="1200">
          <a:solidFill>
            <a:srgbClr val="1B2A4A"/>
          </a:solidFill>
          <a:latin typeface="+mn-lt"/>
          <a:ea typeface="+mn-ea"/>
          <a:cs typeface="+mn-cs"/>
        </a:defRPr>
      </a:lvl5pPr>
      <a:lvl6pPr marL="2286000" algn="l" defTabSz="914400" rtl="0" eaLnBrk="1" latinLnBrk="0" hangingPunct="1">
        <a:defRPr sz="1800" kern="1200">
          <a:solidFill>
            <a:srgbClr val="1B2A4A"/>
          </a:solidFill>
          <a:latin typeface="+mn-lt"/>
          <a:ea typeface="+mn-ea"/>
          <a:cs typeface="+mn-cs"/>
        </a:defRPr>
      </a:lvl6pPr>
      <a:lvl7pPr marL="2743200" algn="l" defTabSz="914400" rtl="0" eaLnBrk="1" latinLnBrk="0" hangingPunct="1">
        <a:defRPr sz="1800" kern="1200">
          <a:solidFill>
            <a:srgbClr val="1B2A4A"/>
          </a:solidFill>
          <a:latin typeface="+mn-lt"/>
          <a:ea typeface="+mn-ea"/>
          <a:cs typeface="+mn-cs"/>
        </a:defRPr>
      </a:lvl7pPr>
      <a:lvl8pPr marL="3200400" algn="l" defTabSz="914400" rtl="0" eaLnBrk="1" latinLnBrk="0" hangingPunct="1">
        <a:defRPr sz="1800" kern="1200">
          <a:solidFill>
            <a:srgbClr val="1B2A4A"/>
          </a:solidFill>
          <a:latin typeface="+mn-lt"/>
          <a:ea typeface="+mn-ea"/>
          <a:cs typeface="+mn-cs"/>
        </a:defRPr>
      </a:lvl8pPr>
      <a:lvl9pPr marL="3657600" algn="l" defTabSz="914400" rtl="0" eaLnBrk="1" latinLnBrk="0" hangingPunct="1">
        <a:defRPr sz="1800" kern="1200">
          <a:solidFill>
            <a:srgbClr val="1B2A4A"/>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youtu.be/kWtKFHtbxA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B48220E-6924-AEC2-664C-DD0DC3F196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BB5D760-34C5-FE12-9CA6-45605C5A0A6F}"/>
              </a:ext>
            </a:extLst>
          </p:cNvPr>
          <p:cNvSpPr>
            <a:spLocks noGrp="1"/>
          </p:cNvSpPr>
          <p:nvPr>
            <p:ph type="ctrTitle"/>
          </p:nvPr>
        </p:nvSpPr>
        <p:spPr>
          <a:xfrm>
            <a:off x="681630" y="1356740"/>
            <a:ext cx="10828740" cy="2776142"/>
          </a:xfrm>
        </p:spPr>
        <p:txBody>
          <a:bodyPr>
            <a:noAutofit/>
          </a:bodyPr>
          <a:lstStyle/>
          <a:p>
            <a:pPr>
              <a:lnSpc>
                <a:spcPct val="150000"/>
              </a:lnSpc>
            </a:pP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Low-Cost Offline Voice Assistant </a:t>
            </a:r>
            <a:b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b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for Hospitality Services in Sri Lanka </a:t>
            </a:r>
            <a:b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b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Using Small-Scale Neural Models</a:t>
            </a:r>
          </a:p>
        </p:txBody>
      </p:sp>
      <p:sp>
        <p:nvSpPr>
          <p:cNvPr id="3" name="Subtitle 2">
            <a:extLst>
              <a:ext uri="{FF2B5EF4-FFF2-40B4-BE49-F238E27FC236}">
                <a16:creationId xmlns:a16="http://schemas.microsoft.com/office/drawing/2014/main" id="{47293929-044A-2235-0BD7-E5D458B5C051}"/>
              </a:ext>
            </a:extLst>
          </p:cNvPr>
          <p:cNvSpPr>
            <a:spLocks noGrp="1"/>
          </p:cNvSpPr>
          <p:nvPr>
            <p:ph type="subTitle" idx="1"/>
          </p:nvPr>
        </p:nvSpPr>
        <p:spPr>
          <a:xfrm>
            <a:off x="798968" y="5489623"/>
            <a:ext cx="4724400" cy="1141367"/>
          </a:xfrm>
        </p:spPr>
        <p:txBody>
          <a:bodyPr>
            <a:noAutofit/>
          </a:bodyPr>
          <a:lstStyle/>
          <a:p>
            <a:pPr algn="l"/>
            <a:r>
              <a:rPr lang="en-US" sz="1800" dirty="0">
                <a:solidFill>
                  <a:schemeClr val="bg1"/>
                </a:solidFill>
                <a:latin typeface="Amasis MT Pro Medium" panose="02040604050005020304" pitchFamily="18" charset="0"/>
              </a:rPr>
              <a:t>Module: Data Science Project (Research)</a:t>
            </a:r>
          </a:p>
          <a:p>
            <a:pPr algn="l"/>
            <a:r>
              <a:rPr lang="en-US" sz="1800" dirty="0">
                <a:solidFill>
                  <a:schemeClr val="bg1"/>
                </a:solidFill>
                <a:latin typeface="Amasis MT Pro Medium" panose="02040604050005020304" pitchFamily="18" charset="0"/>
              </a:rPr>
              <a:t>Code: NIB7150CEM</a:t>
            </a:r>
          </a:p>
          <a:p>
            <a:pPr algn="l"/>
            <a:r>
              <a:rPr lang="en-US" sz="1800" dirty="0">
                <a:solidFill>
                  <a:schemeClr val="bg1"/>
                </a:solidFill>
                <a:latin typeface="Amasis MT Pro Medium" panose="02040604050005020304" pitchFamily="18" charset="0"/>
              </a:rPr>
              <a:t>Supervisor: Mr. </a:t>
            </a:r>
            <a:r>
              <a:rPr lang="en-US" sz="1800" dirty="0" err="1">
                <a:solidFill>
                  <a:schemeClr val="bg1"/>
                </a:solidFill>
                <a:latin typeface="Amasis MT Pro Medium" panose="02040604050005020304" pitchFamily="18" charset="0"/>
              </a:rPr>
              <a:t>Dumira</a:t>
            </a:r>
            <a:r>
              <a:rPr lang="en-US" sz="1800" dirty="0">
                <a:solidFill>
                  <a:schemeClr val="bg1"/>
                </a:solidFill>
                <a:latin typeface="Amasis MT Pro Medium" panose="02040604050005020304" pitchFamily="18" charset="0"/>
              </a:rPr>
              <a:t> Athukorala</a:t>
            </a:r>
          </a:p>
        </p:txBody>
      </p:sp>
      <p:sp>
        <p:nvSpPr>
          <p:cNvPr id="5" name="Subtitle 2">
            <a:extLst>
              <a:ext uri="{FF2B5EF4-FFF2-40B4-BE49-F238E27FC236}">
                <a16:creationId xmlns:a16="http://schemas.microsoft.com/office/drawing/2014/main" id="{05AB3537-EF06-2071-BB36-3B75E2B7B84D}"/>
              </a:ext>
            </a:extLst>
          </p:cNvPr>
          <p:cNvSpPr txBox="1">
            <a:spLocks/>
          </p:cNvSpPr>
          <p:nvPr/>
        </p:nvSpPr>
        <p:spPr>
          <a:xfrm>
            <a:off x="6755130" y="5489622"/>
            <a:ext cx="5033011" cy="1141367"/>
          </a:xfrm>
          <a:prstGeom prst="rect">
            <a:avLst/>
          </a:prstGeom>
        </p:spPr>
        <p:txBody>
          <a:bodyPr vert="horz" lIns="91440" tIns="45720" rIns="91440" bIns="45720" rtlCol="0">
            <a:noAutofit/>
          </a:bodyPr>
          <a:lstStyle>
            <a:lvl1pPr indent="0">
              <a:lnSpc>
                <a:spcPct val="90000"/>
              </a:lnSpc>
              <a:spcBef>
                <a:spcPts val="1000"/>
              </a:spcBef>
              <a:buFont typeface="Arial" panose="020B0604020202020204" pitchFamily="34" charset="0"/>
              <a:buNone/>
              <a:defRPr>
                <a:solidFill>
                  <a:srgbClr val="1B2A4A"/>
                </a:solidFill>
                <a:latin typeface="Amasis MT Pro Medium" panose="02040604050005020304" pitchFamily="18" charset="0"/>
              </a:defRPr>
            </a:lvl1pPr>
            <a:lvl2pPr indent="0" algn="ctr">
              <a:lnSpc>
                <a:spcPct val="90000"/>
              </a:lnSpc>
              <a:spcBef>
                <a:spcPts val="500"/>
              </a:spcBef>
              <a:buFont typeface="Arial" panose="020B0604020202020204" pitchFamily="34" charset="0"/>
              <a:buNone/>
              <a:defRPr sz="2000">
                <a:solidFill>
                  <a:srgbClr val="1B2A4A"/>
                </a:solidFill>
              </a:defRPr>
            </a:lvl2pPr>
            <a:lvl3pPr indent="0" algn="ctr">
              <a:lnSpc>
                <a:spcPct val="90000"/>
              </a:lnSpc>
              <a:spcBef>
                <a:spcPts val="500"/>
              </a:spcBef>
              <a:buFont typeface="Arial" panose="020B0604020202020204" pitchFamily="34" charset="0"/>
              <a:buNone/>
              <a:defRPr>
                <a:solidFill>
                  <a:srgbClr val="1B2A4A"/>
                </a:solidFill>
              </a:defRPr>
            </a:lvl3pPr>
            <a:lvl4pPr indent="0" algn="ctr">
              <a:lnSpc>
                <a:spcPct val="90000"/>
              </a:lnSpc>
              <a:spcBef>
                <a:spcPts val="500"/>
              </a:spcBef>
              <a:buFont typeface="Arial" panose="020B0604020202020204" pitchFamily="34" charset="0"/>
              <a:buNone/>
              <a:defRPr sz="1600">
                <a:solidFill>
                  <a:srgbClr val="1B2A4A"/>
                </a:solidFill>
              </a:defRPr>
            </a:lvl4pPr>
            <a:lvl5pPr indent="0" algn="ctr">
              <a:lnSpc>
                <a:spcPct val="90000"/>
              </a:lnSpc>
              <a:spcBef>
                <a:spcPts val="500"/>
              </a:spcBef>
              <a:buFont typeface="Arial" panose="020B0604020202020204" pitchFamily="34" charset="0"/>
              <a:buNone/>
              <a:defRPr sz="1600">
                <a:solidFill>
                  <a:srgbClr val="1B2A4A"/>
                </a:solidFill>
              </a:defRPr>
            </a:lvl5pPr>
            <a:lvl6pPr indent="0" algn="ctr">
              <a:lnSpc>
                <a:spcPct val="90000"/>
              </a:lnSpc>
              <a:spcBef>
                <a:spcPts val="500"/>
              </a:spcBef>
              <a:buFont typeface="Arial" panose="020B0604020202020204" pitchFamily="34" charset="0"/>
              <a:buNone/>
              <a:defRPr sz="1600">
                <a:solidFill>
                  <a:srgbClr val="1B2A4A"/>
                </a:solidFill>
              </a:defRPr>
            </a:lvl6pPr>
            <a:lvl7pPr indent="0" algn="ctr">
              <a:lnSpc>
                <a:spcPct val="90000"/>
              </a:lnSpc>
              <a:spcBef>
                <a:spcPts val="500"/>
              </a:spcBef>
              <a:buFont typeface="Arial" panose="020B0604020202020204" pitchFamily="34" charset="0"/>
              <a:buNone/>
              <a:defRPr sz="1600">
                <a:solidFill>
                  <a:srgbClr val="1B2A4A"/>
                </a:solidFill>
              </a:defRPr>
            </a:lvl7pPr>
            <a:lvl8pPr indent="0" algn="ctr">
              <a:lnSpc>
                <a:spcPct val="90000"/>
              </a:lnSpc>
              <a:spcBef>
                <a:spcPts val="500"/>
              </a:spcBef>
              <a:buFont typeface="Arial" panose="020B0604020202020204" pitchFamily="34" charset="0"/>
              <a:buNone/>
              <a:defRPr sz="1600">
                <a:solidFill>
                  <a:srgbClr val="1B2A4A"/>
                </a:solidFill>
              </a:defRPr>
            </a:lvl8pPr>
            <a:lvl9pPr indent="0" algn="ctr">
              <a:lnSpc>
                <a:spcPct val="90000"/>
              </a:lnSpc>
              <a:spcBef>
                <a:spcPts val="500"/>
              </a:spcBef>
              <a:buFont typeface="Arial" panose="020B0604020202020204" pitchFamily="34" charset="0"/>
              <a:buNone/>
              <a:defRPr sz="1600">
                <a:solidFill>
                  <a:srgbClr val="1B2A4A"/>
                </a:solidFill>
              </a:defRPr>
            </a:lvl9pPr>
          </a:lstStyle>
          <a:p>
            <a:r>
              <a:rPr lang="en-US" dirty="0">
                <a:solidFill>
                  <a:schemeClr val="bg1"/>
                </a:solidFill>
              </a:rPr>
              <a:t>Student Name: M. D. P. Wijesuriya</a:t>
            </a:r>
          </a:p>
          <a:p>
            <a:r>
              <a:rPr lang="en-US" dirty="0">
                <a:solidFill>
                  <a:schemeClr val="bg1"/>
                </a:solidFill>
              </a:rPr>
              <a:t>Student ID: COMScDS241P-002</a:t>
            </a:r>
          </a:p>
          <a:p>
            <a:r>
              <a:rPr lang="en-US" dirty="0">
                <a:solidFill>
                  <a:schemeClr val="bg1"/>
                </a:solidFill>
              </a:rPr>
              <a:t>Email: COMScDS241P-002@student.nibm.lk</a:t>
            </a:r>
          </a:p>
        </p:txBody>
      </p:sp>
    </p:spTree>
    <p:extLst>
      <p:ext uri="{BB962C8B-B14F-4D97-AF65-F5344CB8AC3E}">
        <p14:creationId xmlns:p14="http://schemas.microsoft.com/office/powerpoint/2010/main" val="35572052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99545-CE02-4700-244E-A3458D0A9F3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Slide Number Placeholder 3">
            <a:extLst>
              <a:ext uri="{FF2B5EF4-FFF2-40B4-BE49-F238E27FC236}">
                <a16:creationId xmlns:a16="http://schemas.microsoft.com/office/drawing/2014/main" id="{E0E4BCB5-D069-8F0B-BF9F-3FF933B71B4F}"/>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2</a:t>
            </a:fld>
            <a:endParaRPr lang="en-US" b="1" dirty="0">
              <a:solidFill>
                <a:schemeClr val="bg1">
                  <a:lumMod val="10000"/>
                </a:schemeClr>
              </a:solidFill>
            </a:endParaRPr>
          </a:p>
        </p:txBody>
      </p:sp>
      <p:sp>
        <p:nvSpPr>
          <p:cNvPr id="8" name="Title 1">
            <a:extLst>
              <a:ext uri="{FF2B5EF4-FFF2-40B4-BE49-F238E27FC236}">
                <a16:creationId xmlns:a16="http://schemas.microsoft.com/office/drawing/2014/main" id="{020CDCCF-DE57-3852-F5CA-81B74B7E6516}"/>
              </a:ext>
            </a:extLst>
          </p:cNvPr>
          <p:cNvSpPr txBox="1">
            <a:spLocks/>
          </p:cNvSpPr>
          <p:nvPr/>
        </p:nvSpPr>
        <p:spPr>
          <a:xfrm>
            <a:off x="582549" y="27179"/>
            <a:ext cx="10841355" cy="8683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Background &amp; Objectives </a:t>
            </a:r>
          </a:p>
        </p:txBody>
      </p:sp>
      <p:sp>
        <p:nvSpPr>
          <p:cNvPr id="5" name="Shape 3"/>
          <p:cNvSpPr/>
          <p:nvPr/>
        </p:nvSpPr>
        <p:spPr>
          <a:xfrm>
            <a:off x="609600" y="1195610"/>
            <a:ext cx="10972800" cy="474694"/>
          </a:xfrm>
          <a:prstGeom prst="rect">
            <a:avLst/>
          </a:prstGeom>
          <a:solidFill>
            <a:srgbClr val="0D2340"/>
          </a:solidFill>
          <a:ln w="12700">
            <a:solidFill>
              <a:srgbClr val="FFFFFF"/>
            </a:solidFill>
            <a:prstDash val="solid"/>
          </a:ln>
        </p:spPr>
        <p:txBody>
          <a:bodyPr/>
          <a:lstStyle/>
          <a:p>
            <a:endParaRPr lang="en-US"/>
          </a:p>
        </p:txBody>
      </p:sp>
      <p:sp>
        <p:nvSpPr>
          <p:cNvPr id="6" name="Text 4"/>
          <p:cNvSpPr/>
          <p:nvPr/>
        </p:nvSpPr>
        <p:spPr>
          <a:xfrm>
            <a:off x="670560" y="1097280"/>
            <a:ext cx="10850880" cy="609600"/>
          </a:xfrm>
          <a:prstGeom prst="rect">
            <a:avLst/>
          </a:prstGeom>
          <a:noFill/>
          <a:ln/>
        </p:spPr>
        <p:txBody>
          <a:bodyPr wrap="square" rtlCol="0" anchor="ctr"/>
          <a:lstStyle/>
          <a:p>
            <a:pPr algn="ctr" defTabSz="1219170"/>
            <a:r>
              <a:rPr lang="en-US" sz="2000" b="1" dirty="0">
                <a:solidFill>
                  <a:srgbClr val="FFFFFF"/>
                </a:solidFill>
                <a:latin typeface="Calibri" pitchFamily="34" charset="0"/>
                <a:ea typeface="Calibri" pitchFamily="34" charset="-122"/>
                <a:cs typeface="Calibri" pitchFamily="34" charset="-120"/>
              </a:rPr>
              <a:t>Research Overview: Low-Cost Offline Voice Assistant for Hotel Room Service in Sri Lanka</a:t>
            </a:r>
            <a:endParaRPr lang="en-US" sz="2000" dirty="0">
              <a:solidFill>
                <a:prstClr val="black"/>
              </a:solidFill>
              <a:latin typeface="Calibri" panose="020F0502020204030204"/>
            </a:endParaRPr>
          </a:p>
        </p:txBody>
      </p:sp>
      <p:sp>
        <p:nvSpPr>
          <p:cNvPr id="2" name="Shape 5"/>
          <p:cNvSpPr/>
          <p:nvPr/>
        </p:nvSpPr>
        <p:spPr>
          <a:xfrm>
            <a:off x="588011" y="1853185"/>
            <a:ext cx="5425440" cy="439220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dirty="0"/>
          </a:p>
        </p:txBody>
      </p:sp>
      <p:sp>
        <p:nvSpPr>
          <p:cNvPr id="3" name="Text 6"/>
          <p:cNvSpPr/>
          <p:nvPr/>
        </p:nvSpPr>
        <p:spPr>
          <a:xfrm>
            <a:off x="768096" y="1937496"/>
            <a:ext cx="4267200" cy="365760"/>
          </a:xfrm>
          <a:prstGeom prst="rect">
            <a:avLst/>
          </a:prstGeom>
          <a:noFill/>
          <a:ln/>
        </p:spPr>
        <p:txBody>
          <a:bodyPr wrap="square" lIns="0" tIns="0" rIns="0" bIns="0" rtlCol="0" anchor="ctr"/>
          <a:lstStyle/>
          <a:p>
            <a:pPr defTabSz="1219170"/>
            <a:r>
              <a:rPr lang="en-US" sz="2400" dirty="0">
                <a:solidFill>
                  <a:srgbClr val="0E7490"/>
                </a:solidFill>
                <a:latin typeface="Calibri" pitchFamily="34" charset="0"/>
                <a:ea typeface="Calibri" pitchFamily="34" charset="-122"/>
                <a:cs typeface="Calibri" pitchFamily="34" charset="-120"/>
              </a:rPr>
              <a:t>Context &amp; Problem</a:t>
            </a:r>
            <a:endParaRPr lang="en-US" sz="2400" dirty="0">
              <a:solidFill>
                <a:prstClr val="black"/>
              </a:solidFill>
              <a:latin typeface="Calibri" panose="020F0502020204030204"/>
            </a:endParaRPr>
          </a:p>
        </p:txBody>
      </p:sp>
      <p:sp>
        <p:nvSpPr>
          <p:cNvPr id="9" name="Text 7"/>
          <p:cNvSpPr/>
          <p:nvPr/>
        </p:nvSpPr>
        <p:spPr>
          <a:xfrm>
            <a:off x="782541" y="2527592"/>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Telephone requests</a:t>
            </a:r>
            <a:endParaRPr lang="en-US" sz="1600" dirty="0">
              <a:solidFill>
                <a:prstClr val="black"/>
              </a:solidFill>
              <a:latin typeface="Calibri" panose="020F0502020204030204"/>
            </a:endParaRPr>
          </a:p>
        </p:txBody>
      </p:sp>
      <p:sp>
        <p:nvSpPr>
          <p:cNvPr id="10" name="Text 8"/>
          <p:cNvSpPr/>
          <p:nvPr/>
        </p:nvSpPr>
        <p:spPr>
          <a:xfrm>
            <a:off x="801371" y="2758015"/>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Staff unavailable, language barriers, no audit trail</a:t>
            </a:r>
            <a:endParaRPr lang="en-US" sz="1600" dirty="0">
              <a:solidFill>
                <a:prstClr val="black"/>
              </a:solidFill>
              <a:latin typeface="Calibri" panose="020F0502020204030204"/>
            </a:endParaRPr>
          </a:p>
        </p:txBody>
      </p:sp>
      <p:sp>
        <p:nvSpPr>
          <p:cNvPr id="11" name="Text 9"/>
          <p:cNvSpPr/>
          <p:nvPr/>
        </p:nvSpPr>
        <p:spPr>
          <a:xfrm>
            <a:off x="770349" y="3938252"/>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Alexa for Hospitality</a:t>
            </a:r>
            <a:endParaRPr lang="en-US" sz="1600" dirty="0">
              <a:solidFill>
                <a:prstClr val="black"/>
              </a:solidFill>
              <a:latin typeface="Calibri" panose="020F0502020204030204"/>
            </a:endParaRPr>
          </a:p>
        </p:txBody>
      </p:sp>
      <p:sp>
        <p:nvSpPr>
          <p:cNvPr id="12" name="Text 10"/>
          <p:cNvSpPr/>
          <p:nvPr/>
        </p:nvSpPr>
        <p:spPr>
          <a:xfrm>
            <a:off x="819117" y="4186597"/>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Cloud-only; unaffordable for most Sri Lankan hotels</a:t>
            </a:r>
            <a:endParaRPr lang="en-US" sz="1600" dirty="0">
              <a:solidFill>
                <a:prstClr val="black"/>
              </a:solidFill>
              <a:latin typeface="Calibri" panose="020F0502020204030204"/>
            </a:endParaRPr>
          </a:p>
        </p:txBody>
      </p:sp>
      <p:sp>
        <p:nvSpPr>
          <p:cNvPr id="13" name="Text 11"/>
          <p:cNvSpPr/>
          <p:nvPr/>
        </p:nvSpPr>
        <p:spPr>
          <a:xfrm>
            <a:off x="768096" y="4698994"/>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Internet dependency</a:t>
            </a:r>
            <a:endParaRPr lang="en-US" sz="1600" dirty="0">
              <a:solidFill>
                <a:prstClr val="black"/>
              </a:solidFill>
              <a:latin typeface="Calibri" panose="020F0502020204030204"/>
            </a:endParaRPr>
          </a:p>
        </p:txBody>
      </p:sp>
      <p:sp>
        <p:nvSpPr>
          <p:cNvPr id="14" name="Text 12"/>
          <p:cNvSpPr/>
          <p:nvPr/>
        </p:nvSpPr>
        <p:spPr>
          <a:xfrm>
            <a:off x="829056" y="4947207"/>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Unreliable outside Colombo</a:t>
            </a:r>
            <a:endParaRPr lang="en-US" sz="1600" dirty="0">
              <a:solidFill>
                <a:prstClr val="black"/>
              </a:solidFill>
              <a:latin typeface="Calibri" panose="020F0502020204030204"/>
            </a:endParaRPr>
          </a:p>
        </p:txBody>
      </p:sp>
      <p:sp>
        <p:nvSpPr>
          <p:cNvPr id="15" name="Text 13"/>
          <p:cNvSpPr/>
          <p:nvPr/>
        </p:nvSpPr>
        <p:spPr>
          <a:xfrm>
            <a:off x="782541" y="5331575"/>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Privacy risks</a:t>
            </a:r>
            <a:endParaRPr lang="en-US" sz="1600" dirty="0">
              <a:solidFill>
                <a:prstClr val="black"/>
              </a:solidFill>
              <a:latin typeface="Calibri" panose="020F0502020204030204"/>
            </a:endParaRPr>
          </a:p>
        </p:txBody>
      </p:sp>
      <p:sp>
        <p:nvSpPr>
          <p:cNvPr id="16" name="Text 14"/>
          <p:cNvSpPr/>
          <p:nvPr/>
        </p:nvSpPr>
        <p:spPr>
          <a:xfrm>
            <a:off x="819117" y="5612650"/>
            <a:ext cx="4998720" cy="410197"/>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Guests uncomfortable with cloud microphones</a:t>
            </a:r>
          </a:p>
          <a:p>
            <a:pPr defTabSz="1219170"/>
            <a:r>
              <a:rPr lang="en-US" sz="1600" dirty="0" err="1"/>
              <a:t>Buhalis</a:t>
            </a:r>
            <a:r>
              <a:rPr lang="en-US" sz="1600" dirty="0"/>
              <a:t> and </a:t>
            </a:r>
            <a:r>
              <a:rPr lang="en-US" sz="1600" dirty="0" err="1"/>
              <a:t>Moldavska</a:t>
            </a:r>
            <a:r>
              <a:rPr lang="en-US" sz="1600" dirty="0"/>
              <a:t> (2022)</a:t>
            </a:r>
            <a:endParaRPr lang="en-US" sz="1600" dirty="0">
              <a:solidFill>
                <a:prstClr val="black"/>
              </a:solidFill>
              <a:latin typeface="Calibri" panose="020F0502020204030204"/>
            </a:endParaRPr>
          </a:p>
        </p:txBody>
      </p:sp>
      <p:sp>
        <p:nvSpPr>
          <p:cNvPr id="19" name="Shape 17"/>
          <p:cNvSpPr/>
          <p:nvPr/>
        </p:nvSpPr>
        <p:spPr>
          <a:xfrm>
            <a:off x="6217920" y="1914969"/>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0" name="Shape 18"/>
          <p:cNvSpPr/>
          <p:nvPr/>
        </p:nvSpPr>
        <p:spPr>
          <a:xfrm>
            <a:off x="6217920" y="1914969"/>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21" name="Text 19"/>
          <p:cNvSpPr/>
          <p:nvPr/>
        </p:nvSpPr>
        <p:spPr>
          <a:xfrm>
            <a:off x="6217920" y="1963737"/>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01</a:t>
            </a:r>
            <a:endParaRPr lang="en-US" sz="1600" dirty="0">
              <a:solidFill>
                <a:prstClr val="black"/>
              </a:solidFill>
              <a:latin typeface="Calibri" panose="020F0502020204030204"/>
            </a:endParaRPr>
          </a:p>
        </p:txBody>
      </p:sp>
      <p:sp>
        <p:nvSpPr>
          <p:cNvPr id="22" name="Text 20"/>
          <p:cNvSpPr/>
          <p:nvPr/>
        </p:nvSpPr>
        <p:spPr>
          <a:xfrm>
            <a:off x="6766560" y="1988121"/>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Build the Prototype</a:t>
            </a:r>
            <a:endParaRPr lang="en-US" dirty="0">
              <a:solidFill>
                <a:prstClr val="black"/>
              </a:solidFill>
              <a:latin typeface="Calibri" panose="020F0502020204030204"/>
            </a:endParaRPr>
          </a:p>
        </p:txBody>
      </p:sp>
      <p:sp>
        <p:nvSpPr>
          <p:cNvPr id="23" name="Text 21"/>
          <p:cNvSpPr/>
          <p:nvPr/>
        </p:nvSpPr>
        <p:spPr>
          <a:xfrm>
            <a:off x="6766560" y="2378265"/>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Offline voice assistant on commodity Android tablets</a:t>
            </a:r>
            <a:endParaRPr lang="en-US" sz="1600" dirty="0">
              <a:solidFill>
                <a:prstClr val="black"/>
              </a:solidFill>
              <a:latin typeface="Calibri" panose="020F0502020204030204"/>
            </a:endParaRPr>
          </a:p>
        </p:txBody>
      </p:sp>
      <p:sp>
        <p:nvSpPr>
          <p:cNvPr id="24" name="Shape 22"/>
          <p:cNvSpPr/>
          <p:nvPr/>
        </p:nvSpPr>
        <p:spPr>
          <a:xfrm>
            <a:off x="6217920" y="3012249"/>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5" name="Shape 23"/>
          <p:cNvSpPr/>
          <p:nvPr/>
        </p:nvSpPr>
        <p:spPr>
          <a:xfrm>
            <a:off x="6217920" y="3012249"/>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26" name="Text 24"/>
          <p:cNvSpPr/>
          <p:nvPr/>
        </p:nvSpPr>
        <p:spPr>
          <a:xfrm>
            <a:off x="6217920" y="3061017"/>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02</a:t>
            </a:r>
            <a:endParaRPr lang="en-US" sz="1600" dirty="0">
              <a:solidFill>
                <a:prstClr val="black"/>
              </a:solidFill>
              <a:latin typeface="Calibri" panose="020F0502020204030204"/>
            </a:endParaRPr>
          </a:p>
        </p:txBody>
      </p:sp>
      <p:sp>
        <p:nvSpPr>
          <p:cNvPr id="27" name="Text 25"/>
          <p:cNvSpPr/>
          <p:nvPr/>
        </p:nvSpPr>
        <p:spPr>
          <a:xfrm>
            <a:off x="6766560" y="3085401"/>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Dataset &amp; Noise-Aware NLU</a:t>
            </a:r>
            <a:endParaRPr lang="en-US" dirty="0">
              <a:solidFill>
                <a:prstClr val="black"/>
              </a:solidFill>
              <a:latin typeface="Calibri" panose="020F0502020204030204"/>
            </a:endParaRPr>
          </a:p>
        </p:txBody>
      </p:sp>
      <p:sp>
        <p:nvSpPr>
          <p:cNvPr id="28" name="Text 26"/>
          <p:cNvSpPr/>
          <p:nvPr/>
        </p:nvSpPr>
        <p:spPr>
          <a:xfrm>
            <a:off x="6766560" y="3475545"/>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10,080-phrase dataset </a:t>
            </a:r>
          </a:p>
          <a:p>
            <a:pPr defTabSz="1219170"/>
            <a:r>
              <a:rPr lang="en-US" sz="1600" dirty="0" err="1">
                <a:solidFill>
                  <a:srgbClr val="475569"/>
                </a:solidFill>
                <a:latin typeface="Calibri" pitchFamily="34" charset="0"/>
                <a:ea typeface="Calibri" pitchFamily="34" charset="-122"/>
                <a:cs typeface="Calibri" pitchFamily="34" charset="-120"/>
              </a:rPr>
              <a:t>MobileBERT</a:t>
            </a:r>
            <a:r>
              <a:rPr lang="en-US" sz="1600" dirty="0">
                <a:solidFill>
                  <a:srgbClr val="475569"/>
                </a:solidFill>
                <a:latin typeface="Calibri" pitchFamily="34" charset="0"/>
                <a:ea typeface="Calibri" pitchFamily="34" charset="-122"/>
                <a:cs typeface="Calibri" pitchFamily="34" charset="-120"/>
              </a:rPr>
              <a:t> trained on Vosk noise</a:t>
            </a:r>
            <a:endParaRPr lang="en-US" sz="1600" dirty="0">
              <a:solidFill>
                <a:prstClr val="black"/>
              </a:solidFill>
              <a:latin typeface="Calibri" panose="020F0502020204030204"/>
            </a:endParaRPr>
          </a:p>
        </p:txBody>
      </p:sp>
      <p:sp>
        <p:nvSpPr>
          <p:cNvPr id="29" name="Shape 27"/>
          <p:cNvSpPr/>
          <p:nvPr/>
        </p:nvSpPr>
        <p:spPr>
          <a:xfrm>
            <a:off x="6217920" y="4109529"/>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0" name="Shape 28"/>
          <p:cNvSpPr/>
          <p:nvPr/>
        </p:nvSpPr>
        <p:spPr>
          <a:xfrm>
            <a:off x="6217920" y="4109529"/>
            <a:ext cx="463296" cy="975360"/>
          </a:xfrm>
          <a:prstGeom prst="rect">
            <a:avLst/>
          </a:prstGeom>
          <a:solidFill>
            <a:srgbClr val="0E7490"/>
          </a:solidFill>
          <a:ln w="12700">
            <a:solidFill>
              <a:srgbClr val="FFFFFF"/>
            </a:solidFill>
            <a:prstDash val="solid"/>
          </a:ln>
        </p:spPr>
        <p:txBody>
          <a:bodyPr/>
          <a:lstStyle/>
          <a:p>
            <a:endParaRPr lang="en-US" sz="1600" dirty="0"/>
          </a:p>
        </p:txBody>
      </p:sp>
      <p:sp>
        <p:nvSpPr>
          <p:cNvPr id="31" name="Text 29"/>
          <p:cNvSpPr/>
          <p:nvPr/>
        </p:nvSpPr>
        <p:spPr>
          <a:xfrm>
            <a:off x="6217920" y="4158297"/>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03</a:t>
            </a:r>
            <a:endParaRPr lang="en-US" sz="1600" dirty="0">
              <a:solidFill>
                <a:prstClr val="black"/>
              </a:solidFill>
              <a:latin typeface="Calibri" panose="020F0502020204030204"/>
            </a:endParaRPr>
          </a:p>
        </p:txBody>
      </p:sp>
      <p:sp>
        <p:nvSpPr>
          <p:cNvPr id="32" name="Text 30"/>
          <p:cNvSpPr/>
          <p:nvPr/>
        </p:nvSpPr>
        <p:spPr>
          <a:xfrm>
            <a:off x="6766560" y="4182681"/>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Lightweight Backend</a:t>
            </a:r>
            <a:endParaRPr lang="en-US" dirty="0">
              <a:solidFill>
                <a:prstClr val="black"/>
              </a:solidFill>
              <a:latin typeface="Calibri" panose="020F0502020204030204"/>
            </a:endParaRPr>
          </a:p>
        </p:txBody>
      </p:sp>
      <p:sp>
        <p:nvSpPr>
          <p:cNvPr id="33" name="Text 31"/>
          <p:cNvSpPr/>
          <p:nvPr/>
        </p:nvSpPr>
        <p:spPr>
          <a:xfrm>
            <a:off x="6766560" y="4572825"/>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FastAPI + SQLite; real-time WebSocket staff dashboard</a:t>
            </a:r>
            <a:endParaRPr lang="en-US" sz="1600" dirty="0">
              <a:solidFill>
                <a:prstClr val="black"/>
              </a:solidFill>
              <a:latin typeface="Calibri" panose="020F0502020204030204"/>
            </a:endParaRPr>
          </a:p>
        </p:txBody>
      </p:sp>
      <p:sp>
        <p:nvSpPr>
          <p:cNvPr id="34" name="Shape 32"/>
          <p:cNvSpPr/>
          <p:nvPr/>
        </p:nvSpPr>
        <p:spPr>
          <a:xfrm>
            <a:off x="6217920" y="5206809"/>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5" name="Shape 33"/>
          <p:cNvSpPr/>
          <p:nvPr/>
        </p:nvSpPr>
        <p:spPr>
          <a:xfrm>
            <a:off x="6217920" y="5206809"/>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36" name="Text 34"/>
          <p:cNvSpPr/>
          <p:nvPr/>
        </p:nvSpPr>
        <p:spPr>
          <a:xfrm>
            <a:off x="6217920" y="5255577"/>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04</a:t>
            </a:r>
            <a:endParaRPr lang="en-US" sz="1600" dirty="0">
              <a:solidFill>
                <a:prstClr val="black"/>
              </a:solidFill>
              <a:latin typeface="Calibri" panose="020F0502020204030204"/>
            </a:endParaRPr>
          </a:p>
        </p:txBody>
      </p:sp>
      <p:sp>
        <p:nvSpPr>
          <p:cNvPr id="37" name="Text 35"/>
          <p:cNvSpPr/>
          <p:nvPr/>
        </p:nvSpPr>
        <p:spPr>
          <a:xfrm>
            <a:off x="6766560" y="5279961"/>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Evaluate &amp; Validate</a:t>
            </a:r>
            <a:endParaRPr lang="en-US" dirty="0">
              <a:solidFill>
                <a:prstClr val="black"/>
              </a:solidFill>
              <a:latin typeface="Calibri" panose="020F0502020204030204"/>
            </a:endParaRPr>
          </a:p>
        </p:txBody>
      </p:sp>
      <p:sp>
        <p:nvSpPr>
          <p:cNvPr id="38" name="Text 36"/>
          <p:cNvSpPr/>
          <p:nvPr/>
        </p:nvSpPr>
        <p:spPr>
          <a:xfrm>
            <a:off x="6766560" y="5670105"/>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NLU accuracy, WER, latency, cost vs. cloud alternatives</a:t>
            </a:r>
            <a:endParaRPr lang="en-US" sz="1600" dirty="0">
              <a:solidFill>
                <a:prstClr val="black"/>
              </a:solidFill>
              <a:latin typeface="Calibri" panose="020F0502020204030204"/>
            </a:endParaRPr>
          </a:p>
        </p:txBody>
      </p:sp>
      <p:sp>
        <p:nvSpPr>
          <p:cNvPr id="39" name="Text 7">
            <a:extLst>
              <a:ext uri="{FF2B5EF4-FFF2-40B4-BE49-F238E27FC236}">
                <a16:creationId xmlns:a16="http://schemas.microsoft.com/office/drawing/2014/main" id="{48BC3C49-938B-C06A-904C-168737627CBC}"/>
              </a:ext>
            </a:extLst>
          </p:cNvPr>
          <p:cNvSpPr/>
          <p:nvPr/>
        </p:nvSpPr>
        <p:spPr>
          <a:xfrm>
            <a:off x="782541" y="3191805"/>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Paper Forms</a:t>
            </a:r>
            <a:endParaRPr lang="en-US" sz="1600" dirty="0">
              <a:solidFill>
                <a:prstClr val="black"/>
              </a:solidFill>
              <a:latin typeface="Calibri" panose="020F0502020204030204"/>
            </a:endParaRPr>
          </a:p>
        </p:txBody>
      </p:sp>
      <p:sp>
        <p:nvSpPr>
          <p:cNvPr id="40" name="Text 8">
            <a:extLst>
              <a:ext uri="{FF2B5EF4-FFF2-40B4-BE49-F238E27FC236}">
                <a16:creationId xmlns:a16="http://schemas.microsoft.com/office/drawing/2014/main" id="{144B9738-8D9B-074A-F3AE-80CF7721E8F9}"/>
              </a:ext>
            </a:extLst>
          </p:cNvPr>
          <p:cNvSpPr/>
          <p:nvPr/>
        </p:nvSpPr>
        <p:spPr>
          <a:xfrm>
            <a:off x="819117" y="3445183"/>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Slow, unreliable, error-prone</a:t>
            </a:r>
          </a:p>
        </p:txBody>
      </p:sp>
      <p:pic>
        <p:nvPicPr>
          <p:cNvPr id="43" name="Graphic 42" descr="Checklist outline">
            <a:extLst>
              <a:ext uri="{FF2B5EF4-FFF2-40B4-BE49-F238E27FC236}">
                <a16:creationId xmlns:a16="http://schemas.microsoft.com/office/drawing/2014/main" id="{404C04BB-D5F2-FB9E-2702-82795B0253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9056" y="3182266"/>
            <a:ext cx="221479" cy="221479"/>
          </a:xfrm>
          <a:prstGeom prst="rect">
            <a:avLst/>
          </a:prstGeom>
        </p:spPr>
      </p:pic>
    </p:spTree>
    <p:extLst>
      <p:ext uri="{BB962C8B-B14F-4D97-AF65-F5344CB8AC3E}">
        <p14:creationId xmlns:p14="http://schemas.microsoft.com/office/powerpoint/2010/main" val="36010115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0CAB029-6FDE-30A8-1FA2-C288C871D32F}"/>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7" name="Shape 15"/>
          <p:cNvSpPr/>
          <p:nvPr/>
        </p:nvSpPr>
        <p:spPr>
          <a:xfrm>
            <a:off x="428046" y="1851189"/>
            <a:ext cx="11335907" cy="2192863"/>
          </a:xfrm>
          <a:prstGeom prst="rect">
            <a:avLst/>
          </a:prstGeom>
          <a:solidFill>
            <a:schemeClr val="accent1">
              <a:lumMod val="75000"/>
            </a:schemeClr>
          </a:solidFill>
          <a:ln w="12700">
            <a:solidFill>
              <a:srgbClr val="FFFFFF"/>
            </a:solidFill>
            <a:prstDash val="solid"/>
          </a:ln>
        </p:spPr>
        <p:txBody>
          <a:bodyPr/>
          <a:lstStyle/>
          <a:p>
            <a:endParaRPr lang="en-US"/>
          </a:p>
        </p:txBody>
      </p:sp>
      <p:sp>
        <p:nvSpPr>
          <p:cNvPr id="2" name="Title 1"/>
          <p:cNvSpPr>
            <a:spLocks noGrp="1"/>
          </p:cNvSpPr>
          <p:nvPr>
            <p:ph type="title"/>
          </p:nvPr>
        </p:nvSpPr>
        <p:spPr>
          <a:xfrm>
            <a:off x="591065" y="171490"/>
            <a:ext cx="10515600" cy="822008"/>
          </a:xfrm>
        </p:spPr>
        <p:txBody>
          <a:bodyPr/>
          <a:lstStyle/>
          <a:p>
            <a:r>
              <a:rPr dirty="0"/>
              <a:t>Research Question</a:t>
            </a:r>
          </a:p>
        </p:txBody>
      </p:sp>
      <p:sp>
        <p:nvSpPr>
          <p:cNvPr id="3" name="Content Placeholder 2"/>
          <p:cNvSpPr>
            <a:spLocks noGrp="1"/>
          </p:cNvSpPr>
          <p:nvPr>
            <p:ph idx="1"/>
          </p:nvPr>
        </p:nvSpPr>
        <p:spPr>
          <a:xfrm>
            <a:off x="838200" y="2149647"/>
            <a:ext cx="10515600" cy="1763395"/>
          </a:xfrm>
        </p:spPr>
        <p:txBody>
          <a:bodyPr>
            <a:normAutofit/>
          </a:bodyPr>
          <a:lstStyle/>
          <a:p>
            <a:pPr marL="0" indent="0" algn="just">
              <a:buNone/>
            </a:pPr>
            <a:r>
              <a:rPr lang="en-US" i="1" dirty="0">
                <a:solidFill>
                  <a:schemeClr val="bg1"/>
                </a:solidFill>
              </a:rPr>
              <a:t>Can a low-cost, fully offline voice assistant system, built on a standard commodity device, achieve sufficient technical accuracy and performance to be a viable alternative to traditional room service communication in Sri Lankan hotels</a:t>
            </a:r>
            <a:r>
              <a:rPr i="1" dirty="0">
                <a:solidFill>
                  <a:schemeClr val="bg1"/>
                </a:solidFill>
              </a:rPr>
              <a:t>?</a:t>
            </a:r>
          </a:p>
          <a:p>
            <a:endParaRPr dirty="0"/>
          </a:p>
        </p:txBody>
      </p:sp>
      <p:sp>
        <p:nvSpPr>
          <p:cNvPr id="6" name="Slide Number Placeholder 3">
            <a:extLst>
              <a:ext uri="{FF2B5EF4-FFF2-40B4-BE49-F238E27FC236}">
                <a16:creationId xmlns:a16="http://schemas.microsoft.com/office/drawing/2014/main" id="{C0507A05-C001-A490-8298-A5A9AFA9131D}"/>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3</a:t>
            </a:fld>
            <a:endParaRPr lang="en-US" b="1" dirty="0">
              <a:solidFill>
                <a:schemeClr val="bg1">
                  <a:lumMod val="1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C3D0ED-09B5-5A37-57E9-F97EA040AF9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ext 3"/>
          <p:cNvSpPr/>
          <p:nvPr/>
        </p:nvSpPr>
        <p:spPr>
          <a:xfrm>
            <a:off x="312517" y="1140553"/>
            <a:ext cx="11246734" cy="402336"/>
          </a:xfrm>
          <a:prstGeom prst="rect">
            <a:avLst/>
          </a:prstGeom>
          <a:noFill/>
          <a:ln/>
        </p:spPr>
        <p:txBody>
          <a:bodyPr wrap="square" rtlCol="0" anchor="ctr"/>
          <a:lstStyle/>
          <a:p>
            <a:r>
              <a:rPr lang="en-US" sz="2400" i="1" dirty="0">
                <a:solidFill>
                  <a:schemeClr val="bg2">
                    <a:lumMod val="10000"/>
                  </a:schemeClr>
                </a:solidFill>
                <a:latin typeface="Calibri" pitchFamily="34" charset="0"/>
                <a:ea typeface="Calibri" pitchFamily="34" charset="-122"/>
                <a:cs typeface="Calibri" pitchFamily="34" charset="-120"/>
              </a:rPr>
              <a:t>No existing solution combines all seven dimensions needed for viable deployment in a developing-economy hospitality context.</a:t>
            </a:r>
            <a:endParaRPr lang="en-US" sz="2400" dirty="0">
              <a:solidFill>
                <a:schemeClr val="bg2">
                  <a:lumMod val="10000"/>
                </a:schemeClr>
              </a:solidFill>
            </a:endParaRPr>
          </a:p>
        </p:txBody>
      </p:sp>
      <p:graphicFrame>
        <p:nvGraphicFramePr>
          <p:cNvPr id="6" name="Table 0"/>
          <p:cNvGraphicFramePr>
            <a:graphicFrameLocks noGrp="1"/>
          </p:cNvGraphicFramePr>
          <p:nvPr>
            <p:extLst>
              <p:ext uri="{D42A27DB-BD31-4B8C-83A1-F6EECF244321}">
                <p14:modId xmlns:p14="http://schemas.microsoft.com/office/powerpoint/2010/main" val="2547535650"/>
              </p:ext>
            </p:extLst>
          </p:nvPr>
        </p:nvGraphicFramePr>
        <p:xfrm>
          <a:off x="609600" y="2183761"/>
          <a:ext cx="11070336" cy="3316224"/>
        </p:xfrm>
        <a:graphic>
          <a:graphicData uri="http://schemas.openxmlformats.org/drawingml/2006/table">
            <a:tbl>
              <a:tblPr/>
              <a:tblGrid>
                <a:gridCol w="2365094">
                  <a:extLst>
                    <a:ext uri="{9D8B030D-6E8A-4147-A177-3AD203B41FA5}">
                      <a16:colId xmlns:a16="http://schemas.microsoft.com/office/drawing/2014/main" val="20000"/>
                    </a:ext>
                  </a:extLst>
                </a:gridCol>
                <a:gridCol w="1122744">
                  <a:extLst>
                    <a:ext uri="{9D8B030D-6E8A-4147-A177-3AD203B41FA5}">
                      <a16:colId xmlns:a16="http://schemas.microsoft.com/office/drawing/2014/main" val="20001"/>
                    </a:ext>
                  </a:extLst>
                </a:gridCol>
                <a:gridCol w="1307939">
                  <a:extLst>
                    <a:ext uri="{9D8B030D-6E8A-4147-A177-3AD203B41FA5}">
                      <a16:colId xmlns:a16="http://schemas.microsoft.com/office/drawing/2014/main" val="20002"/>
                    </a:ext>
                  </a:extLst>
                </a:gridCol>
                <a:gridCol w="1284790">
                  <a:extLst>
                    <a:ext uri="{9D8B030D-6E8A-4147-A177-3AD203B41FA5}">
                      <a16:colId xmlns:a16="http://schemas.microsoft.com/office/drawing/2014/main" val="20003"/>
                    </a:ext>
                  </a:extLst>
                </a:gridCol>
                <a:gridCol w="1180618">
                  <a:extLst>
                    <a:ext uri="{9D8B030D-6E8A-4147-A177-3AD203B41FA5}">
                      <a16:colId xmlns:a16="http://schemas.microsoft.com/office/drawing/2014/main" val="20004"/>
                    </a:ext>
                  </a:extLst>
                </a:gridCol>
                <a:gridCol w="1076445">
                  <a:extLst>
                    <a:ext uri="{9D8B030D-6E8A-4147-A177-3AD203B41FA5}">
                      <a16:colId xmlns:a16="http://schemas.microsoft.com/office/drawing/2014/main" val="20005"/>
                    </a:ext>
                  </a:extLst>
                </a:gridCol>
                <a:gridCol w="1342664">
                  <a:extLst>
                    <a:ext uri="{9D8B030D-6E8A-4147-A177-3AD203B41FA5}">
                      <a16:colId xmlns:a16="http://schemas.microsoft.com/office/drawing/2014/main" val="20006"/>
                    </a:ext>
                  </a:extLst>
                </a:gridCol>
                <a:gridCol w="1390042">
                  <a:extLst>
                    <a:ext uri="{9D8B030D-6E8A-4147-A177-3AD203B41FA5}">
                      <a16:colId xmlns:a16="http://schemas.microsoft.com/office/drawing/2014/main" val="20007"/>
                    </a:ext>
                  </a:extLst>
                </a:gridCol>
              </a:tblGrid>
              <a:tr h="414528">
                <a:tc>
                  <a:txBody>
                    <a:bodyPr/>
                    <a:lstStyle/>
                    <a:p>
                      <a:pPr marL="0" indent="0">
                        <a:buNone/>
                      </a:pPr>
                      <a:r>
                        <a:rPr lang="en-US" sz="1600" b="1" dirty="0">
                          <a:solidFill>
                            <a:srgbClr val="FFFFFF"/>
                          </a:solidFill>
                        </a:rPr>
                        <a:t>Solution</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Offline</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On-Device</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Hospitality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Low Cost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Privacy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Staff Integ.</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End-to-End</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extLst>
                  <a:ext uri="{0D108BD9-81ED-4DB2-BD59-A6C34878D82A}">
                    <a16:rowId xmlns:a16="http://schemas.microsoft.com/office/drawing/2014/main" val="10000"/>
                  </a:ext>
                </a:extLst>
              </a:tr>
              <a:tr h="414528">
                <a:tc>
                  <a:txBody>
                    <a:bodyPr/>
                    <a:lstStyle/>
                    <a:p>
                      <a:pPr marL="0" indent="0">
                        <a:buNone/>
                      </a:pPr>
                      <a:r>
                        <a:rPr lang="en-US" sz="1600" dirty="0">
                          <a:solidFill>
                            <a:srgbClr val="0D2340"/>
                          </a:solidFill>
                        </a:rPr>
                        <a:t>Alexa for Hospitality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45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kern="1200" dirty="0">
                          <a:solidFill>
                            <a:srgbClr val="0D2340"/>
                          </a:solidFill>
                          <a:latin typeface="+mn-lt"/>
                          <a:ea typeface="+mn-ea"/>
                          <a:cs typeface="+mn-cs"/>
                        </a:rPr>
                        <a:t>Edge STT 	</a:t>
                      </a:r>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2"/>
                  </a:ext>
                </a:extLst>
              </a:tr>
              <a:tr h="414528">
                <a:tc>
                  <a:txBody>
                    <a:bodyPr/>
                    <a:lstStyle/>
                    <a:p>
                      <a:pPr marL="0" indent="0">
                        <a:buNone/>
                      </a:pPr>
                      <a:r>
                        <a:rPr lang="en-US" sz="1600" dirty="0">
                          <a:solidFill>
                            <a:srgbClr val="0D2340"/>
                          </a:solidFill>
                        </a:rPr>
                        <a:t>Vosk / Custom LM</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4528">
                <a:tc>
                  <a:txBody>
                    <a:bodyPr/>
                    <a:lstStyle/>
                    <a:p>
                      <a:pPr marL="0" indent="0">
                        <a:buNone/>
                      </a:pPr>
                      <a:r>
                        <a:rPr lang="en-US" sz="1600" dirty="0" err="1">
                          <a:solidFill>
                            <a:srgbClr val="0D2340"/>
                          </a:solidFill>
                        </a:rPr>
                        <a:t>MobileBERT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4"/>
                  </a:ext>
                </a:extLst>
              </a:tr>
              <a:tr h="414528">
                <a:tc>
                  <a:txBody>
                    <a:bodyPr/>
                    <a:lstStyle/>
                    <a:p>
                      <a:pPr marL="0" indent="0">
                        <a:buNone/>
                      </a:pPr>
                      <a:r>
                        <a:rPr lang="en-US" sz="1600" dirty="0">
                          <a:solidFill>
                            <a:srgbClr val="0D2340"/>
                          </a:solidFill>
                        </a:rPr>
                        <a:t>Rasa DIET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4528">
                <a:tc>
                  <a:txBody>
                    <a:bodyPr/>
                    <a:lstStyle/>
                    <a:p>
                      <a:pPr marL="0" indent="0">
                        <a:buNone/>
                      </a:pPr>
                      <a:r>
                        <a:rPr lang="en-US" sz="1600" dirty="0">
                          <a:solidFill>
                            <a:srgbClr val="0D2340"/>
                          </a:solidFill>
                        </a:rPr>
                        <a:t>Whisper</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6"/>
                  </a:ext>
                </a:extLst>
              </a:tr>
              <a:tr h="414528">
                <a:tc>
                  <a:txBody>
                    <a:bodyPr/>
                    <a:lstStyle/>
                    <a:p>
                      <a:pPr marL="0" indent="0">
                        <a:buNone/>
                      </a:pPr>
                      <a:r>
                        <a:rPr lang="en-US" sz="1600" b="1" dirty="0">
                          <a:solidFill>
                            <a:srgbClr val="FFFFFF"/>
                          </a:solidFill>
                        </a:rPr>
                        <a:t>⭐  This Research</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extLst>
                  <a:ext uri="{0D108BD9-81ED-4DB2-BD59-A6C34878D82A}">
                    <a16:rowId xmlns:a16="http://schemas.microsoft.com/office/drawing/2014/main" val="10007"/>
                  </a:ext>
                </a:extLst>
              </a:tr>
            </a:tbl>
          </a:graphicData>
        </a:graphic>
      </p:graphicFrame>
      <p:sp>
        <p:nvSpPr>
          <p:cNvPr id="11" name="Title 1">
            <a:extLst>
              <a:ext uri="{FF2B5EF4-FFF2-40B4-BE49-F238E27FC236}">
                <a16:creationId xmlns:a16="http://schemas.microsoft.com/office/drawing/2014/main" id="{3B312CF1-C3EA-0714-E3DC-F045CBA5F740}"/>
              </a:ext>
            </a:extLst>
          </p:cNvPr>
          <p:cNvSpPr txBox="1">
            <a:spLocks/>
          </p:cNvSpPr>
          <p:nvPr/>
        </p:nvSpPr>
        <p:spPr>
          <a:xfrm>
            <a:off x="609600" y="290383"/>
            <a:ext cx="8525719" cy="673418"/>
          </a:xfrm>
          <a:prstGeom prst="rect">
            <a:avLst/>
          </a:prstGeom>
        </p:spPr>
        <p:txBody>
          <a:bodyPr>
            <a:normAutofit fontScale="97500" lnSpcReduction="10000"/>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Literature Review</a:t>
            </a:r>
          </a:p>
        </p:txBody>
      </p:sp>
      <p:sp>
        <p:nvSpPr>
          <p:cNvPr id="7" name="Slide Number Placeholder 3">
            <a:extLst>
              <a:ext uri="{FF2B5EF4-FFF2-40B4-BE49-F238E27FC236}">
                <a16:creationId xmlns:a16="http://schemas.microsoft.com/office/drawing/2014/main" id="{365F239C-F765-695F-645F-1A3DE6A8FF8C}"/>
              </a:ext>
            </a:extLst>
          </p:cNvPr>
          <p:cNvSpPr txBox="1">
            <a:spLocks/>
          </p:cNvSpPr>
          <p:nvPr/>
        </p:nvSpPr>
        <p:spPr>
          <a:xfrm>
            <a:off x="11865813" y="6245385"/>
            <a:ext cx="29154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4</a:t>
            </a:fld>
            <a:endParaRPr lang="en-US" sz="1200" b="1" dirty="0">
              <a:solidFill>
                <a:schemeClr val="bg1">
                  <a:lumMod val="1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44F2911-F36A-AF4A-7D32-9DE46D59EA53}"/>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100F3C45-075F-0E7A-15AC-47DFE21FE4CB}"/>
              </a:ext>
            </a:extLst>
          </p:cNvPr>
          <p:cNvSpPr>
            <a:spLocks noGrp="1"/>
          </p:cNvSpPr>
          <p:nvPr>
            <p:ph type="subTitle" idx="1"/>
          </p:nvPr>
        </p:nvSpPr>
        <p:spPr>
          <a:xfrm>
            <a:off x="838200" y="1337310"/>
            <a:ext cx="10911840" cy="4549140"/>
          </a:xfrm>
        </p:spPr>
        <p:txBody>
          <a:bodyPr>
            <a:normAutofit/>
          </a:bodyPr>
          <a:lstStyle/>
          <a:p>
            <a:pPr marL="457200" indent="-457200" algn="l">
              <a:spcAft>
                <a:spcPts val="300"/>
              </a:spcAft>
              <a:buFont typeface="+mj-lt"/>
              <a:buAutoNum type="arabicPeriod"/>
            </a:pPr>
            <a:r>
              <a:rPr lang="en-US" b="1" i="1" dirty="0"/>
              <a:t>Speech-to-text (STT) Noise Impact on Natural Language Understanding (NLU) : </a:t>
            </a:r>
            <a:r>
              <a:rPr lang="en-US" dirty="0"/>
              <a:t>No quantification of how offline STT noise degrades NLU accuracy in a hospitality context (Core Research Gap) </a:t>
            </a:r>
          </a:p>
          <a:p>
            <a:pPr marL="457200" indent="-457200" algn="l">
              <a:spcAft>
                <a:spcPts val="300"/>
              </a:spcAft>
              <a:buFont typeface="+mj-lt"/>
              <a:buAutoNum type="arabicPeriod"/>
            </a:pPr>
            <a:r>
              <a:rPr lang="en-US" b="1" i="1" dirty="0"/>
              <a:t>On-Device NLU for Hospitality in a Real STT Pipeline: </a:t>
            </a:r>
            <a:r>
              <a:rPr lang="en-US" dirty="0"/>
              <a:t>No evaluation of compact on-device NLU models on hospitality intents within a real offline STT pipeline</a:t>
            </a:r>
            <a:endParaRPr lang="en-US" b="1" i="1" dirty="0"/>
          </a:p>
          <a:p>
            <a:pPr marL="457200" indent="-457200" algn="l">
              <a:spcAft>
                <a:spcPts val="300"/>
              </a:spcAft>
              <a:buFont typeface="+mj-lt"/>
              <a:buAutoNum type="arabicPeriod"/>
            </a:pPr>
            <a:r>
              <a:rPr lang="en-US" b="1" i="1" dirty="0"/>
              <a:t>Integrated Offline Hospitality System : </a:t>
            </a:r>
            <a:r>
              <a:rPr lang="en-US" dirty="0"/>
              <a:t>No end-to-end system combining offline STT, on-device NLU, and real-time staff dashboard without cloud</a:t>
            </a:r>
            <a:endParaRPr lang="en-US" b="1" i="1" dirty="0"/>
          </a:p>
          <a:p>
            <a:pPr marL="457200" indent="-457200" algn="l">
              <a:spcAft>
                <a:spcPts val="300"/>
              </a:spcAft>
              <a:buFont typeface="+mj-lt"/>
              <a:buAutoNum type="arabicPeriod"/>
            </a:pPr>
            <a:r>
              <a:rPr lang="en-US" b="1" i="1" dirty="0"/>
              <a:t>Developing Economy Context : </a:t>
            </a:r>
            <a:r>
              <a:rPr lang="en-US" dirty="0"/>
              <a:t>No such system built for developing economy conditions like Sri Lanka; low cost, no subscriptions, local serviceability</a:t>
            </a:r>
          </a:p>
          <a:p>
            <a:pPr marL="457200" indent="-457200" algn="l">
              <a:buFont typeface="+mj-lt"/>
              <a:buAutoNum type="arabicPeriod"/>
            </a:pPr>
            <a:endParaRPr lang="en-US" dirty="0"/>
          </a:p>
        </p:txBody>
      </p:sp>
      <p:sp>
        <p:nvSpPr>
          <p:cNvPr id="4" name="Title 1">
            <a:extLst>
              <a:ext uri="{FF2B5EF4-FFF2-40B4-BE49-F238E27FC236}">
                <a16:creationId xmlns:a16="http://schemas.microsoft.com/office/drawing/2014/main" id="{666E3574-DC44-3C20-5DDA-08AD21D3E99A}"/>
              </a:ext>
            </a:extLst>
          </p:cNvPr>
          <p:cNvSpPr txBox="1">
            <a:spLocks/>
          </p:cNvSpPr>
          <p:nvPr/>
        </p:nvSpPr>
        <p:spPr>
          <a:xfrm>
            <a:off x="603421" y="193992"/>
            <a:ext cx="6088380" cy="67341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Research Gaps</a:t>
            </a:r>
          </a:p>
        </p:txBody>
      </p:sp>
      <p:sp>
        <p:nvSpPr>
          <p:cNvPr id="7" name="Slide Number Placeholder 3">
            <a:extLst>
              <a:ext uri="{FF2B5EF4-FFF2-40B4-BE49-F238E27FC236}">
                <a16:creationId xmlns:a16="http://schemas.microsoft.com/office/drawing/2014/main" id="{94329214-7FFF-6CDB-3B0D-B28CA0C39597}"/>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5</a:t>
            </a:fld>
            <a:endParaRPr lang="en-US" b="1" dirty="0">
              <a:solidFill>
                <a:schemeClr val="bg1">
                  <a:lumMod val="10000"/>
                </a:schemeClr>
              </a:solidFill>
            </a:endParaRPr>
          </a:p>
        </p:txBody>
      </p:sp>
    </p:spTree>
    <p:extLst>
      <p:ext uri="{BB962C8B-B14F-4D97-AF65-F5344CB8AC3E}">
        <p14:creationId xmlns:p14="http://schemas.microsoft.com/office/powerpoint/2010/main" val="2169588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2BE74D-59DC-E968-D3E1-BDE074D3982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Shape 3"/>
          <p:cNvSpPr/>
          <p:nvPr/>
        </p:nvSpPr>
        <p:spPr>
          <a:xfrm>
            <a:off x="853440"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6" name="Text 4"/>
          <p:cNvSpPr/>
          <p:nvPr/>
        </p:nvSpPr>
        <p:spPr>
          <a:xfrm>
            <a:off x="853440" y="2022020"/>
            <a:ext cx="1097280" cy="1097280"/>
          </a:xfrm>
          <a:prstGeom prst="rect">
            <a:avLst/>
          </a:prstGeom>
          <a:noFill/>
          <a:ln/>
        </p:spPr>
        <p:txBody>
          <a:bodyPr wrap="square" rtlCol="0" anchor="ctr"/>
          <a:lstStyle/>
          <a:p>
            <a:pPr algn="ctr"/>
            <a:r>
              <a:rPr lang="en-US" sz="2400" b="1" dirty="0">
                <a:solidFill>
                  <a:srgbClr val="FFFFFF"/>
                </a:solidFill>
              </a:rPr>
              <a:t>1</a:t>
            </a:r>
            <a:endParaRPr lang="en-US" sz="2400" dirty="0"/>
          </a:p>
        </p:txBody>
      </p:sp>
      <p:sp>
        <p:nvSpPr>
          <p:cNvPr id="7" name="Shape 5"/>
          <p:cNvSpPr/>
          <p:nvPr/>
        </p:nvSpPr>
        <p:spPr>
          <a:xfrm>
            <a:off x="2097024" y="2570660"/>
            <a:ext cx="780288" cy="0"/>
          </a:xfrm>
          <a:prstGeom prst="line">
            <a:avLst/>
          </a:prstGeom>
          <a:noFill/>
          <a:ln w="25400">
            <a:solidFill>
              <a:srgbClr val="0E7490"/>
            </a:solidFill>
            <a:prstDash val="solid"/>
          </a:ln>
        </p:spPr>
        <p:txBody>
          <a:bodyPr/>
          <a:lstStyle/>
          <a:p>
            <a:endParaRPr lang="en-US" sz="2400"/>
          </a:p>
        </p:txBody>
      </p:sp>
      <p:sp>
        <p:nvSpPr>
          <p:cNvPr id="8" name="Text 6"/>
          <p:cNvSpPr/>
          <p:nvPr/>
        </p:nvSpPr>
        <p:spPr>
          <a:xfrm>
            <a:off x="365760"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Problem</a:t>
            </a:r>
            <a:endParaRPr lang="en-US" sz="1333" dirty="0"/>
          </a:p>
          <a:p>
            <a:pPr algn="ctr"/>
            <a:r>
              <a:rPr lang="en-US" sz="1333" b="1" dirty="0">
                <a:solidFill>
                  <a:srgbClr val="0D2340"/>
                </a:solidFill>
                <a:latin typeface="Calibri" pitchFamily="34" charset="0"/>
                <a:ea typeface="Calibri" pitchFamily="34" charset="-122"/>
                <a:cs typeface="Calibri" pitchFamily="34" charset="-120"/>
              </a:rPr>
              <a:t>Identification</a:t>
            </a:r>
            <a:endParaRPr lang="en-US" sz="1333" dirty="0"/>
          </a:p>
        </p:txBody>
      </p:sp>
      <p:sp>
        <p:nvSpPr>
          <p:cNvPr id="9" name="Shape 7"/>
          <p:cNvSpPr/>
          <p:nvPr/>
        </p:nvSpPr>
        <p:spPr>
          <a:xfrm>
            <a:off x="365760"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dirty="0"/>
          </a:p>
        </p:txBody>
      </p:sp>
      <p:sp>
        <p:nvSpPr>
          <p:cNvPr id="10" name="Text 8"/>
          <p:cNvSpPr/>
          <p:nvPr/>
        </p:nvSpPr>
        <p:spPr>
          <a:xfrm>
            <a:off x="451104"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Literature review</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Practitioner consultation</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Guest survey (n=20)</a:t>
            </a:r>
            <a:endParaRPr lang="en-US" sz="1400" dirty="0"/>
          </a:p>
        </p:txBody>
      </p:sp>
      <p:sp>
        <p:nvSpPr>
          <p:cNvPr id="11" name="Shape 9"/>
          <p:cNvSpPr/>
          <p:nvPr/>
        </p:nvSpPr>
        <p:spPr>
          <a:xfrm>
            <a:off x="3218688"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12" name="Text 10"/>
          <p:cNvSpPr/>
          <p:nvPr/>
        </p:nvSpPr>
        <p:spPr>
          <a:xfrm>
            <a:off x="3218688" y="2022020"/>
            <a:ext cx="1097280" cy="1097280"/>
          </a:xfrm>
          <a:prstGeom prst="rect">
            <a:avLst/>
          </a:prstGeom>
          <a:noFill/>
          <a:ln/>
        </p:spPr>
        <p:txBody>
          <a:bodyPr wrap="square" rtlCol="0" anchor="ctr"/>
          <a:lstStyle/>
          <a:p>
            <a:pPr algn="ctr"/>
            <a:r>
              <a:rPr lang="en-US" sz="2400" b="1" dirty="0">
                <a:solidFill>
                  <a:srgbClr val="FFFFFF"/>
                </a:solidFill>
              </a:rPr>
              <a:t>2</a:t>
            </a:r>
            <a:endParaRPr lang="en-US" sz="2400" dirty="0"/>
          </a:p>
        </p:txBody>
      </p:sp>
      <p:sp>
        <p:nvSpPr>
          <p:cNvPr id="13" name="Shape 11"/>
          <p:cNvSpPr/>
          <p:nvPr/>
        </p:nvSpPr>
        <p:spPr>
          <a:xfrm>
            <a:off x="4462272" y="2570660"/>
            <a:ext cx="780288" cy="0"/>
          </a:xfrm>
          <a:prstGeom prst="line">
            <a:avLst/>
          </a:prstGeom>
          <a:noFill/>
          <a:ln w="25400">
            <a:solidFill>
              <a:srgbClr val="0E7490"/>
            </a:solidFill>
            <a:prstDash val="solid"/>
          </a:ln>
        </p:spPr>
        <p:txBody>
          <a:bodyPr/>
          <a:lstStyle/>
          <a:p>
            <a:endParaRPr lang="en-US" sz="2400"/>
          </a:p>
        </p:txBody>
      </p:sp>
      <p:sp>
        <p:nvSpPr>
          <p:cNvPr id="14" name="Text 12"/>
          <p:cNvSpPr/>
          <p:nvPr/>
        </p:nvSpPr>
        <p:spPr>
          <a:xfrm>
            <a:off x="2731008"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Solution</a:t>
            </a:r>
            <a:endParaRPr lang="en-US" sz="1333" dirty="0"/>
          </a:p>
          <a:p>
            <a:pPr algn="ctr"/>
            <a:r>
              <a:rPr lang="en-US" sz="1333" b="1" dirty="0">
                <a:solidFill>
                  <a:srgbClr val="0D2340"/>
                </a:solidFill>
                <a:latin typeface="Calibri" pitchFamily="34" charset="0"/>
                <a:ea typeface="Calibri" pitchFamily="34" charset="-122"/>
                <a:cs typeface="Calibri" pitchFamily="34" charset="-120"/>
              </a:rPr>
              <a:t>Design</a:t>
            </a:r>
            <a:endParaRPr lang="en-US" sz="1333" dirty="0"/>
          </a:p>
        </p:txBody>
      </p:sp>
      <p:sp>
        <p:nvSpPr>
          <p:cNvPr id="15" name="Shape 13"/>
          <p:cNvSpPr/>
          <p:nvPr/>
        </p:nvSpPr>
        <p:spPr>
          <a:xfrm>
            <a:off x="2731008"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a:p>
        </p:txBody>
      </p:sp>
      <p:sp>
        <p:nvSpPr>
          <p:cNvPr id="16" name="Text 14"/>
          <p:cNvSpPr/>
          <p:nvPr/>
        </p:nvSpPr>
        <p:spPr>
          <a:xfrm>
            <a:off x="2816352"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System architecture</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Requirements</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3-model</a:t>
            </a:r>
            <a:r>
              <a:rPr lang="en-US" sz="1400" dirty="0"/>
              <a:t> </a:t>
            </a:r>
            <a:r>
              <a:rPr lang="en-US" sz="1400" dirty="0">
                <a:solidFill>
                  <a:srgbClr val="475569"/>
                </a:solidFill>
                <a:latin typeface="Calibri" pitchFamily="34" charset="0"/>
                <a:ea typeface="Calibri" pitchFamily="34" charset="-122"/>
                <a:cs typeface="Calibri" pitchFamily="34" charset="-120"/>
              </a:rPr>
              <a:t>NLU experiment design</a:t>
            </a:r>
            <a:endParaRPr lang="en-US" sz="1400" dirty="0"/>
          </a:p>
        </p:txBody>
      </p:sp>
      <p:sp>
        <p:nvSpPr>
          <p:cNvPr id="17" name="Shape 15"/>
          <p:cNvSpPr/>
          <p:nvPr/>
        </p:nvSpPr>
        <p:spPr>
          <a:xfrm>
            <a:off x="5583936"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18" name="Text 16"/>
          <p:cNvSpPr/>
          <p:nvPr/>
        </p:nvSpPr>
        <p:spPr>
          <a:xfrm>
            <a:off x="5583936" y="2022020"/>
            <a:ext cx="1097280" cy="1097280"/>
          </a:xfrm>
          <a:prstGeom prst="rect">
            <a:avLst/>
          </a:prstGeom>
          <a:noFill/>
          <a:ln/>
        </p:spPr>
        <p:txBody>
          <a:bodyPr wrap="square" rtlCol="0" anchor="ctr"/>
          <a:lstStyle/>
          <a:p>
            <a:pPr algn="ctr"/>
            <a:r>
              <a:rPr lang="en-US" sz="2400" b="1" dirty="0">
                <a:solidFill>
                  <a:srgbClr val="FFFFFF"/>
                </a:solidFill>
              </a:rPr>
              <a:t>3</a:t>
            </a:r>
            <a:endParaRPr lang="en-US" sz="2400" dirty="0"/>
          </a:p>
        </p:txBody>
      </p:sp>
      <p:sp>
        <p:nvSpPr>
          <p:cNvPr id="19" name="Shape 17"/>
          <p:cNvSpPr/>
          <p:nvPr/>
        </p:nvSpPr>
        <p:spPr>
          <a:xfrm>
            <a:off x="6827520" y="2570660"/>
            <a:ext cx="780288" cy="0"/>
          </a:xfrm>
          <a:prstGeom prst="line">
            <a:avLst/>
          </a:prstGeom>
          <a:noFill/>
          <a:ln w="25400">
            <a:solidFill>
              <a:srgbClr val="0E7490"/>
            </a:solidFill>
            <a:prstDash val="solid"/>
          </a:ln>
        </p:spPr>
        <p:txBody>
          <a:bodyPr/>
          <a:lstStyle/>
          <a:p>
            <a:endParaRPr lang="en-US" sz="2400"/>
          </a:p>
        </p:txBody>
      </p:sp>
      <p:sp>
        <p:nvSpPr>
          <p:cNvPr id="20" name="Text 18"/>
          <p:cNvSpPr/>
          <p:nvPr/>
        </p:nvSpPr>
        <p:spPr>
          <a:xfrm>
            <a:off x="5096256"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Artefact</a:t>
            </a:r>
            <a:endParaRPr lang="en-US" sz="1333" dirty="0"/>
          </a:p>
          <a:p>
            <a:pPr algn="ctr"/>
            <a:r>
              <a:rPr lang="en-US" sz="1333" b="1" dirty="0">
                <a:solidFill>
                  <a:srgbClr val="0D2340"/>
                </a:solidFill>
                <a:latin typeface="Calibri" pitchFamily="34" charset="0"/>
                <a:ea typeface="Calibri" pitchFamily="34" charset="-122"/>
                <a:cs typeface="Calibri" pitchFamily="34" charset="-120"/>
              </a:rPr>
              <a:t>Development</a:t>
            </a:r>
            <a:endParaRPr lang="en-US" sz="1333" dirty="0"/>
          </a:p>
        </p:txBody>
      </p:sp>
      <p:sp>
        <p:nvSpPr>
          <p:cNvPr id="21" name="Shape 19"/>
          <p:cNvSpPr/>
          <p:nvPr/>
        </p:nvSpPr>
        <p:spPr>
          <a:xfrm>
            <a:off x="5096256"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a:p>
        </p:txBody>
      </p:sp>
      <p:sp>
        <p:nvSpPr>
          <p:cNvPr id="22" name="Text 20"/>
          <p:cNvSpPr/>
          <p:nvPr/>
        </p:nvSpPr>
        <p:spPr>
          <a:xfrm>
            <a:off x="5181600"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4 iterative builds</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Android app</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Backend</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3 NLU model variants</a:t>
            </a:r>
            <a:endParaRPr lang="en-US" sz="1400" dirty="0"/>
          </a:p>
        </p:txBody>
      </p:sp>
      <p:sp>
        <p:nvSpPr>
          <p:cNvPr id="23" name="Shape 21"/>
          <p:cNvSpPr/>
          <p:nvPr/>
        </p:nvSpPr>
        <p:spPr>
          <a:xfrm>
            <a:off x="7949184"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24" name="Text 22"/>
          <p:cNvSpPr/>
          <p:nvPr/>
        </p:nvSpPr>
        <p:spPr>
          <a:xfrm>
            <a:off x="7949184" y="2022020"/>
            <a:ext cx="1097280" cy="1097280"/>
          </a:xfrm>
          <a:prstGeom prst="rect">
            <a:avLst/>
          </a:prstGeom>
          <a:noFill/>
          <a:ln/>
        </p:spPr>
        <p:txBody>
          <a:bodyPr wrap="square" rtlCol="0" anchor="ctr"/>
          <a:lstStyle/>
          <a:p>
            <a:pPr algn="ctr"/>
            <a:r>
              <a:rPr lang="en-US" sz="2400" b="1" dirty="0">
                <a:solidFill>
                  <a:srgbClr val="FFFFFF"/>
                </a:solidFill>
              </a:rPr>
              <a:t>4</a:t>
            </a:r>
            <a:endParaRPr lang="en-US" sz="2400" dirty="0"/>
          </a:p>
        </p:txBody>
      </p:sp>
      <p:sp>
        <p:nvSpPr>
          <p:cNvPr id="25" name="Shape 23"/>
          <p:cNvSpPr/>
          <p:nvPr/>
        </p:nvSpPr>
        <p:spPr>
          <a:xfrm>
            <a:off x="9192768" y="2570660"/>
            <a:ext cx="780288" cy="0"/>
          </a:xfrm>
          <a:prstGeom prst="line">
            <a:avLst/>
          </a:prstGeom>
          <a:noFill/>
          <a:ln w="25400">
            <a:solidFill>
              <a:srgbClr val="0E7490"/>
            </a:solidFill>
            <a:prstDash val="solid"/>
          </a:ln>
        </p:spPr>
        <p:txBody>
          <a:bodyPr/>
          <a:lstStyle/>
          <a:p>
            <a:endParaRPr lang="en-US" sz="2400"/>
          </a:p>
        </p:txBody>
      </p:sp>
      <p:sp>
        <p:nvSpPr>
          <p:cNvPr id="26" name="Text 24"/>
          <p:cNvSpPr/>
          <p:nvPr/>
        </p:nvSpPr>
        <p:spPr>
          <a:xfrm>
            <a:off x="7461504"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Evaluation</a:t>
            </a:r>
            <a:endParaRPr lang="en-US" sz="1333" dirty="0"/>
          </a:p>
        </p:txBody>
      </p:sp>
      <p:sp>
        <p:nvSpPr>
          <p:cNvPr id="27" name="Shape 25"/>
          <p:cNvSpPr/>
          <p:nvPr/>
        </p:nvSpPr>
        <p:spPr>
          <a:xfrm>
            <a:off x="7461504"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a:p>
        </p:txBody>
      </p:sp>
      <p:sp>
        <p:nvSpPr>
          <p:cNvPr id="28" name="Text 26"/>
          <p:cNvSpPr/>
          <p:nvPr/>
        </p:nvSpPr>
        <p:spPr>
          <a:xfrm>
            <a:off x="7607808" y="4065857"/>
            <a:ext cx="1926336" cy="1406499"/>
          </a:xfrm>
          <a:prstGeom prst="rect">
            <a:avLst/>
          </a:prstGeom>
          <a:noFill/>
          <a:ln/>
        </p:spPr>
        <p:txBody>
          <a:bodyPr wrap="square" rtlCol="0" anchor="ctr"/>
          <a:lstStyle/>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NLU accuracy</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WER</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Latency</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Cost vs. cloud alternatives</a:t>
            </a:r>
            <a:endParaRPr lang="en-US" sz="1400" dirty="0"/>
          </a:p>
        </p:txBody>
      </p:sp>
      <p:sp>
        <p:nvSpPr>
          <p:cNvPr id="29" name="Shape 27"/>
          <p:cNvSpPr/>
          <p:nvPr/>
        </p:nvSpPr>
        <p:spPr>
          <a:xfrm>
            <a:off x="10314432"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30" name="Text 28"/>
          <p:cNvSpPr/>
          <p:nvPr/>
        </p:nvSpPr>
        <p:spPr>
          <a:xfrm>
            <a:off x="10314432" y="2022020"/>
            <a:ext cx="1097280" cy="1097280"/>
          </a:xfrm>
          <a:prstGeom prst="rect">
            <a:avLst/>
          </a:prstGeom>
          <a:noFill/>
          <a:ln/>
        </p:spPr>
        <p:txBody>
          <a:bodyPr wrap="square" rtlCol="0" anchor="ctr"/>
          <a:lstStyle/>
          <a:p>
            <a:pPr algn="ctr"/>
            <a:r>
              <a:rPr lang="en-US" sz="2400" b="1" dirty="0">
                <a:solidFill>
                  <a:srgbClr val="FFFFFF"/>
                </a:solidFill>
              </a:rPr>
              <a:t>5</a:t>
            </a:r>
            <a:endParaRPr lang="en-US" sz="2400" dirty="0"/>
          </a:p>
        </p:txBody>
      </p:sp>
      <p:sp>
        <p:nvSpPr>
          <p:cNvPr id="31" name="Text 29"/>
          <p:cNvSpPr/>
          <p:nvPr/>
        </p:nvSpPr>
        <p:spPr>
          <a:xfrm>
            <a:off x="9826752"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Communication</a:t>
            </a:r>
            <a:endParaRPr lang="en-US" sz="1333" dirty="0"/>
          </a:p>
        </p:txBody>
      </p:sp>
      <p:sp>
        <p:nvSpPr>
          <p:cNvPr id="32" name="Shape 30"/>
          <p:cNvSpPr/>
          <p:nvPr/>
        </p:nvSpPr>
        <p:spPr>
          <a:xfrm>
            <a:off x="9826752"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dirty="0"/>
          </a:p>
        </p:txBody>
      </p:sp>
      <p:sp>
        <p:nvSpPr>
          <p:cNvPr id="33" name="Text 31"/>
          <p:cNvSpPr/>
          <p:nvPr/>
        </p:nvSpPr>
        <p:spPr>
          <a:xfrm>
            <a:off x="9912096" y="3887396"/>
            <a:ext cx="1926336" cy="1584960"/>
          </a:xfrm>
          <a:prstGeom prst="rect">
            <a:avLst/>
          </a:prstGeom>
          <a:noFill/>
          <a:ln/>
        </p:spPr>
        <p:txBody>
          <a:bodyPr wrap="square" rtlCol="0" anchor="ctr"/>
          <a:lstStyle/>
          <a:p>
            <a:r>
              <a:rPr lang="en-US" sz="1400" dirty="0">
                <a:solidFill>
                  <a:srgbClr val="475569"/>
                </a:solidFill>
                <a:latin typeface="Calibri" pitchFamily="34" charset="0"/>
                <a:ea typeface="Calibri" pitchFamily="34" charset="-122"/>
                <a:cs typeface="Calibri" pitchFamily="34" charset="-120"/>
              </a:rPr>
              <a:t>Reporting </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Limitations </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Contributions</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Future research</a:t>
            </a:r>
            <a:endParaRPr lang="en-US" sz="1400" dirty="0"/>
          </a:p>
        </p:txBody>
      </p:sp>
      <p:sp>
        <p:nvSpPr>
          <p:cNvPr id="40" name="Title 1">
            <a:extLst>
              <a:ext uri="{FF2B5EF4-FFF2-40B4-BE49-F238E27FC236}">
                <a16:creationId xmlns:a16="http://schemas.microsoft.com/office/drawing/2014/main" id="{8223EA41-7E47-0EB0-FD97-D9A8E9FE1D1B}"/>
              </a:ext>
            </a:extLst>
          </p:cNvPr>
          <p:cNvSpPr txBox="1">
            <a:spLocks/>
          </p:cNvSpPr>
          <p:nvPr/>
        </p:nvSpPr>
        <p:spPr>
          <a:xfrm>
            <a:off x="545036" y="160782"/>
            <a:ext cx="10515600" cy="787718"/>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Methodology</a:t>
            </a:r>
          </a:p>
        </p:txBody>
      </p:sp>
      <p:sp>
        <p:nvSpPr>
          <p:cNvPr id="42" name="TextBox 41">
            <a:extLst>
              <a:ext uri="{FF2B5EF4-FFF2-40B4-BE49-F238E27FC236}">
                <a16:creationId xmlns:a16="http://schemas.microsoft.com/office/drawing/2014/main" id="{1CA11847-3CC5-A617-2A5E-1B4C78EC2798}"/>
              </a:ext>
            </a:extLst>
          </p:cNvPr>
          <p:cNvSpPr txBox="1"/>
          <p:nvPr/>
        </p:nvSpPr>
        <p:spPr>
          <a:xfrm>
            <a:off x="643890" y="1009460"/>
            <a:ext cx="6983816" cy="523220"/>
          </a:xfrm>
          <a:prstGeom prst="rect">
            <a:avLst/>
          </a:prstGeom>
          <a:noFill/>
        </p:spPr>
        <p:txBody>
          <a:bodyPr wrap="square">
            <a:spAutoFit/>
          </a:bodyPr>
          <a:lstStyle/>
          <a:p>
            <a:r>
              <a:rPr lang="en-US" sz="2800" dirty="0">
                <a:ln w="0"/>
                <a:solidFill>
                  <a:schemeClr val="accent1"/>
                </a:solidFill>
                <a:effectLst>
                  <a:outerShdw blurRad="38100" dist="25400" dir="5400000" algn="ctr" rotWithShape="0">
                    <a:srgbClr val="6E747A">
                      <a:alpha val="43000"/>
                    </a:srgbClr>
                  </a:outerShdw>
                </a:effectLst>
              </a:rPr>
              <a:t>Design Science Research (DSR) Framework</a:t>
            </a:r>
          </a:p>
        </p:txBody>
      </p:sp>
      <p:sp>
        <p:nvSpPr>
          <p:cNvPr id="4" name="Slide Number Placeholder 3">
            <a:extLst>
              <a:ext uri="{FF2B5EF4-FFF2-40B4-BE49-F238E27FC236}">
                <a16:creationId xmlns:a16="http://schemas.microsoft.com/office/drawing/2014/main" id="{B7A73152-D5A5-7821-7EBD-4BE92F1E5E64}"/>
              </a:ext>
            </a:extLst>
          </p:cNvPr>
          <p:cNvSpPr txBox="1">
            <a:spLocks/>
          </p:cNvSpPr>
          <p:nvPr/>
        </p:nvSpPr>
        <p:spPr>
          <a:xfrm>
            <a:off x="11865813" y="6245385"/>
            <a:ext cx="29154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6</a:t>
            </a:fld>
            <a:endParaRPr lang="en-US" sz="1200" b="1" dirty="0">
              <a:solidFill>
                <a:schemeClr val="bg1">
                  <a:lumMod val="1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DC585-2CBF-286F-2368-6F7C3145E1E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FDAC1C2-78DC-3859-8DCC-F7779F27CF7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Shape 32">
            <a:extLst>
              <a:ext uri="{FF2B5EF4-FFF2-40B4-BE49-F238E27FC236}">
                <a16:creationId xmlns:a16="http://schemas.microsoft.com/office/drawing/2014/main" id="{3C173418-1CD4-30F0-E0AA-009DCA0C60CF}"/>
              </a:ext>
            </a:extLst>
          </p:cNvPr>
          <p:cNvSpPr/>
          <p:nvPr/>
        </p:nvSpPr>
        <p:spPr>
          <a:xfrm>
            <a:off x="324091" y="1004890"/>
            <a:ext cx="11458937" cy="228556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35" name="Text 33">
            <a:extLst>
              <a:ext uri="{FF2B5EF4-FFF2-40B4-BE49-F238E27FC236}">
                <a16:creationId xmlns:a16="http://schemas.microsoft.com/office/drawing/2014/main" id="{9EFDDB2E-0813-C1F2-E8D1-35AAC941F168}"/>
              </a:ext>
            </a:extLst>
          </p:cNvPr>
          <p:cNvSpPr/>
          <p:nvPr/>
        </p:nvSpPr>
        <p:spPr>
          <a:xfrm>
            <a:off x="537836" y="1012029"/>
            <a:ext cx="3657600" cy="365760"/>
          </a:xfrm>
          <a:prstGeom prst="rect">
            <a:avLst/>
          </a:prstGeom>
          <a:noFill/>
          <a:ln/>
        </p:spPr>
        <p:txBody>
          <a:bodyPr wrap="square" lIns="0" tIns="0" rIns="0" bIns="0" rtlCol="0" anchor="ctr"/>
          <a:lstStyle/>
          <a:p>
            <a:r>
              <a:rPr lang="en-US" sz="2000" b="1" dirty="0">
                <a:solidFill>
                  <a:srgbClr val="0E7490"/>
                </a:solidFill>
                <a:latin typeface="Calibri" pitchFamily="34" charset="0"/>
                <a:ea typeface="Calibri" pitchFamily="34" charset="-122"/>
                <a:cs typeface="Calibri" pitchFamily="34" charset="-120"/>
              </a:rPr>
              <a:t>Data Collection</a:t>
            </a:r>
            <a:endParaRPr lang="en-US" sz="2000" dirty="0"/>
          </a:p>
        </p:txBody>
      </p:sp>
      <p:sp>
        <p:nvSpPr>
          <p:cNvPr id="36" name="Text 34">
            <a:extLst>
              <a:ext uri="{FF2B5EF4-FFF2-40B4-BE49-F238E27FC236}">
                <a16:creationId xmlns:a16="http://schemas.microsoft.com/office/drawing/2014/main" id="{2F3B6C96-2AB0-2394-C699-D04113AD945F}"/>
              </a:ext>
            </a:extLst>
          </p:cNvPr>
          <p:cNvSpPr/>
          <p:nvPr/>
        </p:nvSpPr>
        <p:spPr>
          <a:xfrm>
            <a:off x="408972" y="1400070"/>
            <a:ext cx="11177286" cy="1855326"/>
          </a:xfrm>
          <a:prstGeom prst="rect">
            <a:avLst/>
          </a:prstGeom>
          <a:noFill/>
          <a:ln/>
        </p:spPr>
        <p:txBody>
          <a:bodyPr wrap="square" rtlCol="0" anchor="ctr"/>
          <a:lstStyle/>
          <a:p>
            <a:r>
              <a:rPr lang="en-US" b="1" dirty="0">
                <a:solidFill>
                  <a:srgbClr val="475569"/>
                </a:solidFill>
                <a:latin typeface="Calibri" pitchFamily="34" charset="0"/>
                <a:ea typeface="Calibri" pitchFamily="34" charset="-122"/>
                <a:cs typeface="Calibri" pitchFamily="34" charset="-120"/>
              </a:rPr>
              <a:t>• Guest Survey (n=20):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Attitudes to voice assistants, privacy expectations - drove functional/non-functional requirements
</a:t>
            </a:r>
            <a:r>
              <a:rPr lang="en-US" b="1" dirty="0">
                <a:solidFill>
                  <a:srgbClr val="475569"/>
                </a:solidFill>
                <a:latin typeface="Calibri" pitchFamily="34" charset="0"/>
                <a:ea typeface="Calibri" pitchFamily="34" charset="-122"/>
                <a:cs typeface="Calibri" pitchFamily="34" charset="-120"/>
              </a:rPr>
              <a:t>• Practitioner Consultation: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Head Chef (15yr experience) confirmed phone bottlenecks identified in literature
</a:t>
            </a:r>
            <a:r>
              <a:rPr lang="en-US" b="1" dirty="0">
                <a:solidFill>
                  <a:srgbClr val="475569"/>
                </a:solidFill>
                <a:latin typeface="Calibri" pitchFamily="34" charset="0"/>
                <a:ea typeface="Calibri" pitchFamily="34" charset="-122"/>
                <a:cs typeface="Calibri" pitchFamily="34" charset="-120"/>
              </a:rPr>
              <a:t>• Literature Review: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Buhalis</a:t>
            </a:r>
            <a:r>
              <a:rPr lang="en-US" dirty="0">
                <a:solidFill>
                  <a:srgbClr val="475569"/>
                </a:solidFill>
                <a:latin typeface="Calibri" pitchFamily="34" charset="0"/>
                <a:ea typeface="Calibri" pitchFamily="34" charset="-122"/>
                <a:cs typeface="Calibri" pitchFamily="34" charset="-120"/>
              </a:rPr>
              <a:t> &amp; Moldavska (2021/22), Hwang &amp; Erdem (2025), Wickramasinghe &amp; Ratnayake (2022), SLTDA (2024)</a:t>
            </a:r>
            <a:endParaRPr lang="en-US" dirty="0"/>
          </a:p>
        </p:txBody>
      </p:sp>
      <p:sp>
        <p:nvSpPr>
          <p:cNvPr id="37" name="Shape 35">
            <a:extLst>
              <a:ext uri="{FF2B5EF4-FFF2-40B4-BE49-F238E27FC236}">
                <a16:creationId xmlns:a16="http://schemas.microsoft.com/office/drawing/2014/main" id="{1B7E0873-0CB7-BC8E-6491-0E9FB6B05FA5}"/>
              </a:ext>
            </a:extLst>
          </p:cNvPr>
          <p:cNvSpPr/>
          <p:nvPr/>
        </p:nvSpPr>
        <p:spPr>
          <a:xfrm>
            <a:off x="324091" y="3488528"/>
            <a:ext cx="11458936" cy="286597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38" name="Text 36">
            <a:extLst>
              <a:ext uri="{FF2B5EF4-FFF2-40B4-BE49-F238E27FC236}">
                <a16:creationId xmlns:a16="http://schemas.microsoft.com/office/drawing/2014/main" id="{132C9EC0-5602-AA4E-7AC9-B17FBE7A8F49}"/>
              </a:ext>
            </a:extLst>
          </p:cNvPr>
          <p:cNvSpPr/>
          <p:nvPr/>
        </p:nvSpPr>
        <p:spPr>
          <a:xfrm>
            <a:off x="537835" y="3569744"/>
            <a:ext cx="3657600" cy="365760"/>
          </a:xfrm>
          <a:prstGeom prst="rect">
            <a:avLst/>
          </a:prstGeom>
          <a:noFill/>
          <a:ln/>
        </p:spPr>
        <p:txBody>
          <a:bodyPr wrap="square" lIns="0" tIns="0" rIns="0" bIns="0" rtlCol="0" anchor="ctr"/>
          <a:lstStyle/>
          <a:p>
            <a:r>
              <a:rPr lang="en-US" sz="2000" b="1" dirty="0">
                <a:solidFill>
                  <a:srgbClr val="0E7490"/>
                </a:solidFill>
                <a:latin typeface="Calibri" pitchFamily="34" charset="0"/>
                <a:ea typeface="Calibri" pitchFamily="34" charset="-122"/>
                <a:cs typeface="Calibri" pitchFamily="34" charset="-120"/>
              </a:rPr>
              <a:t>Analysis Methods</a:t>
            </a:r>
            <a:endParaRPr lang="en-US" sz="2000" dirty="0"/>
          </a:p>
        </p:txBody>
      </p:sp>
      <p:sp>
        <p:nvSpPr>
          <p:cNvPr id="39" name="Text 37">
            <a:extLst>
              <a:ext uri="{FF2B5EF4-FFF2-40B4-BE49-F238E27FC236}">
                <a16:creationId xmlns:a16="http://schemas.microsoft.com/office/drawing/2014/main" id="{5D61C464-B0C1-3FD7-8D16-710D5D2CD8A0}"/>
              </a:ext>
            </a:extLst>
          </p:cNvPr>
          <p:cNvSpPr/>
          <p:nvPr/>
        </p:nvSpPr>
        <p:spPr>
          <a:xfrm>
            <a:off x="537835" y="4072664"/>
            <a:ext cx="11458935" cy="2013880"/>
          </a:xfrm>
          <a:prstGeom prst="rect">
            <a:avLst/>
          </a:prstGeom>
          <a:noFill/>
          <a:ln/>
        </p:spPr>
        <p:txBody>
          <a:bodyPr wrap="square" rtlCol="0" anchor="ctr"/>
          <a:lstStyle/>
          <a:p>
            <a:r>
              <a:rPr lang="en-US" b="1" dirty="0">
                <a:solidFill>
                  <a:srgbClr val="475569"/>
                </a:solidFill>
                <a:latin typeface="Calibri" pitchFamily="34" charset="0"/>
                <a:ea typeface="Calibri" pitchFamily="34" charset="-122"/>
                <a:cs typeface="Calibri" pitchFamily="34" charset="-120"/>
              </a:rPr>
              <a:t>• Word Error Rate (WER):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jiwer</a:t>
            </a:r>
            <a:r>
              <a:rPr lang="en-US" dirty="0">
                <a:solidFill>
                  <a:srgbClr val="475569"/>
                </a:solidFill>
                <a:latin typeface="Calibri" pitchFamily="34" charset="0"/>
                <a:ea typeface="Calibri" pitchFamily="34" charset="-122"/>
                <a:cs typeface="Calibri" pitchFamily="34" charset="-120"/>
              </a:rPr>
              <a:t> library - Vosk transcriptions vs. reference text (72,133 words, 10,080 phrases)</a:t>
            </a:r>
          </a:p>
          <a:p>
            <a:r>
              <a:rPr lang="en-US" b="1" dirty="0">
                <a:solidFill>
                  <a:srgbClr val="475569"/>
                </a:solidFill>
                <a:latin typeface="Calibri" pitchFamily="34" charset="0"/>
                <a:ea typeface="Calibri" pitchFamily="34" charset="-122"/>
                <a:cs typeface="Calibri" pitchFamily="34" charset="-120"/>
              </a:rPr>
              <a:t>• NLU Accuracy: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sklearn</a:t>
            </a:r>
            <a:r>
              <a:rPr lang="en-US" dirty="0">
                <a:solidFill>
                  <a:srgbClr val="475569"/>
                </a:solidFill>
                <a:latin typeface="Calibri" pitchFamily="34" charset="0"/>
                <a:ea typeface="Calibri" pitchFamily="34" charset="-122"/>
                <a:cs typeface="Calibri" pitchFamily="34" charset="-120"/>
              </a:rPr>
              <a:t> - accuracy, precision, recall, F1 per intent (2,016-sample fixed test set) 
</a:t>
            </a:r>
            <a:r>
              <a:rPr lang="en-US" b="1" dirty="0">
                <a:solidFill>
                  <a:srgbClr val="475569"/>
                </a:solidFill>
                <a:latin typeface="Calibri" pitchFamily="34" charset="0"/>
                <a:ea typeface="Calibri" pitchFamily="34" charset="-122"/>
                <a:cs typeface="Calibri" pitchFamily="34" charset="-120"/>
              </a:rPr>
              <a:t>• Latency: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Timestamp logging at each pipeline stage (n=20 test requests, P95 reported)
</a:t>
            </a:r>
            <a:r>
              <a:rPr lang="en-US" b="1" dirty="0">
                <a:solidFill>
                  <a:srgbClr val="475569"/>
                </a:solidFill>
                <a:latin typeface="Calibri" pitchFamily="34" charset="0"/>
                <a:ea typeface="Calibri" pitchFamily="34" charset="-122"/>
                <a:cs typeface="Calibri" pitchFamily="34" charset="-120"/>
              </a:rPr>
              <a:t>• Cost: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3-year </a:t>
            </a:r>
            <a:r>
              <a:rPr lang="en-US" dirty="0"/>
              <a:t>Total Cost of Ownership </a:t>
            </a:r>
            <a:r>
              <a:rPr lang="en-US" dirty="0">
                <a:solidFill>
                  <a:srgbClr val="475569"/>
                </a:solidFill>
                <a:latin typeface="Calibri" pitchFamily="34" charset="0"/>
                <a:ea typeface="Calibri" pitchFamily="34" charset="-122"/>
                <a:cs typeface="Calibri" pitchFamily="34" charset="-120"/>
              </a:rPr>
              <a:t>(TCO) comparison vs. Google Cloud STT &amp; Alexa for Hospitality (50-room hotel)</a:t>
            </a:r>
            <a:endParaRPr lang="en-US" dirty="0"/>
          </a:p>
        </p:txBody>
      </p:sp>
      <p:sp>
        <p:nvSpPr>
          <p:cNvPr id="40" name="Title 1">
            <a:extLst>
              <a:ext uri="{FF2B5EF4-FFF2-40B4-BE49-F238E27FC236}">
                <a16:creationId xmlns:a16="http://schemas.microsoft.com/office/drawing/2014/main" id="{B5E89C12-401C-1677-9B2E-A3800CFE0300}"/>
              </a:ext>
            </a:extLst>
          </p:cNvPr>
          <p:cNvSpPr txBox="1">
            <a:spLocks/>
          </p:cNvSpPr>
          <p:nvPr/>
        </p:nvSpPr>
        <p:spPr>
          <a:xfrm>
            <a:off x="537835" y="171194"/>
            <a:ext cx="10515600" cy="787718"/>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Methodology</a:t>
            </a:r>
          </a:p>
        </p:txBody>
      </p:sp>
      <p:sp>
        <p:nvSpPr>
          <p:cNvPr id="4" name="Slide Number Placeholder 3">
            <a:extLst>
              <a:ext uri="{FF2B5EF4-FFF2-40B4-BE49-F238E27FC236}">
                <a16:creationId xmlns:a16="http://schemas.microsoft.com/office/drawing/2014/main" id="{0EFBAE9C-1EB3-33D5-ACC7-F67321BA8EEE}"/>
              </a:ext>
            </a:extLst>
          </p:cNvPr>
          <p:cNvSpPr txBox="1">
            <a:spLocks/>
          </p:cNvSpPr>
          <p:nvPr/>
        </p:nvSpPr>
        <p:spPr>
          <a:xfrm>
            <a:off x="11865813" y="6245385"/>
            <a:ext cx="29154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7</a:t>
            </a:fld>
            <a:endParaRPr lang="en-US" sz="1200" b="1" dirty="0">
              <a:solidFill>
                <a:schemeClr val="bg1">
                  <a:lumMod val="10000"/>
                </a:schemeClr>
              </a:solidFill>
            </a:endParaRPr>
          </a:p>
        </p:txBody>
      </p:sp>
    </p:spTree>
    <p:extLst>
      <p:ext uri="{BB962C8B-B14F-4D97-AF65-F5344CB8AC3E}">
        <p14:creationId xmlns:p14="http://schemas.microsoft.com/office/powerpoint/2010/main" val="483535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87F13B-07C6-56B2-F30A-CC3C71CD9D7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C5134E7-DEDA-3ACE-3336-05528CC5C142}"/>
              </a:ext>
            </a:extLst>
          </p:cNvPr>
          <p:cNvSpPr>
            <a:spLocks noGrp="1"/>
          </p:cNvSpPr>
          <p:nvPr>
            <p:ph type="title"/>
          </p:nvPr>
        </p:nvSpPr>
        <p:spPr>
          <a:xfrm>
            <a:off x="608582" y="122876"/>
            <a:ext cx="10515600" cy="757548"/>
          </a:xfrm>
        </p:spPr>
        <p:txBody>
          <a:bodyPr>
            <a:normAutofit/>
          </a:bodyPr>
          <a:lstStyle/>
          <a:p>
            <a:r>
              <a:rPr lang="en-US" dirty="0"/>
              <a:t>Design and Architecture </a:t>
            </a:r>
          </a:p>
        </p:txBody>
      </p:sp>
      <p:pic>
        <p:nvPicPr>
          <p:cNvPr id="6" name="Picture 5">
            <a:extLst>
              <a:ext uri="{FF2B5EF4-FFF2-40B4-BE49-F238E27FC236}">
                <a16:creationId xmlns:a16="http://schemas.microsoft.com/office/drawing/2014/main" id="{FB94AB62-E955-A42F-21C6-7F8ADED16E60}"/>
              </a:ext>
            </a:extLst>
          </p:cNvPr>
          <p:cNvPicPr>
            <a:picLocks noChangeAspect="1"/>
          </p:cNvPicPr>
          <p:nvPr/>
        </p:nvPicPr>
        <p:blipFill>
          <a:blip r:embed="rId4">
            <a:extLst>
              <a:ext uri="{28A0092B-C50C-407E-A947-70E740481C1C}">
                <a14:useLocalDpi xmlns:a14="http://schemas.microsoft.com/office/drawing/2010/main" val="0"/>
              </a:ext>
            </a:extLst>
          </a:blip>
          <a:srcRect t="25021" b="23947"/>
          <a:stretch>
            <a:fillRect/>
          </a:stretch>
        </p:blipFill>
        <p:spPr>
          <a:xfrm>
            <a:off x="608582" y="2028825"/>
            <a:ext cx="10974835" cy="2800350"/>
          </a:xfrm>
          <a:prstGeom prst="rect">
            <a:avLst/>
          </a:prstGeom>
        </p:spPr>
      </p:pic>
      <p:sp>
        <p:nvSpPr>
          <p:cNvPr id="8" name="TextBox 7">
            <a:extLst>
              <a:ext uri="{FF2B5EF4-FFF2-40B4-BE49-F238E27FC236}">
                <a16:creationId xmlns:a16="http://schemas.microsoft.com/office/drawing/2014/main" id="{87FDAD13-8792-2ED1-1087-667FBB9E4C19}"/>
              </a:ext>
            </a:extLst>
          </p:cNvPr>
          <p:cNvSpPr txBox="1"/>
          <p:nvPr/>
        </p:nvSpPr>
        <p:spPr>
          <a:xfrm>
            <a:off x="762000" y="1048298"/>
            <a:ext cx="6097904" cy="523220"/>
          </a:xfrm>
          <a:prstGeom prst="rect">
            <a:avLst/>
          </a:prstGeom>
          <a:noFill/>
        </p:spPr>
        <p:txBody>
          <a:bodyPr wrap="square">
            <a:spAutoFit/>
          </a:bodyPr>
          <a:lstStyle/>
          <a:p>
            <a:r>
              <a:rPr lang="en-GB" sz="2800" dirty="0">
                <a:ln w="0"/>
                <a:solidFill>
                  <a:schemeClr val="accent1"/>
                </a:solidFill>
                <a:effectLst>
                  <a:outerShdw blurRad="38100" dist="25400" dir="5400000" algn="ctr" rotWithShape="0">
                    <a:srgbClr val="6E747A">
                      <a:alpha val="43000"/>
                    </a:srgbClr>
                  </a:outerShdw>
                </a:effectLst>
              </a:rPr>
              <a:t>High-Level System Conceptual View</a:t>
            </a:r>
            <a:endParaRPr lang="en-US" sz="2800" dirty="0">
              <a:ln w="0"/>
              <a:solidFill>
                <a:schemeClr val="accent1"/>
              </a:solidFill>
              <a:effectLst>
                <a:outerShdw blurRad="38100" dist="25400" dir="5400000" algn="ctr" rotWithShape="0">
                  <a:srgbClr val="6E747A">
                    <a:alpha val="43000"/>
                  </a:srgbClr>
                </a:outerShdw>
              </a:effectLst>
            </a:endParaRPr>
          </a:p>
        </p:txBody>
      </p:sp>
      <p:sp>
        <p:nvSpPr>
          <p:cNvPr id="7" name="Slide Number Placeholder 3">
            <a:extLst>
              <a:ext uri="{FF2B5EF4-FFF2-40B4-BE49-F238E27FC236}">
                <a16:creationId xmlns:a16="http://schemas.microsoft.com/office/drawing/2014/main" id="{1B342FD5-6180-19DC-F8CF-D2B0644660AD}"/>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8</a:t>
            </a:fld>
            <a:endParaRPr lang="en-US" b="1" dirty="0">
              <a:solidFill>
                <a:schemeClr val="bg1">
                  <a:lumMod val="10000"/>
                </a:schemeClr>
              </a:solidFill>
            </a:endParaRPr>
          </a:p>
        </p:txBody>
      </p:sp>
    </p:spTree>
    <p:extLst>
      <p:ext uri="{BB962C8B-B14F-4D97-AF65-F5344CB8AC3E}">
        <p14:creationId xmlns:p14="http://schemas.microsoft.com/office/powerpoint/2010/main" val="916497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80FF5-305C-BA99-CC0C-BF454808EB7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CBFD836-F578-9F38-C821-28C49F7B066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9920B19-62A1-2D3B-4983-B24F28B57A41}"/>
              </a:ext>
            </a:extLst>
          </p:cNvPr>
          <p:cNvSpPr>
            <a:spLocks noGrp="1"/>
          </p:cNvSpPr>
          <p:nvPr>
            <p:ph type="title"/>
          </p:nvPr>
        </p:nvSpPr>
        <p:spPr>
          <a:xfrm>
            <a:off x="650240" y="150499"/>
            <a:ext cx="10515600" cy="757548"/>
          </a:xfrm>
        </p:spPr>
        <p:txBody>
          <a:bodyPr>
            <a:normAutofit/>
          </a:bodyPr>
          <a:lstStyle/>
          <a:p>
            <a:r>
              <a:rPr lang="en-US" dirty="0"/>
              <a:t>Design and Architecture </a:t>
            </a:r>
          </a:p>
        </p:txBody>
      </p:sp>
      <p:sp>
        <p:nvSpPr>
          <p:cNvPr id="50" name="NetworkLabel">
            <a:extLst>
              <a:ext uri="{FF2B5EF4-FFF2-40B4-BE49-F238E27FC236}">
                <a16:creationId xmlns:a16="http://schemas.microsoft.com/office/drawing/2014/main" id="{8980DF5F-91CB-732F-5D3A-8711530843F7}"/>
              </a:ext>
            </a:extLst>
          </p:cNvPr>
          <p:cNvSpPr/>
          <p:nvPr/>
        </p:nvSpPr>
        <p:spPr>
          <a:xfrm>
            <a:off x="379095" y="5949962"/>
            <a:ext cx="11433810" cy="393693"/>
          </a:xfrm>
          <a:prstGeom prst="roundRect">
            <a:avLst/>
          </a:prstGeom>
          <a:solidFill>
            <a:schemeClr val="accent4">
              <a:lumMod val="40000"/>
              <a:lumOff val="60000"/>
            </a:schemeClr>
          </a:solidFill>
          <a:ln w="12700">
            <a:solidFill>
              <a:srgbClr val="2C5F7C"/>
            </a:solidFill>
          </a:ln>
        </p:spPr>
        <p:txBody>
          <a:bodyPr wrap="square" lIns="45720" tIns="36576" rIns="45720" bIns="36576" anchor="ctr"/>
          <a:lstStyle/>
          <a:p>
            <a:pPr algn="ctr">
              <a:buNone/>
            </a:pPr>
            <a:r>
              <a:rPr lang="en-US" sz="1600" b="1" dirty="0">
                <a:solidFill>
                  <a:srgbClr val="1B2A4A"/>
                </a:solidFill>
                <a:latin typeface="Calibri"/>
              </a:rPr>
              <a:t>HOTEL LOCAL AREA NETWORK (No Internet Required)</a:t>
            </a:r>
          </a:p>
        </p:txBody>
      </p:sp>
      <p:sp>
        <p:nvSpPr>
          <p:cNvPr id="51" name="Tier1BG">
            <a:extLst>
              <a:ext uri="{FF2B5EF4-FFF2-40B4-BE49-F238E27FC236}">
                <a16:creationId xmlns:a16="http://schemas.microsoft.com/office/drawing/2014/main" id="{19271D1C-E88E-D126-8638-0821869FD337}"/>
              </a:ext>
            </a:extLst>
          </p:cNvPr>
          <p:cNvSpPr/>
          <p:nvPr/>
        </p:nvSpPr>
        <p:spPr>
          <a:xfrm>
            <a:off x="396240" y="1701800"/>
            <a:ext cx="3302000" cy="3937000"/>
          </a:xfrm>
          <a:prstGeom prst="roundRect">
            <a:avLst/>
          </a:prstGeom>
          <a:solidFill>
            <a:srgbClr val="FFFFFF"/>
          </a:solidFill>
          <a:ln w="12700">
            <a:solidFill>
              <a:srgbClr val="2C5F7C"/>
            </a:solidFill>
          </a:ln>
        </p:spPr>
        <p:txBody>
          <a:bodyPr wrap="square" lIns="45720" tIns="36576" rIns="45720" bIns="36576" anchor="ctr"/>
          <a:lstStyle/>
          <a:p>
            <a:pPr algn="ctr">
              <a:buNone/>
            </a:pPr>
            <a:endParaRPr/>
          </a:p>
        </p:txBody>
      </p:sp>
      <p:sp>
        <p:nvSpPr>
          <p:cNvPr id="52" name="Tier1Header">
            <a:extLst>
              <a:ext uri="{FF2B5EF4-FFF2-40B4-BE49-F238E27FC236}">
                <a16:creationId xmlns:a16="http://schemas.microsoft.com/office/drawing/2014/main" id="{85B46542-682A-929D-6A6C-392E96A75E0F}"/>
              </a:ext>
            </a:extLst>
          </p:cNvPr>
          <p:cNvSpPr/>
          <p:nvPr/>
        </p:nvSpPr>
        <p:spPr>
          <a:xfrm>
            <a:off x="762000" y="1610349"/>
            <a:ext cx="2541270" cy="355600"/>
          </a:xfrm>
          <a:prstGeom prst="rect">
            <a:avLst/>
          </a:prstGeom>
          <a:solidFill>
            <a:srgbClr val="2C5F7C"/>
          </a:solidFill>
          <a:ln w="12700">
            <a:solidFill>
              <a:srgbClr val="2C5F7C"/>
            </a:solidFill>
          </a:ln>
        </p:spPr>
        <p:txBody>
          <a:bodyPr wrap="square" lIns="45720" tIns="36576" rIns="45720" bIns="36576" anchor="ctr"/>
          <a:lstStyle/>
          <a:p>
            <a:pPr algn="ctr">
              <a:buNone/>
            </a:pPr>
            <a:r>
              <a:rPr lang="en-US" sz="1600" b="1" dirty="0">
                <a:solidFill>
                  <a:srgbClr val="FFFFFF"/>
                </a:solidFill>
                <a:latin typeface="Calibri"/>
              </a:rPr>
              <a:t>TIER 1: GUEST DEVICE</a:t>
            </a:r>
          </a:p>
        </p:txBody>
      </p:sp>
      <p:sp>
        <p:nvSpPr>
          <p:cNvPr id="53" name="Tier1Sub">
            <a:extLst>
              <a:ext uri="{FF2B5EF4-FFF2-40B4-BE49-F238E27FC236}">
                <a16:creationId xmlns:a16="http://schemas.microsoft.com/office/drawing/2014/main" id="{60778A32-9B79-770A-0FA8-692302F871C0}"/>
              </a:ext>
            </a:extLst>
          </p:cNvPr>
          <p:cNvSpPr/>
          <p:nvPr/>
        </p:nvSpPr>
        <p:spPr>
          <a:xfrm>
            <a:off x="472440" y="2089150"/>
            <a:ext cx="3175000" cy="228600"/>
          </a:xfrm>
          <a:prstGeom prst="rect">
            <a:avLst/>
          </a:prstGeom>
          <a:solidFill>
            <a:srgbClr val="F0EDE6"/>
          </a:solidFill>
          <a:ln w="12700">
            <a:solidFill>
              <a:srgbClr val="F0EDE6"/>
            </a:solidFill>
          </a:ln>
        </p:spPr>
        <p:txBody>
          <a:bodyPr wrap="square" lIns="45720" tIns="36576" rIns="45720" bIns="36576" anchor="ctr"/>
          <a:lstStyle/>
          <a:p>
            <a:pPr algn="ctr">
              <a:buNone/>
            </a:pPr>
            <a:r>
              <a:rPr lang="en-US" sz="1100" b="1" dirty="0">
                <a:solidFill>
                  <a:srgbClr val="1B2A4A"/>
                </a:solidFill>
                <a:latin typeface="Calibri"/>
              </a:rPr>
              <a:t>Android Tablet (per room)</a:t>
            </a:r>
          </a:p>
        </p:txBody>
      </p:sp>
      <p:sp>
        <p:nvSpPr>
          <p:cNvPr id="54" name="VoskBox">
            <a:extLst>
              <a:ext uri="{FF2B5EF4-FFF2-40B4-BE49-F238E27FC236}">
                <a16:creationId xmlns:a16="http://schemas.microsoft.com/office/drawing/2014/main" id="{C6AB5C6A-6132-7EF7-7032-EC38894E2C97}"/>
              </a:ext>
            </a:extLst>
          </p:cNvPr>
          <p:cNvSpPr/>
          <p:nvPr/>
        </p:nvSpPr>
        <p:spPr>
          <a:xfrm>
            <a:off x="650240" y="2489199"/>
            <a:ext cx="2857500" cy="781037"/>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err="1">
                <a:solidFill>
                  <a:srgbClr val="1B2A4A"/>
                </a:solidFill>
                <a:latin typeface="Calibri"/>
              </a:rPr>
              <a:t>Vosk</a:t>
            </a:r>
            <a:r>
              <a:rPr lang="en-US" sz="1400" b="1" dirty="0">
                <a:solidFill>
                  <a:srgbClr val="1B2A4A"/>
                </a:solidFill>
                <a:latin typeface="Calibri"/>
              </a:rPr>
              <a:t> STT</a:t>
            </a:r>
          </a:p>
        </p:txBody>
      </p:sp>
      <p:sp>
        <p:nvSpPr>
          <p:cNvPr id="56" name="HybridBox">
            <a:extLst>
              <a:ext uri="{FF2B5EF4-FFF2-40B4-BE49-F238E27FC236}">
                <a16:creationId xmlns:a16="http://schemas.microsoft.com/office/drawing/2014/main" id="{F54E98AC-7EA8-35C4-BFD6-767E0E30AAD9}"/>
              </a:ext>
            </a:extLst>
          </p:cNvPr>
          <p:cNvSpPr/>
          <p:nvPr/>
        </p:nvSpPr>
        <p:spPr>
          <a:xfrm>
            <a:off x="650240" y="3429001"/>
            <a:ext cx="2857500" cy="863599"/>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a:solidFill>
                  <a:srgbClr val="1B2A4A"/>
                </a:solidFill>
                <a:latin typeface="Calibri"/>
              </a:rPr>
              <a:t>Hybrid Pipeline</a:t>
            </a:r>
          </a:p>
          <a:p>
            <a:pPr algn="ctr"/>
            <a:r>
              <a:rPr lang="en-US" sz="1400" dirty="0">
                <a:solidFill>
                  <a:srgbClr val="1B2A4A"/>
                </a:solidFill>
                <a:latin typeface="Calibri"/>
              </a:rPr>
              <a:t>Keyword rules + </a:t>
            </a:r>
            <a:r>
              <a:rPr lang="en-US" sz="1400" dirty="0" err="1">
                <a:solidFill>
                  <a:srgbClr val="1B2A4A"/>
                </a:solidFill>
              </a:rPr>
              <a:t>MobileBERT</a:t>
            </a:r>
            <a:r>
              <a:rPr lang="en-US" sz="1400" dirty="0">
                <a:solidFill>
                  <a:srgbClr val="1B2A4A"/>
                </a:solidFill>
              </a:rPr>
              <a:t> NLU</a:t>
            </a:r>
          </a:p>
          <a:p>
            <a:pPr algn="ctr">
              <a:buNone/>
            </a:pPr>
            <a:endParaRPr lang="en-US" sz="1400" dirty="0">
              <a:solidFill>
                <a:srgbClr val="1B2A4A"/>
              </a:solidFill>
              <a:latin typeface="Calibri"/>
            </a:endParaRPr>
          </a:p>
        </p:txBody>
      </p:sp>
      <p:sp>
        <p:nvSpPr>
          <p:cNvPr id="57" name="TTSBox">
            <a:extLst>
              <a:ext uri="{FF2B5EF4-FFF2-40B4-BE49-F238E27FC236}">
                <a16:creationId xmlns:a16="http://schemas.microsoft.com/office/drawing/2014/main" id="{D3067FC4-CAA7-E7F9-15CC-A359B36051F4}"/>
              </a:ext>
            </a:extLst>
          </p:cNvPr>
          <p:cNvSpPr/>
          <p:nvPr/>
        </p:nvSpPr>
        <p:spPr>
          <a:xfrm>
            <a:off x="650240" y="4451363"/>
            <a:ext cx="2857500" cy="704837"/>
          </a:xfrm>
          <a:prstGeom prst="roundRect">
            <a:avLst/>
          </a:prstGeom>
          <a:solidFill>
            <a:srgbClr val="E8F0F5"/>
          </a:solidFill>
          <a:ln w="12700">
            <a:solidFill>
              <a:srgbClr val="2C5F7C"/>
            </a:solidFill>
          </a:ln>
        </p:spPr>
        <p:txBody>
          <a:bodyPr wrap="square" lIns="45720" tIns="36576" rIns="45720" bIns="36576" anchor="ctr"/>
          <a:lstStyle/>
          <a:p>
            <a:pPr algn="ctr">
              <a:buNone/>
            </a:pPr>
            <a:r>
              <a:rPr lang="en-US" sz="1400" b="1" dirty="0">
                <a:solidFill>
                  <a:srgbClr val="1B2A4A"/>
                </a:solidFill>
                <a:latin typeface="Calibri"/>
              </a:rPr>
              <a:t>Android TTS (voice feedback)</a:t>
            </a:r>
          </a:p>
        </p:txBody>
      </p:sp>
      <p:sp>
        <p:nvSpPr>
          <p:cNvPr id="58" name="Tier2BG">
            <a:extLst>
              <a:ext uri="{FF2B5EF4-FFF2-40B4-BE49-F238E27FC236}">
                <a16:creationId xmlns:a16="http://schemas.microsoft.com/office/drawing/2014/main" id="{B6C7101C-BFA9-EBB8-3B5A-785EF05292DD}"/>
              </a:ext>
            </a:extLst>
          </p:cNvPr>
          <p:cNvSpPr/>
          <p:nvPr/>
        </p:nvSpPr>
        <p:spPr>
          <a:xfrm>
            <a:off x="4491990" y="1701800"/>
            <a:ext cx="3191510" cy="3937000"/>
          </a:xfrm>
          <a:prstGeom prst="roundRect">
            <a:avLst/>
          </a:prstGeom>
          <a:solidFill>
            <a:srgbClr val="FFFFFF"/>
          </a:solidFill>
          <a:ln w="12700">
            <a:solidFill>
              <a:srgbClr val="6B8F71"/>
            </a:solidFill>
          </a:ln>
        </p:spPr>
        <p:txBody>
          <a:bodyPr wrap="square" lIns="45720" tIns="36576" rIns="45720" bIns="36576" anchor="ctr"/>
          <a:lstStyle/>
          <a:p>
            <a:pPr algn="ctr">
              <a:buNone/>
            </a:pPr>
            <a:endParaRPr/>
          </a:p>
        </p:txBody>
      </p:sp>
      <p:sp>
        <p:nvSpPr>
          <p:cNvPr id="59" name="Tier2Header">
            <a:extLst>
              <a:ext uri="{FF2B5EF4-FFF2-40B4-BE49-F238E27FC236}">
                <a16:creationId xmlns:a16="http://schemas.microsoft.com/office/drawing/2014/main" id="{A236FBAD-0C41-A808-525E-BC37257A8FCE}"/>
              </a:ext>
            </a:extLst>
          </p:cNvPr>
          <p:cNvSpPr/>
          <p:nvPr/>
        </p:nvSpPr>
        <p:spPr>
          <a:xfrm>
            <a:off x="4888865" y="1549401"/>
            <a:ext cx="2400300" cy="355600"/>
          </a:xfrm>
          <a:prstGeom prst="rect">
            <a:avLst/>
          </a:prstGeom>
          <a:solidFill>
            <a:srgbClr val="6B8F71"/>
          </a:solidFill>
          <a:ln w="12700">
            <a:solidFill>
              <a:srgbClr val="6B8F71"/>
            </a:solidFill>
          </a:ln>
        </p:spPr>
        <p:txBody>
          <a:bodyPr wrap="square" lIns="45720" tIns="36576" rIns="45720" bIns="36576" anchor="ctr"/>
          <a:lstStyle/>
          <a:p>
            <a:pPr algn="ctr">
              <a:buNone/>
            </a:pPr>
            <a:r>
              <a:rPr lang="en-US" sz="1600" b="1" dirty="0">
                <a:solidFill>
                  <a:srgbClr val="FFFFFF"/>
                </a:solidFill>
                <a:latin typeface="Calibri"/>
              </a:rPr>
              <a:t>TIER 2: HOTEL SERVER</a:t>
            </a:r>
          </a:p>
        </p:txBody>
      </p:sp>
      <p:sp>
        <p:nvSpPr>
          <p:cNvPr id="60" name="Tier2Sub">
            <a:extLst>
              <a:ext uri="{FF2B5EF4-FFF2-40B4-BE49-F238E27FC236}">
                <a16:creationId xmlns:a16="http://schemas.microsoft.com/office/drawing/2014/main" id="{92895403-56F2-8A14-97DD-5B80D22A2FB9}"/>
              </a:ext>
            </a:extLst>
          </p:cNvPr>
          <p:cNvSpPr/>
          <p:nvPr/>
        </p:nvSpPr>
        <p:spPr>
          <a:xfrm>
            <a:off x="4635500" y="2101836"/>
            <a:ext cx="2921000" cy="228601"/>
          </a:xfrm>
          <a:prstGeom prst="rect">
            <a:avLst/>
          </a:prstGeom>
          <a:solidFill>
            <a:srgbClr val="EEF2EE"/>
          </a:solidFill>
          <a:ln w="12700">
            <a:solidFill>
              <a:srgbClr val="EEF2EE"/>
            </a:solidFill>
          </a:ln>
        </p:spPr>
        <p:txBody>
          <a:bodyPr wrap="square" lIns="45720" tIns="36576" rIns="45720" bIns="36576" anchor="ctr"/>
          <a:lstStyle/>
          <a:p>
            <a:pPr algn="ctr">
              <a:buNone/>
            </a:pPr>
            <a:r>
              <a:rPr lang="en-US" sz="1100" b="1" dirty="0">
                <a:solidFill>
                  <a:srgbClr val="1B2A4A"/>
                </a:solidFill>
                <a:latin typeface="Calibri"/>
              </a:rPr>
              <a:t>Any low-cost PC / Laptop</a:t>
            </a:r>
          </a:p>
        </p:txBody>
      </p:sp>
      <p:sp>
        <p:nvSpPr>
          <p:cNvPr id="61" name="FastAPIBox">
            <a:extLst>
              <a:ext uri="{FF2B5EF4-FFF2-40B4-BE49-F238E27FC236}">
                <a16:creationId xmlns:a16="http://schemas.microsoft.com/office/drawing/2014/main" id="{6C571F2B-EF0E-FFA4-D1C1-0C4754F00171}"/>
              </a:ext>
            </a:extLst>
          </p:cNvPr>
          <p:cNvSpPr/>
          <p:nvPr/>
        </p:nvSpPr>
        <p:spPr>
          <a:xfrm>
            <a:off x="4635500" y="2489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FastAPI Backend</a:t>
            </a:r>
          </a:p>
          <a:p>
            <a:pPr algn="ctr">
              <a:buNone/>
            </a:pPr>
            <a:r>
              <a:rPr lang="en-US" sz="1400" dirty="0">
                <a:solidFill>
                  <a:srgbClr val="1B2A4A"/>
                </a:solidFill>
                <a:latin typeface="Calibri"/>
              </a:rPr>
              <a:t>REST API + WebSocket Hub</a:t>
            </a:r>
          </a:p>
        </p:txBody>
      </p:sp>
      <p:sp>
        <p:nvSpPr>
          <p:cNvPr id="62" name="SQLiteBox">
            <a:extLst>
              <a:ext uri="{FF2B5EF4-FFF2-40B4-BE49-F238E27FC236}">
                <a16:creationId xmlns:a16="http://schemas.microsoft.com/office/drawing/2014/main" id="{01F5C761-7ADD-8647-5162-A7B11197210C}"/>
              </a:ext>
            </a:extLst>
          </p:cNvPr>
          <p:cNvSpPr/>
          <p:nvPr/>
        </p:nvSpPr>
        <p:spPr>
          <a:xfrm>
            <a:off x="4635500" y="3251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SQLite Database</a:t>
            </a:r>
          </a:p>
          <a:p>
            <a:pPr algn="ctr">
              <a:buNone/>
            </a:pPr>
            <a:r>
              <a:rPr lang="en-US" sz="1400" dirty="0">
                <a:solidFill>
                  <a:srgbClr val="1B2A4A"/>
                </a:solidFill>
                <a:latin typeface="Calibri"/>
              </a:rPr>
              <a:t>5 tables • Request persistence</a:t>
            </a:r>
          </a:p>
        </p:txBody>
      </p:sp>
      <p:sp>
        <p:nvSpPr>
          <p:cNvPr id="63" name="RoutingBox">
            <a:extLst>
              <a:ext uri="{FF2B5EF4-FFF2-40B4-BE49-F238E27FC236}">
                <a16:creationId xmlns:a16="http://schemas.microsoft.com/office/drawing/2014/main" id="{0EE9F73E-7DBE-E294-8161-0023BEF793BE}"/>
              </a:ext>
            </a:extLst>
          </p:cNvPr>
          <p:cNvSpPr/>
          <p:nvPr/>
        </p:nvSpPr>
        <p:spPr>
          <a:xfrm>
            <a:off x="4635500" y="4013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Routing Engine</a:t>
            </a:r>
          </a:p>
          <a:p>
            <a:pPr algn="ctr">
              <a:buNone/>
            </a:pPr>
            <a:r>
              <a:rPr lang="en-US" sz="1400" dirty="0">
                <a:solidFill>
                  <a:srgbClr val="1B2A4A"/>
                </a:solidFill>
                <a:latin typeface="Calibri"/>
              </a:rPr>
              <a:t>DB-driven + keyword fallback</a:t>
            </a:r>
          </a:p>
        </p:txBody>
      </p:sp>
      <p:sp>
        <p:nvSpPr>
          <p:cNvPr id="64" name="WSBox">
            <a:extLst>
              <a:ext uri="{FF2B5EF4-FFF2-40B4-BE49-F238E27FC236}">
                <a16:creationId xmlns:a16="http://schemas.microsoft.com/office/drawing/2014/main" id="{824B6401-D5FB-070E-FBB1-633D1199713D}"/>
              </a:ext>
            </a:extLst>
          </p:cNvPr>
          <p:cNvSpPr/>
          <p:nvPr/>
        </p:nvSpPr>
        <p:spPr>
          <a:xfrm>
            <a:off x="4635500" y="4775200"/>
            <a:ext cx="2921000" cy="381000"/>
          </a:xfrm>
          <a:prstGeom prst="roundRect">
            <a:avLst/>
          </a:prstGeom>
          <a:solidFill>
            <a:srgbClr val="EEF2EE"/>
          </a:solidFill>
          <a:ln w="12700">
            <a:solidFill>
              <a:srgbClr val="6B8F71"/>
            </a:solidFill>
          </a:ln>
        </p:spPr>
        <p:txBody>
          <a:bodyPr wrap="square" lIns="45720" tIns="36576" rIns="45720" bIns="36576" anchor="ctr"/>
          <a:lstStyle/>
          <a:p>
            <a:pPr algn="ctr">
              <a:buNone/>
            </a:pPr>
            <a:r>
              <a:rPr lang="en-US" sz="1400" b="1" dirty="0">
                <a:solidFill>
                  <a:srgbClr val="1B2A4A"/>
                </a:solidFill>
                <a:latin typeface="Calibri"/>
              </a:rPr>
              <a:t>WebSocket Connection Manager</a:t>
            </a:r>
          </a:p>
        </p:txBody>
      </p:sp>
      <p:sp>
        <p:nvSpPr>
          <p:cNvPr id="65" name="Tier3BG">
            <a:extLst>
              <a:ext uri="{FF2B5EF4-FFF2-40B4-BE49-F238E27FC236}">
                <a16:creationId xmlns:a16="http://schemas.microsoft.com/office/drawing/2014/main" id="{ADF9E986-2688-FE5F-E33C-A3C80E301864}"/>
              </a:ext>
            </a:extLst>
          </p:cNvPr>
          <p:cNvSpPr/>
          <p:nvPr/>
        </p:nvSpPr>
        <p:spPr>
          <a:xfrm>
            <a:off x="8528050" y="1701800"/>
            <a:ext cx="3302000" cy="3937000"/>
          </a:xfrm>
          <a:prstGeom prst="roundRect">
            <a:avLst/>
          </a:prstGeom>
          <a:solidFill>
            <a:srgbClr val="FFFFFF"/>
          </a:solidFill>
          <a:ln w="12700">
            <a:solidFill>
              <a:srgbClr val="C4956A"/>
            </a:solidFill>
          </a:ln>
        </p:spPr>
        <p:txBody>
          <a:bodyPr wrap="square" lIns="45720" tIns="36576" rIns="45720" bIns="36576" anchor="ctr"/>
          <a:lstStyle/>
          <a:p>
            <a:pPr algn="ctr">
              <a:buNone/>
            </a:pPr>
            <a:endParaRPr/>
          </a:p>
        </p:txBody>
      </p:sp>
      <p:sp>
        <p:nvSpPr>
          <p:cNvPr id="66" name="Tier3Header">
            <a:extLst>
              <a:ext uri="{FF2B5EF4-FFF2-40B4-BE49-F238E27FC236}">
                <a16:creationId xmlns:a16="http://schemas.microsoft.com/office/drawing/2014/main" id="{0746C1A1-9ADF-8FBB-AA34-0D180BAA63B0}"/>
              </a:ext>
            </a:extLst>
          </p:cNvPr>
          <p:cNvSpPr/>
          <p:nvPr/>
        </p:nvSpPr>
        <p:spPr>
          <a:xfrm>
            <a:off x="8994140" y="1562100"/>
            <a:ext cx="2369820" cy="355600"/>
          </a:xfrm>
          <a:prstGeom prst="rect">
            <a:avLst/>
          </a:prstGeom>
          <a:solidFill>
            <a:srgbClr val="C4956A"/>
          </a:solidFill>
          <a:ln w="12700">
            <a:solidFill>
              <a:srgbClr val="C4956A"/>
            </a:solidFill>
          </a:ln>
        </p:spPr>
        <p:txBody>
          <a:bodyPr wrap="square" lIns="45720" tIns="36576" rIns="45720" bIns="36576" anchor="ctr"/>
          <a:lstStyle/>
          <a:p>
            <a:pPr algn="ctr">
              <a:buNone/>
            </a:pPr>
            <a:r>
              <a:rPr lang="en-US" sz="1600" b="1" dirty="0">
                <a:solidFill>
                  <a:srgbClr val="FFFFFF"/>
                </a:solidFill>
                <a:latin typeface="Calibri"/>
              </a:rPr>
              <a:t>TIER 3: STAFF DASHBOARD</a:t>
            </a:r>
          </a:p>
        </p:txBody>
      </p:sp>
      <p:sp>
        <p:nvSpPr>
          <p:cNvPr id="67" name="Tier3Sub">
            <a:extLst>
              <a:ext uri="{FF2B5EF4-FFF2-40B4-BE49-F238E27FC236}">
                <a16:creationId xmlns:a16="http://schemas.microsoft.com/office/drawing/2014/main" id="{1547B0AB-E65F-8B12-EA14-EA8E28DDC6BF}"/>
              </a:ext>
            </a:extLst>
          </p:cNvPr>
          <p:cNvSpPr/>
          <p:nvPr/>
        </p:nvSpPr>
        <p:spPr>
          <a:xfrm>
            <a:off x="8607425" y="2089150"/>
            <a:ext cx="3175000" cy="228600"/>
          </a:xfrm>
          <a:prstGeom prst="rect">
            <a:avLst/>
          </a:prstGeom>
          <a:solidFill>
            <a:srgbClr val="F5EDE8"/>
          </a:solidFill>
          <a:ln w="12700">
            <a:solidFill>
              <a:srgbClr val="F5EDE8"/>
            </a:solidFill>
          </a:ln>
        </p:spPr>
        <p:txBody>
          <a:bodyPr wrap="square" lIns="45720" tIns="36576" rIns="45720" bIns="36576" anchor="ctr"/>
          <a:lstStyle/>
          <a:p>
            <a:pPr algn="ctr">
              <a:buNone/>
            </a:pPr>
            <a:r>
              <a:rPr lang="en-US" sz="1100" b="1" dirty="0">
                <a:solidFill>
                  <a:srgbClr val="1B2A4A"/>
                </a:solidFill>
                <a:latin typeface="Calibri"/>
              </a:rPr>
              <a:t>Any Web Browser</a:t>
            </a:r>
          </a:p>
        </p:txBody>
      </p:sp>
      <p:sp>
        <p:nvSpPr>
          <p:cNvPr id="68" name="DashBoard">
            <a:extLst>
              <a:ext uri="{FF2B5EF4-FFF2-40B4-BE49-F238E27FC236}">
                <a16:creationId xmlns:a16="http://schemas.microsoft.com/office/drawing/2014/main" id="{5F1FEBB2-A77F-59B4-1D96-86EE0DF7FBC1}"/>
              </a:ext>
            </a:extLst>
          </p:cNvPr>
          <p:cNvSpPr/>
          <p:nvPr/>
        </p:nvSpPr>
        <p:spPr>
          <a:xfrm>
            <a:off x="8718550" y="2387587"/>
            <a:ext cx="2921000" cy="920763"/>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Department Queues</a:t>
            </a:r>
          </a:p>
          <a:p>
            <a:pPr algn="ctr">
              <a:buNone/>
            </a:pPr>
            <a:r>
              <a:rPr lang="en-US" sz="1400" dirty="0">
                <a:solidFill>
                  <a:srgbClr val="1B2A4A"/>
                </a:solidFill>
                <a:latin typeface="Calibri"/>
              </a:rPr>
              <a:t>Filtered by: Housekeeping,</a:t>
            </a:r>
          </a:p>
          <a:p>
            <a:pPr algn="ctr">
              <a:buNone/>
            </a:pPr>
            <a:r>
              <a:rPr lang="en-US" sz="1400" dirty="0">
                <a:solidFill>
                  <a:srgbClr val="1B2A4A"/>
                </a:solidFill>
                <a:latin typeface="Calibri"/>
              </a:rPr>
              <a:t>Room Service, Maintenance, Front Desk and Concierge</a:t>
            </a:r>
          </a:p>
        </p:txBody>
      </p:sp>
      <p:sp>
        <p:nvSpPr>
          <p:cNvPr id="69" name="StatusBox">
            <a:extLst>
              <a:ext uri="{FF2B5EF4-FFF2-40B4-BE49-F238E27FC236}">
                <a16:creationId xmlns:a16="http://schemas.microsoft.com/office/drawing/2014/main" id="{794E9718-9E56-5D8D-793B-19EA96581400}"/>
              </a:ext>
            </a:extLst>
          </p:cNvPr>
          <p:cNvSpPr/>
          <p:nvPr/>
        </p:nvSpPr>
        <p:spPr>
          <a:xfrm>
            <a:off x="8718550" y="340106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Status Management</a:t>
            </a:r>
          </a:p>
          <a:p>
            <a:pPr algn="ctr">
              <a:buNone/>
            </a:pPr>
            <a:r>
              <a:rPr lang="en-US" sz="1400" dirty="0">
                <a:solidFill>
                  <a:srgbClr val="1B2A4A"/>
                </a:solidFill>
                <a:latin typeface="Calibri"/>
              </a:rPr>
              <a:t>Pending → In Progress → Completed</a:t>
            </a:r>
          </a:p>
        </p:txBody>
      </p:sp>
      <p:sp>
        <p:nvSpPr>
          <p:cNvPr id="73" name="MsgBox">
            <a:extLst>
              <a:ext uri="{FF2B5EF4-FFF2-40B4-BE49-F238E27FC236}">
                <a16:creationId xmlns:a16="http://schemas.microsoft.com/office/drawing/2014/main" id="{AF3E7BB7-D0DE-E8FE-B94B-821FD08FDFE7}"/>
              </a:ext>
            </a:extLst>
          </p:cNvPr>
          <p:cNvSpPr/>
          <p:nvPr/>
        </p:nvSpPr>
        <p:spPr>
          <a:xfrm>
            <a:off x="8718550" y="41402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Real-Time Messaging</a:t>
            </a:r>
          </a:p>
          <a:p>
            <a:pPr algn="ctr">
              <a:buNone/>
            </a:pPr>
            <a:r>
              <a:rPr lang="en-US" sz="1400" dirty="0">
                <a:solidFill>
                  <a:srgbClr val="1B2A4A"/>
                </a:solidFill>
                <a:latin typeface="Calibri"/>
              </a:rPr>
              <a:t>Bidirectional staff ↔ guest</a:t>
            </a:r>
          </a:p>
        </p:txBody>
      </p:sp>
      <p:sp>
        <p:nvSpPr>
          <p:cNvPr id="74" name="RatingBox">
            <a:extLst>
              <a:ext uri="{FF2B5EF4-FFF2-40B4-BE49-F238E27FC236}">
                <a16:creationId xmlns:a16="http://schemas.microsoft.com/office/drawing/2014/main" id="{54FF36C9-4737-2B4D-F6B0-EF855F28DA4E}"/>
              </a:ext>
            </a:extLst>
          </p:cNvPr>
          <p:cNvSpPr/>
          <p:nvPr/>
        </p:nvSpPr>
        <p:spPr>
          <a:xfrm>
            <a:off x="8718550" y="4902200"/>
            <a:ext cx="2921000" cy="355600"/>
          </a:xfrm>
          <a:prstGeom prst="roundRect">
            <a:avLst/>
          </a:prstGeom>
          <a:solidFill>
            <a:srgbClr val="F5EDE8"/>
          </a:solidFill>
          <a:ln w="12700">
            <a:solidFill>
              <a:srgbClr val="C4956A"/>
            </a:solidFill>
          </a:ln>
        </p:spPr>
        <p:txBody>
          <a:bodyPr wrap="square" lIns="45720" tIns="36576" rIns="45720" bIns="36576" anchor="ctr"/>
          <a:lstStyle/>
          <a:p>
            <a:pPr algn="ctr">
              <a:buNone/>
            </a:pPr>
            <a:r>
              <a:rPr lang="en-US" sz="1400" b="1" dirty="0">
                <a:solidFill>
                  <a:srgbClr val="1B2A4A"/>
                </a:solidFill>
                <a:latin typeface="Calibri"/>
              </a:rPr>
              <a:t>Guest satisfaction rating</a:t>
            </a:r>
          </a:p>
        </p:txBody>
      </p:sp>
      <p:sp>
        <p:nvSpPr>
          <p:cNvPr id="82" name="HTTPLabel">
            <a:extLst>
              <a:ext uri="{FF2B5EF4-FFF2-40B4-BE49-F238E27FC236}">
                <a16:creationId xmlns:a16="http://schemas.microsoft.com/office/drawing/2014/main" id="{C0289E6A-00A3-6730-31C5-79EAE6FB2A90}"/>
              </a:ext>
            </a:extLst>
          </p:cNvPr>
          <p:cNvSpPr/>
          <p:nvPr/>
        </p:nvSpPr>
        <p:spPr>
          <a:xfrm>
            <a:off x="7848600" y="3784600"/>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HTTP</a:t>
            </a:r>
          </a:p>
        </p:txBody>
      </p:sp>
      <p:sp>
        <p:nvSpPr>
          <p:cNvPr id="83" name="WSLabel">
            <a:extLst>
              <a:ext uri="{FF2B5EF4-FFF2-40B4-BE49-F238E27FC236}">
                <a16:creationId xmlns:a16="http://schemas.microsoft.com/office/drawing/2014/main" id="{1BAF4352-C890-F17E-7738-CFAB7C22838D}"/>
              </a:ext>
            </a:extLst>
          </p:cNvPr>
          <p:cNvSpPr/>
          <p:nvPr/>
        </p:nvSpPr>
        <p:spPr>
          <a:xfrm>
            <a:off x="7727950" y="2990850"/>
            <a:ext cx="751840" cy="354319"/>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Web</a:t>
            </a:r>
          </a:p>
          <a:p>
            <a:pPr algn="ctr">
              <a:buNone/>
            </a:pPr>
            <a:r>
              <a:rPr lang="en-US" sz="1200" b="1" dirty="0">
                <a:solidFill>
                  <a:srgbClr val="1B2A4A"/>
                </a:solidFill>
                <a:latin typeface="Calibri"/>
              </a:rPr>
              <a:t>Socket</a:t>
            </a:r>
          </a:p>
        </p:txBody>
      </p:sp>
      <p:sp>
        <p:nvSpPr>
          <p:cNvPr id="90" name="PrivacyBadge">
            <a:extLst>
              <a:ext uri="{FF2B5EF4-FFF2-40B4-BE49-F238E27FC236}">
                <a16:creationId xmlns:a16="http://schemas.microsoft.com/office/drawing/2014/main" id="{8EEB8F32-F09F-55D5-7CEF-CEDE3EE66511}"/>
              </a:ext>
            </a:extLst>
          </p:cNvPr>
          <p:cNvSpPr/>
          <p:nvPr/>
        </p:nvSpPr>
        <p:spPr>
          <a:xfrm>
            <a:off x="650240" y="5384800"/>
            <a:ext cx="2794000" cy="406398"/>
          </a:xfrm>
          <a:prstGeom prst="roundRect">
            <a:avLst/>
          </a:prstGeom>
          <a:solidFill>
            <a:srgbClr val="2C5F7C"/>
          </a:solidFill>
          <a:ln w="12700">
            <a:solidFill>
              <a:srgbClr val="2C5F7C"/>
            </a:solidFill>
          </a:ln>
        </p:spPr>
        <p:txBody>
          <a:bodyPr wrap="square" lIns="45720" tIns="36576" rIns="45720" bIns="36576" anchor="ctr"/>
          <a:lstStyle/>
          <a:p>
            <a:pPr algn="ctr">
              <a:buNone/>
            </a:pPr>
            <a:r>
              <a:rPr lang="en-US" sz="1400" b="1" dirty="0">
                <a:solidFill>
                  <a:srgbClr val="FFFFFF"/>
                </a:solidFill>
                <a:latin typeface="Calibri"/>
              </a:rPr>
              <a:t>All voice data stays on-device</a:t>
            </a:r>
          </a:p>
        </p:txBody>
      </p:sp>
      <p:sp>
        <p:nvSpPr>
          <p:cNvPr id="91" name="CostBadge">
            <a:extLst>
              <a:ext uri="{FF2B5EF4-FFF2-40B4-BE49-F238E27FC236}">
                <a16:creationId xmlns:a16="http://schemas.microsoft.com/office/drawing/2014/main" id="{9CB00809-F0B5-B932-AC3F-466CEA6CE504}"/>
              </a:ext>
            </a:extLst>
          </p:cNvPr>
          <p:cNvSpPr/>
          <p:nvPr/>
        </p:nvSpPr>
        <p:spPr>
          <a:xfrm>
            <a:off x="4699000" y="5384800"/>
            <a:ext cx="2794000" cy="406399"/>
          </a:xfrm>
          <a:prstGeom prst="roundRect">
            <a:avLst/>
          </a:prstGeom>
          <a:solidFill>
            <a:srgbClr val="6B8F71"/>
          </a:solidFill>
          <a:ln w="12700">
            <a:solidFill>
              <a:srgbClr val="6B8F71"/>
            </a:solidFill>
          </a:ln>
        </p:spPr>
        <p:txBody>
          <a:bodyPr wrap="square" lIns="45720" tIns="36576" rIns="45720" bIns="36576" anchor="ctr"/>
          <a:lstStyle/>
          <a:p>
            <a:pPr algn="ctr">
              <a:buNone/>
            </a:pPr>
            <a:r>
              <a:rPr lang="en-US" sz="1400" b="1" dirty="0">
                <a:solidFill>
                  <a:srgbClr val="FFFFFF"/>
                </a:solidFill>
                <a:latin typeface="Calibri"/>
              </a:rPr>
              <a:t>Zero cloud costs </a:t>
            </a:r>
          </a:p>
          <a:p>
            <a:pPr algn="ctr">
              <a:buNone/>
            </a:pPr>
            <a:r>
              <a:rPr lang="en-US" sz="1400" b="1" dirty="0">
                <a:solidFill>
                  <a:srgbClr val="FFFFFF"/>
                </a:solidFill>
                <a:latin typeface="Calibri"/>
              </a:rPr>
              <a:t>Zero subscriptions</a:t>
            </a:r>
          </a:p>
        </p:txBody>
      </p:sp>
      <p:sp>
        <p:nvSpPr>
          <p:cNvPr id="4" name="Arrow: Left-Right 3">
            <a:extLst>
              <a:ext uri="{FF2B5EF4-FFF2-40B4-BE49-F238E27FC236}">
                <a16:creationId xmlns:a16="http://schemas.microsoft.com/office/drawing/2014/main" id="{07ECF4C8-D763-185C-C438-43A8B8D9176D}"/>
              </a:ext>
            </a:extLst>
          </p:cNvPr>
          <p:cNvSpPr/>
          <p:nvPr/>
        </p:nvSpPr>
        <p:spPr>
          <a:xfrm>
            <a:off x="7747000" y="3486150"/>
            <a:ext cx="781050" cy="228593"/>
          </a:xfrm>
          <a:prstGeom prst="lef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TTPLabel">
            <a:extLst>
              <a:ext uri="{FF2B5EF4-FFF2-40B4-BE49-F238E27FC236}">
                <a16:creationId xmlns:a16="http://schemas.microsoft.com/office/drawing/2014/main" id="{63F8B40B-6144-BFED-17BB-17408CB8CF47}"/>
              </a:ext>
            </a:extLst>
          </p:cNvPr>
          <p:cNvSpPr/>
          <p:nvPr/>
        </p:nvSpPr>
        <p:spPr>
          <a:xfrm>
            <a:off x="3831590" y="3092450"/>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HTTP</a:t>
            </a:r>
          </a:p>
        </p:txBody>
      </p:sp>
      <p:sp>
        <p:nvSpPr>
          <p:cNvPr id="6" name="Arrow: Left-Right 5">
            <a:extLst>
              <a:ext uri="{FF2B5EF4-FFF2-40B4-BE49-F238E27FC236}">
                <a16:creationId xmlns:a16="http://schemas.microsoft.com/office/drawing/2014/main" id="{BE4A6215-EFB8-5AA9-8913-7A255CB5357E}"/>
              </a:ext>
            </a:extLst>
          </p:cNvPr>
          <p:cNvSpPr/>
          <p:nvPr/>
        </p:nvSpPr>
        <p:spPr>
          <a:xfrm>
            <a:off x="3703955" y="3486150"/>
            <a:ext cx="781050" cy="228593"/>
          </a:xfrm>
          <a:prstGeom prst="lef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WSLabel">
            <a:extLst>
              <a:ext uri="{FF2B5EF4-FFF2-40B4-BE49-F238E27FC236}">
                <a16:creationId xmlns:a16="http://schemas.microsoft.com/office/drawing/2014/main" id="{4D317DC4-081B-AB2F-B488-EA1E09C200C1}"/>
              </a:ext>
            </a:extLst>
          </p:cNvPr>
          <p:cNvSpPr/>
          <p:nvPr/>
        </p:nvSpPr>
        <p:spPr>
          <a:xfrm>
            <a:off x="3743961" y="3849390"/>
            <a:ext cx="702308" cy="393693"/>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Web</a:t>
            </a:r>
          </a:p>
          <a:p>
            <a:pPr algn="ctr">
              <a:buNone/>
            </a:pPr>
            <a:r>
              <a:rPr lang="en-US" sz="1200" b="1" dirty="0">
                <a:solidFill>
                  <a:srgbClr val="1B2A4A"/>
                </a:solidFill>
                <a:latin typeface="Calibri"/>
              </a:rPr>
              <a:t>Socket</a:t>
            </a:r>
          </a:p>
        </p:txBody>
      </p:sp>
      <p:sp>
        <p:nvSpPr>
          <p:cNvPr id="8" name="TextBox 7">
            <a:extLst>
              <a:ext uri="{FF2B5EF4-FFF2-40B4-BE49-F238E27FC236}">
                <a16:creationId xmlns:a16="http://schemas.microsoft.com/office/drawing/2014/main" id="{2D816A18-4FE4-3FFC-512D-C63570F21E87}"/>
              </a:ext>
            </a:extLst>
          </p:cNvPr>
          <p:cNvSpPr txBox="1"/>
          <p:nvPr/>
        </p:nvSpPr>
        <p:spPr>
          <a:xfrm>
            <a:off x="762000" y="956311"/>
            <a:ext cx="3375660" cy="523220"/>
          </a:xfrm>
          <a:prstGeom prst="rect">
            <a:avLst/>
          </a:prstGeom>
          <a:noFill/>
        </p:spPr>
        <p:txBody>
          <a:bodyPr wrap="square">
            <a:spAutoFit/>
          </a:bodyPr>
          <a:lstStyle/>
          <a:p>
            <a:r>
              <a:rPr lang="en-GB" sz="2800" dirty="0">
                <a:ln w="0"/>
                <a:solidFill>
                  <a:schemeClr val="accent1"/>
                </a:solidFill>
                <a:effectLst>
                  <a:outerShdw blurRad="38100" dist="25400" dir="5400000" algn="ctr" rotWithShape="0">
                    <a:srgbClr val="6E747A">
                      <a:alpha val="43000"/>
                    </a:srgbClr>
                  </a:outerShdw>
                </a:effectLst>
              </a:rPr>
              <a:t>3-Tier Architecture</a:t>
            </a:r>
            <a:endParaRPr lang="en-US" sz="2800" dirty="0">
              <a:ln w="0"/>
              <a:solidFill>
                <a:schemeClr val="accent1"/>
              </a:solidFill>
              <a:effectLst>
                <a:outerShdw blurRad="38100" dist="25400" dir="5400000" algn="ctr" rotWithShape="0">
                  <a:srgbClr val="6E747A">
                    <a:alpha val="43000"/>
                  </a:srgbClr>
                </a:outerShdw>
              </a:effectLst>
            </a:endParaRPr>
          </a:p>
        </p:txBody>
      </p:sp>
      <p:sp>
        <p:nvSpPr>
          <p:cNvPr id="11" name="Slide Number Placeholder 3">
            <a:extLst>
              <a:ext uri="{FF2B5EF4-FFF2-40B4-BE49-F238E27FC236}">
                <a16:creationId xmlns:a16="http://schemas.microsoft.com/office/drawing/2014/main" id="{A099D3BF-246D-CF17-4E34-07E8A63FF59D}"/>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9</a:t>
            </a:fld>
            <a:endParaRPr lang="en-US" b="1" dirty="0">
              <a:solidFill>
                <a:schemeClr val="bg1">
                  <a:lumMod val="10000"/>
                </a:schemeClr>
              </a:solidFill>
            </a:endParaRPr>
          </a:p>
        </p:txBody>
      </p:sp>
    </p:spTree>
    <p:extLst>
      <p:ext uri="{BB962C8B-B14F-4D97-AF65-F5344CB8AC3E}">
        <p14:creationId xmlns:p14="http://schemas.microsoft.com/office/powerpoint/2010/main" val="17362382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6AE53-B6A5-B2E2-47FC-C56622665DFD}"/>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518F830E-9BDF-B4DD-4359-468322BC6F7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CFDB988-9FD1-8A1F-6F36-AE53EB5060F4}"/>
              </a:ext>
            </a:extLst>
          </p:cNvPr>
          <p:cNvSpPr>
            <a:spLocks noGrp="1"/>
          </p:cNvSpPr>
          <p:nvPr>
            <p:ph type="title"/>
          </p:nvPr>
        </p:nvSpPr>
        <p:spPr>
          <a:xfrm>
            <a:off x="658494" y="158844"/>
            <a:ext cx="10515600" cy="812165"/>
          </a:xfrm>
        </p:spPr>
        <p:txBody>
          <a:bodyPr/>
          <a:lstStyle/>
          <a:p>
            <a:r>
              <a:rPr lang="en-US" dirty="0"/>
              <a:t>Technology Stack</a:t>
            </a:r>
          </a:p>
        </p:txBody>
      </p:sp>
      <p:sp>
        <p:nvSpPr>
          <p:cNvPr id="3" name="Shape 3">
            <a:extLst>
              <a:ext uri="{FF2B5EF4-FFF2-40B4-BE49-F238E27FC236}">
                <a16:creationId xmlns:a16="http://schemas.microsoft.com/office/drawing/2014/main" id="{C29634DA-0A03-6077-2205-98DF73F7B307}"/>
              </a:ext>
            </a:extLst>
          </p:cNvPr>
          <p:cNvSpPr/>
          <p:nvPr/>
        </p:nvSpPr>
        <p:spPr>
          <a:xfrm>
            <a:off x="892711" y="1258874"/>
            <a:ext cx="5140691" cy="1849309"/>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5" name="Shape 4">
            <a:extLst>
              <a:ext uri="{FF2B5EF4-FFF2-40B4-BE49-F238E27FC236}">
                <a16:creationId xmlns:a16="http://schemas.microsoft.com/office/drawing/2014/main" id="{37120439-C676-E50F-4EB0-A4B90D239AE1}"/>
              </a:ext>
            </a:extLst>
          </p:cNvPr>
          <p:cNvSpPr/>
          <p:nvPr/>
        </p:nvSpPr>
        <p:spPr>
          <a:xfrm>
            <a:off x="892711" y="1269272"/>
            <a:ext cx="5140691" cy="621792"/>
          </a:xfrm>
          <a:prstGeom prst="rect">
            <a:avLst/>
          </a:prstGeom>
          <a:solidFill>
            <a:srgbClr val="0E7490"/>
          </a:solidFill>
          <a:ln w="12700">
            <a:solidFill>
              <a:srgbClr val="FFFFFF"/>
            </a:solidFill>
            <a:prstDash val="solid"/>
          </a:ln>
        </p:spPr>
        <p:txBody>
          <a:bodyPr/>
          <a:lstStyle/>
          <a:p>
            <a:endParaRPr lang="en-US" sz="1600"/>
          </a:p>
        </p:txBody>
      </p:sp>
      <p:sp>
        <p:nvSpPr>
          <p:cNvPr id="7" name="Text 5">
            <a:extLst>
              <a:ext uri="{FF2B5EF4-FFF2-40B4-BE49-F238E27FC236}">
                <a16:creationId xmlns:a16="http://schemas.microsoft.com/office/drawing/2014/main" id="{8C9F3B14-277B-1C21-43F6-B767AEE473F3}"/>
              </a:ext>
            </a:extLst>
          </p:cNvPr>
          <p:cNvSpPr/>
          <p:nvPr/>
        </p:nvSpPr>
        <p:spPr>
          <a:xfrm>
            <a:off x="1836772" y="1310238"/>
            <a:ext cx="3516926" cy="490889"/>
          </a:xfrm>
          <a:prstGeom prst="rect">
            <a:avLst/>
          </a:prstGeom>
          <a:noFill/>
          <a:ln/>
        </p:spPr>
        <p:txBody>
          <a:bodyPr wrap="square" rtlCol="0" anchor="ctr"/>
          <a:lstStyle/>
          <a:p>
            <a:r>
              <a:rPr lang="en-US" sz="1600" b="1" dirty="0">
                <a:solidFill>
                  <a:srgbClr val="FFFFFF"/>
                </a:solidFill>
              </a:rPr>
              <a:t>Speech Recognition (On-Device)</a:t>
            </a:r>
            <a:endParaRPr lang="en-US" sz="1600" dirty="0"/>
          </a:p>
        </p:txBody>
      </p:sp>
      <p:sp>
        <p:nvSpPr>
          <p:cNvPr id="8" name="Text 6">
            <a:extLst>
              <a:ext uri="{FF2B5EF4-FFF2-40B4-BE49-F238E27FC236}">
                <a16:creationId xmlns:a16="http://schemas.microsoft.com/office/drawing/2014/main" id="{473FE817-7107-E7AE-0009-97A5A963604F}"/>
              </a:ext>
            </a:extLst>
          </p:cNvPr>
          <p:cNvSpPr/>
          <p:nvPr/>
        </p:nvSpPr>
        <p:spPr>
          <a:xfrm>
            <a:off x="892711" y="1942140"/>
            <a:ext cx="4997950" cy="725901"/>
          </a:xfrm>
          <a:prstGeom prst="rect">
            <a:avLst/>
          </a:prstGeom>
          <a:noFill/>
          <a:ln/>
        </p:spPr>
        <p:txBody>
          <a:bodyPr wrap="square" rtlCol="0" anchor="ctr"/>
          <a:lstStyle/>
          <a:p>
            <a:pPr marL="285750" indent="-285750">
              <a:buFont typeface="Arial" panose="020B0604020202020204" pitchFamily="34" charset="0"/>
              <a:buChar char="•"/>
            </a:pPr>
            <a:r>
              <a:rPr lang="en-US" sz="1400" dirty="0" err="1">
                <a:solidFill>
                  <a:srgbClr val="475569"/>
                </a:solidFill>
                <a:latin typeface="Calibri" pitchFamily="34" charset="0"/>
                <a:ea typeface="Calibri" pitchFamily="34" charset="-122"/>
                <a:cs typeface="Calibri" pitchFamily="34" charset="-120"/>
              </a:rPr>
              <a:t>Vosk</a:t>
            </a:r>
            <a:r>
              <a:rPr lang="en-US" sz="1400" dirty="0">
                <a:solidFill>
                  <a:srgbClr val="475569"/>
                </a:solidFill>
                <a:latin typeface="Calibri" pitchFamily="34" charset="0"/>
                <a:ea typeface="Calibri" pitchFamily="34" charset="-122"/>
                <a:cs typeface="Calibri" pitchFamily="34" charset="-120"/>
              </a:rPr>
              <a:t> -&gt; vosk-model-small-en-in-0.4 (Indian English, ~36 MB)</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Optimized for South Asian accents</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16 kHz, 16-bit PCM mono; real-time streaming with VAD</a:t>
            </a:r>
            <a:endParaRPr lang="en-US" sz="1400" dirty="0"/>
          </a:p>
        </p:txBody>
      </p:sp>
      <p:sp>
        <p:nvSpPr>
          <p:cNvPr id="9" name="Shape 7">
            <a:extLst>
              <a:ext uri="{FF2B5EF4-FFF2-40B4-BE49-F238E27FC236}">
                <a16:creationId xmlns:a16="http://schemas.microsoft.com/office/drawing/2014/main" id="{079C9D5E-7077-B975-858F-1B5167E49CAC}"/>
              </a:ext>
            </a:extLst>
          </p:cNvPr>
          <p:cNvSpPr/>
          <p:nvPr/>
        </p:nvSpPr>
        <p:spPr>
          <a:xfrm>
            <a:off x="6213109" y="1278897"/>
            <a:ext cx="5140691" cy="182928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0" name="Shape 8">
            <a:extLst>
              <a:ext uri="{FF2B5EF4-FFF2-40B4-BE49-F238E27FC236}">
                <a16:creationId xmlns:a16="http://schemas.microsoft.com/office/drawing/2014/main" id="{2669C866-DE76-0BB2-6E0E-EB03233AF1C3}"/>
              </a:ext>
            </a:extLst>
          </p:cNvPr>
          <p:cNvSpPr/>
          <p:nvPr/>
        </p:nvSpPr>
        <p:spPr>
          <a:xfrm>
            <a:off x="6213109" y="1278898"/>
            <a:ext cx="5140691" cy="621792"/>
          </a:xfrm>
          <a:prstGeom prst="rect">
            <a:avLst/>
          </a:prstGeom>
          <a:solidFill>
            <a:srgbClr val="D97706"/>
          </a:solidFill>
          <a:ln w="12700">
            <a:solidFill>
              <a:srgbClr val="FFFFFF"/>
            </a:solidFill>
            <a:prstDash val="solid"/>
          </a:ln>
        </p:spPr>
        <p:txBody>
          <a:bodyPr/>
          <a:lstStyle/>
          <a:p>
            <a:endParaRPr lang="en-US" sz="1600"/>
          </a:p>
        </p:txBody>
      </p:sp>
      <p:sp>
        <p:nvSpPr>
          <p:cNvPr id="11" name="Text 9">
            <a:extLst>
              <a:ext uri="{FF2B5EF4-FFF2-40B4-BE49-F238E27FC236}">
                <a16:creationId xmlns:a16="http://schemas.microsoft.com/office/drawing/2014/main" id="{DD934BA6-5BF8-D6AC-E738-C3355359AED0}"/>
              </a:ext>
            </a:extLst>
          </p:cNvPr>
          <p:cNvSpPr/>
          <p:nvPr/>
        </p:nvSpPr>
        <p:spPr>
          <a:xfrm>
            <a:off x="7239288" y="1324017"/>
            <a:ext cx="3255101" cy="490889"/>
          </a:xfrm>
          <a:prstGeom prst="rect">
            <a:avLst/>
          </a:prstGeom>
          <a:noFill/>
          <a:ln/>
        </p:spPr>
        <p:txBody>
          <a:bodyPr wrap="square" rtlCol="0" anchor="ctr"/>
          <a:lstStyle/>
          <a:p>
            <a:r>
              <a:rPr lang="en-US" sz="1600" b="1" dirty="0">
                <a:solidFill>
                  <a:srgbClr val="FFFFFF"/>
                </a:solidFill>
              </a:rPr>
              <a:t>Intent Classification (On-Device)</a:t>
            </a:r>
            <a:endParaRPr lang="en-US" sz="1600" dirty="0"/>
          </a:p>
        </p:txBody>
      </p:sp>
      <p:sp>
        <p:nvSpPr>
          <p:cNvPr id="12" name="Text 10">
            <a:extLst>
              <a:ext uri="{FF2B5EF4-FFF2-40B4-BE49-F238E27FC236}">
                <a16:creationId xmlns:a16="http://schemas.microsoft.com/office/drawing/2014/main" id="{8BBFF7CA-52E9-8623-F521-E810B69F1C9D}"/>
              </a:ext>
            </a:extLst>
          </p:cNvPr>
          <p:cNvSpPr/>
          <p:nvPr/>
        </p:nvSpPr>
        <p:spPr>
          <a:xfrm>
            <a:off x="6213109" y="2023101"/>
            <a:ext cx="4354305" cy="678108"/>
          </a:xfrm>
          <a:prstGeom prst="rect">
            <a:avLst/>
          </a:prstGeom>
          <a:noFill/>
          <a:ln/>
        </p:spPr>
        <p:txBody>
          <a:bodyPr wrap="square" rtlCol="0" anchor="ctr"/>
          <a:lstStyle/>
          <a:p>
            <a:pPr marL="285750" indent="-285750">
              <a:buFont typeface="Arial" panose="020B0604020202020204" pitchFamily="34" charset="0"/>
              <a:buChar char="•"/>
            </a:pPr>
            <a:r>
              <a:rPr lang="en-US" sz="1400" dirty="0" err="1">
                <a:solidFill>
                  <a:srgbClr val="475569"/>
                </a:solidFill>
                <a:latin typeface="Calibri" pitchFamily="34" charset="0"/>
                <a:ea typeface="Calibri" pitchFamily="34" charset="-122"/>
                <a:cs typeface="Calibri" pitchFamily="34" charset="-120"/>
              </a:rPr>
              <a:t>MobileBERT</a:t>
            </a:r>
            <a:r>
              <a:rPr lang="en-US" sz="1400" dirty="0">
                <a:solidFill>
                  <a:srgbClr val="475569"/>
                </a:solidFill>
                <a:latin typeface="Calibri" pitchFamily="34" charset="0"/>
                <a:ea typeface="Calibri" pitchFamily="34" charset="-122"/>
                <a:cs typeface="Calibri" pitchFamily="34" charset="-120"/>
              </a:rPr>
              <a:t> fine-tuned </a:t>
            </a:r>
            <a:r>
              <a:rPr lang="en-US" sz="1400" dirty="0" err="1">
                <a:solidFill>
                  <a:srgbClr val="475569"/>
                </a:solidFill>
                <a:latin typeface="Calibri" pitchFamily="34" charset="0"/>
                <a:ea typeface="Calibri" pitchFamily="34" charset="-122"/>
                <a:cs typeface="Calibri" pitchFamily="34" charset="-120"/>
              </a:rPr>
              <a:t>TFLite</a:t>
            </a:r>
            <a:r>
              <a:rPr lang="en-US" sz="1400" dirty="0">
                <a:solidFill>
                  <a:srgbClr val="475569"/>
                </a:solidFill>
                <a:latin typeface="Calibri" pitchFamily="34" charset="0"/>
                <a:ea typeface="Calibri" pitchFamily="34" charset="-122"/>
                <a:cs typeface="Calibri" pitchFamily="34" charset="-120"/>
              </a:rPr>
              <a:t> (26 MB)</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Hybrid pipeline: </a:t>
            </a:r>
          </a:p>
          <a:p>
            <a:r>
              <a:rPr lang="en-US" sz="1400" dirty="0">
                <a:solidFill>
                  <a:srgbClr val="475569"/>
                </a:solidFill>
                <a:latin typeface="Calibri" pitchFamily="34" charset="0"/>
                <a:ea typeface="Calibri" pitchFamily="34" charset="-122"/>
                <a:cs typeface="Calibri" pitchFamily="34" charset="-120"/>
              </a:rPr>
              <a:t>	Step 1 - Keyword regex</a:t>
            </a:r>
          </a:p>
          <a:p>
            <a:r>
              <a:rPr lang="en-US" sz="1400" dirty="0">
                <a:solidFill>
                  <a:srgbClr val="475569"/>
                </a:solidFill>
                <a:latin typeface="Calibri" pitchFamily="34" charset="0"/>
                <a:ea typeface="Calibri" pitchFamily="34" charset="-122"/>
                <a:cs typeface="Calibri" pitchFamily="34" charset="-120"/>
              </a:rPr>
              <a:t>	Step 2 - Neural inference</a:t>
            </a:r>
            <a:endParaRPr lang="en-US" sz="1400" dirty="0"/>
          </a:p>
        </p:txBody>
      </p:sp>
      <p:sp>
        <p:nvSpPr>
          <p:cNvPr id="13" name="Shape 11">
            <a:extLst>
              <a:ext uri="{FF2B5EF4-FFF2-40B4-BE49-F238E27FC236}">
                <a16:creationId xmlns:a16="http://schemas.microsoft.com/office/drawing/2014/main" id="{632751D8-0166-5D0D-95BC-162771C3E5A5}"/>
              </a:ext>
            </a:extLst>
          </p:cNvPr>
          <p:cNvSpPr/>
          <p:nvPr/>
        </p:nvSpPr>
        <p:spPr>
          <a:xfrm>
            <a:off x="3368844" y="3249195"/>
            <a:ext cx="5594684" cy="2012883"/>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4" name="Shape 12">
            <a:extLst>
              <a:ext uri="{FF2B5EF4-FFF2-40B4-BE49-F238E27FC236}">
                <a16:creationId xmlns:a16="http://schemas.microsoft.com/office/drawing/2014/main" id="{D91F4F23-D877-9F2C-FD8C-14E623C32512}"/>
              </a:ext>
            </a:extLst>
          </p:cNvPr>
          <p:cNvSpPr/>
          <p:nvPr/>
        </p:nvSpPr>
        <p:spPr>
          <a:xfrm>
            <a:off x="3368843" y="3249196"/>
            <a:ext cx="5594684" cy="621792"/>
          </a:xfrm>
          <a:prstGeom prst="rect">
            <a:avLst/>
          </a:prstGeom>
          <a:solidFill>
            <a:srgbClr val="0D2340"/>
          </a:solidFill>
          <a:ln w="12700">
            <a:solidFill>
              <a:srgbClr val="FFFFFF"/>
            </a:solidFill>
            <a:prstDash val="solid"/>
          </a:ln>
        </p:spPr>
        <p:txBody>
          <a:bodyPr/>
          <a:lstStyle/>
          <a:p>
            <a:endParaRPr lang="en-US" sz="1600"/>
          </a:p>
        </p:txBody>
      </p:sp>
      <p:sp>
        <p:nvSpPr>
          <p:cNvPr id="15" name="Text 13">
            <a:extLst>
              <a:ext uri="{FF2B5EF4-FFF2-40B4-BE49-F238E27FC236}">
                <a16:creationId xmlns:a16="http://schemas.microsoft.com/office/drawing/2014/main" id="{623CB45F-EC30-660D-0A08-7AA27779406F}"/>
              </a:ext>
            </a:extLst>
          </p:cNvPr>
          <p:cNvSpPr/>
          <p:nvPr/>
        </p:nvSpPr>
        <p:spPr>
          <a:xfrm>
            <a:off x="4282806" y="3330780"/>
            <a:ext cx="3501191" cy="490889"/>
          </a:xfrm>
          <a:prstGeom prst="rect">
            <a:avLst/>
          </a:prstGeom>
          <a:noFill/>
          <a:ln/>
        </p:spPr>
        <p:txBody>
          <a:bodyPr wrap="square" rtlCol="0" anchor="ctr"/>
          <a:lstStyle/>
          <a:p>
            <a:r>
              <a:rPr lang="en-US" sz="1600" b="1" dirty="0">
                <a:solidFill>
                  <a:srgbClr val="FFFFFF"/>
                </a:solidFill>
              </a:rPr>
              <a:t>Frontend + Backend + Staff Dashboard</a:t>
            </a:r>
            <a:endParaRPr lang="en-US" sz="1600" dirty="0"/>
          </a:p>
        </p:txBody>
      </p:sp>
      <p:sp>
        <p:nvSpPr>
          <p:cNvPr id="16" name="Text 14">
            <a:extLst>
              <a:ext uri="{FF2B5EF4-FFF2-40B4-BE49-F238E27FC236}">
                <a16:creationId xmlns:a16="http://schemas.microsoft.com/office/drawing/2014/main" id="{45B7720D-2053-BE89-C4D2-AAB57981F9C9}"/>
              </a:ext>
            </a:extLst>
          </p:cNvPr>
          <p:cNvSpPr/>
          <p:nvPr/>
        </p:nvSpPr>
        <p:spPr>
          <a:xfrm>
            <a:off x="3368843" y="4142429"/>
            <a:ext cx="4584033" cy="791437"/>
          </a:xfrm>
          <a:prstGeom prst="rect">
            <a:avLst/>
          </a:prstGeom>
          <a:noFill/>
          <a:ln/>
        </p:spPr>
        <p:txBody>
          <a:bodyPr wrap="square" rtlCol="0" anchor="ctr"/>
          <a:lstStyle/>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Android: Kotlin + Jetpack Compose</a:t>
            </a:r>
          </a:p>
          <a:p>
            <a:pPr marL="285750" indent="-285750">
              <a:buFont typeface="Arial" panose="020B0604020202020204" pitchFamily="34" charset="0"/>
              <a:buChar char="•"/>
            </a:pPr>
            <a:r>
              <a:rPr lang="en-US" sz="1400" dirty="0" err="1">
                <a:solidFill>
                  <a:srgbClr val="475569"/>
                </a:solidFill>
                <a:latin typeface="Calibri" pitchFamily="34" charset="0"/>
                <a:ea typeface="Calibri" pitchFamily="34" charset="-122"/>
                <a:cs typeface="Calibri" pitchFamily="34" charset="-120"/>
              </a:rPr>
              <a:t>FastAPI</a:t>
            </a:r>
            <a:r>
              <a:rPr lang="en-US" sz="1400" dirty="0">
                <a:solidFill>
                  <a:srgbClr val="475569"/>
                </a:solidFill>
                <a:latin typeface="Calibri" pitchFamily="34" charset="0"/>
                <a:ea typeface="Calibri" pitchFamily="34" charset="-122"/>
                <a:cs typeface="Calibri" pitchFamily="34" charset="-120"/>
              </a:rPr>
              <a:t> - REST endpoints</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WebSocket for real-time push notifications</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SQLite</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Staff Dashboard: Vanilla HTML/CSS/JS</a:t>
            </a:r>
            <a:endParaRPr lang="en-US" sz="1400" dirty="0"/>
          </a:p>
        </p:txBody>
      </p:sp>
      <p:sp>
        <p:nvSpPr>
          <p:cNvPr id="18" name="Shape 16">
            <a:extLst>
              <a:ext uri="{FF2B5EF4-FFF2-40B4-BE49-F238E27FC236}">
                <a16:creationId xmlns:a16="http://schemas.microsoft.com/office/drawing/2014/main" id="{FE07AE8B-4972-441E-2B01-4F45D7125AC2}"/>
              </a:ext>
            </a:extLst>
          </p:cNvPr>
          <p:cNvSpPr/>
          <p:nvPr/>
        </p:nvSpPr>
        <p:spPr>
          <a:xfrm>
            <a:off x="862693" y="5558897"/>
            <a:ext cx="10515600" cy="621792"/>
          </a:xfrm>
          <a:prstGeom prst="rect">
            <a:avLst/>
          </a:prstGeom>
          <a:solidFill>
            <a:srgbClr val="B2F4CA"/>
          </a:solidFill>
          <a:ln w="12700">
            <a:solidFill>
              <a:srgbClr val="FFFFFF"/>
            </a:solidFill>
            <a:prstDash val="solid"/>
          </a:ln>
        </p:spPr>
        <p:txBody>
          <a:bodyPr/>
          <a:lstStyle/>
          <a:p>
            <a:endParaRPr lang="en-US" sz="1600"/>
          </a:p>
        </p:txBody>
      </p:sp>
      <p:sp>
        <p:nvSpPr>
          <p:cNvPr id="19" name="Text 17">
            <a:extLst>
              <a:ext uri="{FF2B5EF4-FFF2-40B4-BE49-F238E27FC236}">
                <a16:creationId xmlns:a16="http://schemas.microsoft.com/office/drawing/2014/main" id="{09B41B07-388E-99A7-09E1-9473B0D4487D}"/>
              </a:ext>
            </a:extLst>
          </p:cNvPr>
          <p:cNvSpPr/>
          <p:nvPr/>
        </p:nvSpPr>
        <p:spPr>
          <a:xfrm>
            <a:off x="954133" y="5624348"/>
            <a:ext cx="10219961" cy="490889"/>
          </a:xfrm>
          <a:prstGeom prst="rect">
            <a:avLst/>
          </a:prstGeom>
          <a:noFill/>
          <a:ln/>
        </p:spPr>
        <p:txBody>
          <a:bodyPr wrap="square" rtlCol="0" anchor="ctr"/>
          <a:lstStyle/>
          <a:p>
            <a:pPr algn="ctr">
              <a:spcAft>
                <a:spcPts val="150"/>
              </a:spcAft>
            </a:pPr>
            <a:r>
              <a:rPr lang="en-US" sz="2000" b="1" i="1" dirty="0">
                <a:solidFill>
                  <a:schemeClr val="bg1">
                    <a:lumMod val="10000"/>
                  </a:schemeClr>
                </a:solidFill>
              </a:rPr>
              <a:t>100% open-source stack - zero licensing costs, minimal external dependencies</a:t>
            </a:r>
          </a:p>
        </p:txBody>
      </p:sp>
      <p:sp>
        <p:nvSpPr>
          <p:cNvPr id="17" name="Slide Number Placeholder 3">
            <a:extLst>
              <a:ext uri="{FF2B5EF4-FFF2-40B4-BE49-F238E27FC236}">
                <a16:creationId xmlns:a16="http://schemas.microsoft.com/office/drawing/2014/main" id="{56BDAF81-C90C-9CE6-1A5F-9EDBF8EBC611}"/>
              </a:ext>
            </a:extLst>
          </p:cNvPr>
          <p:cNvSpPr>
            <a:spLocks noGrp="1"/>
          </p:cNvSpPr>
          <p:nvPr>
            <p:ph type="sldNum" sz="quarter" idx="12"/>
          </p:nvPr>
        </p:nvSpPr>
        <p:spPr>
          <a:xfrm>
            <a:off x="11818620" y="6245385"/>
            <a:ext cx="338741" cy="365125"/>
          </a:xfrm>
        </p:spPr>
        <p:txBody>
          <a:bodyPr/>
          <a:lstStyle/>
          <a:p>
            <a:fld id="{9890CE2D-2882-48A4-88CB-3A003AF6C150}" type="slidenum">
              <a:rPr lang="en-US" b="1" smtClean="0">
                <a:solidFill>
                  <a:schemeClr val="bg1">
                    <a:lumMod val="10000"/>
                  </a:schemeClr>
                </a:solidFill>
              </a:rPr>
              <a:t>10</a:t>
            </a:fld>
            <a:endParaRPr lang="en-US" b="1" dirty="0">
              <a:solidFill>
                <a:schemeClr val="bg1">
                  <a:lumMod val="10000"/>
                </a:schemeClr>
              </a:solidFill>
            </a:endParaRPr>
          </a:p>
        </p:txBody>
      </p:sp>
    </p:spTree>
    <p:extLst>
      <p:ext uri="{BB962C8B-B14F-4D97-AF65-F5344CB8AC3E}">
        <p14:creationId xmlns:p14="http://schemas.microsoft.com/office/powerpoint/2010/main" val="1264464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A7D2267-BDE4-5FA1-E59C-9866438B9CB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B2DB582-925B-4496-7563-1651AFE4BB2D}"/>
              </a:ext>
            </a:extLst>
          </p:cNvPr>
          <p:cNvSpPr>
            <a:spLocks noGrp="1"/>
          </p:cNvSpPr>
          <p:nvPr>
            <p:ph type="title"/>
          </p:nvPr>
        </p:nvSpPr>
        <p:spPr>
          <a:xfrm>
            <a:off x="666750" y="239395"/>
            <a:ext cx="10515600" cy="683844"/>
          </a:xfrm>
        </p:spPr>
        <p:txBody>
          <a:bodyPr>
            <a:normAutofit fontScale="90000"/>
          </a:bodyPr>
          <a:lstStyle/>
          <a:p>
            <a:r>
              <a:rPr lang="en-US" dirty="0"/>
              <a:t>Implementation</a:t>
            </a:r>
          </a:p>
        </p:txBody>
      </p:sp>
      <p:sp>
        <p:nvSpPr>
          <p:cNvPr id="4" name="Slide Number Placeholder 3">
            <a:extLst>
              <a:ext uri="{FF2B5EF4-FFF2-40B4-BE49-F238E27FC236}">
                <a16:creationId xmlns:a16="http://schemas.microsoft.com/office/drawing/2014/main" id="{8B615749-9DEC-9863-4F19-9B25E84B10B7}"/>
              </a:ext>
            </a:extLst>
          </p:cNvPr>
          <p:cNvSpPr>
            <a:spLocks noGrp="1"/>
          </p:cNvSpPr>
          <p:nvPr>
            <p:ph type="sldNum" sz="quarter" idx="12"/>
          </p:nvPr>
        </p:nvSpPr>
        <p:spPr>
          <a:xfrm>
            <a:off x="5892932" y="5644433"/>
            <a:ext cx="5514806" cy="365125"/>
          </a:xfrm>
        </p:spPr>
        <p:txBody>
          <a:bodyPr/>
          <a:lstStyle/>
          <a:p>
            <a:fld id="{9890CE2D-2882-48A4-88CB-3A003AF6C150}" type="slidenum">
              <a:rPr lang="en-US" smtClean="0"/>
              <a:t>11</a:t>
            </a:fld>
            <a:endParaRPr lang="en-US"/>
          </a:p>
        </p:txBody>
      </p:sp>
      <p:sp>
        <p:nvSpPr>
          <p:cNvPr id="5" name="Shape 7">
            <a:extLst>
              <a:ext uri="{FF2B5EF4-FFF2-40B4-BE49-F238E27FC236}">
                <a16:creationId xmlns:a16="http://schemas.microsoft.com/office/drawing/2014/main" id="{633D978A-918D-BDB8-48A4-E7A6C9A4135E}"/>
              </a:ext>
            </a:extLst>
          </p:cNvPr>
          <p:cNvSpPr/>
          <p:nvPr/>
        </p:nvSpPr>
        <p:spPr>
          <a:xfrm>
            <a:off x="376774" y="4484161"/>
            <a:ext cx="11399522" cy="170191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6" name="Shape 8">
            <a:extLst>
              <a:ext uri="{FF2B5EF4-FFF2-40B4-BE49-F238E27FC236}">
                <a16:creationId xmlns:a16="http://schemas.microsoft.com/office/drawing/2014/main" id="{BAC0BBBF-FF4E-D684-8C91-3F04431073BB}"/>
              </a:ext>
            </a:extLst>
          </p:cNvPr>
          <p:cNvSpPr/>
          <p:nvPr/>
        </p:nvSpPr>
        <p:spPr>
          <a:xfrm>
            <a:off x="376774" y="4484161"/>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7" name="Text 9">
            <a:extLst>
              <a:ext uri="{FF2B5EF4-FFF2-40B4-BE49-F238E27FC236}">
                <a16:creationId xmlns:a16="http://schemas.microsoft.com/office/drawing/2014/main" id="{CE6A452D-0851-C476-13BA-E3E7D313F6E0}"/>
              </a:ext>
            </a:extLst>
          </p:cNvPr>
          <p:cNvSpPr/>
          <p:nvPr/>
        </p:nvSpPr>
        <p:spPr>
          <a:xfrm>
            <a:off x="376774" y="4508545"/>
            <a:ext cx="11336885" cy="390144"/>
          </a:xfrm>
          <a:prstGeom prst="rect">
            <a:avLst/>
          </a:prstGeom>
          <a:noFill/>
          <a:ln/>
        </p:spPr>
        <p:txBody>
          <a:bodyPr wrap="square" rtlCol="0" anchor="ctr"/>
          <a:lstStyle/>
          <a:p>
            <a:r>
              <a:rPr lang="en-US" b="1" dirty="0">
                <a:solidFill>
                  <a:srgbClr val="FFFFFF"/>
                </a:solidFill>
              </a:rPr>
              <a:t>Key Implementation Challenges</a:t>
            </a:r>
            <a:endParaRPr lang="en-US" dirty="0"/>
          </a:p>
        </p:txBody>
      </p:sp>
      <p:sp>
        <p:nvSpPr>
          <p:cNvPr id="9" name="Text 11">
            <a:extLst>
              <a:ext uri="{FF2B5EF4-FFF2-40B4-BE49-F238E27FC236}">
                <a16:creationId xmlns:a16="http://schemas.microsoft.com/office/drawing/2014/main" id="{1935C9A1-A96B-3091-B7F7-CF45C6D67130}"/>
              </a:ext>
            </a:extLst>
          </p:cNvPr>
          <p:cNvSpPr/>
          <p:nvPr/>
        </p:nvSpPr>
        <p:spPr>
          <a:xfrm>
            <a:off x="0" y="4947457"/>
            <a:ext cx="11749761" cy="1094665"/>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dirty="0"/>
              <a:t>Large </a:t>
            </a:r>
            <a:r>
              <a:rPr lang="en-US" dirty="0" err="1"/>
              <a:t>Vosk</a:t>
            </a:r>
            <a:r>
              <a:rPr lang="en-US" dirty="0"/>
              <a:t> model caused Memory issues on budget tablet → switched to small Indian English model</a:t>
            </a:r>
          </a:p>
          <a:p>
            <a:pPr marL="800100" lvl="1" indent="-342900">
              <a:buFont typeface="Wingdings" panose="05000000000000000000" pitchFamily="2" charset="2"/>
              <a:buChar char="q"/>
            </a:pPr>
            <a:r>
              <a:rPr lang="en-US" dirty="0" err="1"/>
              <a:t>TFLite</a:t>
            </a:r>
            <a:r>
              <a:rPr lang="en-US" dirty="0"/>
              <a:t> label ordering mismatch; simplified word-level tokenizer (whole-word vocabulary lookup; no </a:t>
            </a:r>
            <a:r>
              <a:rPr lang="en-US" dirty="0" err="1"/>
              <a:t>subword</a:t>
            </a:r>
            <a:r>
              <a:rPr lang="en-US" dirty="0"/>
              <a:t> splitting)</a:t>
            </a:r>
          </a:p>
        </p:txBody>
      </p:sp>
      <p:sp>
        <p:nvSpPr>
          <p:cNvPr id="10" name="Shape 17">
            <a:extLst>
              <a:ext uri="{FF2B5EF4-FFF2-40B4-BE49-F238E27FC236}">
                <a16:creationId xmlns:a16="http://schemas.microsoft.com/office/drawing/2014/main" id="{08B5298E-D266-75FE-21C2-B2A45258A0B6}"/>
              </a:ext>
            </a:extLst>
          </p:cNvPr>
          <p:cNvSpPr/>
          <p:nvPr/>
        </p:nvSpPr>
        <p:spPr>
          <a:xfrm>
            <a:off x="376774" y="2613914"/>
            <a:ext cx="11399522" cy="170191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1" name="Shape 18">
            <a:extLst>
              <a:ext uri="{FF2B5EF4-FFF2-40B4-BE49-F238E27FC236}">
                <a16:creationId xmlns:a16="http://schemas.microsoft.com/office/drawing/2014/main" id="{CE5865E3-F029-1407-C682-A4B759CDE559}"/>
              </a:ext>
            </a:extLst>
          </p:cNvPr>
          <p:cNvSpPr/>
          <p:nvPr/>
        </p:nvSpPr>
        <p:spPr>
          <a:xfrm>
            <a:off x="376774" y="2613914"/>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12" name="Text 19">
            <a:extLst>
              <a:ext uri="{FF2B5EF4-FFF2-40B4-BE49-F238E27FC236}">
                <a16:creationId xmlns:a16="http://schemas.microsoft.com/office/drawing/2014/main" id="{3BE4ACAC-9010-3253-FB04-905A9F571C19}"/>
              </a:ext>
            </a:extLst>
          </p:cNvPr>
          <p:cNvSpPr/>
          <p:nvPr/>
        </p:nvSpPr>
        <p:spPr>
          <a:xfrm>
            <a:off x="376774" y="2638298"/>
            <a:ext cx="11267349" cy="390144"/>
          </a:xfrm>
          <a:prstGeom prst="rect">
            <a:avLst/>
          </a:prstGeom>
          <a:noFill/>
          <a:ln/>
        </p:spPr>
        <p:txBody>
          <a:bodyPr wrap="square" rtlCol="0" anchor="ctr"/>
          <a:lstStyle/>
          <a:p>
            <a:r>
              <a:rPr lang="en-US" b="1" dirty="0">
                <a:solidFill>
                  <a:srgbClr val="FFFFFF"/>
                </a:solidFill>
              </a:rPr>
              <a:t>Three-Model Training Strategy</a:t>
            </a:r>
            <a:endParaRPr lang="en-US" dirty="0"/>
          </a:p>
        </p:txBody>
      </p:sp>
      <p:sp>
        <p:nvSpPr>
          <p:cNvPr id="14" name="Text 21">
            <a:extLst>
              <a:ext uri="{FF2B5EF4-FFF2-40B4-BE49-F238E27FC236}">
                <a16:creationId xmlns:a16="http://schemas.microsoft.com/office/drawing/2014/main" id="{2F610924-0584-B263-40A3-7B1101EBADC0}"/>
              </a:ext>
            </a:extLst>
          </p:cNvPr>
          <p:cNvSpPr/>
          <p:nvPr/>
        </p:nvSpPr>
        <p:spPr>
          <a:xfrm>
            <a:off x="0" y="3012512"/>
            <a:ext cx="9052060" cy="1201714"/>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b="1" dirty="0"/>
              <a:t>Model A</a:t>
            </a:r>
            <a:r>
              <a:rPr lang="en-US" dirty="0"/>
              <a:t> : trained on </a:t>
            </a:r>
            <a:r>
              <a:rPr lang="en-US" i="1" u="sng" dirty="0"/>
              <a:t>clean text only</a:t>
            </a:r>
            <a:r>
              <a:rPr lang="en-US" dirty="0"/>
              <a:t> (baseline)</a:t>
            </a:r>
          </a:p>
          <a:p>
            <a:pPr marL="800100" lvl="1" indent="-342900">
              <a:spcAft>
                <a:spcPts val="200"/>
              </a:spcAft>
              <a:buFont typeface="Wingdings" panose="05000000000000000000" pitchFamily="2" charset="2"/>
              <a:buChar char="q"/>
            </a:pPr>
            <a:r>
              <a:rPr lang="en-US" b="1" dirty="0"/>
              <a:t>Model B</a:t>
            </a:r>
            <a:r>
              <a:rPr lang="en-US" dirty="0"/>
              <a:t> : trained on </a:t>
            </a:r>
            <a:r>
              <a:rPr lang="en-US" i="1" u="sng" dirty="0" err="1"/>
              <a:t>Vosk</a:t>
            </a:r>
            <a:r>
              <a:rPr lang="en-US" i="1" u="sng" dirty="0"/>
              <a:t>-transcribed text only</a:t>
            </a:r>
            <a:r>
              <a:rPr lang="en-US" dirty="0"/>
              <a:t> </a:t>
            </a:r>
          </a:p>
          <a:p>
            <a:pPr marL="800100" lvl="1" indent="-342900">
              <a:spcAft>
                <a:spcPts val="200"/>
              </a:spcAft>
              <a:buFont typeface="Wingdings" panose="05000000000000000000" pitchFamily="2" charset="2"/>
              <a:buChar char="q"/>
            </a:pPr>
            <a:r>
              <a:rPr lang="en-US" b="1" dirty="0"/>
              <a:t>Model C</a:t>
            </a:r>
            <a:r>
              <a:rPr lang="en-US" dirty="0"/>
              <a:t> : trained on </a:t>
            </a:r>
            <a:r>
              <a:rPr lang="en-US" i="1" u="sng" dirty="0"/>
              <a:t>mixed clean + </a:t>
            </a:r>
            <a:r>
              <a:rPr lang="en-US" i="1" u="sng" dirty="0" err="1"/>
              <a:t>Vosk</a:t>
            </a:r>
            <a:r>
              <a:rPr lang="en-US" i="1" u="sng" dirty="0"/>
              <a:t> </a:t>
            </a:r>
            <a:r>
              <a:rPr lang="en-US" dirty="0"/>
              <a:t>(noise-aware)</a:t>
            </a:r>
          </a:p>
        </p:txBody>
      </p:sp>
      <p:sp>
        <p:nvSpPr>
          <p:cNvPr id="15" name="Shape 17">
            <a:extLst>
              <a:ext uri="{FF2B5EF4-FFF2-40B4-BE49-F238E27FC236}">
                <a16:creationId xmlns:a16="http://schemas.microsoft.com/office/drawing/2014/main" id="{F0CA8659-96C3-F967-9538-243986689800}"/>
              </a:ext>
            </a:extLst>
          </p:cNvPr>
          <p:cNvSpPr/>
          <p:nvPr/>
        </p:nvSpPr>
        <p:spPr>
          <a:xfrm>
            <a:off x="376774" y="1095666"/>
            <a:ext cx="11399522" cy="133802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6" name="Shape 18">
            <a:extLst>
              <a:ext uri="{FF2B5EF4-FFF2-40B4-BE49-F238E27FC236}">
                <a16:creationId xmlns:a16="http://schemas.microsoft.com/office/drawing/2014/main" id="{E5F38387-5A37-48D2-2E97-FB1CCF53A90D}"/>
              </a:ext>
            </a:extLst>
          </p:cNvPr>
          <p:cNvSpPr/>
          <p:nvPr/>
        </p:nvSpPr>
        <p:spPr>
          <a:xfrm>
            <a:off x="376774" y="1095665"/>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17" name="Text 19">
            <a:extLst>
              <a:ext uri="{FF2B5EF4-FFF2-40B4-BE49-F238E27FC236}">
                <a16:creationId xmlns:a16="http://schemas.microsoft.com/office/drawing/2014/main" id="{A8AF3C00-37EB-08A0-C69E-C5BCA63A1F0D}"/>
              </a:ext>
            </a:extLst>
          </p:cNvPr>
          <p:cNvSpPr/>
          <p:nvPr/>
        </p:nvSpPr>
        <p:spPr>
          <a:xfrm>
            <a:off x="376774" y="1120049"/>
            <a:ext cx="11362463" cy="390144"/>
          </a:xfrm>
          <a:prstGeom prst="rect">
            <a:avLst/>
          </a:prstGeom>
          <a:noFill/>
          <a:ln/>
        </p:spPr>
        <p:txBody>
          <a:bodyPr wrap="square" rtlCol="0" anchor="ctr"/>
          <a:lstStyle/>
          <a:p>
            <a:r>
              <a:rPr lang="en-US" b="1" dirty="0">
                <a:solidFill>
                  <a:srgbClr val="FFFFFF"/>
                </a:solidFill>
              </a:rPr>
              <a:t>Dataset Creation (10,080 Phrases)</a:t>
            </a:r>
            <a:endParaRPr lang="en-US" dirty="0"/>
          </a:p>
        </p:txBody>
      </p:sp>
      <p:sp>
        <p:nvSpPr>
          <p:cNvPr id="19" name="Text 21">
            <a:extLst>
              <a:ext uri="{FF2B5EF4-FFF2-40B4-BE49-F238E27FC236}">
                <a16:creationId xmlns:a16="http://schemas.microsoft.com/office/drawing/2014/main" id="{1C878116-B036-7651-CF71-641F541D35EE}"/>
              </a:ext>
            </a:extLst>
          </p:cNvPr>
          <p:cNvSpPr/>
          <p:nvPr/>
        </p:nvSpPr>
        <p:spPr>
          <a:xfrm>
            <a:off x="-15490" y="1464521"/>
            <a:ext cx="11399520" cy="969168"/>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dirty="0"/>
              <a:t>18 intent categories × 560 phrases : Exact class balance across all </a:t>
            </a:r>
            <a:r>
              <a:rPr lang="en-US" dirty="0" err="1"/>
              <a:t>catrgories</a:t>
            </a:r>
            <a:endParaRPr lang="en-US" dirty="0"/>
          </a:p>
          <a:p>
            <a:pPr marL="800100" lvl="1" indent="-342900">
              <a:spcAft>
                <a:spcPts val="200"/>
              </a:spcAft>
              <a:buFont typeface="Wingdings" panose="05000000000000000000" pitchFamily="2" charset="2"/>
              <a:buChar char="q"/>
            </a:pPr>
            <a:r>
              <a:rPr lang="en-US" dirty="0"/>
              <a:t>Paired dataset : Each phrase has clean text + </a:t>
            </a:r>
            <a:r>
              <a:rPr lang="en-US" dirty="0" err="1"/>
              <a:t>Vosk</a:t>
            </a:r>
            <a:r>
              <a:rPr lang="en-US" dirty="0"/>
              <a:t>-transcribed version (via </a:t>
            </a:r>
            <a:r>
              <a:rPr lang="en-US" dirty="0" err="1"/>
              <a:t>gTTS</a:t>
            </a:r>
            <a:r>
              <a:rPr lang="en-US" dirty="0"/>
              <a:t> → </a:t>
            </a:r>
            <a:r>
              <a:rPr lang="en-US" dirty="0" err="1"/>
              <a:t>Vosk</a:t>
            </a:r>
            <a:r>
              <a:rPr lang="en-US" dirty="0"/>
              <a:t> pipeline)</a:t>
            </a:r>
          </a:p>
        </p:txBody>
      </p:sp>
      <p:sp>
        <p:nvSpPr>
          <p:cNvPr id="8" name="Slide Number Placeholder 3">
            <a:extLst>
              <a:ext uri="{FF2B5EF4-FFF2-40B4-BE49-F238E27FC236}">
                <a16:creationId xmlns:a16="http://schemas.microsoft.com/office/drawing/2014/main" id="{57682501-33A2-242F-AFD3-D5C75EC60FE0}"/>
              </a:ext>
            </a:extLst>
          </p:cNvPr>
          <p:cNvSpPr txBox="1">
            <a:spLocks/>
          </p:cNvSpPr>
          <p:nvPr/>
        </p:nvSpPr>
        <p:spPr>
          <a:xfrm>
            <a:off x="11776296" y="6245385"/>
            <a:ext cx="381065"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b="1" smtClean="0">
                <a:solidFill>
                  <a:schemeClr val="bg1">
                    <a:lumMod val="10000"/>
                  </a:schemeClr>
                </a:solidFill>
              </a:rPr>
              <a:pPr/>
              <a:t>11</a:t>
            </a:fld>
            <a:endParaRPr lang="en-US" b="1" dirty="0">
              <a:solidFill>
                <a:schemeClr val="bg1">
                  <a:lumMod val="10000"/>
                </a:schemeClr>
              </a:solidFill>
            </a:endParaRPr>
          </a:p>
        </p:txBody>
      </p:sp>
    </p:spTree>
    <p:extLst>
      <p:ext uri="{BB962C8B-B14F-4D97-AF65-F5344CB8AC3E}">
        <p14:creationId xmlns:p14="http://schemas.microsoft.com/office/powerpoint/2010/main" val="811909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F4CAE65-F13D-0FBE-7B2C-430DDF1A599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D48B7EB-AF0B-9BF5-43F9-FAD2595B213E}"/>
              </a:ext>
            </a:extLst>
          </p:cNvPr>
          <p:cNvSpPr>
            <a:spLocks noGrp="1"/>
          </p:cNvSpPr>
          <p:nvPr>
            <p:ph type="title"/>
          </p:nvPr>
        </p:nvSpPr>
        <p:spPr>
          <a:xfrm>
            <a:off x="615778" y="225545"/>
            <a:ext cx="10515600" cy="715530"/>
          </a:xfrm>
        </p:spPr>
        <p:txBody>
          <a:bodyPr/>
          <a:lstStyle/>
          <a:p>
            <a:r>
              <a:rPr lang="en-US" dirty="0"/>
              <a:t>Analysis - Speech Recognition</a:t>
            </a:r>
          </a:p>
        </p:txBody>
      </p:sp>
      <p:sp>
        <p:nvSpPr>
          <p:cNvPr id="3" name="Content Placeholder 2">
            <a:extLst>
              <a:ext uri="{FF2B5EF4-FFF2-40B4-BE49-F238E27FC236}">
                <a16:creationId xmlns:a16="http://schemas.microsoft.com/office/drawing/2014/main" id="{7A6572D5-2B06-4185-936B-5B863922EF59}"/>
              </a:ext>
            </a:extLst>
          </p:cNvPr>
          <p:cNvSpPr>
            <a:spLocks noGrp="1"/>
          </p:cNvSpPr>
          <p:nvPr>
            <p:ph idx="1"/>
          </p:nvPr>
        </p:nvSpPr>
        <p:spPr>
          <a:xfrm>
            <a:off x="838200" y="1487055"/>
            <a:ext cx="10515600" cy="4849090"/>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Word Error Rate (WER)</a:t>
            </a:r>
          </a:p>
          <a:p>
            <a:pPr marL="0" indent="0">
              <a:spcAft>
                <a:spcPts val="200"/>
              </a:spcAft>
              <a:buNone/>
            </a:pPr>
            <a:endParaRPr lang="en-US" sz="1600" dirty="0"/>
          </a:p>
          <a:p>
            <a:pPr marL="0" indent="0">
              <a:spcAft>
                <a:spcPts val="200"/>
              </a:spcAft>
              <a:buNone/>
            </a:pPr>
            <a:endParaRPr lang="en-US" sz="1600" dirty="0"/>
          </a:p>
          <a:p>
            <a:pPr marL="228600" indent="-228600">
              <a:spcAft>
                <a:spcPts val="200"/>
              </a:spcAft>
              <a:buFont typeface="Arial"/>
              <a:buChar char="•"/>
            </a:pPr>
            <a:endParaRPr lang="en-US" sz="1600" dirty="0"/>
          </a:p>
          <a:p>
            <a:pPr marL="228600" indent="-228600">
              <a:spcAft>
                <a:spcPts val="200"/>
              </a:spcAft>
              <a:buFont typeface="Arial"/>
              <a:buChar char="•"/>
            </a:pPr>
            <a:endParaRPr lang="en-US" sz="1600" dirty="0"/>
          </a:p>
          <a:p>
            <a:pPr marL="228600" indent="-228600">
              <a:spcAft>
                <a:spcPts val="200"/>
              </a:spcAft>
              <a:buFont typeface="Arial"/>
              <a:buChar char="•"/>
            </a:pPr>
            <a:endParaRPr lang="en-US" sz="1600" dirty="0"/>
          </a:p>
          <a:p>
            <a:pPr marL="0" indent="0">
              <a:spcAft>
                <a:spcPts val="200"/>
              </a:spcAft>
              <a:buNone/>
            </a:pPr>
            <a:endParaRPr lang="en-US" sz="2000" dirty="0"/>
          </a:p>
          <a:p>
            <a:pPr marL="228600" indent="-228600">
              <a:spcAft>
                <a:spcPts val="200"/>
              </a:spcAft>
              <a:buFont typeface="Arial"/>
              <a:buChar char="•"/>
            </a:pPr>
            <a:r>
              <a:rPr lang="en-US" sz="2000" dirty="0"/>
              <a:t>Highest WER: temperature_control (16.83%), towel_request (16.33%)</a:t>
            </a:r>
          </a:p>
          <a:p>
            <a:pPr>
              <a:spcAft>
                <a:spcPts val="200"/>
              </a:spcAft>
              <a:buFont typeface="Arial"/>
              <a:buChar char="•"/>
            </a:pPr>
            <a:r>
              <a:rPr lang="en-US" sz="2000" dirty="0"/>
              <a:t>Lowest WER: emergency (6.78%)</a:t>
            </a:r>
          </a:p>
          <a:p>
            <a:pPr>
              <a:spcAft>
                <a:spcPts val="200"/>
              </a:spcAft>
              <a:buFont typeface="Arial"/>
              <a:buChar char="•"/>
            </a:pPr>
            <a:endParaRPr lang="en-US" sz="2000" i="1" dirty="0"/>
          </a:p>
          <a:p>
            <a:pPr marL="0" indent="0">
              <a:spcAft>
                <a:spcPts val="200"/>
              </a:spcAft>
              <a:buNone/>
            </a:pPr>
            <a:r>
              <a:rPr lang="en-US" sz="2000" i="1" dirty="0">
                <a:solidFill>
                  <a:schemeClr val="accent3">
                    <a:lumMod val="75000"/>
                  </a:schemeClr>
                </a:solidFill>
              </a:rPr>
              <a:t>Note: WER measured on TTS-synthesised audio, not real human speech (acknowledged limitation)</a:t>
            </a:r>
          </a:p>
        </p:txBody>
      </p:sp>
      <p:sp>
        <p:nvSpPr>
          <p:cNvPr id="5" name="Shape 3">
            <a:extLst>
              <a:ext uri="{FF2B5EF4-FFF2-40B4-BE49-F238E27FC236}">
                <a16:creationId xmlns:a16="http://schemas.microsoft.com/office/drawing/2014/main" id="{855BB60D-A875-7A0F-BF20-5671EED99E1F}"/>
              </a:ext>
            </a:extLst>
          </p:cNvPr>
          <p:cNvSpPr/>
          <p:nvPr/>
        </p:nvSpPr>
        <p:spPr>
          <a:xfrm>
            <a:off x="2163709" y="2256458"/>
            <a:ext cx="1874796" cy="16957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4">
            <a:extLst>
              <a:ext uri="{FF2B5EF4-FFF2-40B4-BE49-F238E27FC236}">
                <a16:creationId xmlns:a16="http://schemas.microsoft.com/office/drawing/2014/main" id="{1FDD64E9-EE90-3372-AF56-9D69E776A7E2}"/>
              </a:ext>
            </a:extLst>
          </p:cNvPr>
          <p:cNvSpPr/>
          <p:nvPr/>
        </p:nvSpPr>
        <p:spPr>
          <a:xfrm>
            <a:off x="2223557" y="2302177"/>
            <a:ext cx="1759068" cy="790431"/>
          </a:xfrm>
          <a:prstGeom prst="rect">
            <a:avLst/>
          </a:prstGeom>
          <a:solidFill>
            <a:schemeClr val="tx2">
              <a:lumMod val="60000"/>
              <a:lumOff val="40000"/>
            </a:schemeClr>
          </a:solidFill>
          <a:ln/>
        </p:spPr>
        <p:txBody>
          <a:bodyPr wrap="square"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10,080</a:t>
            </a:r>
            <a:endParaRPr lang="en-US" sz="2200" dirty="0">
              <a:solidFill>
                <a:schemeClr val="bg1"/>
              </a:solidFill>
            </a:endParaRPr>
          </a:p>
        </p:txBody>
      </p:sp>
      <p:sp>
        <p:nvSpPr>
          <p:cNvPr id="7" name="Text 5">
            <a:extLst>
              <a:ext uri="{FF2B5EF4-FFF2-40B4-BE49-F238E27FC236}">
                <a16:creationId xmlns:a16="http://schemas.microsoft.com/office/drawing/2014/main" id="{A62F8546-970E-6BD1-3806-B8760E249B1A}"/>
              </a:ext>
            </a:extLst>
          </p:cNvPr>
          <p:cNvSpPr/>
          <p:nvPr/>
        </p:nvSpPr>
        <p:spPr>
          <a:xfrm>
            <a:off x="2233717" y="3273158"/>
            <a:ext cx="1759068" cy="474258"/>
          </a:xfrm>
          <a:prstGeom prst="rect">
            <a:avLst/>
          </a:prstGeom>
          <a:noFill/>
          <a:ln/>
        </p:spPr>
        <p:txBody>
          <a:bodyPr wrap="square"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Total phrases</a:t>
            </a:r>
            <a:endParaRPr lang="en-US" sz="1400" dirty="0"/>
          </a:p>
        </p:txBody>
      </p:sp>
      <p:sp>
        <p:nvSpPr>
          <p:cNvPr id="8" name="Shape 6">
            <a:extLst>
              <a:ext uri="{FF2B5EF4-FFF2-40B4-BE49-F238E27FC236}">
                <a16:creationId xmlns:a16="http://schemas.microsoft.com/office/drawing/2014/main" id="{9E0DF495-B8F9-3E4E-1013-194DE79281E8}"/>
              </a:ext>
            </a:extLst>
          </p:cNvPr>
          <p:cNvSpPr/>
          <p:nvPr/>
        </p:nvSpPr>
        <p:spPr>
          <a:xfrm>
            <a:off x="4198480" y="2256458"/>
            <a:ext cx="1874796" cy="16957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7">
            <a:extLst>
              <a:ext uri="{FF2B5EF4-FFF2-40B4-BE49-F238E27FC236}">
                <a16:creationId xmlns:a16="http://schemas.microsoft.com/office/drawing/2014/main" id="{18AF20E0-C999-946D-08EE-9A0BA69189E2}"/>
              </a:ext>
            </a:extLst>
          </p:cNvPr>
          <p:cNvSpPr/>
          <p:nvPr/>
        </p:nvSpPr>
        <p:spPr>
          <a:xfrm>
            <a:off x="4258328"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11.43%</a:t>
            </a:r>
          </a:p>
        </p:txBody>
      </p:sp>
      <p:sp>
        <p:nvSpPr>
          <p:cNvPr id="10" name="Text 8">
            <a:extLst>
              <a:ext uri="{FF2B5EF4-FFF2-40B4-BE49-F238E27FC236}">
                <a16:creationId xmlns:a16="http://schemas.microsoft.com/office/drawing/2014/main" id="{56CC48FB-800E-7A54-9F20-EA9A2D0DABD2}"/>
              </a:ext>
            </a:extLst>
          </p:cNvPr>
          <p:cNvSpPr/>
          <p:nvPr/>
        </p:nvSpPr>
        <p:spPr>
          <a:xfrm>
            <a:off x="4278783" y="3261598"/>
            <a:ext cx="1759068" cy="474258"/>
          </a:xfrm>
          <a:prstGeom prst="rect">
            <a:avLst/>
          </a:prstGeom>
          <a:noFill/>
          <a:ln/>
        </p:spPr>
        <p:txBody>
          <a:bodyPr wrap="square" rtlCol="0" anchor="ctr"/>
          <a:lstStyle/>
          <a:p>
            <a:pPr marL="0" indent="0" algn="ctr">
              <a:buNone/>
            </a:pPr>
            <a:r>
              <a:rPr lang="en-US" sz="1400" dirty="0"/>
              <a:t>Overall WER</a:t>
            </a:r>
          </a:p>
        </p:txBody>
      </p:sp>
      <p:sp>
        <p:nvSpPr>
          <p:cNvPr id="11" name="Shape 9">
            <a:extLst>
              <a:ext uri="{FF2B5EF4-FFF2-40B4-BE49-F238E27FC236}">
                <a16:creationId xmlns:a16="http://schemas.microsoft.com/office/drawing/2014/main" id="{EF6C4307-29BB-598C-3BBD-2434C5A42427}"/>
              </a:ext>
            </a:extLst>
          </p:cNvPr>
          <p:cNvSpPr/>
          <p:nvPr/>
        </p:nvSpPr>
        <p:spPr>
          <a:xfrm>
            <a:off x="6233251" y="2245598"/>
            <a:ext cx="1874796" cy="170664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10">
            <a:extLst>
              <a:ext uri="{FF2B5EF4-FFF2-40B4-BE49-F238E27FC236}">
                <a16:creationId xmlns:a16="http://schemas.microsoft.com/office/drawing/2014/main" id="{BDAC8FFE-D669-077B-4458-BCBB39EB763A}"/>
              </a:ext>
            </a:extLst>
          </p:cNvPr>
          <p:cNvSpPr/>
          <p:nvPr/>
        </p:nvSpPr>
        <p:spPr>
          <a:xfrm>
            <a:off x="6298179"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23.84%</a:t>
            </a:r>
          </a:p>
        </p:txBody>
      </p:sp>
      <p:sp>
        <p:nvSpPr>
          <p:cNvPr id="13" name="Text 11">
            <a:extLst>
              <a:ext uri="{FF2B5EF4-FFF2-40B4-BE49-F238E27FC236}">
                <a16:creationId xmlns:a16="http://schemas.microsoft.com/office/drawing/2014/main" id="{D8FFC9BC-3BB3-110D-00BC-2E59590B76FA}"/>
              </a:ext>
            </a:extLst>
          </p:cNvPr>
          <p:cNvSpPr/>
          <p:nvPr/>
        </p:nvSpPr>
        <p:spPr>
          <a:xfrm>
            <a:off x="6348979" y="3337559"/>
            <a:ext cx="1759068" cy="409857"/>
          </a:xfrm>
          <a:prstGeom prst="rect">
            <a:avLst/>
          </a:prstGeom>
          <a:noFill/>
          <a:ln/>
        </p:spPr>
        <p:txBody>
          <a:bodyPr wrap="square" rtlCol="0" anchor="ctr"/>
          <a:lstStyle/>
          <a:p>
            <a:pPr algn="ctr"/>
            <a:r>
              <a:rPr lang="en-US" sz="1400" dirty="0"/>
              <a:t>WER on changed sentences</a:t>
            </a:r>
          </a:p>
        </p:txBody>
      </p:sp>
      <p:sp>
        <p:nvSpPr>
          <p:cNvPr id="17" name="Shape 15">
            <a:extLst>
              <a:ext uri="{FF2B5EF4-FFF2-40B4-BE49-F238E27FC236}">
                <a16:creationId xmlns:a16="http://schemas.microsoft.com/office/drawing/2014/main" id="{72AA22FE-28AE-ADEA-BFC2-4048CE4B3862}"/>
              </a:ext>
            </a:extLst>
          </p:cNvPr>
          <p:cNvSpPr/>
          <p:nvPr/>
        </p:nvSpPr>
        <p:spPr>
          <a:xfrm>
            <a:off x="8268022" y="2256458"/>
            <a:ext cx="1874796" cy="170664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8" name="Text 16">
            <a:extLst>
              <a:ext uri="{FF2B5EF4-FFF2-40B4-BE49-F238E27FC236}">
                <a16:creationId xmlns:a16="http://schemas.microsoft.com/office/drawing/2014/main" id="{6918DD83-DB04-DFC2-AD68-AC9035E7D2B5}"/>
              </a:ext>
            </a:extLst>
          </p:cNvPr>
          <p:cNvSpPr/>
          <p:nvPr/>
        </p:nvSpPr>
        <p:spPr>
          <a:xfrm>
            <a:off x="8317710"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47.8%</a:t>
            </a:r>
          </a:p>
        </p:txBody>
      </p:sp>
      <p:sp>
        <p:nvSpPr>
          <p:cNvPr id="19" name="Text 17">
            <a:extLst>
              <a:ext uri="{FF2B5EF4-FFF2-40B4-BE49-F238E27FC236}">
                <a16:creationId xmlns:a16="http://schemas.microsoft.com/office/drawing/2014/main" id="{D60D83ED-B698-CE55-06BD-43C98B3E2691}"/>
              </a:ext>
            </a:extLst>
          </p:cNvPr>
          <p:cNvSpPr/>
          <p:nvPr/>
        </p:nvSpPr>
        <p:spPr>
          <a:xfrm>
            <a:off x="8325886" y="3161808"/>
            <a:ext cx="1759068" cy="790431"/>
          </a:xfrm>
          <a:prstGeom prst="rect">
            <a:avLst/>
          </a:prstGeom>
          <a:noFill/>
          <a:ln/>
        </p:spPr>
        <p:txBody>
          <a:bodyPr wrap="square"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Phrases altered by Vosk</a:t>
            </a:r>
            <a:endParaRPr lang="en-US" sz="1400" dirty="0"/>
          </a:p>
        </p:txBody>
      </p:sp>
      <p:sp>
        <p:nvSpPr>
          <p:cNvPr id="15" name="Slide Number Placeholder 3">
            <a:extLst>
              <a:ext uri="{FF2B5EF4-FFF2-40B4-BE49-F238E27FC236}">
                <a16:creationId xmlns:a16="http://schemas.microsoft.com/office/drawing/2014/main" id="{9F2D1640-8ED5-5C9B-141A-75960F60DEC3}"/>
              </a:ext>
            </a:extLst>
          </p:cNvPr>
          <p:cNvSpPr>
            <a:spLocks noGrp="1"/>
          </p:cNvSpPr>
          <p:nvPr>
            <p:ph type="sldNum" sz="quarter" idx="12"/>
          </p:nvPr>
        </p:nvSpPr>
        <p:spPr>
          <a:xfrm>
            <a:off x="11818620" y="6245385"/>
            <a:ext cx="338741" cy="365125"/>
          </a:xfrm>
        </p:spPr>
        <p:txBody>
          <a:bodyPr/>
          <a:lstStyle/>
          <a:p>
            <a:fld id="{9890CE2D-2882-48A4-88CB-3A003AF6C150}" type="slidenum">
              <a:rPr lang="en-US" b="1" smtClean="0">
                <a:solidFill>
                  <a:schemeClr val="bg1">
                    <a:lumMod val="10000"/>
                  </a:schemeClr>
                </a:solidFill>
              </a:rPr>
              <a:t>12</a:t>
            </a:fld>
            <a:endParaRPr lang="en-US" b="1" dirty="0">
              <a:solidFill>
                <a:schemeClr val="bg1">
                  <a:lumMod val="10000"/>
                </a:schemeClr>
              </a:solidFill>
            </a:endParaRPr>
          </a:p>
        </p:txBody>
      </p:sp>
    </p:spTree>
    <p:extLst>
      <p:ext uri="{BB962C8B-B14F-4D97-AF65-F5344CB8AC3E}">
        <p14:creationId xmlns:p14="http://schemas.microsoft.com/office/powerpoint/2010/main" val="1331550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E4D0465B-B34E-A423-E7E4-7E65AFB06C9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9687F50-3403-105C-5BBC-4987AA631505}"/>
              </a:ext>
            </a:extLst>
          </p:cNvPr>
          <p:cNvSpPr>
            <a:spLocks noGrp="1"/>
          </p:cNvSpPr>
          <p:nvPr>
            <p:ph type="title"/>
          </p:nvPr>
        </p:nvSpPr>
        <p:spPr>
          <a:xfrm>
            <a:off x="591065" y="242803"/>
            <a:ext cx="10515600" cy="743585"/>
          </a:xfrm>
        </p:spPr>
        <p:txBody>
          <a:bodyPr/>
          <a:lstStyle/>
          <a:p>
            <a:r>
              <a:rPr lang="en-US" dirty="0"/>
              <a:t>Analysis - Models Evaluation Results</a:t>
            </a:r>
          </a:p>
        </p:txBody>
      </p:sp>
      <p:graphicFrame>
        <p:nvGraphicFramePr>
          <p:cNvPr id="101" name="Chart 1"/>
          <p:cNvGraphicFramePr/>
          <p:nvPr>
            <p:extLst>
              <p:ext uri="{D42A27DB-BD31-4B8C-83A1-F6EECF244321}">
                <p14:modId xmlns:p14="http://schemas.microsoft.com/office/powerpoint/2010/main" val="3034782901"/>
              </p:ext>
            </p:extLst>
          </p:nvPr>
        </p:nvGraphicFramePr>
        <p:xfrm>
          <a:off x="891353" y="1594381"/>
          <a:ext cx="5717863" cy="4401128"/>
        </p:xfrm>
        <a:graphic>
          <a:graphicData uri="http://schemas.openxmlformats.org/drawingml/2006/chart">
            <c:chart xmlns:c="http://schemas.openxmlformats.org/drawingml/2006/chart" xmlns:r="http://schemas.openxmlformats.org/officeDocument/2006/relationships" r:id="rId4"/>
          </a:graphicData>
        </a:graphic>
      </p:graphicFrame>
      <p:sp>
        <p:nvSpPr>
          <p:cNvPr id="4" name="Arrow: Down 3">
            <a:extLst>
              <a:ext uri="{FF2B5EF4-FFF2-40B4-BE49-F238E27FC236}">
                <a16:creationId xmlns:a16="http://schemas.microsoft.com/office/drawing/2014/main" id="{D50815A5-9D90-B191-1572-24B9D74C3CF4}"/>
              </a:ext>
            </a:extLst>
          </p:cNvPr>
          <p:cNvSpPr/>
          <p:nvPr/>
        </p:nvSpPr>
        <p:spPr>
          <a:xfrm>
            <a:off x="2767928" y="2790833"/>
            <a:ext cx="147782" cy="1255830"/>
          </a:xfrm>
          <a:prstGeom prst="down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hape 7">
            <a:extLst>
              <a:ext uri="{FF2B5EF4-FFF2-40B4-BE49-F238E27FC236}">
                <a16:creationId xmlns:a16="http://schemas.microsoft.com/office/drawing/2014/main" id="{89E0FBF4-F9DE-A5A0-3BE0-DA79881889AB}"/>
              </a:ext>
            </a:extLst>
          </p:cNvPr>
          <p:cNvSpPr/>
          <p:nvPr/>
        </p:nvSpPr>
        <p:spPr>
          <a:xfrm>
            <a:off x="6928658" y="1453110"/>
            <a:ext cx="4773814" cy="74533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8">
            <a:extLst>
              <a:ext uri="{FF2B5EF4-FFF2-40B4-BE49-F238E27FC236}">
                <a16:creationId xmlns:a16="http://schemas.microsoft.com/office/drawing/2014/main" id="{9C878854-8CFC-D40D-74CB-3B5432785A1C}"/>
              </a:ext>
            </a:extLst>
          </p:cNvPr>
          <p:cNvSpPr/>
          <p:nvPr/>
        </p:nvSpPr>
        <p:spPr>
          <a:xfrm>
            <a:off x="7061846" y="1537302"/>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98.07%</a:t>
            </a:r>
            <a:endParaRPr lang="en-US" sz="2000" dirty="0">
              <a:solidFill>
                <a:schemeClr val="accent4">
                  <a:lumMod val="75000"/>
                </a:schemeClr>
              </a:solidFill>
            </a:endParaRPr>
          </a:p>
        </p:txBody>
      </p:sp>
      <p:sp>
        <p:nvSpPr>
          <p:cNvPr id="7" name="Text 9">
            <a:extLst>
              <a:ext uri="{FF2B5EF4-FFF2-40B4-BE49-F238E27FC236}">
                <a16:creationId xmlns:a16="http://schemas.microsoft.com/office/drawing/2014/main" id="{9FD7A590-3221-134F-7C84-DCFF3EA59A4A}"/>
              </a:ext>
            </a:extLst>
          </p:cNvPr>
          <p:cNvSpPr/>
          <p:nvPr/>
        </p:nvSpPr>
        <p:spPr>
          <a:xfrm>
            <a:off x="8345978" y="1551992"/>
            <a:ext cx="3097415" cy="566928"/>
          </a:xfrm>
          <a:prstGeom prst="rect">
            <a:avLst/>
          </a:prstGeom>
          <a:noFill/>
          <a:ln/>
        </p:spPr>
        <p:txBody>
          <a:bodyPr wrap="square" rtlCol="0" anchor="ctr"/>
          <a:lstStyle/>
          <a:p>
            <a:r>
              <a:rPr lang="en-US" dirty="0"/>
              <a:t>Model A scores on clean text </a:t>
            </a:r>
            <a:endParaRPr lang="en-US" sz="1400" dirty="0"/>
          </a:p>
        </p:txBody>
      </p:sp>
      <p:sp>
        <p:nvSpPr>
          <p:cNvPr id="8" name="Shape 10">
            <a:extLst>
              <a:ext uri="{FF2B5EF4-FFF2-40B4-BE49-F238E27FC236}">
                <a16:creationId xmlns:a16="http://schemas.microsoft.com/office/drawing/2014/main" id="{00055164-E5C5-7FD7-95D5-7AD6596B181F}"/>
              </a:ext>
            </a:extLst>
          </p:cNvPr>
          <p:cNvSpPr/>
          <p:nvPr/>
        </p:nvSpPr>
        <p:spPr>
          <a:xfrm>
            <a:off x="6928657" y="2330524"/>
            <a:ext cx="4773815"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11">
            <a:extLst>
              <a:ext uri="{FF2B5EF4-FFF2-40B4-BE49-F238E27FC236}">
                <a16:creationId xmlns:a16="http://schemas.microsoft.com/office/drawing/2014/main" id="{37CD5423-ADB6-AC49-286B-6B09E00B9F1A}"/>
              </a:ext>
            </a:extLst>
          </p:cNvPr>
          <p:cNvSpPr/>
          <p:nvPr/>
        </p:nvSpPr>
        <p:spPr>
          <a:xfrm>
            <a:off x="7061846" y="2393332"/>
            <a:ext cx="1280160" cy="566928"/>
          </a:xfrm>
          <a:prstGeom prst="rect">
            <a:avLst/>
          </a:prstGeom>
          <a:noFill/>
          <a:ln/>
        </p:spPr>
        <p:txBody>
          <a:bodyPr wrap="square" rtlCol="0" anchor="ctr"/>
          <a:lstStyle/>
          <a:p>
            <a:pPr marL="0" indent="0">
              <a:buNone/>
            </a:pPr>
            <a:r>
              <a:rPr lang="en-US" sz="2000" b="1" dirty="0">
                <a:solidFill>
                  <a:srgbClr val="C00000"/>
                </a:solidFill>
                <a:latin typeface="Calibri" pitchFamily="34" charset="0"/>
                <a:ea typeface="Calibri" pitchFamily="34" charset="-122"/>
                <a:cs typeface="Calibri" pitchFamily="34" charset="-120"/>
              </a:rPr>
              <a:t>8.73 PP</a:t>
            </a:r>
            <a:endParaRPr lang="en-US" sz="2000" dirty="0">
              <a:solidFill>
                <a:srgbClr val="C00000"/>
              </a:solidFill>
            </a:endParaRPr>
          </a:p>
        </p:txBody>
      </p:sp>
      <p:sp>
        <p:nvSpPr>
          <p:cNvPr id="10" name="Text 12">
            <a:extLst>
              <a:ext uri="{FF2B5EF4-FFF2-40B4-BE49-F238E27FC236}">
                <a16:creationId xmlns:a16="http://schemas.microsoft.com/office/drawing/2014/main" id="{88CDAA30-B1C7-DCCE-E4B7-D9B72FE8E4EB}"/>
              </a:ext>
            </a:extLst>
          </p:cNvPr>
          <p:cNvSpPr/>
          <p:nvPr/>
        </p:nvSpPr>
        <p:spPr>
          <a:xfrm>
            <a:off x="8300258" y="2489580"/>
            <a:ext cx="3097414" cy="703087"/>
          </a:xfrm>
          <a:prstGeom prst="rect">
            <a:avLst/>
          </a:prstGeom>
          <a:noFill/>
          <a:ln/>
        </p:spPr>
        <p:txBody>
          <a:bodyPr wrap="square" rtlCol="0" anchor="ctr"/>
          <a:lstStyle/>
          <a:p>
            <a:pPr>
              <a:spcAft>
                <a:spcPts val="300"/>
              </a:spcAft>
            </a:pPr>
            <a:r>
              <a:rPr lang="en-US" dirty="0">
                <a:ln w="0"/>
                <a:solidFill>
                  <a:schemeClr val="bg2">
                    <a:lumMod val="10000"/>
                  </a:schemeClr>
                </a:solidFill>
              </a:rPr>
              <a:t>Model A drops on </a:t>
            </a:r>
            <a:r>
              <a:rPr lang="en-US" dirty="0" err="1">
                <a:ln w="0"/>
                <a:solidFill>
                  <a:schemeClr val="bg2">
                    <a:lumMod val="10000"/>
                  </a:schemeClr>
                </a:solidFill>
              </a:rPr>
              <a:t>Vosk</a:t>
            </a:r>
            <a:r>
              <a:rPr lang="en-US" dirty="0">
                <a:ln w="0"/>
                <a:solidFill>
                  <a:schemeClr val="bg2">
                    <a:lumMod val="10000"/>
                  </a:schemeClr>
                </a:solidFill>
              </a:rPr>
              <a:t> output instead of clean text</a:t>
            </a:r>
          </a:p>
          <a:p>
            <a:pPr marL="0" indent="0">
              <a:buNone/>
            </a:pPr>
            <a:endParaRPr lang="en-US" dirty="0"/>
          </a:p>
        </p:txBody>
      </p:sp>
      <p:sp>
        <p:nvSpPr>
          <p:cNvPr id="11" name="Shape 13">
            <a:extLst>
              <a:ext uri="{FF2B5EF4-FFF2-40B4-BE49-F238E27FC236}">
                <a16:creationId xmlns:a16="http://schemas.microsoft.com/office/drawing/2014/main" id="{819100FF-471B-0F5E-70D9-897A350CACDD}"/>
              </a:ext>
            </a:extLst>
          </p:cNvPr>
          <p:cNvSpPr/>
          <p:nvPr/>
        </p:nvSpPr>
        <p:spPr>
          <a:xfrm>
            <a:off x="6928657" y="3190710"/>
            <a:ext cx="4773816"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14">
            <a:extLst>
              <a:ext uri="{FF2B5EF4-FFF2-40B4-BE49-F238E27FC236}">
                <a16:creationId xmlns:a16="http://schemas.microsoft.com/office/drawing/2014/main" id="{EA599AE1-F31C-56DF-9A7E-678938B24403}"/>
              </a:ext>
            </a:extLst>
          </p:cNvPr>
          <p:cNvSpPr/>
          <p:nvPr/>
        </p:nvSpPr>
        <p:spPr>
          <a:xfrm>
            <a:off x="7091495" y="3264600"/>
            <a:ext cx="1100790" cy="566928"/>
          </a:xfrm>
          <a:prstGeom prst="rect">
            <a:avLst/>
          </a:prstGeom>
          <a:noFill/>
          <a:ln/>
        </p:spPr>
        <p:txBody>
          <a:bodyPr wrap="square" rtlCol="0" anchor="ctr"/>
          <a:lstStyle/>
          <a:p>
            <a:pPr marL="0" indent="0">
              <a:buNone/>
            </a:pPr>
            <a:r>
              <a:rPr lang="en-US" sz="2000" b="1" dirty="0">
                <a:solidFill>
                  <a:srgbClr val="00B050"/>
                </a:solidFill>
                <a:latin typeface="Calibri" pitchFamily="34" charset="0"/>
                <a:ea typeface="Calibri" pitchFamily="34" charset="-122"/>
                <a:cs typeface="Calibri" pitchFamily="34" charset="-120"/>
              </a:rPr>
              <a:t>9.72 PP</a:t>
            </a:r>
            <a:endParaRPr lang="en-US" sz="2000" dirty="0">
              <a:solidFill>
                <a:srgbClr val="00B050"/>
              </a:solidFill>
            </a:endParaRPr>
          </a:p>
        </p:txBody>
      </p:sp>
      <p:sp>
        <p:nvSpPr>
          <p:cNvPr id="13" name="Text 15">
            <a:extLst>
              <a:ext uri="{FF2B5EF4-FFF2-40B4-BE49-F238E27FC236}">
                <a16:creationId xmlns:a16="http://schemas.microsoft.com/office/drawing/2014/main" id="{4953A449-7E6E-5790-1D1A-3F885E38F3DE}"/>
              </a:ext>
            </a:extLst>
          </p:cNvPr>
          <p:cNvSpPr/>
          <p:nvPr/>
        </p:nvSpPr>
        <p:spPr>
          <a:xfrm>
            <a:off x="8300257" y="3254902"/>
            <a:ext cx="3143135" cy="566928"/>
          </a:xfrm>
          <a:prstGeom prst="rect">
            <a:avLst/>
          </a:prstGeom>
          <a:noFill/>
          <a:ln/>
        </p:spPr>
        <p:txBody>
          <a:bodyPr wrap="square" rtlCol="0" anchor="ctr"/>
          <a:lstStyle/>
          <a:p>
            <a:r>
              <a:rPr lang="en-US" dirty="0">
                <a:ln w="0"/>
                <a:solidFill>
                  <a:schemeClr val="bg2">
                    <a:lumMod val="10000"/>
                  </a:schemeClr>
                </a:solidFill>
              </a:rPr>
              <a:t>Noise-aware training recovered</a:t>
            </a:r>
            <a:endParaRPr lang="en-US" dirty="0"/>
          </a:p>
        </p:txBody>
      </p:sp>
      <p:sp>
        <p:nvSpPr>
          <p:cNvPr id="14" name="Shape 16">
            <a:extLst>
              <a:ext uri="{FF2B5EF4-FFF2-40B4-BE49-F238E27FC236}">
                <a16:creationId xmlns:a16="http://schemas.microsoft.com/office/drawing/2014/main" id="{6512EFE8-07ED-61B5-D1D5-98C2DAB2B43F}"/>
              </a:ext>
            </a:extLst>
          </p:cNvPr>
          <p:cNvSpPr/>
          <p:nvPr/>
        </p:nvSpPr>
        <p:spPr>
          <a:xfrm>
            <a:off x="6928655" y="4084658"/>
            <a:ext cx="4773818"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000" b="1" dirty="0"/>
          </a:p>
        </p:txBody>
      </p:sp>
      <p:sp>
        <p:nvSpPr>
          <p:cNvPr id="15" name="Text 17">
            <a:extLst>
              <a:ext uri="{FF2B5EF4-FFF2-40B4-BE49-F238E27FC236}">
                <a16:creationId xmlns:a16="http://schemas.microsoft.com/office/drawing/2014/main" id="{029FE5F4-9B4D-CDF9-9D79-A72D661ED42C}"/>
              </a:ext>
            </a:extLst>
          </p:cNvPr>
          <p:cNvSpPr/>
          <p:nvPr/>
        </p:nvSpPr>
        <p:spPr>
          <a:xfrm>
            <a:off x="7001810" y="4115082"/>
            <a:ext cx="1280160" cy="566928"/>
          </a:xfrm>
          <a:prstGeom prst="rect">
            <a:avLst/>
          </a:prstGeom>
          <a:noFill/>
          <a:ln/>
        </p:spPr>
        <p:txBody>
          <a:bodyPr wrap="square" rtlCol="0" anchor="ctr"/>
          <a:lstStyle/>
          <a:p>
            <a:r>
              <a:rPr lang="en-US" sz="2000" b="1" dirty="0">
                <a:ln w="0"/>
                <a:solidFill>
                  <a:srgbClr val="0070C0"/>
                </a:solidFill>
              </a:rPr>
              <a:t>F1 &gt; 0.97</a:t>
            </a:r>
            <a:endParaRPr lang="en-US" sz="2000" b="1" dirty="0">
              <a:solidFill>
                <a:srgbClr val="0070C0"/>
              </a:solidFill>
            </a:endParaRPr>
          </a:p>
        </p:txBody>
      </p:sp>
      <p:sp>
        <p:nvSpPr>
          <p:cNvPr id="16" name="Text 18">
            <a:extLst>
              <a:ext uri="{FF2B5EF4-FFF2-40B4-BE49-F238E27FC236}">
                <a16:creationId xmlns:a16="http://schemas.microsoft.com/office/drawing/2014/main" id="{277ABDDC-CEB6-5E61-4814-81187B859F72}"/>
              </a:ext>
            </a:extLst>
          </p:cNvPr>
          <p:cNvSpPr/>
          <p:nvPr/>
        </p:nvSpPr>
        <p:spPr>
          <a:xfrm>
            <a:off x="8192285" y="4115082"/>
            <a:ext cx="3510188" cy="566928"/>
          </a:xfrm>
          <a:prstGeom prst="rect">
            <a:avLst/>
          </a:prstGeom>
          <a:noFill/>
          <a:ln/>
        </p:spPr>
        <p:txBody>
          <a:bodyPr wrap="square" rtlCol="0" anchor="ctr"/>
          <a:lstStyle/>
          <a:p>
            <a:pPr>
              <a:spcAft>
                <a:spcPts val="300"/>
              </a:spcAft>
            </a:pPr>
            <a:r>
              <a:rPr lang="en-US" dirty="0">
                <a:ln w="0"/>
                <a:solidFill>
                  <a:schemeClr val="bg2">
                    <a:lumMod val="10000"/>
                  </a:schemeClr>
                </a:solidFill>
              </a:rPr>
              <a:t>All 18 intents achieve with Model C</a:t>
            </a:r>
          </a:p>
        </p:txBody>
      </p:sp>
      <p:sp>
        <p:nvSpPr>
          <p:cNvPr id="19" name="TextBox 18">
            <a:extLst>
              <a:ext uri="{FF2B5EF4-FFF2-40B4-BE49-F238E27FC236}">
                <a16:creationId xmlns:a16="http://schemas.microsoft.com/office/drawing/2014/main" id="{FFFE98BF-7B1D-0E19-08D2-6A9A52C270A2}"/>
              </a:ext>
            </a:extLst>
          </p:cNvPr>
          <p:cNvSpPr txBox="1"/>
          <p:nvPr/>
        </p:nvSpPr>
        <p:spPr>
          <a:xfrm>
            <a:off x="183467" y="3431309"/>
            <a:ext cx="1040475" cy="261610"/>
          </a:xfrm>
          <a:prstGeom prst="rect">
            <a:avLst/>
          </a:prstGeom>
          <a:noFill/>
        </p:spPr>
        <p:txBody>
          <a:bodyPr wrap="square" rtlCol="0">
            <a:spAutoFit/>
          </a:bodyPr>
          <a:lstStyle/>
          <a:p>
            <a:r>
              <a:rPr lang="en-US" sz="1100" dirty="0"/>
              <a:t>Test Accuracy</a:t>
            </a:r>
          </a:p>
        </p:txBody>
      </p:sp>
      <p:sp>
        <p:nvSpPr>
          <p:cNvPr id="20" name="Arrow: Down 19">
            <a:extLst>
              <a:ext uri="{FF2B5EF4-FFF2-40B4-BE49-F238E27FC236}">
                <a16:creationId xmlns:a16="http://schemas.microsoft.com/office/drawing/2014/main" id="{B8A0484F-8FA4-5C93-1E0B-099A6E9FA320}"/>
              </a:ext>
            </a:extLst>
          </p:cNvPr>
          <p:cNvSpPr/>
          <p:nvPr/>
        </p:nvSpPr>
        <p:spPr>
          <a:xfrm rot="10800000">
            <a:off x="5280935" y="2657670"/>
            <a:ext cx="147781" cy="1427073"/>
          </a:xfrm>
          <a:prstGeom prst="downArrow">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4CF73D95-4715-17AB-7552-B1BC7572FCD2}"/>
              </a:ext>
            </a:extLst>
          </p:cNvPr>
          <p:cNvCxnSpPr>
            <a:cxnSpLocks/>
          </p:cNvCxnSpPr>
          <p:nvPr/>
        </p:nvCxnSpPr>
        <p:spPr>
          <a:xfrm>
            <a:off x="2334203" y="2790833"/>
            <a:ext cx="3244561" cy="0"/>
          </a:xfrm>
          <a:prstGeom prst="line">
            <a:avLst/>
          </a:prstGeom>
          <a:ln>
            <a:solidFill>
              <a:schemeClr val="accent1">
                <a:alpha val="46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BABB0BB4-2467-FB8F-89E4-52C8B68600AA}"/>
              </a:ext>
            </a:extLst>
          </p:cNvPr>
          <p:cNvCxnSpPr>
            <a:cxnSpLocks/>
          </p:cNvCxnSpPr>
          <p:nvPr/>
        </p:nvCxnSpPr>
        <p:spPr>
          <a:xfrm>
            <a:off x="2352675" y="4084743"/>
            <a:ext cx="3244561" cy="0"/>
          </a:xfrm>
          <a:prstGeom prst="line">
            <a:avLst/>
          </a:prstGeom>
          <a:ln>
            <a:solidFill>
              <a:schemeClr val="accent1">
                <a:alpha val="46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Text 6">
            <a:extLst>
              <a:ext uri="{FF2B5EF4-FFF2-40B4-BE49-F238E27FC236}">
                <a16:creationId xmlns:a16="http://schemas.microsoft.com/office/drawing/2014/main" id="{A6A8D8EC-046C-ED57-3D4D-006160D2ECC3}"/>
              </a:ext>
            </a:extLst>
          </p:cNvPr>
          <p:cNvSpPr/>
          <p:nvPr/>
        </p:nvSpPr>
        <p:spPr>
          <a:xfrm>
            <a:off x="6926076" y="5033912"/>
            <a:ext cx="4773814" cy="800700"/>
          </a:xfrm>
          <a:prstGeom prst="rect">
            <a:avLst/>
          </a:prstGeom>
          <a:solidFill>
            <a:srgbClr val="00B050"/>
          </a:solidFill>
          <a:ln/>
        </p:spPr>
        <p:txBody>
          <a:bodyPr wrap="square" rtlCol="0" anchor="ctr"/>
          <a:lstStyle/>
          <a:p>
            <a:pPr algn="ctr"/>
            <a:endParaRPr lang="en-US" sz="1500" b="1" dirty="0">
              <a:solidFill>
                <a:schemeClr val="bg1"/>
              </a:solidFill>
            </a:endParaRPr>
          </a:p>
          <a:p>
            <a:pPr algn="ctr"/>
            <a:r>
              <a:rPr lang="en-US" sz="1500" b="1" dirty="0">
                <a:solidFill>
                  <a:schemeClr val="bg1"/>
                </a:solidFill>
              </a:rPr>
              <a:t>✓  Accuracy Target</a:t>
            </a:r>
            <a:r>
              <a:rPr lang="en-US" sz="1600" dirty="0">
                <a:ln w="0"/>
                <a:solidFill>
                  <a:schemeClr val="bg1"/>
                </a:solidFill>
              </a:rPr>
              <a:t> </a:t>
            </a:r>
            <a:r>
              <a:rPr lang="en-US" sz="1600" b="1" dirty="0">
                <a:ln w="0"/>
                <a:solidFill>
                  <a:schemeClr val="bg1"/>
                </a:solidFill>
              </a:rPr>
              <a:t>(≥90%) Achieved</a:t>
            </a:r>
          </a:p>
          <a:p>
            <a:pPr algn="ctr"/>
            <a:r>
              <a:rPr lang="en-US" sz="1600" b="1" dirty="0">
                <a:ln w="0"/>
                <a:solidFill>
                  <a:schemeClr val="bg1"/>
                </a:solidFill>
              </a:rPr>
              <a:t>Exceeded by 9+ percentage points</a:t>
            </a:r>
          </a:p>
          <a:p>
            <a:pPr marL="0" indent="0" algn="ctr">
              <a:buNone/>
            </a:pPr>
            <a:endParaRPr lang="en-US" sz="1500" dirty="0">
              <a:solidFill>
                <a:schemeClr val="bg1"/>
              </a:solidFill>
            </a:endParaRPr>
          </a:p>
        </p:txBody>
      </p:sp>
      <p:sp>
        <p:nvSpPr>
          <p:cNvPr id="17" name="Slide Number Placeholder 3">
            <a:extLst>
              <a:ext uri="{FF2B5EF4-FFF2-40B4-BE49-F238E27FC236}">
                <a16:creationId xmlns:a16="http://schemas.microsoft.com/office/drawing/2014/main" id="{1DDF3D2C-494D-B91E-7708-7DA2E030DF14}"/>
              </a:ext>
            </a:extLst>
          </p:cNvPr>
          <p:cNvSpPr>
            <a:spLocks noGrp="1"/>
          </p:cNvSpPr>
          <p:nvPr>
            <p:ph type="sldNum" sz="quarter" idx="12"/>
          </p:nvPr>
        </p:nvSpPr>
        <p:spPr>
          <a:xfrm>
            <a:off x="11699890" y="6245385"/>
            <a:ext cx="457471" cy="365125"/>
          </a:xfrm>
        </p:spPr>
        <p:txBody>
          <a:bodyPr/>
          <a:lstStyle/>
          <a:p>
            <a:fld id="{9890CE2D-2882-48A4-88CB-3A003AF6C150}" type="slidenum">
              <a:rPr lang="en-US" b="1" smtClean="0">
                <a:solidFill>
                  <a:schemeClr val="bg1">
                    <a:lumMod val="10000"/>
                  </a:schemeClr>
                </a:solidFill>
              </a:rPr>
              <a:t>13</a:t>
            </a:fld>
            <a:endParaRPr lang="en-US" b="1" dirty="0">
              <a:solidFill>
                <a:schemeClr val="bg1">
                  <a:lumMod val="10000"/>
                </a:schemeClr>
              </a:solidFill>
            </a:endParaRPr>
          </a:p>
        </p:txBody>
      </p:sp>
    </p:spTree>
    <p:extLst>
      <p:ext uri="{BB962C8B-B14F-4D97-AF65-F5344CB8AC3E}">
        <p14:creationId xmlns:p14="http://schemas.microsoft.com/office/powerpoint/2010/main" val="27546532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D1F65-7DD3-3996-1B80-E2AC86FBD3A2}"/>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3FDBCE8D-4480-30AA-E897-99F8FD1EC8A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EEDA60D-D925-5A1D-1DA7-BCB626E14B3C}"/>
              </a:ext>
            </a:extLst>
          </p:cNvPr>
          <p:cNvSpPr>
            <a:spLocks noGrp="1"/>
          </p:cNvSpPr>
          <p:nvPr>
            <p:ph type="title"/>
          </p:nvPr>
        </p:nvSpPr>
        <p:spPr>
          <a:xfrm>
            <a:off x="566351" y="245101"/>
            <a:ext cx="10515600" cy="724766"/>
          </a:xfrm>
        </p:spPr>
        <p:txBody>
          <a:bodyPr/>
          <a:lstStyle/>
          <a:p>
            <a:r>
              <a:rPr lang="en-US" dirty="0"/>
              <a:t>Analysis - System Testing</a:t>
            </a:r>
          </a:p>
        </p:txBody>
      </p:sp>
      <p:sp>
        <p:nvSpPr>
          <p:cNvPr id="3" name="Content Placeholder 2">
            <a:extLst>
              <a:ext uri="{FF2B5EF4-FFF2-40B4-BE49-F238E27FC236}">
                <a16:creationId xmlns:a16="http://schemas.microsoft.com/office/drawing/2014/main" id="{B2A1DBAE-489B-E6EB-A159-49C1F07A3B13}"/>
              </a:ext>
            </a:extLst>
          </p:cNvPr>
          <p:cNvSpPr>
            <a:spLocks noGrp="1"/>
          </p:cNvSpPr>
          <p:nvPr>
            <p:ph idx="1"/>
          </p:nvPr>
        </p:nvSpPr>
        <p:spPr>
          <a:xfrm>
            <a:off x="838200" y="1253331"/>
            <a:ext cx="10515600" cy="4351338"/>
          </a:xfrm>
        </p:spPr>
        <p:txBody>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End-to-End Latency (20 Test Requests)</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p:txBody>
      </p:sp>
      <p:sp>
        <p:nvSpPr>
          <p:cNvPr id="5" name="Shape 7">
            <a:extLst>
              <a:ext uri="{FF2B5EF4-FFF2-40B4-BE49-F238E27FC236}">
                <a16:creationId xmlns:a16="http://schemas.microsoft.com/office/drawing/2014/main" id="{5E32F869-CF64-6126-D09E-D0A29F43176F}"/>
              </a:ext>
            </a:extLst>
          </p:cNvPr>
          <p:cNvSpPr/>
          <p:nvPr/>
        </p:nvSpPr>
        <p:spPr>
          <a:xfrm>
            <a:off x="2133600" y="2822442"/>
            <a:ext cx="3541176" cy="2271216"/>
          </a:xfrm>
          <a:prstGeom prst="rect">
            <a:avLst/>
          </a:prstGeom>
          <a:solidFill>
            <a:srgbClr val="F9C3C8"/>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3600">
              <a:solidFill>
                <a:srgbClr val="F38993"/>
              </a:solidFill>
            </a:endParaRPr>
          </a:p>
        </p:txBody>
      </p:sp>
      <p:sp>
        <p:nvSpPr>
          <p:cNvPr id="6" name="Text 8">
            <a:extLst>
              <a:ext uri="{FF2B5EF4-FFF2-40B4-BE49-F238E27FC236}">
                <a16:creationId xmlns:a16="http://schemas.microsoft.com/office/drawing/2014/main" id="{B03F6321-E9C1-B7C6-54AF-2C6CCF057045}"/>
              </a:ext>
            </a:extLst>
          </p:cNvPr>
          <p:cNvSpPr/>
          <p:nvPr/>
        </p:nvSpPr>
        <p:spPr>
          <a:xfrm>
            <a:off x="3436504" y="4163741"/>
            <a:ext cx="1280160" cy="566928"/>
          </a:xfrm>
          <a:prstGeom prst="rect">
            <a:avLst/>
          </a:prstGeom>
          <a:noFill/>
          <a:ln/>
        </p:spPr>
        <p:txBody>
          <a:bodyPr wrap="square" rtlCol="0" anchor="ctr"/>
          <a:lstStyle/>
          <a:p>
            <a:pPr marL="0" indent="0">
              <a:buNone/>
            </a:pPr>
            <a:r>
              <a:rPr lang="en-US" sz="3600" b="1" dirty="0">
                <a:solidFill>
                  <a:schemeClr val="accent4">
                    <a:lumMod val="75000"/>
                  </a:schemeClr>
                </a:solidFill>
                <a:latin typeface="Calibri" pitchFamily="34" charset="0"/>
                <a:ea typeface="Calibri" pitchFamily="34" charset="-122"/>
                <a:cs typeface="Calibri" pitchFamily="34" charset="-120"/>
              </a:rPr>
              <a:t>P95</a:t>
            </a:r>
            <a:endParaRPr lang="en-US" sz="3600" dirty="0">
              <a:solidFill>
                <a:schemeClr val="accent4">
                  <a:lumMod val="75000"/>
                </a:schemeClr>
              </a:solidFill>
            </a:endParaRPr>
          </a:p>
        </p:txBody>
      </p:sp>
      <p:sp>
        <p:nvSpPr>
          <p:cNvPr id="7" name="Text 9">
            <a:extLst>
              <a:ext uri="{FF2B5EF4-FFF2-40B4-BE49-F238E27FC236}">
                <a16:creationId xmlns:a16="http://schemas.microsoft.com/office/drawing/2014/main" id="{250048E2-0F6E-BADC-8C18-3213F73398DA}"/>
              </a:ext>
            </a:extLst>
          </p:cNvPr>
          <p:cNvSpPr/>
          <p:nvPr/>
        </p:nvSpPr>
        <p:spPr>
          <a:xfrm>
            <a:off x="3093697" y="3370386"/>
            <a:ext cx="2009555" cy="802659"/>
          </a:xfrm>
          <a:prstGeom prst="rect">
            <a:avLst/>
          </a:prstGeom>
          <a:noFill/>
          <a:ln/>
        </p:spPr>
        <p:txBody>
          <a:bodyPr wrap="square" rtlCol="0" anchor="ctr"/>
          <a:lstStyle/>
          <a:p>
            <a:r>
              <a:rPr lang="en-US" sz="3600" b="1" i="1" dirty="0"/>
              <a:t>2,801 </a:t>
            </a:r>
            <a:r>
              <a:rPr lang="en-US" sz="3600" b="1" i="1" dirty="0" err="1"/>
              <a:t>ms</a:t>
            </a:r>
            <a:endParaRPr lang="en-US" sz="3600" b="1" i="1" dirty="0"/>
          </a:p>
        </p:txBody>
      </p:sp>
      <p:sp>
        <p:nvSpPr>
          <p:cNvPr id="8" name="Shape 7">
            <a:extLst>
              <a:ext uri="{FF2B5EF4-FFF2-40B4-BE49-F238E27FC236}">
                <a16:creationId xmlns:a16="http://schemas.microsoft.com/office/drawing/2014/main" id="{46A3396E-A923-F6A7-8155-4493E538CD69}"/>
              </a:ext>
            </a:extLst>
          </p:cNvPr>
          <p:cNvSpPr/>
          <p:nvPr/>
        </p:nvSpPr>
        <p:spPr>
          <a:xfrm>
            <a:off x="6706939" y="2077108"/>
            <a:ext cx="3541176" cy="745334"/>
          </a:xfrm>
          <a:prstGeom prst="rect">
            <a:avLst/>
          </a:prstGeom>
          <a:solidFill>
            <a:schemeClr val="accent1">
              <a:lumMod val="20000"/>
              <a:lumOff val="8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8">
            <a:extLst>
              <a:ext uri="{FF2B5EF4-FFF2-40B4-BE49-F238E27FC236}">
                <a16:creationId xmlns:a16="http://schemas.microsoft.com/office/drawing/2014/main" id="{D88BF423-19B2-E22A-9ACD-1A39A87082C6}"/>
              </a:ext>
            </a:extLst>
          </p:cNvPr>
          <p:cNvSpPr/>
          <p:nvPr/>
        </p:nvSpPr>
        <p:spPr>
          <a:xfrm>
            <a:off x="6840127" y="2161300"/>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~302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0" name="Text 9">
            <a:extLst>
              <a:ext uri="{FF2B5EF4-FFF2-40B4-BE49-F238E27FC236}">
                <a16:creationId xmlns:a16="http://schemas.microsoft.com/office/drawing/2014/main" id="{D54D1C2F-0442-24AB-2E71-31278F98BD95}"/>
              </a:ext>
            </a:extLst>
          </p:cNvPr>
          <p:cNvSpPr/>
          <p:nvPr/>
        </p:nvSpPr>
        <p:spPr>
          <a:xfrm>
            <a:off x="8124259" y="2175990"/>
            <a:ext cx="1934141" cy="566928"/>
          </a:xfrm>
          <a:prstGeom prst="rect">
            <a:avLst/>
          </a:prstGeom>
          <a:noFill/>
          <a:ln/>
        </p:spPr>
        <p:txBody>
          <a:bodyPr wrap="square" rtlCol="0" anchor="ctr"/>
          <a:lstStyle/>
          <a:p>
            <a:r>
              <a:rPr lang="en-US" b="1" i="1" dirty="0" err="1">
                <a:solidFill>
                  <a:schemeClr val="accent5">
                    <a:lumMod val="50000"/>
                  </a:schemeClr>
                </a:solidFill>
              </a:rPr>
              <a:t>Vosk</a:t>
            </a:r>
            <a:r>
              <a:rPr lang="en-US" b="1" i="1" dirty="0">
                <a:solidFill>
                  <a:schemeClr val="accent5">
                    <a:lumMod val="50000"/>
                  </a:schemeClr>
                </a:solidFill>
              </a:rPr>
              <a:t> STT</a:t>
            </a:r>
            <a:endParaRPr lang="en-US" sz="1400" b="1" i="1" dirty="0">
              <a:solidFill>
                <a:schemeClr val="accent5">
                  <a:lumMod val="50000"/>
                </a:schemeClr>
              </a:solidFill>
            </a:endParaRPr>
          </a:p>
        </p:txBody>
      </p:sp>
      <p:sp>
        <p:nvSpPr>
          <p:cNvPr id="11" name="Shape 7">
            <a:extLst>
              <a:ext uri="{FF2B5EF4-FFF2-40B4-BE49-F238E27FC236}">
                <a16:creationId xmlns:a16="http://schemas.microsoft.com/office/drawing/2014/main" id="{079DD181-3E2B-FBAD-AB40-DB425D54516D}"/>
              </a:ext>
            </a:extLst>
          </p:cNvPr>
          <p:cNvSpPr/>
          <p:nvPr/>
        </p:nvSpPr>
        <p:spPr>
          <a:xfrm>
            <a:off x="6706939" y="2919430"/>
            <a:ext cx="3541176" cy="1385552"/>
          </a:xfrm>
          <a:prstGeom prst="rect">
            <a:avLst/>
          </a:prstGeom>
          <a:solidFill>
            <a:schemeClr val="accent3">
              <a:lumMod val="40000"/>
              <a:lumOff val="6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8">
            <a:extLst>
              <a:ext uri="{FF2B5EF4-FFF2-40B4-BE49-F238E27FC236}">
                <a16:creationId xmlns:a16="http://schemas.microsoft.com/office/drawing/2014/main" id="{941F0662-9AB1-3ECF-4F4B-B39943CF8AB9}"/>
              </a:ext>
            </a:extLst>
          </p:cNvPr>
          <p:cNvSpPr/>
          <p:nvPr/>
        </p:nvSpPr>
        <p:spPr>
          <a:xfrm>
            <a:off x="6840127" y="3003622"/>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~4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3" name="Text 9">
            <a:extLst>
              <a:ext uri="{FF2B5EF4-FFF2-40B4-BE49-F238E27FC236}">
                <a16:creationId xmlns:a16="http://schemas.microsoft.com/office/drawing/2014/main" id="{6DB74013-9A32-9B66-80B7-BC793710F47A}"/>
              </a:ext>
            </a:extLst>
          </p:cNvPr>
          <p:cNvSpPr/>
          <p:nvPr/>
        </p:nvSpPr>
        <p:spPr>
          <a:xfrm>
            <a:off x="8124259" y="3018312"/>
            <a:ext cx="1934141" cy="566928"/>
          </a:xfrm>
          <a:prstGeom prst="rect">
            <a:avLst/>
          </a:prstGeom>
          <a:noFill/>
          <a:ln/>
        </p:spPr>
        <p:txBody>
          <a:bodyPr wrap="square" rtlCol="0" anchor="ctr"/>
          <a:lstStyle/>
          <a:p>
            <a:r>
              <a:rPr lang="en-US" b="1" i="1" dirty="0">
                <a:solidFill>
                  <a:schemeClr val="accent5">
                    <a:lumMod val="50000"/>
                  </a:schemeClr>
                </a:solidFill>
              </a:rPr>
              <a:t>NLU (keywords) </a:t>
            </a:r>
            <a:endParaRPr lang="en-US" sz="1400" b="1" i="1" dirty="0">
              <a:solidFill>
                <a:schemeClr val="accent5">
                  <a:lumMod val="50000"/>
                </a:schemeClr>
              </a:solidFill>
            </a:endParaRPr>
          </a:p>
        </p:txBody>
      </p:sp>
      <p:sp>
        <p:nvSpPr>
          <p:cNvPr id="14" name="Shape 7">
            <a:extLst>
              <a:ext uri="{FF2B5EF4-FFF2-40B4-BE49-F238E27FC236}">
                <a16:creationId xmlns:a16="http://schemas.microsoft.com/office/drawing/2014/main" id="{97085758-5190-FD9A-03C8-D961FC4E6224}"/>
              </a:ext>
            </a:extLst>
          </p:cNvPr>
          <p:cNvSpPr/>
          <p:nvPr/>
        </p:nvSpPr>
        <p:spPr>
          <a:xfrm>
            <a:off x="6706939" y="4445311"/>
            <a:ext cx="3541176" cy="745334"/>
          </a:xfrm>
          <a:prstGeom prst="rect">
            <a:avLst/>
          </a:prstGeom>
          <a:solidFill>
            <a:schemeClr val="accent4">
              <a:lumMod val="40000"/>
              <a:lumOff val="6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5" name="Text 8">
            <a:extLst>
              <a:ext uri="{FF2B5EF4-FFF2-40B4-BE49-F238E27FC236}">
                <a16:creationId xmlns:a16="http://schemas.microsoft.com/office/drawing/2014/main" id="{8CE002FD-2F7A-6F71-2426-141D124EEC4F}"/>
              </a:ext>
            </a:extLst>
          </p:cNvPr>
          <p:cNvSpPr/>
          <p:nvPr/>
        </p:nvSpPr>
        <p:spPr>
          <a:xfrm>
            <a:off x="6840127" y="4529503"/>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rPr>
              <a:t>~2,060 </a:t>
            </a:r>
            <a:r>
              <a:rPr lang="en-US" sz="2000" b="1" dirty="0" err="1">
                <a:solidFill>
                  <a:schemeClr val="accent4">
                    <a:lumMod val="75000"/>
                  </a:schemeClr>
                </a:solidFill>
              </a:rPr>
              <a:t>ms</a:t>
            </a:r>
            <a:endParaRPr lang="en-US" sz="2000" b="1" dirty="0">
              <a:solidFill>
                <a:schemeClr val="accent4">
                  <a:lumMod val="75000"/>
                </a:schemeClr>
              </a:solidFill>
            </a:endParaRPr>
          </a:p>
        </p:txBody>
      </p:sp>
      <p:sp>
        <p:nvSpPr>
          <p:cNvPr id="16" name="Text 9">
            <a:extLst>
              <a:ext uri="{FF2B5EF4-FFF2-40B4-BE49-F238E27FC236}">
                <a16:creationId xmlns:a16="http://schemas.microsoft.com/office/drawing/2014/main" id="{79FA8351-2EAB-EDA7-90D2-065D3469840B}"/>
              </a:ext>
            </a:extLst>
          </p:cNvPr>
          <p:cNvSpPr/>
          <p:nvPr/>
        </p:nvSpPr>
        <p:spPr>
          <a:xfrm>
            <a:off x="8124259" y="4544193"/>
            <a:ext cx="1934141" cy="566928"/>
          </a:xfrm>
          <a:prstGeom prst="rect">
            <a:avLst/>
          </a:prstGeom>
          <a:noFill/>
          <a:ln/>
        </p:spPr>
        <p:txBody>
          <a:bodyPr wrap="square" rtlCol="0" anchor="ctr"/>
          <a:lstStyle/>
          <a:p>
            <a:r>
              <a:rPr lang="en-US" b="1" i="1" dirty="0">
                <a:solidFill>
                  <a:schemeClr val="accent5">
                    <a:lumMod val="50000"/>
                  </a:schemeClr>
                </a:solidFill>
              </a:rPr>
              <a:t>Backend</a:t>
            </a:r>
          </a:p>
        </p:txBody>
      </p:sp>
      <p:sp>
        <p:nvSpPr>
          <p:cNvPr id="17" name="Text 8">
            <a:extLst>
              <a:ext uri="{FF2B5EF4-FFF2-40B4-BE49-F238E27FC236}">
                <a16:creationId xmlns:a16="http://schemas.microsoft.com/office/drawing/2014/main" id="{721FC44F-C872-7018-976E-7D4D9D1C1E00}"/>
              </a:ext>
            </a:extLst>
          </p:cNvPr>
          <p:cNvSpPr/>
          <p:nvPr/>
        </p:nvSpPr>
        <p:spPr>
          <a:xfrm>
            <a:off x="6840127" y="3570550"/>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~60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8" name="Text 9">
            <a:extLst>
              <a:ext uri="{FF2B5EF4-FFF2-40B4-BE49-F238E27FC236}">
                <a16:creationId xmlns:a16="http://schemas.microsoft.com/office/drawing/2014/main" id="{A6794C6A-160B-FD60-1CE1-570E6EC518D1}"/>
              </a:ext>
            </a:extLst>
          </p:cNvPr>
          <p:cNvSpPr/>
          <p:nvPr/>
        </p:nvSpPr>
        <p:spPr>
          <a:xfrm>
            <a:off x="8124259" y="3585240"/>
            <a:ext cx="1934141" cy="566928"/>
          </a:xfrm>
          <a:prstGeom prst="rect">
            <a:avLst/>
          </a:prstGeom>
          <a:noFill/>
          <a:ln/>
        </p:spPr>
        <p:txBody>
          <a:bodyPr wrap="square" rtlCol="0" anchor="ctr"/>
          <a:lstStyle/>
          <a:p>
            <a:r>
              <a:rPr lang="en-US" b="1" i="1" dirty="0">
                <a:solidFill>
                  <a:schemeClr val="accent5">
                    <a:lumMod val="50000"/>
                  </a:schemeClr>
                </a:solidFill>
              </a:rPr>
              <a:t>NLU (</a:t>
            </a:r>
            <a:r>
              <a:rPr lang="en-US" b="1" i="1" dirty="0" err="1">
                <a:solidFill>
                  <a:schemeClr val="accent5">
                    <a:lumMod val="50000"/>
                  </a:schemeClr>
                </a:solidFill>
              </a:rPr>
              <a:t>MobileBERT</a:t>
            </a:r>
            <a:r>
              <a:rPr lang="en-US" b="1" i="1" dirty="0">
                <a:solidFill>
                  <a:schemeClr val="accent5">
                    <a:lumMod val="50000"/>
                  </a:schemeClr>
                </a:solidFill>
              </a:rPr>
              <a:t>) </a:t>
            </a:r>
            <a:endParaRPr lang="en-US" sz="1400" b="1" i="1" dirty="0">
              <a:solidFill>
                <a:schemeClr val="accent5">
                  <a:lumMod val="50000"/>
                </a:schemeClr>
              </a:solidFill>
            </a:endParaRPr>
          </a:p>
        </p:txBody>
      </p:sp>
      <p:sp>
        <p:nvSpPr>
          <p:cNvPr id="19" name="Shape 7">
            <a:extLst>
              <a:ext uri="{FF2B5EF4-FFF2-40B4-BE49-F238E27FC236}">
                <a16:creationId xmlns:a16="http://schemas.microsoft.com/office/drawing/2014/main" id="{65F1DB93-4278-B481-B128-D7E5073428B2}"/>
              </a:ext>
            </a:extLst>
          </p:cNvPr>
          <p:cNvSpPr/>
          <p:nvPr/>
        </p:nvSpPr>
        <p:spPr>
          <a:xfrm>
            <a:off x="6706939" y="5274837"/>
            <a:ext cx="3541176" cy="745334"/>
          </a:xfrm>
          <a:prstGeom prst="rect">
            <a:avLst/>
          </a:prstGeom>
          <a:solidFill>
            <a:schemeClr val="accent2">
              <a:lumMod val="60000"/>
              <a:lumOff val="4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0" name="Text 8">
            <a:extLst>
              <a:ext uri="{FF2B5EF4-FFF2-40B4-BE49-F238E27FC236}">
                <a16:creationId xmlns:a16="http://schemas.microsoft.com/office/drawing/2014/main" id="{1B387FF0-53D1-9640-F9B7-768B5310B258}"/>
              </a:ext>
            </a:extLst>
          </p:cNvPr>
          <p:cNvSpPr/>
          <p:nvPr/>
        </p:nvSpPr>
        <p:spPr>
          <a:xfrm>
            <a:off x="6836155" y="5360708"/>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rPr>
              <a:t>~316 </a:t>
            </a:r>
            <a:r>
              <a:rPr lang="en-US" sz="2000" b="1" dirty="0" err="1">
                <a:solidFill>
                  <a:schemeClr val="accent4">
                    <a:lumMod val="75000"/>
                  </a:schemeClr>
                </a:solidFill>
              </a:rPr>
              <a:t>ms</a:t>
            </a:r>
            <a:endParaRPr lang="en-US" sz="2000" b="1" dirty="0">
              <a:solidFill>
                <a:schemeClr val="accent4">
                  <a:lumMod val="75000"/>
                </a:schemeClr>
              </a:solidFill>
            </a:endParaRPr>
          </a:p>
        </p:txBody>
      </p:sp>
      <p:sp>
        <p:nvSpPr>
          <p:cNvPr id="21" name="Text 9">
            <a:extLst>
              <a:ext uri="{FF2B5EF4-FFF2-40B4-BE49-F238E27FC236}">
                <a16:creationId xmlns:a16="http://schemas.microsoft.com/office/drawing/2014/main" id="{C4C2FFC1-5BFC-5DA0-A367-B269BF738089}"/>
              </a:ext>
            </a:extLst>
          </p:cNvPr>
          <p:cNvSpPr/>
          <p:nvPr/>
        </p:nvSpPr>
        <p:spPr>
          <a:xfrm>
            <a:off x="8120287" y="5375398"/>
            <a:ext cx="1934141" cy="566928"/>
          </a:xfrm>
          <a:prstGeom prst="rect">
            <a:avLst/>
          </a:prstGeom>
          <a:noFill/>
          <a:ln/>
        </p:spPr>
        <p:txBody>
          <a:bodyPr wrap="square" rtlCol="0" anchor="ctr"/>
          <a:lstStyle/>
          <a:p>
            <a:r>
              <a:rPr lang="en-US" b="1" i="1" dirty="0">
                <a:solidFill>
                  <a:schemeClr val="accent5">
                    <a:lumMod val="50000"/>
                  </a:schemeClr>
                </a:solidFill>
              </a:rPr>
              <a:t>TTS</a:t>
            </a:r>
          </a:p>
        </p:txBody>
      </p:sp>
      <p:sp>
        <p:nvSpPr>
          <p:cNvPr id="24" name="Slide Number Placeholder 3">
            <a:extLst>
              <a:ext uri="{FF2B5EF4-FFF2-40B4-BE49-F238E27FC236}">
                <a16:creationId xmlns:a16="http://schemas.microsoft.com/office/drawing/2014/main" id="{D54F8DD6-FC12-1C1A-9CB7-780C7E50DFD3}"/>
              </a:ext>
            </a:extLst>
          </p:cNvPr>
          <p:cNvSpPr>
            <a:spLocks noGrp="1"/>
          </p:cNvSpPr>
          <p:nvPr>
            <p:ph type="sldNum" sz="quarter" idx="12"/>
          </p:nvPr>
        </p:nvSpPr>
        <p:spPr>
          <a:xfrm>
            <a:off x="11761470" y="6245385"/>
            <a:ext cx="395891" cy="365125"/>
          </a:xfrm>
        </p:spPr>
        <p:txBody>
          <a:bodyPr/>
          <a:lstStyle/>
          <a:p>
            <a:fld id="{9890CE2D-2882-48A4-88CB-3A003AF6C150}" type="slidenum">
              <a:rPr lang="en-US" b="1" smtClean="0">
                <a:solidFill>
                  <a:schemeClr val="bg1">
                    <a:lumMod val="10000"/>
                  </a:schemeClr>
                </a:solidFill>
              </a:rPr>
              <a:t>14</a:t>
            </a:fld>
            <a:endParaRPr lang="en-US" b="1" dirty="0">
              <a:solidFill>
                <a:schemeClr val="bg1">
                  <a:lumMod val="10000"/>
                </a:schemeClr>
              </a:solidFill>
            </a:endParaRPr>
          </a:p>
        </p:txBody>
      </p:sp>
    </p:spTree>
    <p:extLst>
      <p:ext uri="{BB962C8B-B14F-4D97-AF65-F5344CB8AC3E}">
        <p14:creationId xmlns:p14="http://schemas.microsoft.com/office/powerpoint/2010/main" val="3411560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930B8AA-CD96-9C7C-073E-187661D9821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29DAB1B-A93C-5675-0A13-BA4774F0C5D7}"/>
              </a:ext>
            </a:extLst>
          </p:cNvPr>
          <p:cNvSpPr>
            <a:spLocks noGrp="1"/>
          </p:cNvSpPr>
          <p:nvPr>
            <p:ph type="title"/>
          </p:nvPr>
        </p:nvSpPr>
        <p:spPr>
          <a:xfrm>
            <a:off x="516924" y="241557"/>
            <a:ext cx="10515600" cy="697865"/>
          </a:xfrm>
        </p:spPr>
        <p:txBody>
          <a:bodyPr/>
          <a:lstStyle/>
          <a:p>
            <a:r>
              <a:rPr lang="en-US" dirty="0"/>
              <a:t>Analysis - Cost-Effectiveness</a:t>
            </a:r>
          </a:p>
        </p:txBody>
      </p:sp>
      <p:graphicFrame>
        <p:nvGraphicFramePr>
          <p:cNvPr id="4" name="Table 3">
            <a:extLst>
              <a:ext uri="{FF2B5EF4-FFF2-40B4-BE49-F238E27FC236}">
                <a16:creationId xmlns:a16="http://schemas.microsoft.com/office/drawing/2014/main" id="{9DD96871-BB76-4828-B8BE-EFFB27D6C90E}"/>
              </a:ext>
            </a:extLst>
          </p:cNvPr>
          <p:cNvGraphicFramePr>
            <a:graphicFrameLocks noGrp="1"/>
          </p:cNvGraphicFramePr>
          <p:nvPr>
            <p:extLst>
              <p:ext uri="{D42A27DB-BD31-4B8C-83A1-F6EECF244321}">
                <p14:modId xmlns:p14="http://schemas.microsoft.com/office/powerpoint/2010/main" val="3350763030"/>
              </p:ext>
            </p:extLst>
          </p:nvPr>
        </p:nvGraphicFramePr>
        <p:xfrm>
          <a:off x="635000" y="1524000"/>
          <a:ext cx="10922000" cy="23495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3489851340"/>
                    </a:ext>
                  </a:extLst>
                </a:gridCol>
                <a:gridCol w="2730500">
                  <a:extLst>
                    <a:ext uri="{9D8B030D-6E8A-4147-A177-3AD203B41FA5}">
                      <a16:colId xmlns:a16="http://schemas.microsoft.com/office/drawing/2014/main" val="3819073788"/>
                    </a:ext>
                  </a:extLst>
                </a:gridCol>
                <a:gridCol w="2730500">
                  <a:extLst>
                    <a:ext uri="{9D8B030D-6E8A-4147-A177-3AD203B41FA5}">
                      <a16:colId xmlns:a16="http://schemas.microsoft.com/office/drawing/2014/main" val="3959331852"/>
                    </a:ext>
                  </a:extLst>
                </a:gridCol>
                <a:gridCol w="2730500">
                  <a:extLst>
                    <a:ext uri="{9D8B030D-6E8A-4147-A177-3AD203B41FA5}">
                      <a16:colId xmlns:a16="http://schemas.microsoft.com/office/drawing/2014/main" val="1071550899"/>
                    </a:ext>
                  </a:extLst>
                </a:gridCol>
              </a:tblGrid>
              <a:tr h="469900">
                <a:tc>
                  <a:txBody>
                    <a:bodyPr/>
                    <a:lstStyle/>
                    <a:p>
                      <a:pPr algn="ctr"/>
                      <a:r>
                        <a:rPr lang="en-US" sz="1800" b="1">
                          <a:solidFill>
                            <a:srgbClr val="FFFFFF"/>
                          </a:solidFill>
                          <a:latin typeface="Calibri"/>
                          <a:ea typeface="Calibri"/>
                          <a:cs typeface="Calibri"/>
                        </a:rPr>
                        <a:t>Cost Item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dirty="0">
                          <a:solidFill>
                            <a:srgbClr val="FFFFFF"/>
                          </a:solidFill>
                          <a:latin typeface="Calibri"/>
                          <a:ea typeface="Calibri"/>
                          <a:cs typeface="Calibri"/>
                        </a:rPr>
                        <a:t>This System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a:solidFill>
                            <a:srgbClr val="FFFFFF"/>
                          </a:solidFill>
                          <a:latin typeface="Calibri"/>
                          <a:ea typeface="Calibri"/>
                          <a:cs typeface="Calibri"/>
                        </a:rPr>
                        <a:t>Cloud STT (Google)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a:solidFill>
                            <a:srgbClr val="FFFFFF"/>
                          </a:solidFill>
                          <a:latin typeface="Calibri"/>
                          <a:ea typeface="Calibri"/>
                          <a:cs typeface="Calibri"/>
                        </a:rPr>
                        <a:t>Commercial (Alexa)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extLst>
                  <a:ext uri="{0D108BD9-81ED-4DB2-BD59-A6C34878D82A}">
                    <a16:rowId xmlns:a16="http://schemas.microsoft.com/office/drawing/2014/main" val="2774301109"/>
                  </a:ext>
                </a:extLst>
              </a:tr>
              <a:tr h="469900">
                <a:tc>
                  <a:txBody>
                    <a:bodyPr/>
                    <a:lstStyle/>
                    <a:p>
                      <a:pPr algn="l"/>
                      <a:r>
                        <a:rPr lang="en-US" sz="1800">
                          <a:solidFill>
                            <a:srgbClr val="1B2A4A"/>
                          </a:solidFill>
                          <a:latin typeface="Calibri"/>
                          <a:ea typeface="Calibri"/>
                          <a:cs typeface="Calibri"/>
                        </a:rPr>
                        <a:t>Hardware (50 tablets)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$2,500–$7,500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$2,500–$7,500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$5,000–$10,000+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617666579"/>
                  </a:ext>
                </a:extLst>
              </a:tr>
              <a:tr h="469900">
                <a:tc>
                  <a:txBody>
                    <a:bodyPr/>
                    <a:lstStyle/>
                    <a:p>
                      <a:pPr algn="l"/>
                      <a:r>
                        <a:rPr lang="en-US" sz="1800">
                          <a:solidFill>
                            <a:srgbClr val="1B2A4A"/>
                          </a:solidFill>
                          <a:latin typeface="Calibri"/>
                          <a:ea typeface="Calibri"/>
                          <a:cs typeface="Calibri"/>
                        </a:rPr>
                        <a:t>Server + Network + UPS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$720–$1,300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$720–$1,300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Cloud-hosted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extLst>
                  <a:ext uri="{0D108BD9-81ED-4DB2-BD59-A6C34878D82A}">
                    <a16:rowId xmlns:a16="http://schemas.microsoft.com/office/drawing/2014/main" val="3210907233"/>
                  </a:ext>
                </a:extLst>
              </a:tr>
              <a:tr h="469900">
                <a:tc>
                  <a:txBody>
                    <a:bodyPr/>
                    <a:lstStyle/>
                    <a:p>
                      <a:pPr algn="l"/>
                      <a:r>
                        <a:rPr lang="en-US" sz="1800" dirty="0">
                          <a:solidFill>
                            <a:srgbClr val="1B2A4A"/>
                          </a:solidFill>
                          <a:latin typeface="Calibri"/>
                          <a:ea typeface="Calibri"/>
                          <a:cs typeface="Calibri"/>
                        </a:rPr>
                        <a:t>Software / API (3 yr)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$1,095–$2,200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Proprietary terms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363749373"/>
                  </a:ext>
                </a:extLst>
              </a:tr>
              <a:tr h="469900">
                <a:tc>
                  <a:txBody>
                    <a:bodyPr/>
                    <a:lstStyle/>
                    <a:p>
                      <a:pPr algn="l"/>
                      <a:r>
                        <a:rPr lang="en-US" sz="1800" b="1">
                          <a:solidFill>
                            <a:srgbClr val="1B2A4A"/>
                          </a:solidFill>
                          <a:latin typeface="Calibri"/>
                          <a:ea typeface="Calibri"/>
                          <a:cs typeface="Calibri"/>
                        </a:rPr>
                        <a:t>Estimated 3-Year Total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a:solidFill>
                            <a:srgbClr val="6B8F71"/>
                          </a:solidFill>
                          <a:latin typeface="Calibri"/>
                          <a:ea typeface="Calibri"/>
                          <a:cs typeface="Calibri"/>
                        </a:rPr>
                        <a:t>$3,220–$8,800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a:solidFill>
                            <a:srgbClr val="1B2A4A"/>
                          </a:solidFill>
                          <a:latin typeface="Calibri"/>
                          <a:ea typeface="Calibri"/>
                          <a:cs typeface="Calibri"/>
                        </a:rPr>
                        <a:t>$4,315–$11,000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dirty="0">
                          <a:solidFill>
                            <a:srgbClr val="1B2A4A"/>
                          </a:solidFill>
                          <a:latin typeface="Calibri"/>
                          <a:ea typeface="Calibri"/>
                          <a:cs typeface="Calibri"/>
                        </a:rPr>
                        <a:t>Significantly higher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extLst>
                  <a:ext uri="{0D108BD9-81ED-4DB2-BD59-A6C34878D82A}">
                    <a16:rowId xmlns:a16="http://schemas.microsoft.com/office/drawing/2014/main" val="3447345922"/>
                  </a:ext>
                </a:extLst>
              </a:tr>
            </a:tbl>
          </a:graphicData>
        </a:graphic>
      </p:graphicFrame>
      <p:sp>
        <p:nvSpPr>
          <p:cNvPr id="5" name="TextBox 4">
            <a:extLst>
              <a:ext uri="{FF2B5EF4-FFF2-40B4-BE49-F238E27FC236}">
                <a16:creationId xmlns:a16="http://schemas.microsoft.com/office/drawing/2014/main" id="{54CB8F8E-109F-4C25-AB18-4E0DB35A09FE}"/>
              </a:ext>
            </a:extLst>
          </p:cNvPr>
          <p:cNvSpPr txBox="1"/>
          <p:nvPr/>
        </p:nvSpPr>
        <p:spPr>
          <a:xfrm>
            <a:off x="635000" y="4155748"/>
            <a:ext cx="11264232" cy="2200602"/>
          </a:xfrm>
          <a:prstGeom prst="rect">
            <a:avLst/>
          </a:prstGeom>
          <a:noFill/>
        </p:spPr>
        <p:txBody>
          <a:bodyPr vertOverflow="overflow" vert="horz" wrap="square" rtlCol="0" anchor="t">
            <a:spAutoFit/>
          </a:bodyPr>
          <a:lstStyle/>
          <a:p>
            <a:pPr marL="0" indent="0">
              <a:buNone/>
            </a:pPr>
            <a:r>
              <a:rPr lang="en-US" sz="2200" b="1" dirty="0">
                <a:solidFill>
                  <a:srgbClr val="2C5F7C"/>
                </a:solidFill>
              </a:rPr>
              <a:t>Key Cost Advantages</a:t>
            </a:r>
          </a:p>
          <a:p>
            <a:pPr marL="0" indent="0">
              <a:buNone/>
            </a:pPr>
            <a:endParaRPr lang="en-US" sz="2200" b="1" dirty="0">
              <a:solidFill>
                <a:srgbClr val="2C5F7C"/>
              </a:solidFill>
            </a:endParaRPr>
          </a:p>
          <a:p>
            <a:pPr marL="228600" indent="-228600">
              <a:spcAft>
                <a:spcPts val="200"/>
              </a:spcAft>
              <a:buFont typeface="Arial"/>
              <a:buChar char="•"/>
            </a:pPr>
            <a:r>
              <a:rPr lang="en-US" sz="2200" b="1" dirty="0">
                <a:solidFill>
                  <a:srgbClr val="1B2A4A"/>
                </a:solidFill>
                <a:latin typeface="Calibri"/>
              </a:rPr>
              <a:t>$21–$59 per room per year -</a:t>
            </a:r>
            <a:r>
              <a:rPr lang="en-US" sz="2200" dirty="0">
                <a:solidFill>
                  <a:srgbClr val="1B2A4A"/>
                </a:solidFill>
                <a:latin typeface="Calibri"/>
              </a:rPr>
              <a:t> over 3 years (50-room hotel)</a:t>
            </a:r>
          </a:p>
          <a:p>
            <a:pPr marL="228600" indent="-228600">
              <a:spcAft>
                <a:spcPts val="200"/>
              </a:spcAft>
              <a:buFont typeface="Arial"/>
              <a:buChar char="•"/>
            </a:pPr>
            <a:r>
              <a:rPr lang="en-US" sz="2200" b="1" dirty="0">
                <a:solidFill>
                  <a:srgbClr val="1B2A4A"/>
                </a:solidFill>
                <a:latin typeface="Calibri"/>
              </a:rPr>
              <a:t>Zero recurring software costs</a:t>
            </a:r>
            <a:r>
              <a:rPr lang="en-US" sz="2200" dirty="0">
                <a:solidFill>
                  <a:srgbClr val="1B2A4A"/>
                </a:solidFill>
                <a:latin typeface="Calibri"/>
              </a:rPr>
              <a:t> - 100% open-source, no per-request or subscription billing</a:t>
            </a:r>
          </a:p>
          <a:p>
            <a:pPr marL="228600" indent="-228600">
              <a:spcAft>
                <a:spcPts val="200"/>
              </a:spcAft>
              <a:buFont typeface="Arial"/>
              <a:buChar char="•"/>
            </a:pPr>
            <a:r>
              <a:rPr lang="en-US" sz="2200" b="1" dirty="0">
                <a:solidFill>
                  <a:srgbClr val="1B2A4A"/>
                </a:solidFill>
                <a:latin typeface="Calibri"/>
              </a:rPr>
              <a:t>Commodity hardware</a:t>
            </a:r>
            <a:r>
              <a:rPr lang="en-US" sz="2200" dirty="0">
                <a:solidFill>
                  <a:srgbClr val="1B2A4A"/>
                </a:solidFill>
                <a:latin typeface="Calibri"/>
              </a:rPr>
              <a:t> - Android tablets ($50–$150) from local retailers, locally repairable</a:t>
            </a:r>
          </a:p>
          <a:p>
            <a:pPr marL="228600" indent="-228600">
              <a:buFont typeface="Arial"/>
              <a:buChar char="•"/>
            </a:pPr>
            <a:r>
              <a:rPr lang="en-US" sz="2200" b="1" dirty="0">
                <a:solidFill>
                  <a:srgbClr val="1B2A4A"/>
                </a:solidFill>
                <a:latin typeface="Calibri"/>
              </a:rPr>
              <a:t>Market fit</a:t>
            </a:r>
            <a:r>
              <a:rPr lang="en-US" sz="2200" dirty="0">
                <a:solidFill>
                  <a:srgbClr val="1B2A4A"/>
                </a:solidFill>
                <a:latin typeface="Calibri"/>
              </a:rPr>
              <a:t> - within reach of Sri Lankan hotels (SLTDA, 2024)</a:t>
            </a:r>
          </a:p>
        </p:txBody>
      </p:sp>
      <p:sp>
        <p:nvSpPr>
          <p:cNvPr id="8" name="Slide Number Placeholder 3">
            <a:extLst>
              <a:ext uri="{FF2B5EF4-FFF2-40B4-BE49-F238E27FC236}">
                <a16:creationId xmlns:a16="http://schemas.microsoft.com/office/drawing/2014/main" id="{8546B7F3-4E31-E1D0-B2FA-42DB3EE59E15}"/>
              </a:ext>
            </a:extLst>
          </p:cNvPr>
          <p:cNvSpPr>
            <a:spLocks noGrp="1"/>
          </p:cNvSpPr>
          <p:nvPr>
            <p:ph type="sldNum" sz="quarter" idx="12"/>
          </p:nvPr>
        </p:nvSpPr>
        <p:spPr>
          <a:xfrm>
            <a:off x="11818620" y="6245385"/>
            <a:ext cx="338741" cy="365125"/>
          </a:xfrm>
        </p:spPr>
        <p:txBody>
          <a:bodyPr/>
          <a:lstStyle/>
          <a:p>
            <a:fld id="{9890CE2D-2882-48A4-88CB-3A003AF6C150}" type="slidenum">
              <a:rPr lang="en-US" b="1" smtClean="0">
                <a:solidFill>
                  <a:schemeClr val="bg1">
                    <a:lumMod val="10000"/>
                  </a:schemeClr>
                </a:solidFill>
              </a:rPr>
              <a:t>15</a:t>
            </a:fld>
            <a:endParaRPr lang="en-US" b="1" dirty="0">
              <a:solidFill>
                <a:schemeClr val="bg1">
                  <a:lumMod val="10000"/>
                </a:schemeClr>
              </a:solidFill>
            </a:endParaRPr>
          </a:p>
        </p:txBody>
      </p:sp>
    </p:spTree>
    <p:extLst>
      <p:ext uri="{BB962C8B-B14F-4D97-AF65-F5344CB8AC3E}">
        <p14:creationId xmlns:p14="http://schemas.microsoft.com/office/powerpoint/2010/main" val="3753859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id="{D1D98421-2F81-9AD0-8F21-D7E48E81099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FF7C6EB-EB2D-F0D2-773E-C2549F87A8BC}"/>
              </a:ext>
            </a:extLst>
          </p:cNvPr>
          <p:cNvSpPr>
            <a:spLocks noGrp="1"/>
          </p:cNvSpPr>
          <p:nvPr>
            <p:ph type="title"/>
          </p:nvPr>
        </p:nvSpPr>
        <p:spPr>
          <a:xfrm>
            <a:off x="407738" y="117667"/>
            <a:ext cx="11036968" cy="937895"/>
          </a:xfrm>
        </p:spPr>
        <p:txBody>
          <a:bodyPr>
            <a:normAutofit/>
          </a:bodyPr>
          <a:lstStyle/>
          <a:p>
            <a:r>
              <a:rPr lang="en-US" dirty="0"/>
              <a:t>Critical Appraisal – Strengths &amp; Limitations</a:t>
            </a:r>
          </a:p>
        </p:txBody>
      </p:sp>
      <p:sp>
        <p:nvSpPr>
          <p:cNvPr id="9" name="Shape 3">
            <a:extLst>
              <a:ext uri="{FF2B5EF4-FFF2-40B4-BE49-F238E27FC236}">
                <a16:creationId xmlns:a16="http://schemas.microsoft.com/office/drawing/2014/main" id="{2A8CECC8-364A-891C-88F6-5ECD0FAFBDE0}"/>
              </a:ext>
            </a:extLst>
          </p:cNvPr>
          <p:cNvSpPr/>
          <p:nvPr/>
        </p:nvSpPr>
        <p:spPr>
          <a:xfrm>
            <a:off x="733393" y="1303020"/>
            <a:ext cx="5175986" cy="4757407"/>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200"/>
          </a:p>
        </p:txBody>
      </p:sp>
      <p:sp>
        <p:nvSpPr>
          <p:cNvPr id="10" name="Shape 4">
            <a:extLst>
              <a:ext uri="{FF2B5EF4-FFF2-40B4-BE49-F238E27FC236}">
                <a16:creationId xmlns:a16="http://schemas.microsoft.com/office/drawing/2014/main" id="{B8E98346-7351-F459-8648-66CE939BA50B}"/>
              </a:ext>
            </a:extLst>
          </p:cNvPr>
          <p:cNvSpPr/>
          <p:nvPr/>
        </p:nvSpPr>
        <p:spPr>
          <a:xfrm>
            <a:off x="733393" y="1303020"/>
            <a:ext cx="5175986" cy="402365"/>
          </a:xfrm>
          <a:prstGeom prst="rect">
            <a:avLst/>
          </a:prstGeom>
          <a:solidFill>
            <a:srgbClr val="16A34A"/>
          </a:solidFill>
          <a:ln w="12700">
            <a:solidFill>
              <a:srgbClr val="FFFFFF"/>
            </a:solidFill>
            <a:prstDash val="solid"/>
          </a:ln>
        </p:spPr>
        <p:txBody>
          <a:bodyPr/>
          <a:lstStyle/>
          <a:p>
            <a:endParaRPr lang="en-US" sz="1400"/>
          </a:p>
        </p:txBody>
      </p:sp>
      <p:sp>
        <p:nvSpPr>
          <p:cNvPr id="11" name="Text 5">
            <a:extLst>
              <a:ext uri="{FF2B5EF4-FFF2-40B4-BE49-F238E27FC236}">
                <a16:creationId xmlns:a16="http://schemas.microsoft.com/office/drawing/2014/main" id="{FE1AA617-09E5-8997-4283-0F673BDAD4CA}"/>
              </a:ext>
            </a:extLst>
          </p:cNvPr>
          <p:cNvSpPr/>
          <p:nvPr/>
        </p:nvSpPr>
        <p:spPr>
          <a:xfrm>
            <a:off x="791877" y="1303020"/>
            <a:ext cx="5063465" cy="402365"/>
          </a:xfrm>
          <a:prstGeom prst="rect">
            <a:avLst/>
          </a:prstGeom>
          <a:noFill/>
          <a:ln/>
        </p:spPr>
        <p:txBody>
          <a:bodyPr wrap="square" rtlCol="0" anchor="ctr"/>
          <a:lstStyle/>
          <a:p>
            <a:pPr marL="0" indent="0">
              <a:buNone/>
            </a:pPr>
            <a:r>
              <a:rPr lang="en-US" sz="1400" b="1" dirty="0">
                <a:solidFill>
                  <a:srgbClr val="FFFFFF"/>
                </a:solidFill>
              </a:rPr>
              <a:t>✓  Strengths</a:t>
            </a:r>
            <a:endParaRPr lang="en-US" sz="1400" dirty="0"/>
          </a:p>
        </p:txBody>
      </p:sp>
      <p:sp>
        <p:nvSpPr>
          <p:cNvPr id="12" name="Text 6">
            <a:extLst>
              <a:ext uri="{FF2B5EF4-FFF2-40B4-BE49-F238E27FC236}">
                <a16:creationId xmlns:a16="http://schemas.microsoft.com/office/drawing/2014/main" id="{BFABE7F8-DF1D-B790-D580-079732FD4D1A}"/>
              </a:ext>
            </a:extLst>
          </p:cNvPr>
          <p:cNvSpPr/>
          <p:nvPr/>
        </p:nvSpPr>
        <p:spPr>
          <a:xfrm>
            <a:off x="908845" y="179679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Quantified the accuracy gap</a:t>
            </a:r>
            <a:endParaRPr lang="en-US" sz="1400" dirty="0"/>
          </a:p>
        </p:txBody>
      </p:sp>
      <p:sp>
        <p:nvSpPr>
          <p:cNvPr id="13" name="Text 7">
            <a:extLst>
              <a:ext uri="{FF2B5EF4-FFF2-40B4-BE49-F238E27FC236}">
                <a16:creationId xmlns:a16="http://schemas.microsoft.com/office/drawing/2014/main" id="{70BF9D54-935E-46C7-4095-72E9E37099B9}"/>
              </a:ext>
            </a:extLst>
          </p:cNvPr>
          <p:cNvSpPr/>
          <p:nvPr/>
        </p:nvSpPr>
        <p:spPr>
          <a:xfrm>
            <a:off x="908845" y="1958380"/>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Model A: 98.07% → 89.34% on Vosk (-8.73pp)</a:t>
            </a:r>
            <a:endParaRPr lang="en-US" sz="1400" dirty="0"/>
          </a:p>
        </p:txBody>
      </p:sp>
      <p:sp>
        <p:nvSpPr>
          <p:cNvPr id="14" name="Text 8">
            <a:extLst>
              <a:ext uri="{FF2B5EF4-FFF2-40B4-BE49-F238E27FC236}">
                <a16:creationId xmlns:a16="http://schemas.microsoft.com/office/drawing/2014/main" id="{1C4BD549-CD5E-2BD3-2E0A-950EEC79F5D0}"/>
              </a:ext>
            </a:extLst>
          </p:cNvPr>
          <p:cNvSpPr/>
          <p:nvPr/>
        </p:nvSpPr>
        <p:spPr>
          <a:xfrm>
            <a:off x="908845" y="2466340"/>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Noise-aware training</a:t>
            </a:r>
            <a:endParaRPr lang="en-US" sz="1400" dirty="0"/>
          </a:p>
        </p:txBody>
      </p:sp>
      <p:sp>
        <p:nvSpPr>
          <p:cNvPr id="15" name="Text 9">
            <a:extLst>
              <a:ext uri="{FF2B5EF4-FFF2-40B4-BE49-F238E27FC236}">
                <a16:creationId xmlns:a16="http://schemas.microsoft.com/office/drawing/2014/main" id="{157C8D5E-671D-2FBD-9686-9DE3956001B6}"/>
              </a:ext>
            </a:extLst>
          </p:cNvPr>
          <p:cNvSpPr/>
          <p:nvPr/>
        </p:nvSpPr>
        <p:spPr>
          <a:xfrm>
            <a:off x="908845" y="2719300"/>
            <a:ext cx="4838422" cy="364044"/>
          </a:xfrm>
          <a:prstGeom prst="rect">
            <a:avLst/>
          </a:prstGeom>
          <a:noFill/>
          <a:ln/>
        </p:spPr>
        <p:txBody>
          <a:bodyPr wrap="square" lIns="0" tIns="0" rIns="0" bIns="0" rtlCol="0" anchor="ctr"/>
          <a:lstStyle/>
          <a:p>
            <a:r>
              <a:rPr lang="en-US" sz="1400" dirty="0">
                <a:solidFill>
                  <a:srgbClr val="475569"/>
                </a:solidFill>
                <a:latin typeface="Calibri" pitchFamily="34" charset="0"/>
                <a:ea typeface="Calibri" pitchFamily="34" charset="-122"/>
                <a:cs typeface="Calibri" pitchFamily="34" charset="-120"/>
              </a:rPr>
              <a:t>Model C 99.06% on </a:t>
            </a:r>
            <a:r>
              <a:rPr lang="en-US" sz="1400" dirty="0" err="1">
                <a:solidFill>
                  <a:srgbClr val="475569"/>
                </a:solidFill>
                <a:latin typeface="Calibri" pitchFamily="34" charset="0"/>
                <a:ea typeface="Calibri" pitchFamily="34" charset="-122"/>
                <a:cs typeface="Calibri" pitchFamily="34" charset="-120"/>
              </a:rPr>
              <a:t>Vosk</a:t>
            </a:r>
            <a:r>
              <a:rPr lang="en-US" sz="1400" dirty="0">
                <a:solidFill>
                  <a:srgbClr val="475569"/>
                </a:solidFill>
                <a:latin typeface="Calibri" pitchFamily="34" charset="0"/>
                <a:ea typeface="Calibri" pitchFamily="34" charset="-122"/>
                <a:cs typeface="Calibri" pitchFamily="34" charset="-120"/>
              </a:rPr>
              <a:t> : +9.72pp Gap recovery. Outperformed both clean-only and Vosk-only baselines.</a:t>
            </a:r>
            <a:endParaRPr lang="en-US" sz="1400" dirty="0"/>
          </a:p>
        </p:txBody>
      </p:sp>
      <p:sp>
        <p:nvSpPr>
          <p:cNvPr id="16" name="Text 10">
            <a:extLst>
              <a:ext uri="{FF2B5EF4-FFF2-40B4-BE49-F238E27FC236}">
                <a16:creationId xmlns:a16="http://schemas.microsoft.com/office/drawing/2014/main" id="{DD1B92FE-DFB2-2980-CDE5-FAD28006F015}"/>
              </a:ext>
            </a:extLst>
          </p:cNvPr>
          <p:cNvSpPr/>
          <p:nvPr/>
        </p:nvSpPr>
        <p:spPr>
          <a:xfrm>
            <a:off x="896835" y="334994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Rigorous experiment design</a:t>
            </a:r>
            <a:endParaRPr lang="en-US" sz="1400" dirty="0"/>
          </a:p>
        </p:txBody>
      </p:sp>
      <p:sp>
        <p:nvSpPr>
          <p:cNvPr id="17" name="Text 11">
            <a:extLst>
              <a:ext uri="{FF2B5EF4-FFF2-40B4-BE49-F238E27FC236}">
                <a16:creationId xmlns:a16="http://schemas.microsoft.com/office/drawing/2014/main" id="{468A625C-FB88-1B99-5C35-CFF52CC8F618}"/>
              </a:ext>
            </a:extLst>
          </p:cNvPr>
          <p:cNvSpPr/>
          <p:nvPr/>
        </p:nvSpPr>
        <p:spPr>
          <a:xfrm>
            <a:off x="896835" y="3633593"/>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10,080 phrases, 18 intents, 560/intent. Fixed test set consistently across all 3 models.</a:t>
            </a:r>
            <a:endParaRPr lang="en-US" sz="1400" dirty="0"/>
          </a:p>
        </p:txBody>
      </p:sp>
      <p:sp>
        <p:nvSpPr>
          <p:cNvPr id="18" name="Text 12">
            <a:extLst>
              <a:ext uri="{FF2B5EF4-FFF2-40B4-BE49-F238E27FC236}">
                <a16:creationId xmlns:a16="http://schemas.microsoft.com/office/drawing/2014/main" id="{3B29814C-A985-59E3-EB6A-9B846C850DB8}"/>
              </a:ext>
            </a:extLst>
          </p:cNvPr>
          <p:cNvSpPr/>
          <p:nvPr/>
        </p:nvSpPr>
        <p:spPr>
          <a:xfrm>
            <a:off x="896835" y="425409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Privacy by architecture</a:t>
            </a:r>
            <a:endParaRPr lang="en-US" sz="1400" dirty="0"/>
          </a:p>
        </p:txBody>
      </p:sp>
      <p:sp>
        <p:nvSpPr>
          <p:cNvPr id="19" name="Text 13">
            <a:extLst>
              <a:ext uri="{FF2B5EF4-FFF2-40B4-BE49-F238E27FC236}">
                <a16:creationId xmlns:a16="http://schemas.microsoft.com/office/drawing/2014/main" id="{9CA545E6-1E02-4370-ACD3-178FDE888760}"/>
              </a:ext>
            </a:extLst>
          </p:cNvPr>
          <p:cNvSpPr/>
          <p:nvPr/>
        </p:nvSpPr>
        <p:spPr>
          <a:xfrm>
            <a:off x="896835" y="4503208"/>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mechanism to send audio externally - structural guarantee, not policy-based.</a:t>
            </a:r>
            <a:endParaRPr lang="en-US" sz="1400" dirty="0"/>
          </a:p>
        </p:txBody>
      </p:sp>
      <p:sp>
        <p:nvSpPr>
          <p:cNvPr id="20" name="Text 14">
            <a:extLst>
              <a:ext uri="{FF2B5EF4-FFF2-40B4-BE49-F238E27FC236}">
                <a16:creationId xmlns:a16="http://schemas.microsoft.com/office/drawing/2014/main" id="{977DEBBD-06A6-AA91-3397-1A33E9832288}"/>
              </a:ext>
            </a:extLst>
          </p:cNvPr>
          <p:cNvSpPr/>
          <p:nvPr/>
        </p:nvSpPr>
        <p:spPr>
          <a:xfrm>
            <a:off x="908845" y="5193574"/>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Cost-effectiveness proven</a:t>
            </a:r>
            <a:endParaRPr lang="en-US" sz="1400" dirty="0"/>
          </a:p>
        </p:txBody>
      </p:sp>
      <p:sp>
        <p:nvSpPr>
          <p:cNvPr id="21" name="Text 15">
            <a:extLst>
              <a:ext uri="{FF2B5EF4-FFF2-40B4-BE49-F238E27FC236}">
                <a16:creationId xmlns:a16="http://schemas.microsoft.com/office/drawing/2014/main" id="{A1A9F4A7-FEF1-92BB-B3A9-7C501EC76101}"/>
              </a:ext>
            </a:extLst>
          </p:cNvPr>
          <p:cNvSpPr/>
          <p:nvPr/>
        </p:nvSpPr>
        <p:spPr>
          <a:xfrm>
            <a:off x="896835" y="5441103"/>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USD 21–59/room/year vs. cloud. Zero recurring software costs. Full open-source.</a:t>
            </a:r>
            <a:endParaRPr lang="en-US" sz="1400" dirty="0"/>
          </a:p>
        </p:txBody>
      </p:sp>
      <p:sp>
        <p:nvSpPr>
          <p:cNvPr id="22" name="Shape 16">
            <a:extLst>
              <a:ext uri="{FF2B5EF4-FFF2-40B4-BE49-F238E27FC236}">
                <a16:creationId xmlns:a16="http://schemas.microsoft.com/office/drawing/2014/main" id="{97870B23-2942-C6D1-6996-DAE6EDECB27D}"/>
              </a:ext>
            </a:extLst>
          </p:cNvPr>
          <p:cNvSpPr/>
          <p:nvPr/>
        </p:nvSpPr>
        <p:spPr>
          <a:xfrm>
            <a:off x="6268720" y="1303020"/>
            <a:ext cx="5175986" cy="4757407"/>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200"/>
          </a:p>
        </p:txBody>
      </p:sp>
      <p:sp>
        <p:nvSpPr>
          <p:cNvPr id="23" name="Shape 17">
            <a:extLst>
              <a:ext uri="{FF2B5EF4-FFF2-40B4-BE49-F238E27FC236}">
                <a16:creationId xmlns:a16="http://schemas.microsoft.com/office/drawing/2014/main" id="{14304ED2-2012-DF99-0A59-FE761DC9BDE1}"/>
              </a:ext>
            </a:extLst>
          </p:cNvPr>
          <p:cNvSpPr/>
          <p:nvPr/>
        </p:nvSpPr>
        <p:spPr>
          <a:xfrm>
            <a:off x="6268720" y="1303020"/>
            <a:ext cx="5175986" cy="402365"/>
          </a:xfrm>
          <a:prstGeom prst="rect">
            <a:avLst/>
          </a:prstGeom>
          <a:solidFill>
            <a:srgbClr val="D97706"/>
          </a:solidFill>
          <a:ln w="12700">
            <a:solidFill>
              <a:srgbClr val="FFFFFF"/>
            </a:solidFill>
            <a:prstDash val="solid"/>
          </a:ln>
        </p:spPr>
        <p:txBody>
          <a:bodyPr/>
          <a:lstStyle/>
          <a:p>
            <a:endParaRPr lang="en-US" sz="1400"/>
          </a:p>
        </p:txBody>
      </p:sp>
      <p:sp>
        <p:nvSpPr>
          <p:cNvPr id="24" name="Text 18">
            <a:extLst>
              <a:ext uri="{FF2B5EF4-FFF2-40B4-BE49-F238E27FC236}">
                <a16:creationId xmlns:a16="http://schemas.microsoft.com/office/drawing/2014/main" id="{BE190D1E-699A-6BFE-68FE-4AE6C73416F6}"/>
              </a:ext>
            </a:extLst>
          </p:cNvPr>
          <p:cNvSpPr/>
          <p:nvPr/>
        </p:nvSpPr>
        <p:spPr>
          <a:xfrm>
            <a:off x="6330568" y="1303020"/>
            <a:ext cx="5063465" cy="402365"/>
          </a:xfrm>
          <a:prstGeom prst="rect">
            <a:avLst/>
          </a:prstGeom>
          <a:noFill/>
          <a:ln/>
        </p:spPr>
        <p:txBody>
          <a:bodyPr wrap="square" rtlCol="0" anchor="ctr"/>
          <a:lstStyle/>
          <a:p>
            <a:pPr marL="0" indent="0">
              <a:buNone/>
            </a:pPr>
            <a:r>
              <a:rPr lang="en-US" sz="1400" b="1" dirty="0">
                <a:solidFill>
                  <a:srgbClr val="FFFFFF"/>
                </a:solidFill>
              </a:rPr>
              <a:t>⚠  Limitations</a:t>
            </a:r>
            <a:endParaRPr lang="en-US" sz="1400" dirty="0"/>
          </a:p>
        </p:txBody>
      </p:sp>
      <p:sp>
        <p:nvSpPr>
          <p:cNvPr id="25" name="Text 19">
            <a:extLst>
              <a:ext uri="{FF2B5EF4-FFF2-40B4-BE49-F238E27FC236}">
                <a16:creationId xmlns:a16="http://schemas.microsoft.com/office/drawing/2014/main" id="{1960CAD1-7B58-5524-F87A-77047DD9E84A}"/>
              </a:ext>
            </a:extLst>
          </p:cNvPr>
          <p:cNvSpPr/>
          <p:nvPr/>
        </p:nvSpPr>
        <p:spPr>
          <a:xfrm>
            <a:off x="6400482" y="1796796"/>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Synthetic speech only</a:t>
            </a:r>
            <a:endParaRPr lang="en-US" sz="1400" dirty="0"/>
          </a:p>
        </p:txBody>
      </p:sp>
      <p:sp>
        <p:nvSpPr>
          <p:cNvPr id="26" name="Text 20">
            <a:extLst>
              <a:ext uri="{FF2B5EF4-FFF2-40B4-BE49-F238E27FC236}">
                <a16:creationId xmlns:a16="http://schemas.microsoft.com/office/drawing/2014/main" id="{FB12D479-CB62-1DF5-47B9-06BE692ABB4F}"/>
              </a:ext>
            </a:extLst>
          </p:cNvPr>
          <p:cNvSpPr/>
          <p:nvPr/>
        </p:nvSpPr>
        <p:spPr>
          <a:xfrm>
            <a:off x="6400481" y="2066186"/>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WER on TTS audio, not real hotel guests - real-world WER likely higher.</a:t>
            </a:r>
            <a:endParaRPr lang="en-US" sz="1400" dirty="0"/>
          </a:p>
        </p:txBody>
      </p:sp>
      <p:sp>
        <p:nvSpPr>
          <p:cNvPr id="27" name="Text 21">
            <a:extLst>
              <a:ext uri="{FF2B5EF4-FFF2-40B4-BE49-F238E27FC236}">
                <a16:creationId xmlns:a16="http://schemas.microsoft.com/office/drawing/2014/main" id="{440C6A35-5601-6E14-5611-EFE6A1E40896}"/>
              </a:ext>
            </a:extLst>
          </p:cNvPr>
          <p:cNvSpPr/>
          <p:nvPr/>
        </p:nvSpPr>
        <p:spPr>
          <a:xfrm>
            <a:off x="6400482" y="2632742"/>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Tokeniser mismatch on Android</a:t>
            </a:r>
            <a:endParaRPr lang="en-US" sz="1400" dirty="0"/>
          </a:p>
        </p:txBody>
      </p:sp>
      <p:sp>
        <p:nvSpPr>
          <p:cNvPr id="28" name="Text 22">
            <a:extLst>
              <a:ext uri="{FF2B5EF4-FFF2-40B4-BE49-F238E27FC236}">
                <a16:creationId xmlns:a16="http://schemas.microsoft.com/office/drawing/2014/main" id="{933498DC-7CED-B45C-4874-1C2E144850E8}"/>
              </a:ext>
            </a:extLst>
          </p:cNvPr>
          <p:cNvSpPr/>
          <p:nvPr/>
        </p:nvSpPr>
        <p:spPr>
          <a:xfrm>
            <a:off x="6409371" y="2876146"/>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Python HuggingFace vs. simplified Kotlin tokenizer - on-device accuracy lower than reported.</a:t>
            </a:r>
            <a:endParaRPr lang="en-US" sz="1400" dirty="0"/>
          </a:p>
        </p:txBody>
      </p:sp>
      <p:sp>
        <p:nvSpPr>
          <p:cNvPr id="29" name="Text 23">
            <a:extLst>
              <a:ext uri="{FF2B5EF4-FFF2-40B4-BE49-F238E27FC236}">
                <a16:creationId xmlns:a16="http://schemas.microsoft.com/office/drawing/2014/main" id="{3F316988-3D1B-17D6-696B-53B162E4B4F5}"/>
              </a:ext>
            </a:extLst>
          </p:cNvPr>
          <p:cNvSpPr/>
          <p:nvPr/>
        </p:nvSpPr>
        <p:spPr>
          <a:xfrm>
            <a:off x="6400482" y="3492792"/>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No field deployment</a:t>
            </a:r>
            <a:endParaRPr lang="en-US" sz="1400" dirty="0"/>
          </a:p>
        </p:txBody>
      </p:sp>
      <p:sp>
        <p:nvSpPr>
          <p:cNvPr id="30" name="Text 24">
            <a:extLst>
              <a:ext uri="{FF2B5EF4-FFF2-40B4-BE49-F238E27FC236}">
                <a16:creationId xmlns:a16="http://schemas.microsoft.com/office/drawing/2014/main" id="{96D32DE7-93D8-070D-15CC-DAAEEF515150}"/>
              </a:ext>
            </a:extLst>
          </p:cNvPr>
          <p:cNvSpPr/>
          <p:nvPr/>
        </p:nvSpPr>
        <p:spPr>
          <a:xfrm>
            <a:off x="6400480" y="3661783"/>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real hotel environment testing; no real user feedback collected.</a:t>
            </a:r>
            <a:endParaRPr lang="en-US" sz="1400" dirty="0"/>
          </a:p>
        </p:txBody>
      </p:sp>
      <p:sp>
        <p:nvSpPr>
          <p:cNvPr id="31" name="Text 25">
            <a:extLst>
              <a:ext uri="{FF2B5EF4-FFF2-40B4-BE49-F238E27FC236}">
                <a16:creationId xmlns:a16="http://schemas.microsoft.com/office/drawing/2014/main" id="{91706738-D26B-1E18-0697-FFB95675F29F}"/>
              </a:ext>
            </a:extLst>
          </p:cNvPr>
          <p:cNvSpPr/>
          <p:nvPr/>
        </p:nvSpPr>
        <p:spPr>
          <a:xfrm>
            <a:off x="6400482" y="4273285"/>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Accent &amp; language scope</a:t>
            </a:r>
            <a:endParaRPr lang="en-US" sz="1400" dirty="0"/>
          </a:p>
        </p:txBody>
      </p:sp>
      <p:sp>
        <p:nvSpPr>
          <p:cNvPr id="32" name="Text 26">
            <a:extLst>
              <a:ext uri="{FF2B5EF4-FFF2-40B4-BE49-F238E27FC236}">
                <a16:creationId xmlns:a16="http://schemas.microsoft.com/office/drawing/2014/main" id="{903FCA1C-B1C6-7A89-E89E-D5E349720995}"/>
              </a:ext>
            </a:extLst>
          </p:cNvPr>
          <p:cNvSpPr/>
          <p:nvPr/>
        </p:nvSpPr>
        <p:spPr>
          <a:xfrm>
            <a:off x="6400480" y="4545149"/>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Mainly English with Sri Lankan accents; other accents and languages untested.</a:t>
            </a:r>
            <a:endParaRPr lang="en-US" sz="1400" dirty="0"/>
          </a:p>
        </p:txBody>
      </p:sp>
      <p:sp>
        <p:nvSpPr>
          <p:cNvPr id="33" name="Text 27">
            <a:extLst>
              <a:ext uri="{FF2B5EF4-FFF2-40B4-BE49-F238E27FC236}">
                <a16:creationId xmlns:a16="http://schemas.microsoft.com/office/drawing/2014/main" id="{AC5ECD45-1C3A-E027-49B5-27335408946E}"/>
              </a:ext>
            </a:extLst>
          </p:cNvPr>
          <p:cNvSpPr/>
          <p:nvPr/>
        </p:nvSpPr>
        <p:spPr>
          <a:xfrm>
            <a:off x="6400482" y="5163094"/>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Prototype-scale architecture</a:t>
            </a:r>
            <a:endParaRPr lang="en-US" sz="1400" dirty="0"/>
          </a:p>
        </p:txBody>
      </p:sp>
      <p:sp>
        <p:nvSpPr>
          <p:cNvPr id="34" name="Text 28">
            <a:extLst>
              <a:ext uri="{FF2B5EF4-FFF2-40B4-BE49-F238E27FC236}">
                <a16:creationId xmlns:a16="http://schemas.microsoft.com/office/drawing/2014/main" id="{9D417C8C-8E3F-B3CC-96C4-2F3FE34B0183}"/>
              </a:ext>
            </a:extLst>
          </p:cNvPr>
          <p:cNvSpPr/>
          <p:nvPr/>
        </p:nvSpPr>
        <p:spPr>
          <a:xfrm>
            <a:off x="6409371" y="5441103"/>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SQLite → PostgreSQL needed for production; not production-ready as-is.</a:t>
            </a:r>
            <a:endParaRPr lang="en-US" sz="1400" dirty="0"/>
          </a:p>
        </p:txBody>
      </p:sp>
      <p:sp>
        <p:nvSpPr>
          <p:cNvPr id="5" name="Slide Number Placeholder 3">
            <a:extLst>
              <a:ext uri="{FF2B5EF4-FFF2-40B4-BE49-F238E27FC236}">
                <a16:creationId xmlns:a16="http://schemas.microsoft.com/office/drawing/2014/main" id="{DEEC72DA-C356-4A43-ED88-F2EABE5A1715}"/>
              </a:ext>
            </a:extLst>
          </p:cNvPr>
          <p:cNvSpPr>
            <a:spLocks noGrp="1"/>
          </p:cNvSpPr>
          <p:nvPr>
            <p:ph type="sldNum" sz="quarter" idx="12"/>
          </p:nvPr>
        </p:nvSpPr>
        <p:spPr>
          <a:xfrm>
            <a:off x="11807190" y="6245385"/>
            <a:ext cx="350171" cy="365125"/>
          </a:xfrm>
        </p:spPr>
        <p:txBody>
          <a:bodyPr/>
          <a:lstStyle/>
          <a:p>
            <a:fld id="{9890CE2D-2882-48A4-88CB-3A003AF6C150}" type="slidenum">
              <a:rPr lang="en-US" b="1" smtClean="0">
                <a:solidFill>
                  <a:schemeClr val="bg1">
                    <a:lumMod val="10000"/>
                  </a:schemeClr>
                </a:solidFill>
              </a:rPr>
              <a:t>16</a:t>
            </a:fld>
            <a:endParaRPr lang="en-US" b="1" dirty="0">
              <a:solidFill>
                <a:schemeClr val="bg1">
                  <a:lumMod val="10000"/>
                </a:schemeClr>
              </a:solidFill>
            </a:endParaRPr>
          </a:p>
        </p:txBody>
      </p:sp>
    </p:spTree>
    <p:extLst>
      <p:ext uri="{BB962C8B-B14F-4D97-AF65-F5344CB8AC3E}">
        <p14:creationId xmlns:p14="http://schemas.microsoft.com/office/powerpoint/2010/main" val="2803380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Picture 40">
            <a:extLst>
              <a:ext uri="{FF2B5EF4-FFF2-40B4-BE49-F238E27FC236}">
                <a16:creationId xmlns:a16="http://schemas.microsoft.com/office/drawing/2014/main" id="{AFA5F0A4-AB5A-8F19-64FA-E1D9A687C7E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 2"/>
          <p:cNvSpPr/>
          <p:nvPr/>
        </p:nvSpPr>
        <p:spPr>
          <a:xfrm>
            <a:off x="9875520" y="219456"/>
            <a:ext cx="1950720" cy="438912"/>
          </a:xfrm>
          <a:prstGeom prst="rect">
            <a:avLst/>
          </a:prstGeom>
          <a:noFill/>
          <a:ln/>
        </p:spPr>
        <p:txBody>
          <a:bodyPr wrap="square" rtlCol="0" anchor="ctr"/>
          <a:lstStyle/>
          <a:p>
            <a:pPr algn="ctr"/>
            <a:r>
              <a:rPr lang="en-US" sz="1133" b="1" dirty="0">
                <a:solidFill>
                  <a:srgbClr val="FFFFFF"/>
                </a:solidFill>
              </a:rPr>
              <a:t>§6  3 min</a:t>
            </a:r>
            <a:endParaRPr lang="en-US" sz="1133" dirty="0"/>
          </a:p>
        </p:txBody>
      </p:sp>
      <p:sp>
        <p:nvSpPr>
          <p:cNvPr id="5" name="Shape 3"/>
          <p:cNvSpPr/>
          <p:nvPr/>
        </p:nvSpPr>
        <p:spPr>
          <a:xfrm>
            <a:off x="609600" y="107289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6" name="Shape 4"/>
          <p:cNvSpPr/>
          <p:nvPr/>
        </p:nvSpPr>
        <p:spPr>
          <a:xfrm>
            <a:off x="609600" y="1072896"/>
            <a:ext cx="73152" cy="999744"/>
          </a:xfrm>
          <a:prstGeom prst="rect">
            <a:avLst/>
          </a:prstGeom>
          <a:solidFill>
            <a:srgbClr val="DC2626"/>
          </a:solidFill>
          <a:ln w="12700">
            <a:solidFill>
              <a:srgbClr val="FFFFFF"/>
            </a:solidFill>
            <a:prstDash val="solid"/>
          </a:ln>
        </p:spPr>
        <p:txBody>
          <a:bodyPr/>
          <a:lstStyle/>
          <a:p>
            <a:endParaRPr lang="en-US" sz="1600"/>
          </a:p>
        </p:txBody>
      </p:sp>
      <p:sp>
        <p:nvSpPr>
          <p:cNvPr id="9" name="Text 7"/>
          <p:cNvSpPr/>
          <p:nvPr/>
        </p:nvSpPr>
        <p:spPr>
          <a:xfrm>
            <a:off x="829056" y="113385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Field Deployment &amp; Real User Study</a:t>
            </a:r>
            <a:endParaRPr lang="en-US" sz="1600" dirty="0"/>
          </a:p>
        </p:txBody>
      </p:sp>
      <p:sp>
        <p:nvSpPr>
          <p:cNvPr id="10" name="Text 8"/>
          <p:cNvSpPr/>
          <p:nvPr/>
        </p:nvSpPr>
        <p:spPr>
          <a:xfrm>
            <a:off x="829056" y="143865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No real hotel testing — WER and UX unknown for real guests</a:t>
            </a:r>
            <a:endParaRPr lang="en-US" sz="1600" dirty="0"/>
          </a:p>
        </p:txBody>
      </p:sp>
      <p:sp>
        <p:nvSpPr>
          <p:cNvPr id="11" name="Text 9"/>
          <p:cNvSpPr/>
          <p:nvPr/>
        </p:nvSpPr>
        <p:spPr>
          <a:xfrm>
            <a:off x="6022848" y="1304544"/>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Deploy in a Sri Lankan hotel. Measure WER on genuine speech, collect satisfaction ratings, evaluate staff adoption.</a:t>
            </a:r>
            <a:endParaRPr lang="en-US" sz="1600" dirty="0"/>
          </a:p>
        </p:txBody>
      </p:sp>
      <p:sp>
        <p:nvSpPr>
          <p:cNvPr id="12" name="Shape 10"/>
          <p:cNvSpPr/>
          <p:nvPr/>
        </p:nvSpPr>
        <p:spPr>
          <a:xfrm>
            <a:off x="609600" y="217017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3" name="Shape 11"/>
          <p:cNvSpPr/>
          <p:nvPr/>
        </p:nvSpPr>
        <p:spPr>
          <a:xfrm>
            <a:off x="609600" y="2170176"/>
            <a:ext cx="73152" cy="999744"/>
          </a:xfrm>
          <a:prstGeom prst="rect">
            <a:avLst/>
          </a:prstGeom>
          <a:solidFill>
            <a:schemeClr val="tx1">
              <a:lumMod val="50000"/>
              <a:lumOff val="50000"/>
            </a:schemeClr>
          </a:solidFill>
          <a:ln w="12700">
            <a:solidFill>
              <a:srgbClr val="FFFFFF"/>
            </a:solidFill>
            <a:prstDash val="solid"/>
          </a:ln>
        </p:spPr>
        <p:txBody>
          <a:bodyPr/>
          <a:lstStyle/>
          <a:p>
            <a:endParaRPr lang="en-US" sz="1600"/>
          </a:p>
        </p:txBody>
      </p:sp>
      <p:sp>
        <p:nvSpPr>
          <p:cNvPr id="16" name="Text 14"/>
          <p:cNvSpPr/>
          <p:nvPr/>
        </p:nvSpPr>
        <p:spPr>
          <a:xfrm>
            <a:off x="829056" y="223113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Real Speech Data Collection &amp; Retraining</a:t>
            </a:r>
            <a:endParaRPr lang="en-US" sz="1600" dirty="0"/>
          </a:p>
        </p:txBody>
      </p:sp>
      <p:sp>
        <p:nvSpPr>
          <p:cNvPr id="17" name="Text 15"/>
          <p:cNvSpPr/>
          <p:nvPr/>
        </p:nvSpPr>
        <p:spPr>
          <a:xfrm>
            <a:off x="829056" y="253593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All 10,080 training phrases synthetically generated via TTS + templates</a:t>
            </a:r>
            <a:endParaRPr lang="en-US" sz="1600" dirty="0"/>
          </a:p>
        </p:txBody>
      </p:sp>
      <p:sp>
        <p:nvSpPr>
          <p:cNvPr id="18" name="Text 16"/>
          <p:cNvSpPr/>
          <p:nvPr/>
        </p:nvSpPr>
        <p:spPr>
          <a:xfrm>
            <a:off x="6096000" y="2429577"/>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Record real guest requests across accent varieties. Retrain Model C to close the synthetic-data gap.</a:t>
            </a:r>
            <a:endParaRPr lang="en-US" sz="1600" dirty="0"/>
          </a:p>
        </p:txBody>
      </p:sp>
      <p:sp>
        <p:nvSpPr>
          <p:cNvPr id="19" name="Shape 17"/>
          <p:cNvSpPr/>
          <p:nvPr/>
        </p:nvSpPr>
        <p:spPr>
          <a:xfrm>
            <a:off x="609600" y="326745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0" name="Shape 18"/>
          <p:cNvSpPr/>
          <p:nvPr/>
        </p:nvSpPr>
        <p:spPr>
          <a:xfrm>
            <a:off x="609600" y="3267456"/>
            <a:ext cx="73152" cy="999744"/>
          </a:xfrm>
          <a:prstGeom prst="rect">
            <a:avLst/>
          </a:prstGeom>
          <a:solidFill>
            <a:schemeClr val="accent2">
              <a:lumMod val="60000"/>
              <a:lumOff val="40000"/>
            </a:schemeClr>
          </a:solidFill>
          <a:ln w="12700">
            <a:solidFill>
              <a:srgbClr val="FFFFFF"/>
            </a:solidFill>
            <a:prstDash val="solid"/>
          </a:ln>
        </p:spPr>
        <p:txBody>
          <a:bodyPr/>
          <a:lstStyle/>
          <a:p>
            <a:endParaRPr lang="en-US" sz="1600"/>
          </a:p>
        </p:txBody>
      </p:sp>
      <p:sp>
        <p:nvSpPr>
          <p:cNvPr id="23" name="Text 21"/>
          <p:cNvSpPr/>
          <p:nvPr/>
        </p:nvSpPr>
        <p:spPr>
          <a:xfrm>
            <a:off x="829056" y="332841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Proper WordPiece Tokenisation on Android</a:t>
            </a:r>
            <a:endParaRPr lang="en-US" sz="1600" dirty="0"/>
          </a:p>
        </p:txBody>
      </p:sp>
      <p:sp>
        <p:nvSpPr>
          <p:cNvPr id="24" name="Text 22"/>
          <p:cNvSpPr/>
          <p:nvPr/>
        </p:nvSpPr>
        <p:spPr>
          <a:xfrm>
            <a:off x="829056" y="363321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Simplified Kotlin tokeniser causes accuracy drop vs. Python pipeline</a:t>
            </a:r>
            <a:endParaRPr lang="en-US" sz="1600" dirty="0"/>
          </a:p>
        </p:txBody>
      </p:sp>
      <p:sp>
        <p:nvSpPr>
          <p:cNvPr id="25" name="Text 23"/>
          <p:cNvSpPr/>
          <p:nvPr/>
        </p:nvSpPr>
        <p:spPr>
          <a:xfrm>
            <a:off x="6100011" y="3547070"/>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Implement full HuggingFace WordPiece tokeniser in Android NLUService.kt.</a:t>
            </a:r>
            <a:endParaRPr lang="en-US" sz="1600" dirty="0"/>
          </a:p>
        </p:txBody>
      </p:sp>
      <p:sp>
        <p:nvSpPr>
          <p:cNvPr id="26" name="Shape 24"/>
          <p:cNvSpPr/>
          <p:nvPr/>
        </p:nvSpPr>
        <p:spPr>
          <a:xfrm>
            <a:off x="609600" y="436473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7" name="Shape 25"/>
          <p:cNvSpPr/>
          <p:nvPr/>
        </p:nvSpPr>
        <p:spPr>
          <a:xfrm>
            <a:off x="609600" y="4364736"/>
            <a:ext cx="73152" cy="999744"/>
          </a:xfrm>
          <a:prstGeom prst="rect">
            <a:avLst/>
          </a:prstGeom>
          <a:solidFill>
            <a:srgbClr val="D97706"/>
          </a:solidFill>
          <a:ln w="12700">
            <a:solidFill>
              <a:srgbClr val="FFFFFF"/>
            </a:solidFill>
            <a:prstDash val="solid"/>
          </a:ln>
        </p:spPr>
        <p:txBody>
          <a:bodyPr/>
          <a:lstStyle/>
          <a:p>
            <a:endParaRPr lang="en-US" sz="1600"/>
          </a:p>
        </p:txBody>
      </p:sp>
      <p:sp>
        <p:nvSpPr>
          <p:cNvPr id="30" name="Text 28"/>
          <p:cNvSpPr/>
          <p:nvPr/>
        </p:nvSpPr>
        <p:spPr>
          <a:xfrm>
            <a:off x="829056" y="442569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Multilingual Support (Other languages)</a:t>
            </a:r>
            <a:endParaRPr lang="en-US" sz="1600" dirty="0"/>
          </a:p>
        </p:txBody>
      </p:sp>
      <p:sp>
        <p:nvSpPr>
          <p:cNvPr id="31" name="Text 29"/>
          <p:cNvSpPr/>
          <p:nvPr/>
        </p:nvSpPr>
        <p:spPr>
          <a:xfrm>
            <a:off x="829056" y="473049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System supports English with Sri Lankan accents only</a:t>
            </a:r>
            <a:endParaRPr lang="en-US" sz="1600" dirty="0"/>
          </a:p>
        </p:txBody>
      </p:sp>
      <p:sp>
        <p:nvSpPr>
          <p:cNvPr id="32" name="Text 30"/>
          <p:cNvSpPr/>
          <p:nvPr/>
        </p:nvSpPr>
        <p:spPr>
          <a:xfrm>
            <a:off x="6096000" y="4610341"/>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Extend with multilingual Vosk models and retrain NLU on other language intent phrases.</a:t>
            </a:r>
            <a:endParaRPr lang="en-US" sz="1600" dirty="0"/>
          </a:p>
        </p:txBody>
      </p:sp>
      <p:sp>
        <p:nvSpPr>
          <p:cNvPr id="33" name="Shape 31"/>
          <p:cNvSpPr/>
          <p:nvPr/>
        </p:nvSpPr>
        <p:spPr>
          <a:xfrm>
            <a:off x="609600" y="546201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4" name="Shape 32"/>
          <p:cNvSpPr/>
          <p:nvPr/>
        </p:nvSpPr>
        <p:spPr>
          <a:xfrm>
            <a:off x="609600" y="5462016"/>
            <a:ext cx="73152" cy="999744"/>
          </a:xfrm>
          <a:prstGeom prst="rect">
            <a:avLst/>
          </a:prstGeom>
          <a:solidFill>
            <a:schemeClr val="accent6">
              <a:lumMod val="75000"/>
            </a:schemeClr>
          </a:solidFill>
          <a:ln w="12700">
            <a:solidFill>
              <a:srgbClr val="FFFFFF"/>
            </a:solidFill>
            <a:prstDash val="solid"/>
          </a:ln>
        </p:spPr>
        <p:txBody>
          <a:bodyPr/>
          <a:lstStyle/>
          <a:p>
            <a:endParaRPr lang="en-US" sz="1600"/>
          </a:p>
        </p:txBody>
      </p:sp>
      <p:sp>
        <p:nvSpPr>
          <p:cNvPr id="37" name="Text 35"/>
          <p:cNvSpPr/>
          <p:nvPr/>
        </p:nvSpPr>
        <p:spPr>
          <a:xfrm>
            <a:off x="829056" y="552297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Improve NLU Layer</a:t>
            </a:r>
            <a:endParaRPr lang="en-US" sz="1600" dirty="0"/>
          </a:p>
        </p:txBody>
      </p:sp>
      <p:sp>
        <p:nvSpPr>
          <p:cNvPr id="38" name="Text 36"/>
          <p:cNvSpPr/>
          <p:nvPr/>
        </p:nvSpPr>
        <p:spPr>
          <a:xfrm>
            <a:off x="829056" y="582777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High WER in some categories</a:t>
            </a:r>
            <a:endParaRPr lang="en-US" sz="1600" dirty="0"/>
          </a:p>
        </p:txBody>
      </p:sp>
      <p:sp>
        <p:nvSpPr>
          <p:cNvPr id="39" name="Text 37"/>
          <p:cNvSpPr/>
          <p:nvPr/>
        </p:nvSpPr>
        <p:spPr>
          <a:xfrm>
            <a:off x="6144768" y="5715963"/>
            <a:ext cx="5437632"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Train hospitality-specific </a:t>
            </a:r>
            <a:r>
              <a:rPr lang="en-US" sz="1600" dirty="0" err="1">
                <a:solidFill>
                  <a:srgbClr val="475569"/>
                </a:solidFill>
                <a:latin typeface="Calibri" pitchFamily="34" charset="0"/>
                <a:ea typeface="Calibri" pitchFamily="34" charset="-122"/>
                <a:cs typeface="Calibri" pitchFamily="34" charset="-120"/>
              </a:rPr>
              <a:t>Vosk</a:t>
            </a:r>
            <a:r>
              <a:rPr lang="en-US" sz="1600" dirty="0">
                <a:solidFill>
                  <a:srgbClr val="475569"/>
                </a:solidFill>
                <a:latin typeface="Calibri" pitchFamily="34" charset="0"/>
                <a:ea typeface="Calibri" pitchFamily="34" charset="-122"/>
                <a:cs typeface="Calibri" pitchFamily="34" charset="-120"/>
              </a:rPr>
              <a:t> language models, Out-of-scope intent detection, Multi-step conversational request handling.</a:t>
            </a:r>
            <a:endParaRPr lang="en-US" sz="1600" dirty="0"/>
          </a:p>
        </p:txBody>
      </p:sp>
      <p:sp>
        <p:nvSpPr>
          <p:cNvPr id="40" name="Title 1">
            <a:extLst>
              <a:ext uri="{FF2B5EF4-FFF2-40B4-BE49-F238E27FC236}">
                <a16:creationId xmlns:a16="http://schemas.microsoft.com/office/drawing/2014/main" id="{D5024C71-89FF-9268-4BA5-86A4CC504FF5}"/>
              </a:ext>
            </a:extLst>
          </p:cNvPr>
          <p:cNvSpPr txBox="1">
            <a:spLocks/>
          </p:cNvSpPr>
          <p:nvPr/>
        </p:nvSpPr>
        <p:spPr>
          <a:xfrm>
            <a:off x="418057" y="254635"/>
            <a:ext cx="11453421" cy="720725"/>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Critical Appraisal - </a:t>
            </a:r>
            <a:r>
              <a:rPr lang="en-US" sz="3200" dirty="0"/>
              <a:t>Suggestions for Future Research</a:t>
            </a:r>
          </a:p>
          <a:p>
            <a:endParaRPr lang="en-US" dirty="0"/>
          </a:p>
        </p:txBody>
      </p:sp>
      <p:sp>
        <p:nvSpPr>
          <p:cNvPr id="3" name="Slide Number Placeholder 3">
            <a:extLst>
              <a:ext uri="{FF2B5EF4-FFF2-40B4-BE49-F238E27FC236}">
                <a16:creationId xmlns:a16="http://schemas.microsoft.com/office/drawing/2014/main" id="{CD99A5CA-4B26-8A9D-40BD-67176C46225A}"/>
              </a:ext>
            </a:extLst>
          </p:cNvPr>
          <p:cNvSpPr txBox="1">
            <a:spLocks/>
          </p:cNvSpPr>
          <p:nvPr/>
        </p:nvSpPr>
        <p:spPr>
          <a:xfrm>
            <a:off x="11829430" y="6285050"/>
            <a:ext cx="428657"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17</a:t>
            </a:fld>
            <a:endParaRPr lang="en-US" sz="1200" b="1" dirty="0">
              <a:solidFill>
                <a:schemeClr val="bg1">
                  <a:lumMod val="1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39">
            <a:extLst>
              <a:ext uri="{FF2B5EF4-FFF2-40B4-BE49-F238E27FC236}">
                <a16:creationId xmlns:a16="http://schemas.microsoft.com/office/drawing/2014/main" id="{E3235893-A022-799C-5CA2-F9EAE3C786C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Shape 7"/>
          <p:cNvSpPr/>
          <p:nvPr/>
        </p:nvSpPr>
        <p:spPr>
          <a:xfrm>
            <a:off x="6258344" y="1215189"/>
            <a:ext cx="2615184" cy="239428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0" name="Shape 8"/>
          <p:cNvSpPr/>
          <p:nvPr/>
        </p:nvSpPr>
        <p:spPr>
          <a:xfrm>
            <a:off x="6258344" y="1215189"/>
            <a:ext cx="2615184" cy="438912"/>
          </a:xfrm>
          <a:prstGeom prst="rect">
            <a:avLst/>
          </a:prstGeom>
          <a:solidFill>
            <a:srgbClr val="0D2340"/>
          </a:solidFill>
          <a:ln w="12700">
            <a:solidFill>
              <a:srgbClr val="FFFFFF"/>
            </a:solidFill>
            <a:prstDash val="solid"/>
          </a:ln>
        </p:spPr>
        <p:txBody>
          <a:bodyPr/>
          <a:lstStyle/>
          <a:p>
            <a:endParaRPr lang="en-US" sz="2400"/>
          </a:p>
        </p:txBody>
      </p:sp>
      <p:sp>
        <p:nvSpPr>
          <p:cNvPr id="11" name="Text 9"/>
          <p:cNvSpPr/>
          <p:nvPr/>
        </p:nvSpPr>
        <p:spPr>
          <a:xfrm>
            <a:off x="6346144" y="1239573"/>
            <a:ext cx="2470898" cy="390144"/>
          </a:xfrm>
          <a:prstGeom prst="rect">
            <a:avLst/>
          </a:prstGeom>
          <a:noFill/>
          <a:ln/>
        </p:spPr>
        <p:txBody>
          <a:bodyPr wrap="square" rtlCol="0" anchor="ctr"/>
          <a:lstStyle/>
          <a:p>
            <a:pPr algn="ctr"/>
            <a:r>
              <a:rPr lang="en-US" sz="1733" b="1" dirty="0">
                <a:solidFill>
                  <a:srgbClr val="FFFFFF"/>
                </a:solidFill>
              </a:rPr>
              <a:t>99.06%</a:t>
            </a:r>
            <a:endParaRPr lang="en-US" sz="1733" dirty="0"/>
          </a:p>
        </p:txBody>
      </p:sp>
      <p:sp>
        <p:nvSpPr>
          <p:cNvPr id="12" name="Text 10"/>
          <p:cNvSpPr/>
          <p:nvPr/>
        </p:nvSpPr>
        <p:spPr>
          <a:xfrm>
            <a:off x="6346144" y="1702869"/>
            <a:ext cx="2470898"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NLU Accuracy</a:t>
            </a:r>
            <a:endParaRPr lang="en-US" sz="2667" dirty="0"/>
          </a:p>
        </p:txBody>
      </p:sp>
      <p:sp>
        <p:nvSpPr>
          <p:cNvPr id="13" name="Text 11"/>
          <p:cNvSpPr/>
          <p:nvPr/>
        </p:nvSpPr>
        <p:spPr>
          <a:xfrm>
            <a:off x="6258344" y="2239317"/>
            <a:ext cx="2558698" cy="1370156"/>
          </a:xfrm>
          <a:prstGeom prst="rect">
            <a:avLst/>
          </a:prstGeom>
          <a:noFill/>
          <a:ln/>
        </p:spPr>
        <p:txBody>
          <a:bodyPr wrap="square" rtlCol="0" anchor="ctr"/>
          <a:lstStyle/>
          <a:p>
            <a:pPr algn="ctr"/>
            <a:r>
              <a:rPr lang="en-US" sz="1600" dirty="0">
                <a:solidFill>
                  <a:srgbClr val="475569"/>
                </a:solidFill>
              </a:rPr>
              <a:t>Model C on real Vosk output</a:t>
            </a:r>
            <a:endParaRPr lang="en-US" sz="1600" dirty="0"/>
          </a:p>
          <a:p>
            <a:pPr algn="ctr"/>
            <a:r>
              <a:rPr lang="en-US" sz="1600" dirty="0">
                <a:solidFill>
                  <a:srgbClr val="475569"/>
                </a:solidFill>
              </a:rPr>
              <a:t>Exceeds 90% target by 9+ pp</a:t>
            </a:r>
            <a:endParaRPr lang="en-US" sz="1600" dirty="0"/>
          </a:p>
        </p:txBody>
      </p:sp>
      <p:sp>
        <p:nvSpPr>
          <p:cNvPr id="14" name="Shape 12"/>
          <p:cNvSpPr/>
          <p:nvPr/>
        </p:nvSpPr>
        <p:spPr>
          <a:xfrm>
            <a:off x="9139722" y="1215188"/>
            <a:ext cx="2438720" cy="2394283"/>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5" name="Shape 13"/>
          <p:cNvSpPr/>
          <p:nvPr/>
        </p:nvSpPr>
        <p:spPr>
          <a:xfrm>
            <a:off x="9139722" y="1215189"/>
            <a:ext cx="2438720" cy="428094"/>
          </a:xfrm>
          <a:prstGeom prst="rect">
            <a:avLst/>
          </a:prstGeom>
          <a:solidFill>
            <a:srgbClr val="0D2340"/>
          </a:solidFill>
          <a:ln w="12700">
            <a:solidFill>
              <a:srgbClr val="FFFFFF"/>
            </a:solidFill>
            <a:prstDash val="solid"/>
          </a:ln>
        </p:spPr>
        <p:txBody>
          <a:bodyPr/>
          <a:lstStyle/>
          <a:p>
            <a:endParaRPr lang="en-US" sz="2400"/>
          </a:p>
        </p:txBody>
      </p:sp>
      <p:sp>
        <p:nvSpPr>
          <p:cNvPr id="16" name="Text 14"/>
          <p:cNvSpPr/>
          <p:nvPr/>
        </p:nvSpPr>
        <p:spPr>
          <a:xfrm>
            <a:off x="9227522" y="1239573"/>
            <a:ext cx="2304170" cy="380528"/>
          </a:xfrm>
          <a:prstGeom prst="rect">
            <a:avLst/>
          </a:prstGeom>
          <a:noFill/>
          <a:ln/>
        </p:spPr>
        <p:txBody>
          <a:bodyPr wrap="square" rtlCol="0" anchor="ctr"/>
          <a:lstStyle/>
          <a:p>
            <a:pPr algn="ctr"/>
            <a:r>
              <a:rPr lang="en-US" sz="1733" b="1" dirty="0">
                <a:solidFill>
                  <a:srgbClr val="FFFFFF"/>
                </a:solidFill>
              </a:rPr>
              <a:t>2.8s</a:t>
            </a:r>
            <a:endParaRPr lang="en-US" sz="1733" dirty="0"/>
          </a:p>
        </p:txBody>
      </p:sp>
      <p:sp>
        <p:nvSpPr>
          <p:cNvPr id="17" name="Text 15"/>
          <p:cNvSpPr/>
          <p:nvPr/>
        </p:nvSpPr>
        <p:spPr>
          <a:xfrm>
            <a:off x="9227522" y="1702869"/>
            <a:ext cx="2304170" cy="47566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P95 Latency</a:t>
            </a:r>
            <a:endParaRPr lang="en-US" sz="2667" dirty="0"/>
          </a:p>
        </p:txBody>
      </p:sp>
      <p:sp>
        <p:nvSpPr>
          <p:cNvPr id="18" name="Text 16"/>
          <p:cNvSpPr/>
          <p:nvPr/>
        </p:nvSpPr>
        <p:spPr>
          <a:xfrm>
            <a:off x="9139722" y="2238781"/>
            <a:ext cx="2438720" cy="1370690"/>
          </a:xfrm>
          <a:prstGeom prst="rect">
            <a:avLst/>
          </a:prstGeom>
          <a:noFill/>
          <a:ln/>
        </p:spPr>
        <p:txBody>
          <a:bodyPr wrap="square" rtlCol="0" anchor="ctr"/>
          <a:lstStyle/>
          <a:p>
            <a:pPr algn="ctr"/>
            <a:r>
              <a:rPr lang="en-US" sz="1600" dirty="0">
                <a:solidFill>
                  <a:srgbClr val="475569"/>
                </a:solidFill>
              </a:rPr>
              <a:t>Well under 5-second target</a:t>
            </a:r>
            <a:endParaRPr lang="en-US" sz="1600" dirty="0"/>
          </a:p>
          <a:p>
            <a:pPr algn="ctr"/>
            <a:r>
              <a:rPr lang="en-US" sz="1600" dirty="0">
                <a:solidFill>
                  <a:srgbClr val="475569"/>
                </a:solidFill>
              </a:rPr>
              <a:t>Full pipeline end-to-end</a:t>
            </a:r>
            <a:endParaRPr lang="en-US" sz="1600" dirty="0"/>
          </a:p>
        </p:txBody>
      </p:sp>
      <p:sp>
        <p:nvSpPr>
          <p:cNvPr id="19" name="Shape 17"/>
          <p:cNvSpPr/>
          <p:nvPr/>
        </p:nvSpPr>
        <p:spPr>
          <a:xfrm>
            <a:off x="3304725" y="1215189"/>
            <a:ext cx="2687425" cy="239428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0" name="Shape 18"/>
          <p:cNvSpPr/>
          <p:nvPr/>
        </p:nvSpPr>
        <p:spPr>
          <a:xfrm>
            <a:off x="3304725" y="1215189"/>
            <a:ext cx="2687425" cy="438912"/>
          </a:xfrm>
          <a:prstGeom prst="rect">
            <a:avLst/>
          </a:prstGeom>
          <a:solidFill>
            <a:srgbClr val="0D2340"/>
          </a:solidFill>
          <a:ln w="12700">
            <a:solidFill>
              <a:srgbClr val="FFFFFF"/>
            </a:solidFill>
            <a:prstDash val="solid"/>
          </a:ln>
        </p:spPr>
        <p:txBody>
          <a:bodyPr/>
          <a:lstStyle/>
          <a:p>
            <a:endParaRPr lang="en-US" sz="2400"/>
          </a:p>
        </p:txBody>
      </p:sp>
      <p:sp>
        <p:nvSpPr>
          <p:cNvPr id="21" name="Text 19"/>
          <p:cNvSpPr/>
          <p:nvPr/>
        </p:nvSpPr>
        <p:spPr>
          <a:xfrm>
            <a:off x="3396512" y="1239573"/>
            <a:ext cx="2539153" cy="390144"/>
          </a:xfrm>
          <a:prstGeom prst="rect">
            <a:avLst/>
          </a:prstGeom>
          <a:noFill/>
          <a:ln/>
        </p:spPr>
        <p:txBody>
          <a:bodyPr wrap="square" rtlCol="0" anchor="ctr"/>
          <a:lstStyle/>
          <a:p>
            <a:pPr algn="ctr"/>
            <a:r>
              <a:rPr lang="en-US" sz="1733" b="1" dirty="0">
                <a:solidFill>
                  <a:srgbClr val="FFFFFF"/>
                </a:solidFill>
              </a:rPr>
              <a:t>$21–59</a:t>
            </a:r>
            <a:endParaRPr lang="en-US" sz="1733" dirty="0"/>
          </a:p>
        </p:txBody>
      </p:sp>
      <p:sp>
        <p:nvSpPr>
          <p:cNvPr id="22" name="Text 20"/>
          <p:cNvSpPr/>
          <p:nvPr/>
        </p:nvSpPr>
        <p:spPr>
          <a:xfrm>
            <a:off x="3396512" y="1702869"/>
            <a:ext cx="2539153"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/room/year</a:t>
            </a:r>
            <a:endParaRPr lang="en-US" sz="2667" dirty="0"/>
          </a:p>
        </p:txBody>
      </p:sp>
      <p:sp>
        <p:nvSpPr>
          <p:cNvPr id="23" name="Text 21"/>
          <p:cNvSpPr/>
          <p:nvPr/>
        </p:nvSpPr>
        <p:spPr>
          <a:xfrm>
            <a:off x="3396512" y="2239317"/>
            <a:ext cx="2539153" cy="1201714"/>
          </a:xfrm>
          <a:prstGeom prst="rect">
            <a:avLst/>
          </a:prstGeom>
          <a:noFill/>
          <a:ln/>
        </p:spPr>
        <p:txBody>
          <a:bodyPr wrap="square" rtlCol="0" anchor="ctr"/>
          <a:lstStyle/>
          <a:p>
            <a:pPr algn="ctr"/>
            <a:r>
              <a:rPr lang="en-US" sz="1600" dirty="0">
                <a:solidFill>
                  <a:srgbClr val="475569"/>
                </a:solidFill>
              </a:rPr>
              <a:t>3-year TCO, 50-room hotel</a:t>
            </a:r>
            <a:endParaRPr lang="en-US" sz="1600" dirty="0"/>
          </a:p>
          <a:p>
            <a:pPr algn="ctr"/>
            <a:r>
              <a:rPr lang="en-US" sz="1600" dirty="0">
                <a:solidFill>
                  <a:srgbClr val="475569"/>
                </a:solidFill>
              </a:rPr>
              <a:t>Cheaper than cloud</a:t>
            </a:r>
            <a:endParaRPr lang="en-US" sz="1600" dirty="0"/>
          </a:p>
        </p:txBody>
      </p:sp>
      <p:sp>
        <p:nvSpPr>
          <p:cNvPr id="27" name="Title 1">
            <a:extLst>
              <a:ext uri="{FF2B5EF4-FFF2-40B4-BE49-F238E27FC236}">
                <a16:creationId xmlns:a16="http://schemas.microsoft.com/office/drawing/2014/main" id="{4EAD0194-60DC-6F35-7260-0900C4F63B4C}"/>
              </a:ext>
            </a:extLst>
          </p:cNvPr>
          <p:cNvSpPr txBox="1">
            <a:spLocks/>
          </p:cNvSpPr>
          <p:nvPr/>
        </p:nvSpPr>
        <p:spPr>
          <a:xfrm>
            <a:off x="511743" y="230251"/>
            <a:ext cx="10515600" cy="812165"/>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a:t>Conclusion - Summary of Findings</a:t>
            </a:r>
            <a:endParaRPr lang="en-US" dirty="0"/>
          </a:p>
        </p:txBody>
      </p:sp>
      <p:sp>
        <p:nvSpPr>
          <p:cNvPr id="28" name="Shape 17">
            <a:extLst>
              <a:ext uri="{FF2B5EF4-FFF2-40B4-BE49-F238E27FC236}">
                <a16:creationId xmlns:a16="http://schemas.microsoft.com/office/drawing/2014/main" id="{9E8DD1B3-A6B5-7F95-4796-84861614CA2E}"/>
              </a:ext>
            </a:extLst>
          </p:cNvPr>
          <p:cNvSpPr/>
          <p:nvPr/>
        </p:nvSpPr>
        <p:spPr>
          <a:xfrm>
            <a:off x="605641" y="1204371"/>
            <a:ext cx="2491497" cy="240510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9" name="Shape 18">
            <a:extLst>
              <a:ext uri="{FF2B5EF4-FFF2-40B4-BE49-F238E27FC236}">
                <a16:creationId xmlns:a16="http://schemas.microsoft.com/office/drawing/2014/main" id="{2FFAD871-7466-8A4E-D7DB-B32C55571762}"/>
              </a:ext>
            </a:extLst>
          </p:cNvPr>
          <p:cNvSpPr/>
          <p:nvPr/>
        </p:nvSpPr>
        <p:spPr>
          <a:xfrm>
            <a:off x="605641" y="1204371"/>
            <a:ext cx="2491497" cy="438912"/>
          </a:xfrm>
          <a:prstGeom prst="rect">
            <a:avLst/>
          </a:prstGeom>
          <a:solidFill>
            <a:srgbClr val="0D2340"/>
          </a:solidFill>
          <a:ln w="12700">
            <a:solidFill>
              <a:srgbClr val="FFFFFF"/>
            </a:solidFill>
            <a:prstDash val="solid"/>
          </a:ln>
        </p:spPr>
        <p:txBody>
          <a:bodyPr/>
          <a:lstStyle/>
          <a:p>
            <a:endParaRPr lang="en-US" sz="2400"/>
          </a:p>
        </p:txBody>
      </p:sp>
      <p:sp>
        <p:nvSpPr>
          <p:cNvPr id="30" name="Text 19">
            <a:extLst>
              <a:ext uri="{FF2B5EF4-FFF2-40B4-BE49-F238E27FC236}">
                <a16:creationId xmlns:a16="http://schemas.microsoft.com/office/drawing/2014/main" id="{C8173CA1-1800-C3C6-C2BA-C01117AAC468}"/>
              </a:ext>
            </a:extLst>
          </p:cNvPr>
          <p:cNvSpPr/>
          <p:nvPr/>
        </p:nvSpPr>
        <p:spPr>
          <a:xfrm>
            <a:off x="684174" y="1228755"/>
            <a:ext cx="2354035" cy="390144"/>
          </a:xfrm>
          <a:prstGeom prst="rect">
            <a:avLst/>
          </a:prstGeom>
          <a:noFill/>
          <a:ln/>
        </p:spPr>
        <p:txBody>
          <a:bodyPr wrap="square" rtlCol="0" anchor="ctr"/>
          <a:lstStyle/>
          <a:p>
            <a:pPr algn="ctr"/>
            <a:r>
              <a:rPr lang="en-US" sz="1733" b="1" dirty="0">
                <a:solidFill>
                  <a:srgbClr val="FFFFFF"/>
                </a:solidFill>
              </a:rPr>
              <a:t>100%</a:t>
            </a:r>
            <a:endParaRPr lang="en-US" sz="1733" dirty="0"/>
          </a:p>
        </p:txBody>
      </p:sp>
      <p:sp>
        <p:nvSpPr>
          <p:cNvPr id="31" name="Text 20">
            <a:extLst>
              <a:ext uri="{FF2B5EF4-FFF2-40B4-BE49-F238E27FC236}">
                <a16:creationId xmlns:a16="http://schemas.microsoft.com/office/drawing/2014/main" id="{567A1DF2-AEA6-147E-76F6-7F4E246535C1}"/>
              </a:ext>
            </a:extLst>
          </p:cNvPr>
          <p:cNvSpPr/>
          <p:nvPr/>
        </p:nvSpPr>
        <p:spPr>
          <a:xfrm>
            <a:off x="684174" y="1692051"/>
            <a:ext cx="2354035"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Offline</a:t>
            </a:r>
            <a:endParaRPr lang="en-US" sz="2667" dirty="0"/>
          </a:p>
        </p:txBody>
      </p:sp>
      <p:sp>
        <p:nvSpPr>
          <p:cNvPr id="32" name="Text 21">
            <a:extLst>
              <a:ext uri="{FF2B5EF4-FFF2-40B4-BE49-F238E27FC236}">
                <a16:creationId xmlns:a16="http://schemas.microsoft.com/office/drawing/2014/main" id="{4A13731D-163C-8F94-3533-5D097AD9BC61}"/>
              </a:ext>
            </a:extLst>
          </p:cNvPr>
          <p:cNvSpPr/>
          <p:nvPr/>
        </p:nvSpPr>
        <p:spPr>
          <a:xfrm>
            <a:off x="586176" y="2228499"/>
            <a:ext cx="2530425" cy="1380974"/>
          </a:xfrm>
          <a:prstGeom prst="rect">
            <a:avLst/>
          </a:prstGeom>
          <a:noFill/>
          <a:ln/>
        </p:spPr>
        <p:txBody>
          <a:bodyPr wrap="square" rtlCol="0" anchor="ctr"/>
          <a:lstStyle/>
          <a:p>
            <a:pPr algn="ctr"/>
            <a:r>
              <a:rPr lang="en-US" sz="1600" dirty="0">
                <a:solidFill>
                  <a:srgbClr val="475569"/>
                </a:solidFill>
              </a:rPr>
              <a:t>No internet dependency</a:t>
            </a:r>
          </a:p>
          <a:p>
            <a:pPr algn="ctr"/>
            <a:r>
              <a:rPr lang="en-US" sz="1600" dirty="0">
                <a:solidFill>
                  <a:srgbClr val="475569"/>
                </a:solidFill>
              </a:rPr>
              <a:t>No voice data leaving device</a:t>
            </a:r>
          </a:p>
          <a:p>
            <a:pPr algn="ctr"/>
            <a:r>
              <a:rPr lang="en-US" sz="1600" dirty="0">
                <a:solidFill>
                  <a:srgbClr val="475569"/>
                </a:solidFill>
              </a:rPr>
              <a:t>Privacy Preserved</a:t>
            </a:r>
            <a:endParaRPr lang="en-US" sz="1600" dirty="0"/>
          </a:p>
        </p:txBody>
      </p:sp>
      <p:sp>
        <p:nvSpPr>
          <p:cNvPr id="33" name="Text 6">
            <a:extLst>
              <a:ext uri="{FF2B5EF4-FFF2-40B4-BE49-F238E27FC236}">
                <a16:creationId xmlns:a16="http://schemas.microsoft.com/office/drawing/2014/main" id="{0076BDC2-02BF-84A2-6AA2-0F6D69FBA067}"/>
              </a:ext>
            </a:extLst>
          </p:cNvPr>
          <p:cNvSpPr/>
          <p:nvPr/>
        </p:nvSpPr>
        <p:spPr>
          <a:xfrm>
            <a:off x="678794" y="1301906"/>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4" name="Text 6">
            <a:extLst>
              <a:ext uri="{FF2B5EF4-FFF2-40B4-BE49-F238E27FC236}">
                <a16:creationId xmlns:a16="http://schemas.microsoft.com/office/drawing/2014/main" id="{CD2C5F8F-9E98-ACFB-ADB7-A9BF249AF402}"/>
              </a:ext>
            </a:extLst>
          </p:cNvPr>
          <p:cNvSpPr/>
          <p:nvPr/>
        </p:nvSpPr>
        <p:spPr>
          <a:xfrm>
            <a:off x="3396512" y="129982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5" name="Text 6">
            <a:extLst>
              <a:ext uri="{FF2B5EF4-FFF2-40B4-BE49-F238E27FC236}">
                <a16:creationId xmlns:a16="http://schemas.microsoft.com/office/drawing/2014/main" id="{8B0C645F-0CB6-8796-3A75-88932767CE30}"/>
              </a:ext>
            </a:extLst>
          </p:cNvPr>
          <p:cNvSpPr/>
          <p:nvPr/>
        </p:nvSpPr>
        <p:spPr>
          <a:xfrm>
            <a:off x="6314178" y="129959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6" name="Text 6">
            <a:extLst>
              <a:ext uri="{FF2B5EF4-FFF2-40B4-BE49-F238E27FC236}">
                <a16:creationId xmlns:a16="http://schemas.microsoft.com/office/drawing/2014/main" id="{1B7FD946-C665-F3A9-CB48-4AE59FEAF9B6}"/>
              </a:ext>
            </a:extLst>
          </p:cNvPr>
          <p:cNvSpPr/>
          <p:nvPr/>
        </p:nvSpPr>
        <p:spPr>
          <a:xfrm>
            <a:off x="9230274" y="128834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8" name="Shape 3">
            <a:extLst>
              <a:ext uri="{FF2B5EF4-FFF2-40B4-BE49-F238E27FC236}">
                <a16:creationId xmlns:a16="http://schemas.microsoft.com/office/drawing/2014/main" id="{FAC15E71-6AB1-BD42-C00C-850415D8F9A4}"/>
              </a:ext>
            </a:extLst>
          </p:cNvPr>
          <p:cNvSpPr/>
          <p:nvPr/>
        </p:nvSpPr>
        <p:spPr>
          <a:xfrm>
            <a:off x="609600" y="3968082"/>
            <a:ext cx="10972800" cy="1804473"/>
          </a:xfrm>
          <a:prstGeom prst="rect">
            <a:avLst/>
          </a:prstGeom>
          <a:solidFill>
            <a:srgbClr val="06983E"/>
          </a:solidFill>
          <a:ln w="12700">
            <a:solidFill>
              <a:srgbClr val="FFFFFF"/>
            </a:solidFill>
            <a:prstDash val="solid"/>
          </a:ln>
        </p:spPr>
        <p:txBody>
          <a:bodyPr/>
          <a:lstStyle/>
          <a:p>
            <a:endParaRPr lang="en-US" sz="2400"/>
          </a:p>
        </p:txBody>
      </p:sp>
      <p:sp>
        <p:nvSpPr>
          <p:cNvPr id="39" name="Shape 3">
            <a:extLst>
              <a:ext uri="{FF2B5EF4-FFF2-40B4-BE49-F238E27FC236}">
                <a16:creationId xmlns:a16="http://schemas.microsoft.com/office/drawing/2014/main" id="{6465AC40-DE87-686A-9139-ACB5C77CF0C7}"/>
              </a:ext>
            </a:extLst>
          </p:cNvPr>
          <p:cNvSpPr/>
          <p:nvPr/>
        </p:nvSpPr>
        <p:spPr>
          <a:xfrm>
            <a:off x="753979" y="4125963"/>
            <a:ext cx="10515600" cy="1245569"/>
          </a:xfrm>
          <a:prstGeom prst="rect">
            <a:avLst/>
          </a:prstGeom>
          <a:noFill/>
          <a:ln w="12700">
            <a:noFill/>
            <a:prstDash val="solid"/>
          </a:ln>
        </p:spPr>
        <p:txBody>
          <a:bodyPr/>
          <a:lstStyle/>
          <a:p>
            <a:pPr algn="ctr"/>
            <a:r>
              <a:rPr lang="en-US" sz="2400" b="1" i="1" dirty="0">
                <a:solidFill>
                  <a:schemeClr val="bg1"/>
                </a:solidFill>
              </a:rPr>
              <a:t>Low-cost, fully offline voice assistant system, built on a standard commodity device, achieves sufficient technical accuracy and performance to be a viable alternative to traditional room service communication in Sri Lankan hotels </a:t>
            </a:r>
          </a:p>
        </p:txBody>
      </p:sp>
      <p:sp>
        <p:nvSpPr>
          <p:cNvPr id="3" name="Slide Number Placeholder 3">
            <a:extLst>
              <a:ext uri="{FF2B5EF4-FFF2-40B4-BE49-F238E27FC236}">
                <a16:creationId xmlns:a16="http://schemas.microsoft.com/office/drawing/2014/main" id="{24C5EFA1-C4CD-613D-3E05-2F70891FE87F}"/>
              </a:ext>
            </a:extLst>
          </p:cNvPr>
          <p:cNvSpPr txBox="1">
            <a:spLocks/>
          </p:cNvSpPr>
          <p:nvPr/>
        </p:nvSpPr>
        <p:spPr>
          <a:xfrm>
            <a:off x="11853259" y="6279675"/>
            <a:ext cx="41875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18</a:t>
            </a:fld>
            <a:endParaRPr lang="en-US" sz="1200" b="1" dirty="0">
              <a:solidFill>
                <a:schemeClr val="bg1">
                  <a:lumMod val="10000"/>
                </a:scheme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307C0-B9D1-5078-B09D-85D5C0220A57}"/>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C712D453-885D-C6E0-A749-9DD3EB5C599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D86467F-08C4-042B-93AB-6EA774231DD2}"/>
              </a:ext>
            </a:extLst>
          </p:cNvPr>
          <p:cNvSpPr>
            <a:spLocks noGrp="1"/>
          </p:cNvSpPr>
          <p:nvPr>
            <p:ph type="title"/>
          </p:nvPr>
        </p:nvSpPr>
        <p:spPr>
          <a:xfrm>
            <a:off x="553994" y="216293"/>
            <a:ext cx="10515600" cy="812165"/>
          </a:xfrm>
        </p:spPr>
        <p:txBody>
          <a:bodyPr/>
          <a:lstStyle/>
          <a:p>
            <a:r>
              <a:rPr lang="en-US" dirty="0"/>
              <a:t>Conclusion</a:t>
            </a:r>
          </a:p>
        </p:txBody>
      </p:sp>
      <p:sp>
        <p:nvSpPr>
          <p:cNvPr id="6" name="Content Placeholder 5">
            <a:extLst>
              <a:ext uri="{FF2B5EF4-FFF2-40B4-BE49-F238E27FC236}">
                <a16:creationId xmlns:a16="http://schemas.microsoft.com/office/drawing/2014/main" id="{04B34EE2-B9C8-7BAD-18E8-8248A4DB909F}"/>
              </a:ext>
            </a:extLst>
          </p:cNvPr>
          <p:cNvSpPr>
            <a:spLocks noGrp="1"/>
          </p:cNvSpPr>
          <p:nvPr>
            <p:ph idx="1"/>
          </p:nvPr>
        </p:nvSpPr>
        <p:spPr>
          <a:xfrm>
            <a:off x="696605" y="1157199"/>
            <a:ext cx="10515600" cy="4739006"/>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Contributions to the Field</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p:txBody>
      </p:sp>
      <p:sp>
        <p:nvSpPr>
          <p:cNvPr id="3" name="Shape 3">
            <a:extLst>
              <a:ext uri="{FF2B5EF4-FFF2-40B4-BE49-F238E27FC236}">
                <a16:creationId xmlns:a16="http://schemas.microsoft.com/office/drawing/2014/main" id="{ED331312-474D-40C3-70A5-E135151A821B}"/>
              </a:ext>
            </a:extLst>
          </p:cNvPr>
          <p:cNvSpPr/>
          <p:nvPr/>
        </p:nvSpPr>
        <p:spPr>
          <a:xfrm>
            <a:off x="955306" y="2007829"/>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5" name="Shape 4">
            <a:extLst>
              <a:ext uri="{FF2B5EF4-FFF2-40B4-BE49-F238E27FC236}">
                <a16:creationId xmlns:a16="http://schemas.microsoft.com/office/drawing/2014/main" id="{2AFED3B6-2708-DF7D-0BC2-9F208E97995D}"/>
              </a:ext>
            </a:extLst>
          </p:cNvPr>
          <p:cNvSpPr/>
          <p:nvPr/>
        </p:nvSpPr>
        <p:spPr>
          <a:xfrm>
            <a:off x="955306" y="2007830"/>
            <a:ext cx="5140691" cy="621792"/>
          </a:xfrm>
          <a:prstGeom prst="rect">
            <a:avLst/>
          </a:prstGeom>
          <a:solidFill>
            <a:srgbClr val="0E7490"/>
          </a:solidFill>
          <a:ln w="12700">
            <a:solidFill>
              <a:srgbClr val="FFFFFF"/>
            </a:solidFill>
            <a:prstDash val="solid"/>
          </a:ln>
        </p:spPr>
        <p:txBody>
          <a:bodyPr/>
          <a:lstStyle/>
          <a:p>
            <a:endParaRPr lang="en-US" sz="1600"/>
          </a:p>
        </p:txBody>
      </p:sp>
      <p:sp>
        <p:nvSpPr>
          <p:cNvPr id="7" name="Text 5">
            <a:extLst>
              <a:ext uri="{FF2B5EF4-FFF2-40B4-BE49-F238E27FC236}">
                <a16:creationId xmlns:a16="http://schemas.microsoft.com/office/drawing/2014/main" id="{D8D2B802-AAAC-9601-1B01-C316C2BAD59B}"/>
              </a:ext>
            </a:extLst>
          </p:cNvPr>
          <p:cNvSpPr/>
          <p:nvPr/>
        </p:nvSpPr>
        <p:spPr>
          <a:xfrm>
            <a:off x="1046747" y="2044405"/>
            <a:ext cx="4912216" cy="490889"/>
          </a:xfrm>
          <a:prstGeom prst="rect">
            <a:avLst/>
          </a:prstGeom>
          <a:noFill/>
          <a:ln/>
        </p:spPr>
        <p:txBody>
          <a:bodyPr wrap="square" rtlCol="0" anchor="ctr"/>
          <a:lstStyle/>
          <a:p>
            <a:pPr marL="0" indent="0">
              <a:buNone/>
            </a:pPr>
            <a:r>
              <a:rPr lang="en-US" sz="1600" b="1" dirty="0">
                <a:solidFill>
                  <a:srgbClr val="FFFFFF"/>
                </a:solidFill>
              </a:rPr>
              <a:t>C1  Hospitality-Domain NLU Dataset</a:t>
            </a:r>
            <a:endParaRPr lang="en-US" sz="1600" dirty="0"/>
          </a:p>
        </p:txBody>
      </p:sp>
      <p:sp>
        <p:nvSpPr>
          <p:cNvPr id="8" name="Text 6">
            <a:extLst>
              <a:ext uri="{FF2B5EF4-FFF2-40B4-BE49-F238E27FC236}">
                <a16:creationId xmlns:a16="http://schemas.microsoft.com/office/drawing/2014/main" id="{638E851D-010E-F3DC-633D-344D7C9B345F}"/>
              </a:ext>
            </a:extLst>
          </p:cNvPr>
          <p:cNvSpPr/>
          <p:nvPr/>
        </p:nvSpPr>
        <p:spPr>
          <a:xfrm>
            <a:off x="1065035" y="2741280"/>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10,080 labelled phrases, 18 intents, paired Vosk-noisy versions. Reusable for hotel automation and multilingual AI research.</a:t>
            </a:r>
            <a:endParaRPr lang="en-US" sz="1600" dirty="0"/>
          </a:p>
        </p:txBody>
      </p:sp>
      <p:sp>
        <p:nvSpPr>
          <p:cNvPr id="9" name="Shape 7">
            <a:extLst>
              <a:ext uri="{FF2B5EF4-FFF2-40B4-BE49-F238E27FC236}">
                <a16:creationId xmlns:a16="http://schemas.microsoft.com/office/drawing/2014/main" id="{BCBF4F91-4533-23A2-FBA6-E4D69CB3CC78}"/>
              </a:ext>
            </a:extLst>
          </p:cNvPr>
          <p:cNvSpPr/>
          <p:nvPr/>
        </p:nvSpPr>
        <p:spPr>
          <a:xfrm>
            <a:off x="6213108" y="2007829"/>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0" name="Shape 8">
            <a:extLst>
              <a:ext uri="{FF2B5EF4-FFF2-40B4-BE49-F238E27FC236}">
                <a16:creationId xmlns:a16="http://schemas.microsoft.com/office/drawing/2014/main" id="{52A16661-9448-229A-4380-C7C4681E8EBC}"/>
              </a:ext>
            </a:extLst>
          </p:cNvPr>
          <p:cNvSpPr/>
          <p:nvPr/>
        </p:nvSpPr>
        <p:spPr>
          <a:xfrm>
            <a:off x="6213108" y="2007830"/>
            <a:ext cx="5140691" cy="621792"/>
          </a:xfrm>
          <a:prstGeom prst="rect">
            <a:avLst/>
          </a:prstGeom>
          <a:solidFill>
            <a:srgbClr val="D97706"/>
          </a:solidFill>
          <a:ln w="12700">
            <a:solidFill>
              <a:srgbClr val="FFFFFF"/>
            </a:solidFill>
            <a:prstDash val="solid"/>
          </a:ln>
        </p:spPr>
        <p:txBody>
          <a:bodyPr/>
          <a:lstStyle/>
          <a:p>
            <a:endParaRPr lang="en-US" sz="1600"/>
          </a:p>
        </p:txBody>
      </p:sp>
      <p:sp>
        <p:nvSpPr>
          <p:cNvPr id="11" name="Text 9">
            <a:extLst>
              <a:ext uri="{FF2B5EF4-FFF2-40B4-BE49-F238E27FC236}">
                <a16:creationId xmlns:a16="http://schemas.microsoft.com/office/drawing/2014/main" id="{2AB9A38C-C934-1BA7-1009-E930FF5783CA}"/>
              </a:ext>
            </a:extLst>
          </p:cNvPr>
          <p:cNvSpPr/>
          <p:nvPr/>
        </p:nvSpPr>
        <p:spPr>
          <a:xfrm>
            <a:off x="6261877" y="2044405"/>
            <a:ext cx="4912216" cy="490889"/>
          </a:xfrm>
          <a:prstGeom prst="rect">
            <a:avLst/>
          </a:prstGeom>
          <a:noFill/>
          <a:ln/>
        </p:spPr>
        <p:txBody>
          <a:bodyPr wrap="square" rtlCol="0" anchor="ctr"/>
          <a:lstStyle/>
          <a:p>
            <a:pPr marL="0" indent="0">
              <a:buNone/>
            </a:pPr>
            <a:r>
              <a:rPr lang="en-US" sz="1600" b="1" dirty="0">
                <a:solidFill>
                  <a:srgbClr val="FFFFFF"/>
                </a:solidFill>
              </a:rPr>
              <a:t>C2  Noise-Aware NLU Training</a:t>
            </a:r>
            <a:endParaRPr lang="en-US" sz="1600" dirty="0"/>
          </a:p>
        </p:txBody>
      </p:sp>
      <p:sp>
        <p:nvSpPr>
          <p:cNvPr id="12" name="Text 10">
            <a:extLst>
              <a:ext uri="{FF2B5EF4-FFF2-40B4-BE49-F238E27FC236}">
                <a16:creationId xmlns:a16="http://schemas.microsoft.com/office/drawing/2014/main" id="{ADD59E4F-A369-2E83-F498-A65E0FF4771E}"/>
              </a:ext>
            </a:extLst>
          </p:cNvPr>
          <p:cNvSpPr/>
          <p:nvPr/>
        </p:nvSpPr>
        <p:spPr>
          <a:xfrm>
            <a:off x="6275897" y="2705182"/>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First measurement of STT noise degrading NLU in hospitality. Mixed training achieves 99.06% - replicable beyond this domain.</a:t>
            </a:r>
            <a:endParaRPr lang="en-US" sz="1600" dirty="0"/>
          </a:p>
        </p:txBody>
      </p:sp>
      <p:sp>
        <p:nvSpPr>
          <p:cNvPr id="13" name="Shape 11">
            <a:extLst>
              <a:ext uri="{FF2B5EF4-FFF2-40B4-BE49-F238E27FC236}">
                <a16:creationId xmlns:a16="http://schemas.microsoft.com/office/drawing/2014/main" id="{D32365FD-5ECB-77FE-B0AC-242E2A020B52}"/>
              </a:ext>
            </a:extLst>
          </p:cNvPr>
          <p:cNvSpPr/>
          <p:nvPr/>
        </p:nvSpPr>
        <p:spPr>
          <a:xfrm>
            <a:off x="955307" y="3918685"/>
            <a:ext cx="5140694"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4" name="Shape 12">
            <a:extLst>
              <a:ext uri="{FF2B5EF4-FFF2-40B4-BE49-F238E27FC236}">
                <a16:creationId xmlns:a16="http://schemas.microsoft.com/office/drawing/2014/main" id="{606B84E5-1C4B-9643-CD21-E01A4BFD9095}"/>
              </a:ext>
            </a:extLst>
          </p:cNvPr>
          <p:cNvSpPr/>
          <p:nvPr/>
        </p:nvSpPr>
        <p:spPr>
          <a:xfrm>
            <a:off x="955307" y="3918686"/>
            <a:ext cx="5140694" cy="621792"/>
          </a:xfrm>
          <a:prstGeom prst="rect">
            <a:avLst/>
          </a:prstGeom>
          <a:solidFill>
            <a:srgbClr val="0D2340"/>
          </a:solidFill>
          <a:ln w="12700">
            <a:solidFill>
              <a:srgbClr val="FFFFFF"/>
            </a:solidFill>
            <a:prstDash val="solid"/>
          </a:ln>
        </p:spPr>
        <p:txBody>
          <a:bodyPr/>
          <a:lstStyle/>
          <a:p>
            <a:endParaRPr lang="en-US" sz="1600"/>
          </a:p>
        </p:txBody>
      </p:sp>
      <p:sp>
        <p:nvSpPr>
          <p:cNvPr id="15" name="Text 13">
            <a:extLst>
              <a:ext uri="{FF2B5EF4-FFF2-40B4-BE49-F238E27FC236}">
                <a16:creationId xmlns:a16="http://schemas.microsoft.com/office/drawing/2014/main" id="{8CCAF96D-082C-AADD-3EFE-1F8F12924650}"/>
              </a:ext>
            </a:extLst>
          </p:cNvPr>
          <p:cNvSpPr/>
          <p:nvPr/>
        </p:nvSpPr>
        <p:spPr>
          <a:xfrm>
            <a:off x="1046747" y="3955261"/>
            <a:ext cx="4912219" cy="490889"/>
          </a:xfrm>
          <a:prstGeom prst="rect">
            <a:avLst/>
          </a:prstGeom>
          <a:noFill/>
          <a:ln/>
        </p:spPr>
        <p:txBody>
          <a:bodyPr wrap="square" rtlCol="0" anchor="ctr"/>
          <a:lstStyle/>
          <a:p>
            <a:pPr marL="0" indent="0">
              <a:buNone/>
            </a:pPr>
            <a:r>
              <a:rPr lang="en-US" sz="1600" b="1" dirty="0">
                <a:solidFill>
                  <a:srgbClr val="FFFFFF"/>
                </a:solidFill>
              </a:rPr>
              <a:t>C3  Fully Offline Prototype</a:t>
            </a:r>
            <a:endParaRPr lang="en-US" sz="1600" dirty="0"/>
          </a:p>
        </p:txBody>
      </p:sp>
      <p:sp>
        <p:nvSpPr>
          <p:cNvPr id="16" name="Text 14">
            <a:extLst>
              <a:ext uri="{FF2B5EF4-FFF2-40B4-BE49-F238E27FC236}">
                <a16:creationId xmlns:a16="http://schemas.microsoft.com/office/drawing/2014/main" id="{96F816BC-7235-21D6-B4FC-B2667769060C}"/>
              </a:ext>
            </a:extLst>
          </p:cNvPr>
          <p:cNvSpPr/>
          <p:nvPr/>
        </p:nvSpPr>
        <p:spPr>
          <a:xfrm>
            <a:off x="1065034" y="4616038"/>
            <a:ext cx="4889371"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Working end-to-end system on commodity Android. No cloud, no vendor lock-in. Addresses a gap no prior solution covers.</a:t>
            </a:r>
            <a:endParaRPr lang="en-US" sz="1600" dirty="0"/>
          </a:p>
        </p:txBody>
      </p:sp>
      <p:sp>
        <p:nvSpPr>
          <p:cNvPr id="17" name="Shape 15">
            <a:extLst>
              <a:ext uri="{FF2B5EF4-FFF2-40B4-BE49-F238E27FC236}">
                <a16:creationId xmlns:a16="http://schemas.microsoft.com/office/drawing/2014/main" id="{13ABB375-D0BB-93D4-EF59-E020ADC593C2}"/>
              </a:ext>
            </a:extLst>
          </p:cNvPr>
          <p:cNvSpPr/>
          <p:nvPr/>
        </p:nvSpPr>
        <p:spPr>
          <a:xfrm>
            <a:off x="6213108" y="3934326"/>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8" name="Shape 16">
            <a:extLst>
              <a:ext uri="{FF2B5EF4-FFF2-40B4-BE49-F238E27FC236}">
                <a16:creationId xmlns:a16="http://schemas.microsoft.com/office/drawing/2014/main" id="{71C78C62-7075-45BE-BA43-58F239A525AB}"/>
              </a:ext>
            </a:extLst>
          </p:cNvPr>
          <p:cNvSpPr/>
          <p:nvPr/>
        </p:nvSpPr>
        <p:spPr>
          <a:xfrm>
            <a:off x="6213108" y="3934327"/>
            <a:ext cx="5140691" cy="621792"/>
          </a:xfrm>
          <a:prstGeom prst="rect">
            <a:avLst/>
          </a:prstGeom>
          <a:solidFill>
            <a:srgbClr val="16A34A"/>
          </a:solidFill>
          <a:ln w="12700">
            <a:solidFill>
              <a:srgbClr val="FFFFFF"/>
            </a:solidFill>
            <a:prstDash val="solid"/>
          </a:ln>
        </p:spPr>
        <p:txBody>
          <a:bodyPr/>
          <a:lstStyle/>
          <a:p>
            <a:endParaRPr lang="en-US" sz="1600"/>
          </a:p>
        </p:txBody>
      </p:sp>
      <p:sp>
        <p:nvSpPr>
          <p:cNvPr id="19" name="Text 17">
            <a:extLst>
              <a:ext uri="{FF2B5EF4-FFF2-40B4-BE49-F238E27FC236}">
                <a16:creationId xmlns:a16="http://schemas.microsoft.com/office/drawing/2014/main" id="{FA71AC4A-6C56-40A2-6AA5-DE2509A47A58}"/>
              </a:ext>
            </a:extLst>
          </p:cNvPr>
          <p:cNvSpPr/>
          <p:nvPr/>
        </p:nvSpPr>
        <p:spPr>
          <a:xfrm>
            <a:off x="6304549" y="3970902"/>
            <a:ext cx="4912216" cy="490889"/>
          </a:xfrm>
          <a:prstGeom prst="rect">
            <a:avLst/>
          </a:prstGeom>
          <a:noFill/>
          <a:ln/>
        </p:spPr>
        <p:txBody>
          <a:bodyPr wrap="square" rtlCol="0" anchor="ctr"/>
          <a:lstStyle/>
          <a:p>
            <a:pPr marL="0" indent="0">
              <a:buNone/>
            </a:pPr>
            <a:r>
              <a:rPr lang="en-US" sz="1600" b="1" dirty="0">
                <a:solidFill>
                  <a:srgbClr val="FFFFFF"/>
                </a:solidFill>
              </a:rPr>
              <a:t>C4  Hybrid NLU Pipeline</a:t>
            </a:r>
            <a:endParaRPr lang="en-US" sz="1600" dirty="0"/>
          </a:p>
        </p:txBody>
      </p:sp>
      <p:sp>
        <p:nvSpPr>
          <p:cNvPr id="20" name="Text 18">
            <a:extLst>
              <a:ext uri="{FF2B5EF4-FFF2-40B4-BE49-F238E27FC236}">
                <a16:creationId xmlns:a16="http://schemas.microsoft.com/office/drawing/2014/main" id="{162DBDBD-A730-E05A-E892-B8DFEDD25387}"/>
              </a:ext>
            </a:extLst>
          </p:cNvPr>
          <p:cNvSpPr/>
          <p:nvPr/>
        </p:nvSpPr>
        <p:spPr>
          <a:xfrm>
            <a:off x="6322837" y="4595586"/>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Rule-based (0.99 conf., &lt;5 ms) + MobileBERT (62 ms). Designed for offline Android where server-side inference is unavailable.</a:t>
            </a:r>
            <a:endParaRPr lang="en-US" sz="1600" dirty="0"/>
          </a:p>
        </p:txBody>
      </p:sp>
      <p:sp>
        <p:nvSpPr>
          <p:cNvPr id="23" name="Slide Number Placeholder 3">
            <a:extLst>
              <a:ext uri="{FF2B5EF4-FFF2-40B4-BE49-F238E27FC236}">
                <a16:creationId xmlns:a16="http://schemas.microsoft.com/office/drawing/2014/main" id="{3FB2D293-FB91-74B9-69AE-9681B403A8F5}"/>
              </a:ext>
            </a:extLst>
          </p:cNvPr>
          <p:cNvSpPr>
            <a:spLocks noGrp="1"/>
          </p:cNvSpPr>
          <p:nvPr>
            <p:ph type="sldNum" sz="quarter" idx="12"/>
          </p:nvPr>
        </p:nvSpPr>
        <p:spPr>
          <a:xfrm>
            <a:off x="11795760" y="6245385"/>
            <a:ext cx="361601" cy="365125"/>
          </a:xfrm>
        </p:spPr>
        <p:txBody>
          <a:bodyPr/>
          <a:lstStyle/>
          <a:p>
            <a:fld id="{9890CE2D-2882-48A4-88CB-3A003AF6C150}" type="slidenum">
              <a:rPr lang="en-US" b="1" smtClean="0">
                <a:solidFill>
                  <a:schemeClr val="bg1">
                    <a:lumMod val="10000"/>
                  </a:schemeClr>
                </a:solidFill>
              </a:rPr>
              <a:t>19</a:t>
            </a:fld>
            <a:endParaRPr lang="en-US" b="1" dirty="0">
              <a:solidFill>
                <a:schemeClr val="bg1">
                  <a:lumMod val="10000"/>
                </a:schemeClr>
              </a:solidFill>
            </a:endParaRPr>
          </a:p>
        </p:txBody>
      </p:sp>
    </p:spTree>
    <p:extLst>
      <p:ext uri="{BB962C8B-B14F-4D97-AF65-F5344CB8AC3E}">
        <p14:creationId xmlns:p14="http://schemas.microsoft.com/office/powerpoint/2010/main" val="3427900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273B7-E13E-8340-872A-C0AF470994F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BAB7C25-914E-F7EA-D4EC-7F6E8E7902A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94731E7-6B21-7D36-482E-B4A19DA8EC40}"/>
              </a:ext>
            </a:extLst>
          </p:cNvPr>
          <p:cNvSpPr>
            <a:spLocks noGrp="1"/>
          </p:cNvSpPr>
          <p:nvPr>
            <p:ph type="title"/>
          </p:nvPr>
        </p:nvSpPr>
        <p:spPr>
          <a:xfrm>
            <a:off x="479854" y="176531"/>
            <a:ext cx="10515600" cy="812165"/>
          </a:xfrm>
        </p:spPr>
        <p:txBody>
          <a:bodyPr/>
          <a:lstStyle/>
          <a:p>
            <a:r>
              <a:rPr lang="en-US" dirty="0"/>
              <a:t>Conclusion</a:t>
            </a:r>
          </a:p>
        </p:txBody>
      </p:sp>
      <p:sp>
        <p:nvSpPr>
          <p:cNvPr id="6" name="Content Placeholder 5">
            <a:extLst>
              <a:ext uri="{FF2B5EF4-FFF2-40B4-BE49-F238E27FC236}">
                <a16:creationId xmlns:a16="http://schemas.microsoft.com/office/drawing/2014/main" id="{C2E4BB28-F3F5-ECA7-3E6E-D60163582FFA}"/>
              </a:ext>
            </a:extLst>
          </p:cNvPr>
          <p:cNvSpPr>
            <a:spLocks noGrp="1"/>
          </p:cNvSpPr>
          <p:nvPr>
            <p:ph idx="1"/>
          </p:nvPr>
        </p:nvSpPr>
        <p:spPr>
          <a:xfrm>
            <a:off x="838200" y="1303020"/>
            <a:ext cx="10515600" cy="4739006"/>
          </a:xfrm>
        </p:spPr>
        <p:txBody>
          <a:bodyPr>
            <a:normAutofit fontScale="92500" lnSpcReduction="10000"/>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Practical Implications</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a:p>
            <a:pPr>
              <a:buFont typeface="Wingdings" panose="05000000000000000000" pitchFamily="2" charset="2"/>
              <a:buChar char="q"/>
            </a:pPr>
            <a:r>
              <a:rPr lang="en-US" dirty="0"/>
              <a:t>Low-cost alternative to traditional hotel communication - no cloud, no subscriptions</a:t>
            </a:r>
            <a:br>
              <a:rPr lang="en-US" dirty="0"/>
            </a:br>
            <a:endParaRPr lang="en-US" dirty="0"/>
          </a:p>
          <a:p>
            <a:pPr>
              <a:buFont typeface="Wingdings" panose="05000000000000000000" pitchFamily="2" charset="2"/>
              <a:buChar char="q"/>
            </a:pPr>
            <a:r>
              <a:rPr lang="en-US" dirty="0"/>
              <a:t>USD 3,200–8,800 for a 50-room hotel over 3 years - affordable for Sri Lanka</a:t>
            </a:r>
            <a:br>
              <a:rPr lang="en-US" dirty="0"/>
            </a:br>
            <a:endParaRPr lang="en-US" dirty="0"/>
          </a:p>
          <a:p>
            <a:pPr>
              <a:buFont typeface="Wingdings" panose="05000000000000000000" pitchFamily="2" charset="2"/>
              <a:buChar char="q"/>
            </a:pPr>
            <a:r>
              <a:rPr lang="en-US" dirty="0"/>
              <a:t>Zero software costs · No internet · No vendor lock-in · Privacy preserved</a:t>
            </a:r>
            <a:br>
              <a:rPr lang="en-US" dirty="0"/>
            </a:br>
            <a:endParaRPr lang="en-US" dirty="0"/>
          </a:p>
          <a:p>
            <a:pPr>
              <a:buFont typeface="Wingdings" panose="05000000000000000000" pitchFamily="2" charset="2"/>
              <a:buChar char="q"/>
            </a:pPr>
            <a:r>
              <a:rPr lang="en-US" dirty="0"/>
              <a:t>Future deployment: real speech data · </a:t>
            </a:r>
            <a:r>
              <a:rPr lang="en-US" dirty="0" err="1"/>
              <a:t>WordPiece</a:t>
            </a:r>
            <a:r>
              <a:rPr lang="en-US" dirty="0"/>
              <a:t> </a:t>
            </a:r>
            <a:r>
              <a:rPr lang="en-US" dirty="0" err="1"/>
              <a:t>tokenisation</a:t>
            </a:r>
            <a:r>
              <a:rPr lang="en-US" dirty="0"/>
              <a:t> · Multilingual · Field studies</a:t>
            </a:r>
          </a:p>
          <a:p>
            <a:pPr marL="457200" lvl="1" indent="0">
              <a:buNone/>
            </a:pPr>
            <a:endParaRPr lang="en-US" sz="2000" dirty="0"/>
          </a:p>
        </p:txBody>
      </p:sp>
      <p:sp>
        <p:nvSpPr>
          <p:cNvPr id="5" name="Slide Number Placeholder 3">
            <a:extLst>
              <a:ext uri="{FF2B5EF4-FFF2-40B4-BE49-F238E27FC236}">
                <a16:creationId xmlns:a16="http://schemas.microsoft.com/office/drawing/2014/main" id="{66F67651-A299-176D-E8E9-0E49ACC69282}"/>
              </a:ext>
            </a:extLst>
          </p:cNvPr>
          <p:cNvSpPr>
            <a:spLocks noGrp="1"/>
          </p:cNvSpPr>
          <p:nvPr>
            <p:ph type="sldNum" sz="quarter" idx="12"/>
          </p:nvPr>
        </p:nvSpPr>
        <p:spPr>
          <a:xfrm>
            <a:off x="11818620" y="6245385"/>
            <a:ext cx="338741" cy="365125"/>
          </a:xfrm>
        </p:spPr>
        <p:txBody>
          <a:bodyPr/>
          <a:lstStyle/>
          <a:p>
            <a:fld id="{9890CE2D-2882-48A4-88CB-3A003AF6C150}" type="slidenum">
              <a:rPr lang="en-US" b="1" smtClean="0">
                <a:solidFill>
                  <a:schemeClr val="bg1">
                    <a:lumMod val="10000"/>
                  </a:schemeClr>
                </a:solidFill>
              </a:rPr>
              <a:t>20</a:t>
            </a:fld>
            <a:endParaRPr lang="en-US" b="1" dirty="0">
              <a:solidFill>
                <a:schemeClr val="bg1">
                  <a:lumMod val="10000"/>
                </a:schemeClr>
              </a:solidFill>
            </a:endParaRPr>
          </a:p>
        </p:txBody>
      </p:sp>
    </p:spTree>
    <p:extLst>
      <p:ext uri="{BB962C8B-B14F-4D97-AF65-F5344CB8AC3E}">
        <p14:creationId xmlns:p14="http://schemas.microsoft.com/office/powerpoint/2010/main" val="32465770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F7CBA-B995-8887-F2FE-3F24239CBCA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CEDED7F-D045-16DD-E0CF-E836336EFB9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985BA93-43FA-8CE0-7143-C999E8E5F72B}"/>
              </a:ext>
            </a:extLst>
          </p:cNvPr>
          <p:cNvSpPr>
            <a:spLocks noGrp="1"/>
          </p:cNvSpPr>
          <p:nvPr>
            <p:ph type="title"/>
          </p:nvPr>
        </p:nvSpPr>
        <p:spPr>
          <a:xfrm>
            <a:off x="541638" y="136525"/>
            <a:ext cx="10515600" cy="1325563"/>
          </a:xfrm>
        </p:spPr>
        <p:txBody>
          <a:bodyPr/>
          <a:lstStyle/>
          <a:p>
            <a:r>
              <a:rPr lang="en-US" dirty="0"/>
              <a:t>Demo</a:t>
            </a:r>
          </a:p>
        </p:txBody>
      </p:sp>
      <p:sp>
        <p:nvSpPr>
          <p:cNvPr id="3" name="Content Placeholder 2">
            <a:extLst>
              <a:ext uri="{FF2B5EF4-FFF2-40B4-BE49-F238E27FC236}">
                <a16:creationId xmlns:a16="http://schemas.microsoft.com/office/drawing/2014/main" id="{E57E02D6-D19A-7D6B-9D0D-661DA471BABA}"/>
              </a:ext>
            </a:extLst>
          </p:cNvPr>
          <p:cNvSpPr>
            <a:spLocks noGrp="1"/>
          </p:cNvSpPr>
          <p:nvPr>
            <p:ph idx="1"/>
          </p:nvPr>
        </p:nvSpPr>
        <p:spPr/>
        <p:txBody>
          <a:bodyPr>
            <a:normAutofit/>
          </a:bodyPr>
          <a:lstStyle/>
          <a:p>
            <a:pPr marL="0" indent="0">
              <a:buNone/>
            </a:pPr>
            <a:r>
              <a:rPr lang="en-US" sz="1800" dirty="0">
                <a:hlinkClick r:id="rId4"/>
              </a:rPr>
              <a:t>Offline Voice Assistant Prototype</a:t>
            </a:r>
            <a:endParaRPr lang="en-US" sz="1800" dirty="0"/>
          </a:p>
        </p:txBody>
      </p:sp>
      <p:sp>
        <p:nvSpPr>
          <p:cNvPr id="7" name="Slide Number Placeholder 3">
            <a:extLst>
              <a:ext uri="{FF2B5EF4-FFF2-40B4-BE49-F238E27FC236}">
                <a16:creationId xmlns:a16="http://schemas.microsoft.com/office/drawing/2014/main" id="{2C4793FF-0B9D-88C9-4992-E5D81EA2EE89}"/>
              </a:ext>
            </a:extLst>
          </p:cNvPr>
          <p:cNvSpPr>
            <a:spLocks noGrp="1"/>
          </p:cNvSpPr>
          <p:nvPr>
            <p:ph type="sldNum" sz="quarter" idx="12"/>
          </p:nvPr>
        </p:nvSpPr>
        <p:spPr>
          <a:xfrm>
            <a:off x="11795760" y="6245385"/>
            <a:ext cx="361601" cy="365125"/>
          </a:xfrm>
        </p:spPr>
        <p:txBody>
          <a:bodyPr/>
          <a:lstStyle/>
          <a:p>
            <a:fld id="{9890CE2D-2882-48A4-88CB-3A003AF6C150}" type="slidenum">
              <a:rPr lang="en-US" b="1" smtClean="0">
                <a:solidFill>
                  <a:schemeClr val="bg1">
                    <a:lumMod val="10000"/>
                  </a:schemeClr>
                </a:solidFill>
              </a:rPr>
              <a:t>21</a:t>
            </a:fld>
            <a:endParaRPr lang="en-US" b="1" dirty="0">
              <a:solidFill>
                <a:schemeClr val="bg1">
                  <a:lumMod val="10000"/>
                </a:schemeClr>
              </a:solidFill>
            </a:endParaRPr>
          </a:p>
        </p:txBody>
      </p:sp>
    </p:spTree>
    <p:extLst>
      <p:ext uri="{BB962C8B-B14F-4D97-AF65-F5344CB8AC3E}">
        <p14:creationId xmlns:p14="http://schemas.microsoft.com/office/powerpoint/2010/main" val="2993209256"/>
      </p:ext>
    </p:extLst>
  </p:cSld>
  <p:clrMapOvr>
    <a:masterClrMapping/>
  </p:clrMapOvr>
</p:sld>
</file>

<file path=ppt/theme/theme1.xml><?xml version="1.0" encoding="utf-8"?>
<a:theme xmlns:a="http://schemas.openxmlformats.org/drawingml/2006/main" name="Office Theme [1774707681357]">
  <a:themeElements>
    <a:clrScheme name="Academic Formal">
      <a:dk1>
        <a:srgbClr val="1B2A4A"/>
      </a:dk1>
      <a:lt1>
        <a:srgbClr val="F7F5F0"/>
      </a:lt1>
      <a:dk2>
        <a:srgbClr val="2C3E6B"/>
      </a:dk2>
      <a:lt2>
        <a:srgbClr val="EBE8E0"/>
      </a:lt2>
      <a:accent1>
        <a:srgbClr val="2C5F7C"/>
      </a:accent1>
      <a:accent2>
        <a:srgbClr val="6B8F71"/>
      </a:accent2>
      <a:accent3>
        <a:srgbClr val="C4956A"/>
      </a:accent3>
      <a:accent4>
        <a:srgbClr val="8B6F9C"/>
      </a:accent4>
      <a:accent5>
        <a:srgbClr val="4A7C8F"/>
      </a:accent5>
      <a:accent6>
        <a:srgbClr val="9B7653"/>
      </a:accent6>
      <a:hlink>
        <a:srgbClr val="467886"/>
      </a:hlink>
      <a:folHlink>
        <a:srgbClr val="96607D"/>
      </a:folHlink>
    </a:clrScheme>
    <a:fontScheme name="Academic Formal">
      <a:majorFont>
        <a:latin typeface="Georgia"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89"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74B2DD8-8821-4663-BB90-C7B2341542B2}">
  <we:reference id="wa200010001" version="1.0.0.1" store="en-US" storeType="OMEX"/>
  <we:alternateReferences>
    <we:reference id="wa200010001" version="1.0.0.1"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1580</TotalTime>
  <Words>2134</Words>
  <Application>Microsoft Office PowerPoint</Application>
  <PresentationFormat>Widescreen</PresentationFormat>
  <Paragraphs>412</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Amasis MT Pro</vt:lpstr>
      <vt:lpstr>Amasis MT Pro Medium</vt:lpstr>
      <vt:lpstr>Aptos</vt:lpstr>
      <vt:lpstr>Arial</vt:lpstr>
      <vt:lpstr>Calibri</vt:lpstr>
      <vt:lpstr>Georgia</vt:lpstr>
      <vt:lpstr>Wingdings</vt:lpstr>
      <vt:lpstr>Office Theme [1774707681357]</vt:lpstr>
      <vt:lpstr>Low-Cost Offline Voice Assistant  for Hospitality Services in Sri Lanka  Using Small-Scale Neural Models</vt:lpstr>
      <vt:lpstr>PowerPoint Presentation</vt:lpstr>
      <vt:lpstr>Research Question</vt:lpstr>
      <vt:lpstr>PowerPoint Presentation</vt:lpstr>
      <vt:lpstr>PowerPoint Presentation</vt:lpstr>
      <vt:lpstr>PowerPoint Presentation</vt:lpstr>
      <vt:lpstr>PowerPoint Presentation</vt:lpstr>
      <vt:lpstr>Design and Architecture </vt:lpstr>
      <vt:lpstr>Design and Architecture </vt:lpstr>
      <vt:lpstr>Technology Stack</vt:lpstr>
      <vt:lpstr>Implementation</vt:lpstr>
      <vt:lpstr>Analysis - Speech Recognition</vt:lpstr>
      <vt:lpstr>Analysis - Models Evaluation Results</vt:lpstr>
      <vt:lpstr>Analysis - System Testing</vt:lpstr>
      <vt:lpstr>Analysis - Cost-Effectiveness</vt:lpstr>
      <vt:lpstr>Critical Appraisal – Strengths &amp; Limitations</vt:lpstr>
      <vt:lpstr>PowerPoint Presentation</vt:lpstr>
      <vt:lpstr>PowerPoint Presentation</vt:lpstr>
      <vt:lpstr>Conclusion</vt:lpstr>
      <vt:lpstr>Conclusion</vt:lpstr>
      <vt:lpstr>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Dinesh Wijesuriya</dc:creator>
  <cp:lastModifiedBy>Dinesh Wijesuriya</cp:lastModifiedBy>
  <cp:revision>130</cp:revision>
  <dcterms:created xsi:type="dcterms:W3CDTF">2026-03-28T14:21:21Z</dcterms:created>
  <dcterms:modified xsi:type="dcterms:W3CDTF">2026-05-22T10:59:10Z</dcterms:modified>
</cp:coreProperties>
</file>