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84" r:id="rId2"/>
    <p:sldId id="285" r:id="rId3"/>
    <p:sldId id="298" r:id="rId4"/>
    <p:sldId id="286" r:id="rId5"/>
    <p:sldId id="287" r:id="rId6"/>
    <p:sldId id="300" r:id="rId7"/>
    <p:sldId id="288" r:id="rId8"/>
    <p:sldId id="289" r:id="rId9"/>
    <p:sldId id="290" r:id="rId10"/>
    <p:sldId id="291" r:id="rId11"/>
    <p:sldId id="292" r:id="rId12"/>
    <p:sldId id="293" r:id="rId13"/>
    <p:sldId id="294" r:id="rId14"/>
    <p:sldId id="295" r:id="rId15"/>
    <p:sldId id="296" r:id="rId16"/>
    <p:sldId id="299" r:id="rId17"/>
    <p:sldId id="29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6392" autoAdjust="0"/>
  </p:normalViewPr>
  <p:slideViewPr>
    <p:cSldViewPr snapToGrid="0">
      <p:cViewPr varScale="1">
        <p:scale>
          <a:sx n="84" d="100"/>
          <a:sy n="84" d="100"/>
        </p:scale>
        <p:origin x="163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pPr algn="ctr">
              <a:defRPr sz="1400" b="1">
                <a:solidFill>
                  <a:srgbClr val="1B2A4A"/>
                </a:solidFill>
                <a:latin typeface="Georgia"/>
              </a:defRPr>
            </a:pPr>
            <a:r>
              <a:rPr lang="en-US" sz="1400" b="1" dirty="0">
                <a:solidFill>
                  <a:srgbClr val="1B2A4A"/>
                </a:solidFill>
                <a:latin typeface="Georgia"/>
              </a:rPr>
              <a:t>Intent Classification Accuracy (2,016-sample test set)</a:t>
            </a:r>
          </a:p>
        </c:rich>
      </c:tx>
      <c:overlay val="0"/>
    </c:title>
    <c:autoTitleDeleted val="0"/>
    <c:plotArea>
      <c:layout/>
      <c:barChart>
        <c:barDir val="col"/>
        <c:grouping val="clustered"/>
        <c:varyColors val="1"/>
        <c:ser>
          <c:idx val="0"/>
          <c:order val="0"/>
          <c:tx>
            <c:v>Accuracy (%)</c:v>
          </c:tx>
          <c:spPr>
            <a:noFill/>
          </c:spPr>
          <c:invertIfNegative val="1"/>
          <c:dPt>
            <c:idx val="0"/>
            <c:invertIfNegative val="1"/>
            <c:bubble3D val="0"/>
            <c:spPr>
              <a:solidFill>
                <a:srgbClr val="2C5F7C"/>
              </a:solidFill>
            </c:spPr>
            <c:extLst>
              <c:ext xmlns:c16="http://schemas.microsoft.com/office/drawing/2014/chart" uri="{C3380CC4-5D6E-409C-BE32-E72D297353CC}">
                <c16:uniqueId val="{00000001-8E2A-4C6B-B0CB-7A3DF06D7325}"/>
              </c:ext>
            </c:extLst>
          </c:dPt>
          <c:dPt>
            <c:idx val="1"/>
            <c:invertIfNegative val="1"/>
            <c:bubble3D val="0"/>
            <c:spPr>
              <a:solidFill>
                <a:srgbClr val="C4956A"/>
              </a:solidFill>
            </c:spPr>
            <c:extLst>
              <c:ext xmlns:c16="http://schemas.microsoft.com/office/drawing/2014/chart" uri="{C3380CC4-5D6E-409C-BE32-E72D297353CC}">
                <c16:uniqueId val="{00000003-8E2A-4C6B-B0CB-7A3DF06D7325}"/>
              </c:ext>
            </c:extLst>
          </c:dPt>
          <c:dPt>
            <c:idx val="2"/>
            <c:invertIfNegative val="1"/>
            <c:bubble3D val="0"/>
            <c:spPr>
              <a:solidFill>
                <a:srgbClr val="8B6F9C"/>
              </a:solidFill>
            </c:spPr>
            <c:extLst>
              <c:ext xmlns:c16="http://schemas.microsoft.com/office/drawing/2014/chart" uri="{C3380CC4-5D6E-409C-BE32-E72D297353CC}">
                <c16:uniqueId val="{00000005-8E2A-4C6B-B0CB-7A3DF06D7325}"/>
              </c:ext>
            </c:extLst>
          </c:dPt>
          <c:dPt>
            <c:idx val="3"/>
            <c:invertIfNegative val="1"/>
            <c:bubble3D val="0"/>
            <c:spPr>
              <a:solidFill>
                <a:srgbClr val="6B8F71"/>
              </a:solidFill>
            </c:spPr>
            <c:extLst>
              <c:ext xmlns:c16="http://schemas.microsoft.com/office/drawing/2014/chart" uri="{C3380CC4-5D6E-409C-BE32-E72D297353CC}">
                <c16:uniqueId val="{00000007-8E2A-4C6B-B0CB-7A3DF06D7325}"/>
              </c:ext>
            </c:extLst>
          </c:dPt>
          <c:dLbls>
            <c:numFmt formatCode="0.00&quot;%&quot;" sourceLinked="0"/>
            <c:spPr>
              <a:noFill/>
              <a:ln>
                <a:noFill/>
              </a:ln>
              <a:effectLst/>
            </c:spPr>
            <c:txPr>
              <a:bodyPr/>
              <a:lstStyle/>
              <a:p>
                <a:pPr>
                  <a:defRPr sz="1400" b="1">
                    <a:solidFill>
                      <a:srgbClr val="1B2A4A"/>
                    </a:solidFill>
                    <a:latin typeface="Calibri"/>
                  </a:defRPr>
                </a:pPr>
                <a:endParaRPr lang="en-US"/>
              </a:p>
            </c:txPr>
            <c:dLblPos val="outEnd"/>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4"/>
              <c:pt idx="0">
                <c:v>Model A
(Clean Input)</c:v>
              </c:pt>
              <c:pt idx="1">
                <c:v>Model A
(Vosk Input)</c:v>
              </c:pt>
              <c:pt idx="2">
                <c:v>Model B
(Vosk Input)</c:v>
              </c:pt>
              <c:pt idx="3">
                <c:v>Model C
(Vosk Input)</c:v>
              </c:pt>
            </c:strLit>
          </c:cat>
          <c:val>
            <c:numLit>
              <c:formatCode>General</c:formatCode>
              <c:ptCount val="4"/>
              <c:pt idx="0">
                <c:v>98.07</c:v>
              </c:pt>
              <c:pt idx="1">
                <c:v>89.34</c:v>
              </c:pt>
              <c:pt idx="2">
                <c:v>96.38</c:v>
              </c:pt>
              <c:pt idx="3">
                <c:v>99.06</c:v>
              </c:pt>
            </c:numLit>
          </c:val>
          <c:extLst>
            <c:ext xmlns:c16="http://schemas.microsoft.com/office/drawing/2014/chart" uri="{C3380CC4-5D6E-409C-BE32-E72D297353CC}">
              <c16:uniqueId val="{00000008-8E2A-4C6B-B0CB-7A3DF06D7325}"/>
            </c:ext>
          </c:extLst>
        </c:ser>
        <c:dLbls>
          <c:showLegendKey val="0"/>
          <c:showVal val="0"/>
          <c:showCatName val="0"/>
          <c:showSerName val="0"/>
          <c:showPercent val="0"/>
          <c:showBubbleSize val="0"/>
        </c:dLbls>
        <c:gapWidth val="150"/>
        <c:axId val="1"/>
        <c:axId val="2"/>
      </c:barChart>
      <c:catAx>
        <c:axId val="1"/>
        <c:scaling>
          <c:orientation val="minMax"/>
        </c:scaling>
        <c:delete val="0"/>
        <c:axPos val="b"/>
        <c:numFmt formatCode="General" sourceLinked="0"/>
        <c:majorTickMark val="none"/>
        <c:minorTickMark val="none"/>
        <c:tickLblPos val="nextTo"/>
        <c:txPr>
          <a:bodyPr/>
          <a:lstStyle/>
          <a:p>
            <a:pPr>
              <a:defRPr sz="1100">
                <a:solidFill>
                  <a:srgbClr val="1B2A4A"/>
                </a:solidFill>
                <a:latin typeface="Calibri"/>
              </a:defRPr>
            </a:pPr>
            <a:endParaRPr lang="en-US"/>
          </a:p>
        </c:txPr>
        <c:crossAx val="2"/>
        <c:crosses val="autoZero"/>
        <c:auto val="1"/>
        <c:lblAlgn val="ctr"/>
        <c:lblOffset val="100"/>
        <c:noMultiLvlLbl val="1"/>
      </c:catAx>
      <c:valAx>
        <c:axId val="2"/>
        <c:scaling>
          <c:orientation val="minMax"/>
          <c:max val="105"/>
          <c:min val="80"/>
        </c:scaling>
        <c:delete val="0"/>
        <c:axPos val="l"/>
        <c:numFmt formatCode="0&quot;%&quot;" sourceLinked="0"/>
        <c:majorTickMark val="out"/>
        <c:minorTickMark val="none"/>
        <c:tickLblPos val="nextTo"/>
        <c:txPr>
          <a:bodyPr/>
          <a:lstStyle/>
          <a:p>
            <a:pPr>
              <a:defRPr sz="1100">
                <a:solidFill>
                  <a:srgbClr val="1B2A4A"/>
                </a:solidFill>
                <a:latin typeface="Calibri"/>
              </a:defRPr>
            </a:pPr>
            <a:endParaRPr lang="en-US"/>
          </a:p>
        </c:txPr>
        <c:crossAx val="1"/>
        <c:crosses val="autoZero"/>
        <c:crossBetween val="between"/>
      </c:valAx>
    </c:plotArea>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449912-72E7-44B2-8958-223EDC198C7E}"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21C570-53BE-46F6-9D3E-69DD73653F98}" type="slidenum">
              <a:rPr lang="en-US" smtClean="0"/>
              <a:t>‹#›</a:t>
            </a:fld>
            <a:endParaRPr lang="en-US"/>
          </a:p>
        </p:txBody>
      </p:sp>
    </p:spTree>
    <p:extLst>
      <p:ext uri="{BB962C8B-B14F-4D97-AF65-F5344CB8AC3E}">
        <p14:creationId xmlns:p14="http://schemas.microsoft.com/office/powerpoint/2010/main" val="282842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 minute]</a:t>
            </a:r>
          </a:p>
          <a:p>
            <a:endParaRPr lang="en-US" dirty="0"/>
          </a:p>
          <a:p>
            <a:r>
              <a:rPr lang="en-US" sz="1200" dirty="0"/>
              <a:t>Good morning/afternoon. My name is [YOUR NAME], and today I will be presenting my dissertation: Low-Cost Offline Voice Assistant for Hospitality Services — specifically, how noise-aware training can close the accuracy gap that offline speech-to-text introduces into on-device natural language understanding pipelines.</a:t>
            </a:r>
          </a:p>
          <a:p>
            <a:endParaRPr lang="en-US" dirty="0"/>
          </a:p>
          <a:p>
            <a:r>
              <a:rPr lang="en-US" sz="1200" dirty="0"/>
              <a:t>This project combines Vosk speech recognition and MobileBERT intent classification, both running entirely on a commodity Android tablet, to deliver a privacy-preserving voice assistant for hotels in Sri Lanka — without any internet dependency.</a:t>
            </a:r>
          </a:p>
          <a:p>
            <a:endParaRPr lang="en-US" dirty="0"/>
          </a:p>
          <a:p>
            <a:r>
              <a:rPr lang="en-US" sz="1200" dirty="0"/>
              <a:t>Over the next 20 minutes, I will walk you through the problem, the system I built, the experimental evaluation, and the key findings. Then we will have 10 minutes for questions.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[~1.5 minutes]</a:t>
            </a:r>
          </a:p>
          <a:p>
            <a:endParaRPr lang="en-US" dirty="0"/>
          </a:p>
          <a:p>
            <a:r>
              <a:rPr lang="en-US" sz="1200" dirty="0"/>
              <a:t>Let me start with why this project matters. The global hotel industry generates over USD 1.5 trillion annually, and guest experience is the number one determinant of a hotel's success. Voice assistants have shown real promise in this space — Marriott, Hilton, and Best Western all deployed Amazon Alexa devices in guest rooms. Buhalis and Moldavska's 2021 and 2022 studies confirmed that voice assistants reduce front desk burden and improve guest satisfaction.</a:t>
            </a:r>
          </a:p>
          <a:p>
            <a:endParaRPr lang="en-US" dirty="0"/>
          </a:p>
          <a:p>
            <a:r>
              <a:rPr lang="en-US" sz="1200" dirty="0"/>
              <a:t>But in Sri Lanka — where tourism is projected to reach USD 8 billion by 2028 — small and independent hotels face four critical barriers to adopting these commercial solutions.</a:t>
            </a:r>
          </a:p>
          <a:p>
            <a:endParaRPr lang="en-US" dirty="0"/>
          </a:p>
          <a:p>
            <a:r>
              <a:rPr lang="en-US" sz="1200" dirty="0"/>
              <a:t>First, internet dependency. Cloud-based voice assistants like Alexa rely entirely on Amazon Web Services. If the internet drops — which happens regularly outside Colombo, particularly in hill country and coastal resort areas — the system stops working entirely.</a:t>
            </a:r>
          </a:p>
          <a:p>
            <a:endParaRPr lang="en-US" dirty="0"/>
          </a:p>
          <a:p>
            <a:r>
              <a:rPr lang="en-US" sz="1200" dirty="0"/>
              <a:t>Second, cost. Echo hardware alone costs USD 99 to 200 per device, plus ongoing AWS subscription fees. For a 50-room independent Sri Lankan hotel, this is simply not financially viable. Buhalis and Moldavska acknowledged this cost barrier but proposed no affordable alternative.</a:t>
            </a:r>
          </a:p>
          <a:p>
            <a:endParaRPr lang="en-US" dirty="0"/>
          </a:p>
          <a:p>
            <a:r>
              <a:rPr lang="en-US" sz="1200" dirty="0"/>
              <a:t>Third, accent mismatch. Commercial speech recognition systems are trained primarily on North American and British English data. Studies report around 30 percent accuracy loss on non-native English accents. This is not a theoretical concern for Sri Lanka — India is consistently the country's largest source of international tourists, with 416,974 arrivals in 2024, approximately 20 percent of all visitors. These guests speak Indian English, making South Asian accent robustness a direct operational requirement.</a:t>
            </a:r>
          </a:p>
          <a:p>
            <a:endParaRPr lang="en-US" dirty="0"/>
          </a:p>
          <a:p>
            <a:r>
              <a:rPr lang="en-US" sz="1200" dirty="0"/>
              <a:t>Fourth, privacy. Research at Purdue University identified specific security vulnerabilities in hotel Alexa deployments — third-party skills could listen to guest conversations through the Alexa Skills Kit. Guests may share credit card details and travel plans without realising the data is being transmitted to external cloud servers. With GDPR rights applying to European visitors, this creates genuine legal and reputational risk.</a:t>
            </a:r>
          </a:p>
          <a:p>
            <a:endParaRPr lang="en-US" dirty="0"/>
          </a:p>
          <a:p>
            <a:r>
              <a:rPr lang="en-US" sz="1200" dirty="0"/>
              <a:t>The research gap is clear: no existing system has combined offline on-device speech recognition with compressed mobile NLU specifically for hospitality. And critically, no one has measured how much accuracy the speech-to-text step itself costs when you move from clean text to real transcribed output.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 minute]</a:t>
            </a:r>
          </a:p>
          <a:p>
            <a:endParaRPr lang="en-US" dirty="0"/>
          </a:p>
          <a:p>
            <a:r>
              <a:rPr lang="en-US" sz="1200" dirty="0"/>
              <a:t>The project was structured around six research objectives. I will go through them briefly — you will see each addressed with evidence as we proceed.</a:t>
            </a:r>
          </a:p>
          <a:p>
            <a:endParaRPr lang="en-US" dirty="0"/>
          </a:p>
          <a:p>
            <a:r>
              <a:rPr lang="en-US" sz="1200" dirty="0"/>
              <a:t>Objective 1 was to design and build a working offline voice assistant prototype using small-scale neural models on commodity Android hardware.</a:t>
            </a:r>
          </a:p>
          <a:p>
            <a:endParaRPr lang="en-US" dirty="0"/>
          </a:p>
          <a:p>
            <a:r>
              <a:rPr lang="en-US" sz="1200" dirty="0"/>
              <a:t>Objective 2: implement on-device speech recognition using Vosk and intent classification using MobileBERT — both optimised for deployment on a budget tablet with no GPU.</a:t>
            </a:r>
          </a:p>
          <a:p>
            <a:endParaRPr lang="en-US" dirty="0"/>
          </a:p>
          <a:p>
            <a:r>
              <a:rPr lang="en-US" sz="1200" dirty="0"/>
              <a:t>Objective 3: build a lightweight backend with FastAPI and SQLite, using WebSocket for real-time bidirectional communication between guest devices and a staff dashboard.</a:t>
            </a:r>
          </a:p>
          <a:p>
            <a:endParaRPr lang="en-US" dirty="0"/>
          </a:p>
          <a:p>
            <a:r>
              <a:rPr lang="en-US" sz="1200" dirty="0"/>
              <a:t>Objective 4 — this is the core research contribution — evaluate the accuracy impact of the real speech-to-text pipeline on NLU performance. The specific question: how much accuracy does the intent classifier lose when it receives Vosk-transcribed text instead of clean text, and can noise-aware training fix that?</a:t>
            </a:r>
          </a:p>
          <a:p>
            <a:endParaRPr lang="en-US" dirty="0"/>
          </a:p>
          <a:p>
            <a:r>
              <a:rPr lang="en-US" sz="1200" dirty="0"/>
              <a:t>Objective 5: create a hospitality-domain intent classification dataset with 18 service request categories relevant to Sri Lankan hotel operations.</a:t>
            </a:r>
          </a:p>
          <a:p>
            <a:endParaRPr lang="en-US" dirty="0"/>
          </a:p>
          <a:p>
            <a:r>
              <a:rPr lang="en-US" sz="1200" dirty="0"/>
              <a:t>Objective 6: demonstrate that privacy-preserving, offline voice automation is achievable on hardware costing USD 50 to 150 per room, with zero recurring software costs.</a:t>
            </a:r>
          </a:p>
          <a:p>
            <a:endParaRPr lang="en-US" dirty="0"/>
          </a:p>
          <a:p>
            <a:r>
              <a:rPr lang="en-US" sz="1200" dirty="0"/>
              <a:t>As I will show, all six objectives were fully achieved.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[~1.5 minutes]</a:t>
            </a:r>
          </a:p>
          <a:p>
            <a:endParaRPr lang="en-US" dirty="0"/>
          </a:p>
          <a:p>
            <a:r>
              <a:rPr lang="en-US" sz="1200" dirty="0"/>
              <a:t>The literature review covered three streams of relevant research.</a:t>
            </a:r>
          </a:p>
          <a:p>
            <a:endParaRPr lang="en-US" dirty="0"/>
          </a:p>
          <a:p>
            <a:r>
              <a:rPr lang="en-US" sz="1200" dirty="0"/>
              <a:t>First, commercial voice assistants in hospitality. Buhalis and Moldavska's 2021 qualitative study — 28 semi-structured interviews — found that voice assistants improve guest convenience and reduce front desk burden. Their 2022 paper in the Journal of Hospitality and Tourism Technology confirmed these benefits at scale. Hwang and Erdem 2025 corroborated from the staff perspective. And a 2025 JTAECR study using structural equation modelling on 529 survey responses showed that voice assistant attributes positively influence hotel reputation. However, every deployed system requires constant cloud connectivity and proprietary hardware.</a:t>
            </a:r>
          </a:p>
          <a:p>
            <a:endParaRPr lang="en-US" dirty="0"/>
          </a:p>
          <a:p>
            <a:r>
              <a:rPr lang="en-US" sz="1200" dirty="0"/>
              <a:t>Second, edge-based speech recognition. Vosk by Alpha Cephei supports over 20 languages with models ranging from 50MB to 1.8 gigabytes. Korkmaz et al. 2025 demonstrated real-time edge STT on a Raspberry Pi using Vosk. A 2024 benchmarking study across multiple frameworks found Vosk offers the best balance of accuracy and resource efficiency for edge deployment. Whisper by OpenAI — trained on 680,000 hours of multilingual audio — achieves high accuracy but is too computationally expensive for commodity mobile hardware.</a:t>
            </a:r>
          </a:p>
          <a:p>
            <a:endParaRPr lang="en-US" dirty="0"/>
          </a:p>
          <a:p>
            <a:r>
              <a:rPr lang="en-US" sz="1200" dirty="0"/>
              <a:t>Third, compact NLU models for on-device inference. BERT-BASE has 110 million parameters at approximately 440 megabytes — too large for mobile deployment. MobileBERT by Sun et al. 2020 achieves 4.3 times compression and 5.5 times faster inference compared to BERT-BASE, running in 62 milliseconds on a Google Pixel 4 while scoring only 0.6 points lower on the GLUE benchmark. DistilBERT retains 97 percent of BERT's ability at 40 percent smaller, but was not specifically optimised for TFLite mobile deployment.</a:t>
            </a:r>
          </a:p>
          <a:p>
            <a:endParaRPr lang="en-US" dirty="0"/>
          </a:p>
          <a:p>
            <a:r>
              <a:rPr lang="en-US" sz="1200" dirty="0"/>
              <a:t>The key gap I identified: no published work combines offline edge STT with on-device NLU for hospitality, and no one has measured the accuracy impact that the STT step itself introduces into the intent classification pipeline. That measurement — and the noise-aware training strategy to fix it — is this project's core contribution.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[~1.5 minutes]</a:t>
            </a:r>
          </a:p>
          <a:p>
            <a:endParaRPr lang="en-US" dirty="0"/>
          </a:p>
          <a:p>
            <a:r>
              <a:rPr lang="en-US" sz="1200" dirty="0"/>
              <a:t>The project follows Design Science Research as described by Hevner et al. 2004. DSR was the right choice for three reasons.</a:t>
            </a:r>
          </a:p>
          <a:p>
            <a:endParaRPr lang="en-US" dirty="0"/>
          </a:p>
          <a:p>
            <a:r>
              <a:rPr lang="en-US" sz="1200" dirty="0"/>
              <a:t>First, this research requires a working artefact. You cannot measure whether an offline voice assistant performs well on budget hardware without actually building one. Surveys and case studies cannot produce that kind of evidence.</a:t>
            </a:r>
          </a:p>
          <a:p>
            <a:endParaRPr lang="en-US" dirty="0"/>
          </a:p>
          <a:p>
            <a:r>
              <a:rPr lang="en-US" sz="1200" dirty="0"/>
              <a:t>Second, the research gap is practical — no existing system combines these specific technologies for this specific domain. Closing that gap means building a real implementation, not writing a theoretical proposal.</a:t>
            </a:r>
          </a:p>
          <a:p>
            <a:endParaRPr lang="en-US" dirty="0"/>
          </a:p>
          <a:p>
            <a:r>
              <a:rPr lang="en-US" sz="1200" dirty="0"/>
              <a:t>Third, DSR requires the artefact to be evaluated against defined criteria, which maps directly onto the research objectives: NLU accuracy, speech recognition WER, system latency, and deployment cost.</a:t>
            </a:r>
          </a:p>
          <a:p>
            <a:endParaRPr lang="en-US" dirty="0"/>
          </a:p>
          <a:p>
            <a:r>
              <a:rPr lang="en-US" sz="1200" dirty="0"/>
              <a:t>The system was built using iterative prototyping across four development cycles. This was not just a preference — it was necessary because too much was unknown before any code was written.</a:t>
            </a:r>
          </a:p>
          <a:p>
            <a:endParaRPr lang="en-US" dirty="0"/>
          </a:p>
          <a:p>
            <a:r>
              <a:rPr lang="en-US" sz="1200" dirty="0"/>
              <a:t>Iteration 1 focused on on-device speech recognition. This is where I discovered that the large 1.8 gigabyte Vosk model caused load times exceeding 15 seconds on a budget tablet — an immediate show-stopper that led to selecting the 36 megabyte Indian English model instead.</a:t>
            </a:r>
          </a:p>
          <a:p>
            <a:endParaRPr lang="en-US" dirty="0"/>
          </a:p>
          <a:p>
            <a:r>
              <a:rPr lang="en-US" sz="1200" dirty="0"/>
              <a:t>Iteration 2 added the NLU pipeline — initially neural-only, but early testing showed that simple requests sometimes got low confidence scores when Vosk introduced small transcription errors. This led to adding the rule-based keyword matching layer on top, creating the hybrid pipeline.</a:t>
            </a:r>
          </a:p>
          <a:p>
            <a:endParaRPr lang="en-US" dirty="0"/>
          </a:p>
          <a:p>
            <a:r>
              <a:rPr lang="en-US" sz="1200" dirty="0"/>
              <a:t>Iteration 3 built the backend server and staff dashboard with WebSocket real-time communication.</a:t>
            </a:r>
          </a:p>
          <a:p>
            <a:endParaRPr lang="en-US" dirty="0"/>
          </a:p>
          <a:p>
            <a:r>
              <a:rPr lang="en-US" sz="1200" dirty="0"/>
              <a:t>Iteration 4 was full integration and the three-model training experiment.</a:t>
            </a:r>
          </a:p>
          <a:p>
            <a:endParaRPr lang="en-US" dirty="0"/>
          </a:p>
          <a:p>
            <a:r>
              <a:rPr lang="en-US" sz="1200" dirty="0"/>
              <a:t>The evaluation strategy was designed around a controlled comparison: three MobileBERT variants trained on different datasets, all tested on the same 2,016-sample held-out test set, measuring the accuracy gap that Vosk introduces and whether noise-aware training can close 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 minute]</a:t>
            </a:r>
          </a:p>
          <a:p>
            <a:endParaRPr lang="en-US" dirty="0"/>
          </a:p>
          <a:p>
            <a:r>
              <a:rPr lang="en-US" sz="1200" dirty="0"/>
              <a:t>Since this is a research prototype without a hotel industry client, requirements came from two sources: published academic literature and a guest survey.</a:t>
            </a:r>
          </a:p>
          <a:p>
            <a:endParaRPr lang="en-US" dirty="0"/>
          </a:p>
          <a:p>
            <a:r>
              <a:rPr lang="en-US" sz="1200" dirty="0"/>
              <a:t>The literature findings were drawn from Buhalis and Moldavska, Hwang and Erdem, Yilmaz et al., and Sri Lanka-specific sources. Five key operational problems emerged: telephone-based service creates bottlenecks during busy periods; miscommunication is common with international guests; small hotels have no system for tracking requests; subscription costs of commercial platforms are prohibitive; and internet connectivity is unreliable outside Colombo.</a:t>
            </a:r>
          </a:p>
          <a:p>
            <a:endParaRPr lang="en-US" dirty="0"/>
          </a:p>
          <a:p>
            <a:r>
              <a:rPr lang="en-US" sz="1200" dirty="0"/>
              <a:t>To validate these findings from the guest perspective, I conducted a survey of 20 individuals with recent hotel stay experience, covering ages from teenagers to adults over 60.</a:t>
            </a:r>
          </a:p>
          <a:p>
            <a:endParaRPr lang="en-US" dirty="0"/>
          </a:p>
          <a:p>
            <a:r>
              <a:rPr lang="en-US" sz="1200" dirty="0"/>
              <a:t>The results strongly supported the literature. 75 percent — 15 out of 20 — reported experiencing delays or miscommunication when making requests by phone. 65 percent said they would use a voice assistant if assured the audio was not recorded or sent externally. The privacy qualifier was critical — several respondents changed their answer from no to yes once on-device processing was explained.</a:t>
            </a:r>
          </a:p>
          <a:p>
            <a:endParaRPr lang="en-US" dirty="0"/>
          </a:p>
          <a:p>
            <a:r>
              <a:rPr lang="en-US" sz="1200" dirty="0"/>
              <a:t>80 percent preferred voice input with on-screen text confirmation before submission, especially for food orders where mistakes are most disruptive. This directly shaped the confirmation step in the guest application.</a:t>
            </a:r>
          </a:p>
          <a:p>
            <a:endParaRPr lang="en-US" dirty="0"/>
          </a:p>
          <a:p>
            <a:r>
              <a:rPr lang="en-US" sz="1200" dirty="0"/>
              <a:t>The most requested services — towels and bedding at 90 percent, housekeeping at 85 percent, food and beverage at 80 percent — shaped the 18 intent categories built into the system.</a:t>
            </a:r>
          </a:p>
          <a:p>
            <a:endParaRPr lang="en-US" dirty="0"/>
          </a:p>
          <a:p>
            <a:r>
              <a:rPr lang="en-US" sz="1200" dirty="0"/>
              <a:t>These combined findings drove the core functional requirements: offline voice input, on-device NLU, 18-intent classification, request routing by department, real-time status updates, and on-screen confirmation.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[~1.5 minutes]</a:t>
            </a:r>
          </a:p>
          <a:p>
            <a:endParaRPr lang="en-US" dirty="0"/>
          </a:p>
          <a:p>
            <a:r>
              <a:rPr lang="en-US" sz="1200" dirty="0"/>
              <a:t>This diagram shows the three-tier architecture. The key design principle is that all the computationally expensive AI work happens on the guest's tablet — the server is deliberately kept lightweight.</a:t>
            </a:r>
          </a:p>
          <a:p>
            <a:endParaRPr lang="en-US" dirty="0"/>
          </a:p>
          <a:p>
            <a:r>
              <a:rPr lang="en-US" sz="1200" dirty="0"/>
              <a:t>On the left is Tier 1, the Guest Device — an Android tablet placed in each hotel room. When a guest speaks, the audio is captured at 16 kilohertz, 16-bit PCM mono. Vosk processes this audio entirely on-device using the vosk-model-small-en-in-0.4, a 36 megabyte Indian English acoustic model. The transcribed text then passes through the hybrid NLU pipeline: first a rule-based keyword layer using pre-compiled regex patterns for high-confidence simple requests, then — if needed — the MobileBERT TFLite model for neural intent classification across 18 categories. Finally, Android's native text-to-speech engine provides voice confirmation.</a:t>
            </a:r>
          </a:p>
          <a:p>
            <a:endParaRPr lang="en-US" dirty="0"/>
          </a:p>
          <a:p>
            <a:r>
              <a:rPr lang="en-US" sz="1200" dirty="0"/>
              <a:t>In the centre is Tier 2, the Hotel Server — any basic laptop or PC the hotel already owns. It runs a FastAPI backend with a SQLite database. When a classified request arrives via HTTP, the server persists it, routes it to the correct department using a database-driven mapping table with a keyword fallback, and broadcasts a WebSocket notification to connected dashboards.</a:t>
            </a:r>
          </a:p>
          <a:p>
            <a:endParaRPr lang="en-US" dirty="0"/>
          </a:p>
          <a:p>
            <a:r>
              <a:rPr lang="en-US" sz="1200" dirty="0"/>
              <a:t>On the right is Tier 3, the Staff Dashboard — a single-page web application that connects over WebSocket. Staff see department-filtered request queues in real-time, can update request status, and send messages back to the guest's device.</a:t>
            </a:r>
          </a:p>
          <a:p>
            <a:endParaRPr lang="en-US" dirty="0"/>
          </a:p>
          <a:p>
            <a:r>
              <a:rPr lang="en-US" sz="1200" dirty="0"/>
              <a:t>Everything runs over the hotel's local Wi-Fi network. No data leaves the hotel at any point. This is privacy by architecture, not by policy — the system has no mechanism to transmit audio externally, which is a stronger guarantee than any terms-of-service agreement.</a:t>
            </a:r>
          </a:p>
          <a:p>
            <a:endParaRPr lang="en-US" dirty="0"/>
          </a:p>
          <a:p>
            <a:r>
              <a:rPr lang="en-US" sz="1200" dirty="0"/>
              <a:t>One honest limitation: if the server is unreachable, the STT and NLU still work on the tablet, but the request cannot be submitted. The app tells the guest to use the room phone instead. There is no local queue with automatic retry — this is acknowledged as future work.</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[~1.5 minutes]</a:t>
            </a:r>
          </a:p>
          <a:p>
            <a:endParaRPr lang="en-US" dirty="0"/>
          </a:p>
          <a:p>
            <a:r>
              <a:rPr lang="en-US" sz="1200" dirty="0"/>
              <a:t>Let me walk through the key technology choices and why each one was selected.</a:t>
            </a:r>
          </a:p>
          <a:p>
            <a:endParaRPr lang="en-US" dirty="0"/>
          </a:p>
          <a:p>
            <a:r>
              <a:rPr lang="en-US" sz="1200" dirty="0"/>
              <a:t>For speech recognition, I chose Vosk — specifically the vosk-model-small-en-in-0.4. This is a 36 megabyte Indian English acoustic model by Alpha Cephei. The Indian English variant was a deliberate choice: it handles South Asian accents significantly better than a US English model, and since India is Sri Lanka's largest tourist source, this acoustic match is operationally important. A 2024 benchmarking study confirmed Vosk offers the best accuracy-to-resource ratio for edge deployment. Whisper was considered but rejected — even the small model requires too much compute for a budget Android tablet.</a:t>
            </a:r>
          </a:p>
          <a:p>
            <a:endParaRPr lang="en-US" dirty="0"/>
          </a:p>
          <a:p>
            <a:r>
              <a:rPr lang="en-US" sz="1200" dirty="0"/>
              <a:t>For intent classification, MobileBERT was the clear choice. Sun et al. designed it specifically for mobile devices. The original PyTorch model was 94 megabytes; after fine-tuning on the hotel domain dataset and converting to TFLite with dynamic quantisation, the deployed model is 26 megabytes — a 72 percent reduction. On the test tablet, MobileBERT inference takes approximately 60 milliseconds per request.</a:t>
            </a:r>
          </a:p>
          <a:p>
            <a:endParaRPr lang="en-US" dirty="0"/>
          </a:p>
          <a:p>
            <a:r>
              <a:rPr lang="en-US" sz="1200" dirty="0"/>
              <a:t>The hybrid NLU pipeline was an important practical innovation. Tier 1 is a rule-based keyword layer with pre-compiled regex patterns that catches simple, high-confidence requests — things like "I need towels" or "turn off the lights" — in about 4 milliseconds, completely bypassing the neural model. Tier 2 is the full MobileBERT model for more complex or ambiguous phrasing. This two-tier approach emerged from iteration — during early testing, I found the neural model sometimes gave unexpectedly low confidence on simple requests when Vosk introduced minor transcription errors.</a:t>
            </a:r>
          </a:p>
          <a:p>
            <a:endParaRPr lang="en-US" dirty="0"/>
          </a:p>
          <a:p>
            <a:r>
              <a:rPr lang="en-US" sz="1200" dirty="0"/>
              <a:t>The backend uses FastAPI with SQLite — chosen for simplicity and zero configuration. No ORM was used; all database queries are plain SQL. The staff dashboard is vanilla HTML, CSS, and JavaScript — no frontend framework. This minimal stack was a deliberate choice: for a research prototype, transparency and reproducibility matter more than convenience features.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[~1.5 minutes]</a:t>
            </a:r>
          </a:p>
          <a:p>
            <a:endParaRPr lang="en-US" dirty="0"/>
          </a:p>
          <a:p>
            <a:r>
              <a:rPr lang="en-US" sz="1200" dirty="0"/>
              <a:t>The implementation centred on two major pieces: the dataset and the three-model training experiment.</a:t>
            </a:r>
          </a:p>
          <a:p>
            <a:endParaRPr lang="en-US" dirty="0"/>
          </a:p>
          <a:p>
            <a:r>
              <a:rPr lang="en-US" sz="1200" dirty="0"/>
              <a:t>The dataset was built from scratch because no hospitality-specific intent classification dataset existed. I created 10,080 labelled utterances across 18 intent categories — 560 per intent, exactly balanced. Categories were mapped to 5 hotel departments: Front Desk, Housekeeping, Food and Beverage, Maintenance, and Concierge. The utterances were generated using the Claude Haiku API for natural language variation, then expanded with paraphrasing to cover formal, casual, indirect, and abbreviated styles. All text was written in Vosk output format — lowercase, no punctuation, contractions without apostrophes.</a:t>
            </a:r>
          </a:p>
          <a:p>
            <a:endParaRPr lang="en-US" dirty="0"/>
          </a:p>
          <a:p>
            <a:r>
              <a:rPr lang="en-US" sz="1200" dirty="0"/>
              <a:t>The critical next step was creating the paired Vosk-transcribed version. Each of the 10,080 utterances was converted to audio using Google Text-to-Speech with the Indian English locale, converted to 16 kilohertz mono WAV, then transcribed by the same Vosk model deployed in the Android app. The result is vosk_transcriptions.csv — every utterance has both a clean version and a Vosk-transcribed version side by side.</a:t>
            </a:r>
          </a:p>
          <a:p>
            <a:endParaRPr lang="en-US" dirty="0"/>
          </a:p>
          <a:p>
            <a:r>
              <a:rPr lang="en-US" sz="1200" dirty="0"/>
              <a:t>This enabled the three-model comparison. Model A was trained on 10,080 clean-text utterances — this represents what most published NLU work does. Model B was trained on 10,080 Vosk-transcribed utterances — pure noisy data. Model C was trained on 14,864 mixed utterances — the deduplicated union of the clean and Vosk datasets. This is the noise-aware approach.</a:t>
            </a:r>
          </a:p>
          <a:p>
            <a:endParaRPr lang="en-US" dirty="0"/>
          </a:p>
          <a:p>
            <a:r>
              <a:rPr lang="en-US" sz="1200" dirty="0"/>
              <a:t>All three models used the same MobileBERT architecture, same hyperparameters, same 85/15 train-validation split, and were evaluated on the same held-out 2,016-sample test set. The only variable is the training data. This controlled design means any accuracy differences are caused by the training strategy, not by confounding factors.</a:t>
            </a:r>
          </a:p>
          <a:p>
            <a:endParaRPr lang="en-US" dirty="0"/>
          </a:p>
          <a:p>
            <a:r>
              <a:rPr lang="en-US" sz="1200" dirty="0"/>
              <a:t>Two implementation challenges are worth mentioning. Converting MobileBERT from PyTorch to TFLite took nearly a week instead of the planned three days — mainly due to a label ordering mismatch between frameworks. And I had to build a complete WordPiece tokeniser from scratch in Kotlin because the HuggingFace tokeniser is Python-only.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[~2 minutes — this is the core slide, take your time]</a:t>
            </a:r>
          </a:p>
          <a:p>
            <a:endParaRPr lang="en-US" dirty="0"/>
          </a:p>
          <a:p>
            <a:r>
              <a:rPr lang="en-US" sz="1200" dirty="0"/>
              <a:t>This is the most important slide in the presentation — it shows the central finding.</a:t>
            </a:r>
          </a:p>
          <a:p>
            <a:endParaRPr lang="en-US" dirty="0"/>
          </a:p>
          <a:p>
            <a:r>
              <a:rPr lang="en-US" sz="1200" dirty="0"/>
              <a:t>Looking at the chart: Model A, trained on clean text only, achieves 98.07 percent accuracy when tested on clean text. This is what most published NLU work would report as the model's performance. But when that same model receives actual Vosk transcriptions of the same utterances, accuracy drops to 89.34 percent — an 8.73 percentage point fall caused entirely by the speech-to-text step.</a:t>
            </a:r>
          </a:p>
          <a:p>
            <a:endParaRPr lang="en-US" dirty="0"/>
          </a:p>
          <a:p>
            <a:r>
              <a:rPr lang="en-US" sz="1200" dirty="0"/>
              <a:t>That drop is the research gap this project set out to close. And it is not random noise — it is a predictable consequence of Vosk's characteristic transcription errors: phonetically similar substitutions, insertions, and deletions that change the vocabulary the clean-trained model learned to associate with specific intents.</a:t>
            </a:r>
          </a:p>
          <a:p>
            <a:endParaRPr lang="en-US" dirty="0"/>
          </a:p>
          <a:p>
            <a:r>
              <a:rPr lang="en-US" sz="1200" dirty="0"/>
              <a:t>The best illustration is the towel_request intent. Under clean-text evaluation, Model A performs well with precision around 0.97. On Vosk output, recall drops to 0.51 and F1 falls to 0.67 — the weakest result across all 18 intents. Vosk's word error rate for towel_request utterances is 16.33 percent — the third highest. The confusion matrix shows the word "towel" being consistently transcribed as phonetically similar alternatives that fall into the vocabulary of other intents.</a:t>
            </a:r>
          </a:p>
          <a:p>
            <a:endParaRPr lang="en-US" dirty="0"/>
          </a:p>
          <a:p>
            <a:r>
              <a:rPr lang="en-US" sz="1200" dirty="0"/>
              <a:t>Model B, trained on Vosk-transcribed text only, achieves 96.38 percent on Vosk input. This confirms that any exposure to the target noise profile helps — but it is still 2.68 points below Model C.</a:t>
            </a:r>
          </a:p>
          <a:p>
            <a:endParaRPr lang="en-US" dirty="0"/>
          </a:p>
          <a:p>
            <a:r>
              <a:rPr lang="en-US" sz="1200" dirty="0"/>
              <a:t>Model C — the noise-aware model trained on the mixed paired dataset of clean plus Vosk-transcribed text — achieves 99.06 percent on Vosk-transcribed input. This is actually higher than Model A's performance on clean text. The gap is not just closed — it is reversed. The gap recovery is 111.3 percent.</a:t>
            </a:r>
          </a:p>
          <a:p>
            <a:endParaRPr lang="en-US" dirty="0"/>
          </a:p>
          <a:p>
            <a:r>
              <a:rPr lang="en-US" sz="1200" dirty="0"/>
              <a:t>For the towel_request case, Model C recovers the F1 score to 0.98 on Vosk output. The noise-aware training directly addresses Vosk's phonetic substitution patterns.</a:t>
            </a:r>
          </a:p>
          <a:p>
            <a:endParaRPr lang="en-US" dirty="0"/>
          </a:p>
          <a:p>
            <a:r>
              <a:rPr lang="en-US" sz="1200" dirty="0"/>
              <a:t>This result also exceeds the non-functional requirement NFR-05, which specified a target of at least 90 percent intent classification accuracy on real speech input. Model C exceeds that by over 9 percentage points.</a:t>
            </a:r>
          </a:p>
          <a:p>
            <a:endParaRPr lang="en-US" dirty="0"/>
          </a:p>
          <a:p>
            <a:r>
              <a:rPr lang="en-US" sz="1200" dirty="0"/>
              <a:t>The key takeaway: if you are deploying an offline NLU system behind an edge STT model, evaluating on clean text gives you a misleadingly optimistic picture. You need to train on paired noisy data that matches your actual STT engine.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[~1.5 minutes]</a:t>
            </a:r>
          </a:p>
          <a:p>
            <a:endParaRPr lang="en-US" dirty="0"/>
          </a:p>
          <a:p>
            <a:r>
              <a:rPr lang="en-US" sz="1200" dirty="0"/>
              <a:t>Beyond the NLU evaluation, the system was tested on speech recognition accuracy and end-to-end performance.</a:t>
            </a:r>
          </a:p>
          <a:p>
            <a:endParaRPr lang="en-US" dirty="0"/>
          </a:p>
          <a:p>
            <a:r>
              <a:rPr lang="en-US" sz="1200" dirty="0"/>
              <a:t>The word error rate was measured across the full 10,080-utterance dataset. Overall WER is 11.43 percent, which looks reasonable for a small on-device model. But the more telling number is 23.84 percent — the WER on sentences that were actually changed by Vosk. Over half of all utterances passed through Vosk completely unchanged, which pulls the headline figure down. In practice, nearly half of all guest requests will come out of Vosk with at least some distortion.</a:t>
            </a:r>
          </a:p>
          <a:p>
            <a:endParaRPr lang="en-US" dirty="0"/>
          </a:p>
          <a:p>
            <a:r>
              <a:rPr lang="en-US" sz="1200" dirty="0"/>
              <a:t>The per-intent WER varies significantly. Temperature control has the highest at 16.83 percent, followed by pillow and blanket request at 16.67 percent, and towel request at 16.33 percent. These are intents with words Vosk regularly gets wrong — thermostat, blanket, towels, toiletries. Emergency has the lowest WER at 6.78 percent because words like help, emergency, and doctor are short and common.</a:t>
            </a:r>
          </a:p>
          <a:p>
            <a:endParaRPr lang="en-US" dirty="0"/>
          </a:p>
          <a:p>
            <a:r>
              <a:rPr lang="en-US" sz="1200" dirty="0"/>
              <a:t>An important caveat: these WER figures were computed on text-to-speech synthesised audio, not real human recordings. Real-world WER with actual hotel guests and room acoustics would likely be higher. This is acknowledged as a limitation.</a:t>
            </a:r>
          </a:p>
          <a:p>
            <a:endParaRPr lang="en-US" dirty="0"/>
          </a:p>
          <a:p>
            <a:r>
              <a:rPr lang="en-US" sz="1200" dirty="0"/>
              <a:t>For system latency, I measured the five pipeline stages across 20 test requests. Vosk STT averages 302 milliseconds, the NLU step takes about 4 milliseconds for keyword matches or 60 milliseconds for MobileBERT inference, the backend API averages 2,060 milliseconds including SQLite writes and WebSocket broadcast, and TTS start averages 316 milliseconds.</a:t>
            </a:r>
          </a:p>
          <a:p>
            <a:endParaRPr lang="en-US" dirty="0"/>
          </a:p>
          <a:p>
            <a:r>
              <a:rPr lang="en-US" sz="1200" dirty="0"/>
              <a:t>The P95 end-to-end latency from end of speech to start of voice confirmation is 2,827 milliseconds — well within the 5-second target set by non-functional requirement NFR-03. Even adding 2 to 3 seconds of speaking time, the total interaction stays comfortably under 5 seconds.</a:t>
            </a:r>
          </a:p>
          <a:p>
            <a:endParaRPr lang="en-US" dirty="0"/>
          </a:p>
          <a:p>
            <a:r>
              <a:rPr lang="en-US" sz="1200" dirty="0"/>
              <a:t>The backend API passed all functional tests: request submission, status updates, department routing, and WebSocket message delivery all worked correctly.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[~1.5 minutes]</a:t>
            </a:r>
          </a:p>
          <a:p>
            <a:endParaRPr lang="en-US" dirty="0"/>
          </a:p>
          <a:p>
            <a:r>
              <a:rPr lang="en-US" sz="1200" dirty="0"/>
              <a:t>One of the research objectives was to demonstrate that this approach is financially viable for small Sri Lankan hotels. Let me walk through the cost analysis.</a:t>
            </a:r>
          </a:p>
          <a:p>
            <a:endParaRPr lang="en-US" dirty="0"/>
          </a:p>
          <a:p>
            <a:r>
              <a:rPr lang="en-US" sz="1200" dirty="0"/>
              <a:t>This table compares the three-year total cost of ownership for a hypothetical 50-room hotel across three options.</a:t>
            </a:r>
          </a:p>
          <a:p>
            <a:endParaRPr lang="en-US" dirty="0"/>
          </a:p>
          <a:p>
            <a:r>
              <a:rPr lang="en-US" sz="1200" dirty="0"/>
              <a:t>For our system, the total hardware cost ranges from approximately 3,200 to 8,800 US dollars. The bulk of that is 50 Android tablets at 50 to 150 dollars each, plus a basic server at 300 to 500 dollars, network access points and a router at 340 to 650 dollars, and a UPS at 80 to 150 dollars. Critically, the software cost is zero — the entire stack is open-source with no per-request, per-room, or per-month billing. Spread over three years, this amounts to approximately 21 to 59 dollars per room per year.</a:t>
            </a:r>
          </a:p>
          <a:p>
            <a:endParaRPr lang="en-US" dirty="0"/>
          </a:p>
          <a:p>
            <a:r>
              <a:rPr lang="en-US" sz="1200" dirty="0"/>
              <a:t>Compare this to a cloud STT approach using Google Cloud Speech-to-Text. The hardware is similar, but you add annual API costs. Google bills at USD 0.006 per 15 seconds of audio. Assuming 5 to 10 voice requests per room per day at approximately 10 seconds each, the 3-year total comes to 4,315 to 11,000 dollars — and the API costs compound every year.</a:t>
            </a:r>
          </a:p>
          <a:p>
            <a:endParaRPr lang="en-US" dirty="0"/>
          </a:p>
          <a:p>
            <a:r>
              <a:rPr lang="en-US" sz="1200" dirty="0"/>
              <a:t>For commercial platforms like Amazon Alexa Smart Properties for Hospitality, Amazon has not published public pricing — it is disclosed through enterprise sales. But Echo hardware alone at USD 100 or more per room for 50 rooms already matches our entire lower-bound system cost before any subscription fees. As Buhalis and Moldavska noted, voice assistant adoption has been concentrated in large hotel chains precisely because the cost is incompatible with small independent properties.</a:t>
            </a:r>
          </a:p>
          <a:p>
            <a:endParaRPr lang="en-US" dirty="0"/>
          </a:p>
          <a:p>
            <a:r>
              <a:rPr lang="en-US" sz="1200" dirty="0"/>
              <a:t>The key advantages of our approach are threefold. First, zero recurring costs — no subscriptions, no per-request billing, no API fees that compound over time. Second, commodity hardware — tablets in the 50 to 150 dollar range are available from local Sri Lankan retailers and can be repaired locally. Third, market fit — at 21 to 59 dollars per room per year, this is affordable for the small independent hotel operators that make up the majority of Sri Lanka's accommodation sector.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[~1.5 minutes]</a:t>
            </a:r>
          </a:p>
          <a:p>
            <a:endParaRPr lang="en-US" dirty="0"/>
          </a:p>
          <a:p>
            <a:r>
              <a:rPr lang="en-US" sz="1200" dirty="0"/>
              <a:t>I want to be transparent about both the strengths and limitations of this work.</a:t>
            </a:r>
          </a:p>
          <a:p>
            <a:endParaRPr lang="en-US" dirty="0"/>
          </a:p>
          <a:p>
            <a:r>
              <a:rPr lang="en-US" sz="1200" dirty="0"/>
              <a:t>On the strengths side: the most important contribution is quantifying the accuracy gap — measuring something that standard NLU benchmarking does not reveal. If you only evaluate on clean text, you get 98 percent. If you evaluate on real pipeline output, you get 89 percent. That 8.73 percentage point gap is invisible to anyone who does not test on their actual STT output. And Model C's 99.06 percent on Vosk input, with 111 percent gap recovery, shows this is a solvable problem.</a:t>
            </a:r>
          </a:p>
          <a:p>
            <a:endParaRPr lang="en-US" dirty="0"/>
          </a:p>
          <a:p>
            <a:r>
              <a:rPr lang="en-US" sz="1200" dirty="0"/>
              <a:t>Privacy by architecture is a genuine differentiator. Unlike cloud systems where privacy depends on provider policies and legal agreements, this system provides a structural guarantee — voice data physically cannot leave the device because the architecture has no mechanism to send it externally.</a:t>
            </a:r>
          </a:p>
          <a:p>
            <a:endParaRPr lang="en-US" dirty="0"/>
          </a:p>
          <a:p>
            <a:r>
              <a:rPr lang="en-US" sz="1200" dirty="0"/>
              <a:t>The evaluation design is balanced and reproducible — 10,080 utterances, exact class balance, shared held-out test set across all models. Any researcher can replicate the experiment.</a:t>
            </a:r>
          </a:p>
          <a:p>
            <a:endParaRPr lang="en-US" dirty="0"/>
          </a:p>
          <a:p>
            <a:r>
              <a:rPr lang="en-US" sz="1200" dirty="0"/>
              <a:t>Now the limitations — and I want to be upfront about these.</a:t>
            </a:r>
          </a:p>
          <a:p>
            <a:endParaRPr lang="en-US" dirty="0"/>
          </a:p>
          <a:p>
            <a:r>
              <a:rPr lang="en-US" sz="1200" dirty="0"/>
              <a:t>The most significant limitation is that the training data and WER measurements were based on text-to-speech synthesised audio, not real human recordings. The gTTS-to-Vosk pipeline produces realistic phonetic errors, but it does not capture the full range of variation from real speakers: non-native pronunciation, hesitations, varying microphone distances, room acoustics, and accent strength differences.</a:t>
            </a:r>
          </a:p>
          <a:p>
            <a:endParaRPr lang="en-US" dirty="0"/>
          </a:p>
          <a:p>
            <a:r>
              <a:rPr lang="en-US" sz="1200" dirty="0"/>
              <a:t>Second, there is a tokeniser mismatch between the Python evaluation pipeline, which uses the HuggingFace WordPiece tokeniser, and the Android deployment, which uses a custom Kotlin implementation I built from scratch. This means the reported 99.06 percent accuracy is measured in Python — the actual on-device accuracy is likely somewhat lower due to edge cases in the Kotlin tokeniser.</a:t>
            </a:r>
          </a:p>
          <a:p>
            <a:endParaRPr lang="en-US" dirty="0"/>
          </a:p>
          <a:p>
            <a:r>
              <a:rPr lang="en-US" sz="1200" dirty="0"/>
              <a:t>Third, the dataset was generated synthetically using AI paraphrasing, not collected from real hotel guests. While the coverage of phrasing styles is broad, it may not capture how real guests in real hotels actually make requests.</a:t>
            </a:r>
          </a:p>
          <a:p>
            <a:endParaRPr lang="en-US" dirty="0"/>
          </a:p>
          <a:p>
            <a:r>
              <a:rPr lang="en-US" sz="1200" dirty="0"/>
              <a:t>Finally, there has been no field deployment. The system was tested in controlled conditions, not in a working hotel with real guests and staff. This is the most important next step.</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[~1.5 minutes — close strong]</a:t>
            </a:r>
          </a:p>
          <a:p>
            <a:endParaRPr lang="en-US" dirty="0"/>
          </a:p>
          <a:p>
            <a:r>
              <a:rPr lang="en-US" sz="1200" dirty="0"/>
              <a:t>To summarise: all six research objectives were fully achieved.</a:t>
            </a:r>
          </a:p>
          <a:p>
            <a:endParaRPr lang="en-US" dirty="0"/>
          </a:p>
          <a:p>
            <a:r>
              <a:rPr lang="en-US" sz="1200" dirty="0"/>
              <a:t>I built a working end-to-end prototype that processes voice input, classifies intents, submits requests, and notifies staff — all without internet connectivity. Vosk and MobileBERT both run on a commodity Android tablet. The backend is lightweight enough for any basic laptop. A custom dataset of 10,080 utterances was created from scratch. The three-model evaluation quantified the STT accuracy gap and demonstrated that noise-aware training closes it. And the entire system runs on open-source software at USD 21 to 59 per room per year.</a:t>
            </a:r>
          </a:p>
          <a:p>
            <a:endParaRPr lang="en-US" dirty="0"/>
          </a:p>
          <a:p>
            <a:r>
              <a:rPr lang="en-US" sz="1200" dirty="0"/>
              <a:t>The core finding is that evaluating NLU on clean text gives a misleadingly optimistic picture of real-world performance. Model A scored 98 percent on clean text but only 89 percent on Vosk output. Model C, trained on paired clean and noisy data, achieved 99 percent on Vosk output — a 111 percent gap recovery. If you are deploying offline NLU behind edge STT, you must train on noise-matched data.</a:t>
            </a:r>
          </a:p>
          <a:p>
            <a:endParaRPr lang="en-US" dirty="0"/>
          </a:p>
          <a:p>
            <a:r>
              <a:rPr lang="en-US" sz="1200" dirty="0"/>
              <a:t>Looking forward, the four highest-priority future work items are:</a:t>
            </a:r>
          </a:p>
          <a:p>
            <a:endParaRPr lang="en-US" dirty="0"/>
          </a:p>
          <a:p>
            <a:r>
              <a:rPr lang="en-US" sz="1200" dirty="0"/>
              <a:t>First, a field deployment with a real partner hotel — collecting real guest interactions and measuring accuracy under genuine production conditions.</a:t>
            </a:r>
          </a:p>
          <a:p>
            <a:endParaRPr lang="en-US" dirty="0"/>
          </a:p>
          <a:p>
            <a:r>
              <a:rPr lang="en-US" sz="1200" dirty="0"/>
              <a:t>Second, collecting real speech data from Sri Lankan English speakers to replace the TTS-based training data and get a true picture of real-world WER and NLU accuracy.</a:t>
            </a:r>
          </a:p>
          <a:p>
            <a:endParaRPr lang="en-US" dirty="0"/>
          </a:p>
          <a:p>
            <a:r>
              <a:rPr lang="en-US" sz="1200" dirty="0"/>
              <a:t>Third, building a proper WordPiece tokeniser on Android — either porting the HuggingFace tokeniser or using a verified third-party library — to eliminate the tokeniser mismatch between evaluation and deployment.</a:t>
            </a:r>
          </a:p>
          <a:p>
            <a:endParaRPr lang="en-US" dirty="0"/>
          </a:p>
          <a:p>
            <a:r>
              <a:rPr lang="en-US" sz="1200" dirty="0"/>
              <a:t>Fourth, adding Sinhala and Tamil language support. Vosk already supports Sinhala as a separate model, and MobileBERT could be fine-tuned on multilingual data. This would make the system accessible to a much wider range of hotel staff and domestic guests.</a:t>
            </a:r>
          </a:p>
          <a:p>
            <a:endParaRPr lang="en-US" dirty="0"/>
          </a:p>
          <a:p>
            <a:r>
              <a:rPr lang="en-US" sz="1200" dirty="0"/>
              <a:t>This research demonstrates that the combination of edge AI, small-scale neural models, and hospitality technology is a viable space for practical innovation in developing economies. The barrier is not the technology — it is the awareness that affordable, privacy-preserving alternatives to cloud-based systems now exist.</a:t>
            </a:r>
          </a:p>
          <a:p>
            <a:endParaRPr lang="en-US" dirty="0"/>
          </a:p>
          <a:p>
            <a:r>
              <a:rPr lang="en-US" sz="1200" dirty="0"/>
              <a:t>Thank you. I am happy to take your questions.</a:t>
            </a:r>
          </a:p>
          <a:p>
            <a:endParaRPr lang="en-US" dirty="0"/>
          </a:p>
          <a:p>
            <a:r>
              <a:rPr lang="en-US" sz="1200" dirty="0"/>
              <a:t>---</a:t>
            </a:r>
          </a:p>
          <a:p>
            <a:r>
              <a:rPr lang="en-US" sz="1200" dirty="0"/>
              <a:t>POTENTIAL Q&amp;A PREPARATION NOTES:</a:t>
            </a:r>
          </a:p>
          <a:p>
            <a:endParaRPr lang="en-US" dirty="0"/>
          </a:p>
          <a:p>
            <a:r>
              <a:rPr lang="en-US" sz="1200" dirty="0"/>
              <a:t>Q: Why not use Whisper instead of Vosk?</a:t>
            </a:r>
          </a:p>
          <a:p>
            <a:r>
              <a:rPr lang="en-US" sz="1200" dirty="0"/>
              <a:t>A: Whisper achieves higher accuracy but requires significantly more compute. Even the small Whisper model needs more RAM and processing power than a budget Android tablet provides. Vosk's strength is the accuracy-to-resource ratio — it runs in real-time on commodity hardware. Future work could explore Whisper tiny variants as hardware improves.</a:t>
            </a:r>
          </a:p>
          <a:p>
            <a:endParaRPr lang="en-US" dirty="0"/>
          </a:p>
          <a:p>
            <a:r>
              <a:rPr lang="en-US" sz="1200" dirty="0"/>
              <a:t>Q: How would the system handle accents it was not trained on?</a:t>
            </a:r>
          </a:p>
          <a:p>
            <a:r>
              <a:rPr lang="en-US" sz="1200" dirty="0"/>
              <a:t>A: The Indian English Vosk model handles South Asian accents well, but would likely struggle with East Asian or African accents. The noise-aware training approach is transferable — you would generate a new paired dataset using TTS with the target accent locale and retrain Model C. The methodology is accent-agnostic even if the current model is not.</a:t>
            </a:r>
          </a:p>
          <a:p>
            <a:endParaRPr lang="en-US" dirty="0"/>
          </a:p>
          <a:p>
            <a:r>
              <a:rPr lang="en-US" sz="1200" dirty="0"/>
              <a:t>Q: Why not use a larger, more accurate STT model?</a:t>
            </a:r>
          </a:p>
          <a:p>
            <a:r>
              <a:rPr lang="en-US" sz="1200" dirty="0"/>
              <a:t>A: The entire point is that the system runs on a USD 50 to 150 tablet with no cloud dependency. A larger model would require more expensive hardware, undermining the cost advantage. The noise-aware NLU training strategy effectively compensates for the smaller STT model's lower accuracy.</a:t>
            </a:r>
          </a:p>
          <a:p>
            <a:endParaRPr lang="en-US" dirty="0"/>
          </a:p>
          <a:p>
            <a:r>
              <a:rPr lang="en-US" sz="1200" dirty="0"/>
              <a:t>Q: Is the 99 percent accuracy realistic for production?</a:t>
            </a:r>
          </a:p>
          <a:p>
            <a:r>
              <a:rPr lang="en-US" sz="1200" dirty="0"/>
              <a:t>A: The 99.06 percent is measured on TTS-synthesised speech processed by the same Vosk model. Real-world accuracy would be lower due to real accent variation, background noise, and the Kotlin tokeniser mismatch. However, even with degradation, Model C would still substantially outperform Model A on real speech. The relative improvement from noise-aware training is the robust finding, not the absolute number.</a:t>
            </a:r>
          </a:p>
          <a:p>
            <a:endParaRPr lang="en-US" dirty="0"/>
          </a:p>
          <a:p>
            <a:r>
              <a:rPr lang="en-US" sz="1200" dirty="0"/>
              <a:t>Q: What about entity extraction — room numbers, food items, quantities?</a:t>
            </a:r>
          </a:p>
          <a:p>
            <a:r>
              <a:rPr lang="en-US" sz="1200" dirty="0"/>
              <a:t>A: The current system does intent classification only. Entity extraction is acknowledged as future work — it would require slot-filling annotations in the dataset and either extending MobileBERT with a token classification head or adding a separate lightweight NER model.</a:t>
            </a:r>
          </a:p>
          <a:p>
            <a:endParaRPr lang="en-US" dirty="0"/>
          </a:p>
          <a:p>
            <a:r>
              <a:rPr lang="en-US" sz="1200" dirty="0"/>
              <a:t>Q: Why only 20 survey respondents?</a:t>
            </a:r>
          </a:p>
          <a:p>
            <a:r>
              <a:rPr lang="en-US" sz="1200" dirty="0"/>
              <a:t>A: This is a research prototype, not a commercial product launch. The survey was designed to validate literature findings, not to produce statistically generalisable population-level results. The sample covered a range of ages and confirmed the key patterns — privacy sensitivity, preference for confirmation, common service types — which was sufficient for requirements elicitation in a Design Science Research context.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CCCD-36AC-86FD-40AB-BDD4AE15DF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AA5FDC-E9B7-5DC9-5DCA-F0D63E4916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DC6104-2BEC-DDB4-E9B3-EFC96B3DE705}"/>
              </a:ext>
            </a:extLst>
          </p:cNvPr>
          <p:cNvSpPr>
            <a:spLocks noGrp="1"/>
          </p:cNvSpPr>
          <p:nvPr>
            <p:ph type="dt" sz="half" idx="10"/>
          </p:nvPr>
        </p:nvSpPr>
        <p:spPr/>
        <p:txBody>
          <a:bodyPr/>
          <a:lstStyle/>
          <a:p>
            <a:fld id="{DE353F3F-4660-4700-9F5B-A506E0C71572}" type="datetime1">
              <a:rPr lang="en-US" smtClean="0"/>
              <a:t>4/21/2026</a:t>
            </a:fld>
            <a:endParaRPr lang="en-US"/>
          </a:p>
        </p:txBody>
      </p:sp>
      <p:sp>
        <p:nvSpPr>
          <p:cNvPr id="5" name="Footer Placeholder 4">
            <a:extLst>
              <a:ext uri="{FF2B5EF4-FFF2-40B4-BE49-F238E27FC236}">
                <a16:creationId xmlns:a16="http://schemas.microsoft.com/office/drawing/2014/main" id="{A5227CE3-DE6C-9EC0-BB3B-1FF073CE5F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3EEBD9-8CC6-B38B-ACF5-CC6E98A1B767}"/>
              </a:ext>
            </a:extLst>
          </p:cNvPr>
          <p:cNvSpPr>
            <a:spLocks noGrp="1"/>
          </p:cNvSpPr>
          <p:nvPr>
            <p:ph type="sldNum" sz="quarter" idx="12"/>
          </p:nvPr>
        </p:nvSpPr>
        <p:spPr/>
        <p:txBody>
          <a:bodyPr/>
          <a:lstStyle/>
          <a:p>
            <a:fld id="{9890CE2D-2882-48A4-88CB-3A003AF6C150}" type="slidenum">
              <a:rPr lang="en-US" smtClean="0"/>
              <a:t>‹#›</a:t>
            </a:fld>
            <a:endParaRPr lang="en-US"/>
          </a:p>
        </p:txBody>
      </p:sp>
    </p:spTree>
    <p:extLst>
      <p:ext uri="{BB962C8B-B14F-4D97-AF65-F5344CB8AC3E}">
        <p14:creationId xmlns:p14="http://schemas.microsoft.com/office/powerpoint/2010/main" val="1372240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4249D-BA72-9EB9-AE49-BD005CBDDD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243FCD-2A8F-A54A-FE94-AC1E7E31AB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4238B0-D101-E095-A47B-1DB9B58CC141}"/>
              </a:ext>
            </a:extLst>
          </p:cNvPr>
          <p:cNvSpPr>
            <a:spLocks noGrp="1"/>
          </p:cNvSpPr>
          <p:nvPr>
            <p:ph type="dt" sz="half" idx="10"/>
          </p:nvPr>
        </p:nvSpPr>
        <p:spPr/>
        <p:txBody>
          <a:bodyPr/>
          <a:lstStyle/>
          <a:p>
            <a:fld id="{9BAECDF4-DBAE-4F1B-9F2F-0437977C0D6A}" type="datetime1">
              <a:rPr lang="en-US" smtClean="0"/>
              <a:t>4/21/2026</a:t>
            </a:fld>
            <a:endParaRPr lang="en-US"/>
          </a:p>
        </p:txBody>
      </p:sp>
      <p:sp>
        <p:nvSpPr>
          <p:cNvPr id="5" name="Footer Placeholder 4">
            <a:extLst>
              <a:ext uri="{FF2B5EF4-FFF2-40B4-BE49-F238E27FC236}">
                <a16:creationId xmlns:a16="http://schemas.microsoft.com/office/drawing/2014/main" id="{E3CBCE0B-8986-7A1E-5E22-8D828A11B6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08801B-1789-42FB-CA25-7FF6136D4711}"/>
              </a:ext>
            </a:extLst>
          </p:cNvPr>
          <p:cNvSpPr>
            <a:spLocks noGrp="1"/>
          </p:cNvSpPr>
          <p:nvPr>
            <p:ph type="sldNum" sz="quarter" idx="12"/>
          </p:nvPr>
        </p:nvSpPr>
        <p:spPr/>
        <p:txBody>
          <a:bodyPr/>
          <a:lstStyle/>
          <a:p>
            <a:fld id="{9890CE2D-2882-48A4-88CB-3A003AF6C150}" type="slidenum">
              <a:rPr lang="en-US" smtClean="0"/>
              <a:t>‹#›</a:t>
            </a:fld>
            <a:endParaRPr lang="en-US"/>
          </a:p>
        </p:txBody>
      </p:sp>
    </p:spTree>
    <p:extLst>
      <p:ext uri="{BB962C8B-B14F-4D97-AF65-F5344CB8AC3E}">
        <p14:creationId xmlns:p14="http://schemas.microsoft.com/office/powerpoint/2010/main" val="3360967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55EB4-D773-D046-9C75-86014CDFE4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7F963C-3A03-684F-2EBC-4FDC312471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FF09EA-DA0E-2D4E-67C8-035CECA76E08}"/>
              </a:ext>
            </a:extLst>
          </p:cNvPr>
          <p:cNvSpPr>
            <a:spLocks noGrp="1"/>
          </p:cNvSpPr>
          <p:nvPr>
            <p:ph type="dt" sz="half" idx="10"/>
          </p:nvPr>
        </p:nvSpPr>
        <p:spPr/>
        <p:txBody>
          <a:bodyPr/>
          <a:lstStyle/>
          <a:p>
            <a:fld id="{806DC765-BF7F-44EA-BB87-AE4B47EE0CFB}" type="datetime1">
              <a:rPr lang="en-US" smtClean="0"/>
              <a:t>4/21/2026</a:t>
            </a:fld>
            <a:endParaRPr lang="en-US"/>
          </a:p>
        </p:txBody>
      </p:sp>
      <p:sp>
        <p:nvSpPr>
          <p:cNvPr id="5" name="Footer Placeholder 4">
            <a:extLst>
              <a:ext uri="{FF2B5EF4-FFF2-40B4-BE49-F238E27FC236}">
                <a16:creationId xmlns:a16="http://schemas.microsoft.com/office/drawing/2014/main" id="{0BC22C14-7BAF-239F-9B86-A989C727F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526B08-6C9F-376C-B724-0FAF4F88AFC8}"/>
              </a:ext>
            </a:extLst>
          </p:cNvPr>
          <p:cNvSpPr>
            <a:spLocks noGrp="1"/>
          </p:cNvSpPr>
          <p:nvPr>
            <p:ph type="sldNum" sz="quarter" idx="12"/>
          </p:nvPr>
        </p:nvSpPr>
        <p:spPr/>
        <p:txBody>
          <a:bodyPr/>
          <a:lstStyle/>
          <a:p>
            <a:fld id="{9890CE2D-2882-48A4-88CB-3A003AF6C150}" type="slidenum">
              <a:rPr lang="en-US" smtClean="0"/>
              <a:t>‹#›</a:t>
            </a:fld>
            <a:endParaRPr lang="en-US"/>
          </a:p>
        </p:txBody>
      </p:sp>
    </p:spTree>
    <p:extLst>
      <p:ext uri="{BB962C8B-B14F-4D97-AF65-F5344CB8AC3E}">
        <p14:creationId xmlns:p14="http://schemas.microsoft.com/office/powerpoint/2010/main" val="1750716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25BEA-5AAE-9009-F203-A1F5CD79EE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6EB357-FDBC-8D80-1F83-595A263879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6A46655-2BB6-0B70-21C2-ABF2F68B9A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FFBC3A-D513-EAEA-C24A-353BA3EF7E28}"/>
              </a:ext>
            </a:extLst>
          </p:cNvPr>
          <p:cNvSpPr>
            <a:spLocks noGrp="1"/>
          </p:cNvSpPr>
          <p:nvPr>
            <p:ph type="dt" sz="half" idx="10"/>
          </p:nvPr>
        </p:nvSpPr>
        <p:spPr/>
        <p:txBody>
          <a:bodyPr/>
          <a:lstStyle/>
          <a:p>
            <a:fld id="{1D5644CB-F700-4586-8D93-64F8C3A9A84D}" type="datetime1">
              <a:rPr lang="en-US" smtClean="0"/>
              <a:t>4/21/2026</a:t>
            </a:fld>
            <a:endParaRPr lang="en-US"/>
          </a:p>
        </p:txBody>
      </p:sp>
      <p:sp>
        <p:nvSpPr>
          <p:cNvPr id="6" name="Footer Placeholder 5">
            <a:extLst>
              <a:ext uri="{FF2B5EF4-FFF2-40B4-BE49-F238E27FC236}">
                <a16:creationId xmlns:a16="http://schemas.microsoft.com/office/drawing/2014/main" id="{0EA9CCF3-D61C-814A-36ED-CAE857EB7E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14A04A-312C-1A81-25B7-79EC896C4969}"/>
              </a:ext>
            </a:extLst>
          </p:cNvPr>
          <p:cNvSpPr>
            <a:spLocks noGrp="1"/>
          </p:cNvSpPr>
          <p:nvPr>
            <p:ph type="sldNum" sz="quarter" idx="12"/>
          </p:nvPr>
        </p:nvSpPr>
        <p:spPr/>
        <p:txBody>
          <a:bodyPr/>
          <a:lstStyle/>
          <a:p>
            <a:fld id="{9890CE2D-2882-48A4-88CB-3A003AF6C150}" type="slidenum">
              <a:rPr lang="en-US" smtClean="0"/>
              <a:t>‹#›</a:t>
            </a:fld>
            <a:endParaRPr lang="en-US"/>
          </a:p>
        </p:txBody>
      </p:sp>
    </p:spTree>
    <p:extLst>
      <p:ext uri="{BB962C8B-B14F-4D97-AF65-F5344CB8AC3E}">
        <p14:creationId xmlns:p14="http://schemas.microsoft.com/office/powerpoint/2010/main" val="3540800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9AE52-BC42-E346-F0A9-EBE76BA7490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7D125B-553F-F78F-0B3C-9C45C8CE54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D280AD-ACCF-A949-18A3-260FFFD245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20D5B3-649B-D5EB-400F-DE9208CF51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BE17AD-E455-1A19-5BC1-9C85F6DF7B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2320EC-C138-01F6-011D-769F7DB76147}"/>
              </a:ext>
            </a:extLst>
          </p:cNvPr>
          <p:cNvSpPr>
            <a:spLocks noGrp="1"/>
          </p:cNvSpPr>
          <p:nvPr>
            <p:ph type="dt" sz="half" idx="10"/>
          </p:nvPr>
        </p:nvSpPr>
        <p:spPr/>
        <p:txBody>
          <a:bodyPr/>
          <a:lstStyle/>
          <a:p>
            <a:fld id="{919B2F92-DE44-41D1-8237-53690E1FE645}" type="datetime1">
              <a:rPr lang="en-US" smtClean="0"/>
              <a:t>4/21/2026</a:t>
            </a:fld>
            <a:endParaRPr lang="en-US"/>
          </a:p>
        </p:txBody>
      </p:sp>
      <p:sp>
        <p:nvSpPr>
          <p:cNvPr id="8" name="Footer Placeholder 7">
            <a:extLst>
              <a:ext uri="{FF2B5EF4-FFF2-40B4-BE49-F238E27FC236}">
                <a16:creationId xmlns:a16="http://schemas.microsoft.com/office/drawing/2014/main" id="{3A4B207A-747F-2A33-963F-34105851581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9CBF614-492B-DE7A-682F-1EEEE90F0992}"/>
              </a:ext>
            </a:extLst>
          </p:cNvPr>
          <p:cNvSpPr>
            <a:spLocks noGrp="1"/>
          </p:cNvSpPr>
          <p:nvPr>
            <p:ph type="sldNum" sz="quarter" idx="12"/>
          </p:nvPr>
        </p:nvSpPr>
        <p:spPr/>
        <p:txBody>
          <a:bodyPr/>
          <a:lstStyle/>
          <a:p>
            <a:fld id="{9890CE2D-2882-48A4-88CB-3A003AF6C150}" type="slidenum">
              <a:rPr lang="en-US" smtClean="0"/>
              <a:t>‹#›</a:t>
            </a:fld>
            <a:endParaRPr lang="en-US"/>
          </a:p>
        </p:txBody>
      </p:sp>
    </p:spTree>
    <p:extLst>
      <p:ext uri="{BB962C8B-B14F-4D97-AF65-F5344CB8AC3E}">
        <p14:creationId xmlns:p14="http://schemas.microsoft.com/office/powerpoint/2010/main" val="2862748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1C4C9-9A6C-9B44-2C38-0FCE71BD56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870A036-B35F-BEEE-541C-1A85E3127EC6}"/>
              </a:ext>
            </a:extLst>
          </p:cNvPr>
          <p:cNvSpPr>
            <a:spLocks noGrp="1"/>
          </p:cNvSpPr>
          <p:nvPr>
            <p:ph type="dt" sz="half" idx="10"/>
          </p:nvPr>
        </p:nvSpPr>
        <p:spPr/>
        <p:txBody>
          <a:bodyPr/>
          <a:lstStyle/>
          <a:p>
            <a:fld id="{5841B072-B9D0-42AE-97C8-CB2FA2B6C3D7}" type="datetime1">
              <a:rPr lang="en-US" smtClean="0"/>
              <a:t>4/21/2026</a:t>
            </a:fld>
            <a:endParaRPr lang="en-US"/>
          </a:p>
        </p:txBody>
      </p:sp>
      <p:sp>
        <p:nvSpPr>
          <p:cNvPr id="4" name="Footer Placeholder 3">
            <a:extLst>
              <a:ext uri="{FF2B5EF4-FFF2-40B4-BE49-F238E27FC236}">
                <a16:creationId xmlns:a16="http://schemas.microsoft.com/office/drawing/2014/main" id="{973FCC73-B5C1-44E4-9B19-A834BE5E35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1B10AC-E7D2-6255-089C-1D67DD6542BB}"/>
              </a:ext>
            </a:extLst>
          </p:cNvPr>
          <p:cNvSpPr>
            <a:spLocks noGrp="1"/>
          </p:cNvSpPr>
          <p:nvPr>
            <p:ph type="sldNum" sz="quarter" idx="12"/>
          </p:nvPr>
        </p:nvSpPr>
        <p:spPr/>
        <p:txBody>
          <a:bodyPr/>
          <a:lstStyle/>
          <a:p>
            <a:fld id="{9890CE2D-2882-48A4-88CB-3A003AF6C150}" type="slidenum">
              <a:rPr lang="en-US" smtClean="0"/>
              <a:t>‹#›</a:t>
            </a:fld>
            <a:endParaRPr lang="en-US"/>
          </a:p>
        </p:txBody>
      </p:sp>
    </p:spTree>
    <p:extLst>
      <p:ext uri="{BB962C8B-B14F-4D97-AF65-F5344CB8AC3E}">
        <p14:creationId xmlns:p14="http://schemas.microsoft.com/office/powerpoint/2010/main" val="195045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566C9C-EEC6-4451-FF3C-F89330AB6D7F}"/>
              </a:ext>
            </a:extLst>
          </p:cNvPr>
          <p:cNvSpPr>
            <a:spLocks noGrp="1"/>
          </p:cNvSpPr>
          <p:nvPr>
            <p:ph type="dt" sz="half" idx="10"/>
          </p:nvPr>
        </p:nvSpPr>
        <p:spPr/>
        <p:txBody>
          <a:bodyPr/>
          <a:lstStyle/>
          <a:p>
            <a:fld id="{7244EA85-D809-434B-81E9-BDCE20D58EE7}" type="datetime1">
              <a:rPr lang="en-US" smtClean="0"/>
              <a:t>4/21/2026</a:t>
            </a:fld>
            <a:endParaRPr lang="en-US"/>
          </a:p>
        </p:txBody>
      </p:sp>
      <p:sp>
        <p:nvSpPr>
          <p:cNvPr id="3" name="Footer Placeholder 2">
            <a:extLst>
              <a:ext uri="{FF2B5EF4-FFF2-40B4-BE49-F238E27FC236}">
                <a16:creationId xmlns:a16="http://schemas.microsoft.com/office/drawing/2014/main" id="{DECF0E36-D9C1-56CD-8140-5E106675880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A3D1B4-54C6-C7B7-70E5-6B5761068DD6}"/>
              </a:ext>
            </a:extLst>
          </p:cNvPr>
          <p:cNvSpPr>
            <a:spLocks noGrp="1"/>
          </p:cNvSpPr>
          <p:nvPr>
            <p:ph type="sldNum" sz="quarter" idx="12"/>
          </p:nvPr>
        </p:nvSpPr>
        <p:spPr/>
        <p:txBody>
          <a:bodyPr/>
          <a:lstStyle/>
          <a:p>
            <a:fld id="{9890CE2D-2882-48A4-88CB-3A003AF6C150}" type="slidenum">
              <a:rPr lang="en-US" smtClean="0"/>
              <a:t>‹#›</a:t>
            </a:fld>
            <a:endParaRPr lang="en-US"/>
          </a:p>
        </p:txBody>
      </p:sp>
    </p:spTree>
    <p:extLst>
      <p:ext uri="{BB962C8B-B14F-4D97-AF65-F5344CB8AC3E}">
        <p14:creationId xmlns:p14="http://schemas.microsoft.com/office/powerpoint/2010/main" val="4222903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26FF0-37BF-896D-E327-9842A701F0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E445E1-A853-4A91-FAC2-4C03B606CF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FEE65C-1E99-A5FC-92CE-9810E3AFF8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4EFF4D-7E66-7316-E3E9-CA729B8309F9}"/>
              </a:ext>
            </a:extLst>
          </p:cNvPr>
          <p:cNvSpPr>
            <a:spLocks noGrp="1"/>
          </p:cNvSpPr>
          <p:nvPr>
            <p:ph type="dt" sz="half" idx="10"/>
          </p:nvPr>
        </p:nvSpPr>
        <p:spPr/>
        <p:txBody>
          <a:bodyPr/>
          <a:lstStyle/>
          <a:p>
            <a:fld id="{67204E8A-CED7-4200-8189-F6205532AB5A}" type="datetime1">
              <a:rPr lang="en-US" smtClean="0"/>
              <a:t>4/21/2026</a:t>
            </a:fld>
            <a:endParaRPr lang="en-US"/>
          </a:p>
        </p:txBody>
      </p:sp>
      <p:sp>
        <p:nvSpPr>
          <p:cNvPr id="6" name="Footer Placeholder 5">
            <a:extLst>
              <a:ext uri="{FF2B5EF4-FFF2-40B4-BE49-F238E27FC236}">
                <a16:creationId xmlns:a16="http://schemas.microsoft.com/office/drawing/2014/main" id="{6EC10280-2020-C728-AD58-8490B5A479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8E3B08-C646-36E6-3C1E-CE5AAAF1BCCE}"/>
              </a:ext>
            </a:extLst>
          </p:cNvPr>
          <p:cNvSpPr>
            <a:spLocks noGrp="1"/>
          </p:cNvSpPr>
          <p:nvPr>
            <p:ph type="sldNum" sz="quarter" idx="12"/>
          </p:nvPr>
        </p:nvSpPr>
        <p:spPr/>
        <p:txBody>
          <a:bodyPr/>
          <a:lstStyle/>
          <a:p>
            <a:fld id="{9890CE2D-2882-48A4-88CB-3A003AF6C150}" type="slidenum">
              <a:rPr lang="en-US" smtClean="0"/>
              <a:t>‹#›</a:t>
            </a:fld>
            <a:endParaRPr lang="en-US"/>
          </a:p>
        </p:txBody>
      </p:sp>
    </p:spTree>
    <p:extLst>
      <p:ext uri="{BB962C8B-B14F-4D97-AF65-F5344CB8AC3E}">
        <p14:creationId xmlns:p14="http://schemas.microsoft.com/office/powerpoint/2010/main" val="3055823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B8EAE-0149-7E60-6D9A-5C938EDDD0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8A205F-7D9D-E5AA-8688-AC5508DD22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1DA380-A23C-FB6E-F99C-1B211D0092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44D3D7-5B7D-F216-A6C2-30A6D8FF0613}"/>
              </a:ext>
            </a:extLst>
          </p:cNvPr>
          <p:cNvSpPr>
            <a:spLocks noGrp="1"/>
          </p:cNvSpPr>
          <p:nvPr>
            <p:ph type="dt" sz="half" idx="10"/>
          </p:nvPr>
        </p:nvSpPr>
        <p:spPr/>
        <p:txBody>
          <a:bodyPr/>
          <a:lstStyle/>
          <a:p>
            <a:fld id="{167E2F06-0CB0-4B78-969A-26083473BDFF}" type="datetime1">
              <a:rPr lang="en-US" smtClean="0"/>
              <a:t>4/21/2026</a:t>
            </a:fld>
            <a:endParaRPr lang="en-US"/>
          </a:p>
        </p:txBody>
      </p:sp>
      <p:sp>
        <p:nvSpPr>
          <p:cNvPr id="6" name="Footer Placeholder 5">
            <a:extLst>
              <a:ext uri="{FF2B5EF4-FFF2-40B4-BE49-F238E27FC236}">
                <a16:creationId xmlns:a16="http://schemas.microsoft.com/office/drawing/2014/main" id="{A91A029B-275D-6ACC-4201-DD937AD169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9E15DE-6494-8A97-7F2F-F7B727AACD08}"/>
              </a:ext>
            </a:extLst>
          </p:cNvPr>
          <p:cNvSpPr>
            <a:spLocks noGrp="1"/>
          </p:cNvSpPr>
          <p:nvPr>
            <p:ph type="sldNum" sz="quarter" idx="12"/>
          </p:nvPr>
        </p:nvSpPr>
        <p:spPr/>
        <p:txBody>
          <a:bodyPr/>
          <a:lstStyle/>
          <a:p>
            <a:fld id="{9890CE2D-2882-48A4-88CB-3A003AF6C150}" type="slidenum">
              <a:rPr lang="en-US" smtClean="0"/>
              <a:t>‹#›</a:t>
            </a:fld>
            <a:endParaRPr lang="en-US"/>
          </a:p>
        </p:txBody>
      </p:sp>
    </p:spTree>
    <p:extLst>
      <p:ext uri="{BB962C8B-B14F-4D97-AF65-F5344CB8AC3E}">
        <p14:creationId xmlns:p14="http://schemas.microsoft.com/office/powerpoint/2010/main" val="2311848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2A73D-43D1-9B6C-B535-E12F5784DE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C7547C-F875-2A06-222E-643C6CE699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8C331C-B8EB-5760-6178-9ED936DADBB3}"/>
              </a:ext>
            </a:extLst>
          </p:cNvPr>
          <p:cNvSpPr>
            <a:spLocks noGrp="1"/>
          </p:cNvSpPr>
          <p:nvPr>
            <p:ph type="dt" sz="half" idx="10"/>
          </p:nvPr>
        </p:nvSpPr>
        <p:spPr/>
        <p:txBody>
          <a:bodyPr/>
          <a:lstStyle/>
          <a:p>
            <a:fld id="{66428D9F-DB8F-481A-9398-4E577FB5AB55}" type="datetime1">
              <a:rPr lang="en-US" smtClean="0"/>
              <a:t>4/21/2026</a:t>
            </a:fld>
            <a:endParaRPr lang="en-US"/>
          </a:p>
        </p:txBody>
      </p:sp>
      <p:sp>
        <p:nvSpPr>
          <p:cNvPr id="5" name="Footer Placeholder 4">
            <a:extLst>
              <a:ext uri="{FF2B5EF4-FFF2-40B4-BE49-F238E27FC236}">
                <a16:creationId xmlns:a16="http://schemas.microsoft.com/office/drawing/2014/main" id="{977A1655-DBE2-A7B0-7926-2438669B79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03C7BB-D61F-51AF-CCBC-1ADE14925BC6}"/>
              </a:ext>
            </a:extLst>
          </p:cNvPr>
          <p:cNvSpPr>
            <a:spLocks noGrp="1"/>
          </p:cNvSpPr>
          <p:nvPr>
            <p:ph type="sldNum" sz="quarter" idx="12"/>
          </p:nvPr>
        </p:nvSpPr>
        <p:spPr/>
        <p:txBody>
          <a:bodyPr/>
          <a:lstStyle/>
          <a:p>
            <a:fld id="{9890CE2D-2882-48A4-88CB-3A003AF6C150}" type="slidenum">
              <a:rPr lang="en-US" smtClean="0"/>
              <a:t>‹#›</a:t>
            </a:fld>
            <a:endParaRPr lang="en-US"/>
          </a:p>
        </p:txBody>
      </p:sp>
    </p:spTree>
    <p:extLst>
      <p:ext uri="{BB962C8B-B14F-4D97-AF65-F5344CB8AC3E}">
        <p14:creationId xmlns:p14="http://schemas.microsoft.com/office/powerpoint/2010/main" val="266853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480166-E883-8CC3-7892-D89A320B5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750B6A-2D6B-BA1B-0343-3AAF06EAD5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149A21-4E95-A64C-708F-09DE5BC758B8}"/>
              </a:ext>
            </a:extLst>
          </p:cNvPr>
          <p:cNvSpPr>
            <a:spLocks noGrp="1"/>
          </p:cNvSpPr>
          <p:nvPr>
            <p:ph type="dt" sz="half" idx="10"/>
          </p:nvPr>
        </p:nvSpPr>
        <p:spPr/>
        <p:txBody>
          <a:bodyPr/>
          <a:lstStyle/>
          <a:p>
            <a:fld id="{20B99F97-AF0B-49AF-B987-CCCFD847E1B3}" type="datetime1">
              <a:rPr lang="en-US" smtClean="0"/>
              <a:t>4/21/2026</a:t>
            </a:fld>
            <a:endParaRPr lang="en-US"/>
          </a:p>
        </p:txBody>
      </p:sp>
      <p:sp>
        <p:nvSpPr>
          <p:cNvPr id="5" name="Footer Placeholder 4">
            <a:extLst>
              <a:ext uri="{FF2B5EF4-FFF2-40B4-BE49-F238E27FC236}">
                <a16:creationId xmlns:a16="http://schemas.microsoft.com/office/drawing/2014/main" id="{71543B32-E4C3-F6A9-4F68-476A7AFBEB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6DC43-D722-00D2-C6CF-F140F557DAA3}"/>
              </a:ext>
            </a:extLst>
          </p:cNvPr>
          <p:cNvSpPr>
            <a:spLocks noGrp="1"/>
          </p:cNvSpPr>
          <p:nvPr>
            <p:ph type="sldNum" sz="quarter" idx="12"/>
          </p:nvPr>
        </p:nvSpPr>
        <p:spPr/>
        <p:txBody>
          <a:bodyPr/>
          <a:lstStyle/>
          <a:p>
            <a:fld id="{9890CE2D-2882-48A4-88CB-3A003AF6C150}" type="slidenum">
              <a:rPr lang="en-US" smtClean="0"/>
              <a:t>‹#›</a:t>
            </a:fld>
            <a:endParaRPr lang="en-US"/>
          </a:p>
        </p:txBody>
      </p:sp>
    </p:spTree>
    <p:extLst>
      <p:ext uri="{BB962C8B-B14F-4D97-AF65-F5344CB8AC3E}">
        <p14:creationId xmlns:p14="http://schemas.microsoft.com/office/powerpoint/2010/main" val="386552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1D8806-D441-66B9-36EF-AFD845D14C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45C595-9D6C-5411-3EF7-D2026B5381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50F47B-8967-8BA0-EC06-E21766EA68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C6C94B-3B24-40A5-A029-F594780BE176}" type="datetime1">
              <a:rPr lang="en-US" smtClean="0"/>
              <a:t>4/21/2026</a:t>
            </a:fld>
            <a:endParaRPr lang="en-US"/>
          </a:p>
        </p:txBody>
      </p:sp>
      <p:sp>
        <p:nvSpPr>
          <p:cNvPr id="5" name="Footer Placeholder 4">
            <a:extLst>
              <a:ext uri="{FF2B5EF4-FFF2-40B4-BE49-F238E27FC236}">
                <a16:creationId xmlns:a16="http://schemas.microsoft.com/office/drawing/2014/main" id="{CC6F82AE-8B71-EC78-8311-D8276554CB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832C5BF-A3EB-819E-1697-9C52954006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90CE2D-2882-48A4-88CB-3A003AF6C150}" type="slidenum">
              <a:rPr lang="en-US" smtClean="0"/>
              <a:t>‹#›</a:t>
            </a:fld>
            <a:endParaRPr lang="en-US"/>
          </a:p>
        </p:txBody>
      </p:sp>
      <p:sp>
        <p:nvSpPr>
          <p:cNvPr id="900" name="AccentBar"/>
          <p:cNvSpPr/>
          <p:nvPr userDrawn="1"/>
        </p:nvSpPr>
        <p:spPr>
          <a:xfrm>
            <a:off x="0" y="6583050"/>
            <a:ext cx="12192000" cy="274320"/>
          </a:xfrm>
          <a:prstGeom prst="rect">
            <a:avLst/>
          </a:prstGeom>
          <a:solidFill>
            <a:srgbClr val="2C5F7C"/>
          </a:solidFill>
          <a:ln>
            <a:noFill/>
          </a:ln>
        </p:spPr>
        <p:txBody>
          <a:bodyPr/>
          <a:lstStyle/>
          <a:p>
            <a:endParaRPr lang="en-US"/>
          </a:p>
        </p:txBody>
      </p:sp>
      <p:sp>
        <p:nvSpPr>
          <p:cNvPr id="901" name="Hairline"/>
          <p:cNvSpPr/>
          <p:nvPr userDrawn="1"/>
        </p:nvSpPr>
        <p:spPr>
          <a:xfrm>
            <a:off x="0" y="6548438"/>
            <a:ext cx="12192000" cy="34612"/>
          </a:xfrm>
          <a:prstGeom prst="rect">
            <a:avLst/>
          </a:prstGeom>
          <a:solidFill>
            <a:srgbClr val="C4956A"/>
          </a:solidFill>
          <a:ln>
            <a:noFill/>
          </a:ln>
        </p:spPr>
        <p:txBody>
          <a:bodyPr/>
          <a:lstStyle/>
          <a:p>
            <a:endParaRPr lang="en-US"/>
          </a:p>
        </p:txBody>
      </p:sp>
    </p:spTree>
    <p:extLst>
      <p:ext uri="{BB962C8B-B14F-4D97-AF65-F5344CB8AC3E}">
        <p14:creationId xmlns:p14="http://schemas.microsoft.com/office/powerpoint/2010/main" val="2554383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rgbClr val="1B2A4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2A4A"/>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2A4A"/>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2A4A"/>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2A4A"/>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2A4A"/>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1B2A4A"/>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1B2A4A"/>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1B2A4A"/>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1B2A4A"/>
          </a:solidFill>
          <a:latin typeface="+mn-lt"/>
          <a:ea typeface="+mn-ea"/>
          <a:cs typeface="+mn-cs"/>
        </a:defRPr>
      </a:lvl9pPr>
    </p:bodyStyle>
    <p:otherStyle>
      <a:defPPr>
        <a:defRPr lang="en-US">
          <a:solidFill>
            <a:srgbClr val="1B2A4A"/>
          </a:solidFill>
        </a:defRPr>
      </a:defPPr>
      <a:lvl1pPr marL="0" algn="l" defTabSz="914400" rtl="0" eaLnBrk="1" latinLnBrk="0" hangingPunct="1">
        <a:defRPr sz="1800" kern="1200">
          <a:solidFill>
            <a:srgbClr val="1B2A4A"/>
          </a:solidFill>
          <a:latin typeface="+mn-lt"/>
          <a:ea typeface="+mn-ea"/>
          <a:cs typeface="+mn-cs"/>
        </a:defRPr>
      </a:lvl1pPr>
      <a:lvl2pPr marL="457200" algn="l" defTabSz="914400" rtl="0" eaLnBrk="1" latinLnBrk="0" hangingPunct="1">
        <a:defRPr sz="1800" kern="1200">
          <a:solidFill>
            <a:srgbClr val="1B2A4A"/>
          </a:solidFill>
          <a:latin typeface="+mn-lt"/>
          <a:ea typeface="+mn-ea"/>
          <a:cs typeface="+mn-cs"/>
        </a:defRPr>
      </a:lvl2pPr>
      <a:lvl3pPr marL="914400" algn="l" defTabSz="914400" rtl="0" eaLnBrk="1" latinLnBrk="0" hangingPunct="1">
        <a:defRPr sz="1800" kern="1200">
          <a:solidFill>
            <a:srgbClr val="1B2A4A"/>
          </a:solidFill>
          <a:latin typeface="+mn-lt"/>
          <a:ea typeface="+mn-ea"/>
          <a:cs typeface="+mn-cs"/>
        </a:defRPr>
      </a:lvl3pPr>
      <a:lvl4pPr marL="1371600" algn="l" defTabSz="914400" rtl="0" eaLnBrk="1" latinLnBrk="0" hangingPunct="1">
        <a:defRPr sz="1800" kern="1200">
          <a:solidFill>
            <a:srgbClr val="1B2A4A"/>
          </a:solidFill>
          <a:latin typeface="+mn-lt"/>
          <a:ea typeface="+mn-ea"/>
          <a:cs typeface="+mn-cs"/>
        </a:defRPr>
      </a:lvl4pPr>
      <a:lvl5pPr marL="1828800" algn="l" defTabSz="914400" rtl="0" eaLnBrk="1" latinLnBrk="0" hangingPunct="1">
        <a:defRPr sz="1800" kern="1200">
          <a:solidFill>
            <a:srgbClr val="1B2A4A"/>
          </a:solidFill>
          <a:latin typeface="+mn-lt"/>
          <a:ea typeface="+mn-ea"/>
          <a:cs typeface="+mn-cs"/>
        </a:defRPr>
      </a:lvl5pPr>
      <a:lvl6pPr marL="2286000" algn="l" defTabSz="914400" rtl="0" eaLnBrk="1" latinLnBrk="0" hangingPunct="1">
        <a:defRPr sz="1800" kern="1200">
          <a:solidFill>
            <a:srgbClr val="1B2A4A"/>
          </a:solidFill>
          <a:latin typeface="+mn-lt"/>
          <a:ea typeface="+mn-ea"/>
          <a:cs typeface="+mn-cs"/>
        </a:defRPr>
      </a:lvl6pPr>
      <a:lvl7pPr marL="2743200" algn="l" defTabSz="914400" rtl="0" eaLnBrk="1" latinLnBrk="0" hangingPunct="1">
        <a:defRPr sz="1800" kern="1200">
          <a:solidFill>
            <a:srgbClr val="1B2A4A"/>
          </a:solidFill>
          <a:latin typeface="+mn-lt"/>
          <a:ea typeface="+mn-ea"/>
          <a:cs typeface="+mn-cs"/>
        </a:defRPr>
      </a:lvl7pPr>
      <a:lvl8pPr marL="3200400" algn="l" defTabSz="914400" rtl="0" eaLnBrk="1" latinLnBrk="0" hangingPunct="1">
        <a:defRPr sz="1800" kern="1200">
          <a:solidFill>
            <a:srgbClr val="1B2A4A"/>
          </a:solidFill>
          <a:latin typeface="+mn-lt"/>
          <a:ea typeface="+mn-ea"/>
          <a:cs typeface="+mn-cs"/>
        </a:defRPr>
      </a:lvl8pPr>
      <a:lvl9pPr marL="3657600" algn="l" defTabSz="914400" rtl="0" eaLnBrk="1" latinLnBrk="0" hangingPunct="1">
        <a:defRPr sz="1800" kern="1200">
          <a:solidFill>
            <a:srgbClr val="1B2A4A"/>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D760-34C5-FE12-9CA6-45605C5A0A6F}"/>
              </a:ext>
            </a:extLst>
          </p:cNvPr>
          <p:cNvSpPr>
            <a:spLocks noGrp="1"/>
          </p:cNvSpPr>
          <p:nvPr>
            <p:ph type="ctrTitle"/>
          </p:nvPr>
        </p:nvSpPr>
        <p:spPr>
          <a:xfrm>
            <a:off x="1146810" y="616584"/>
            <a:ext cx="10309860" cy="3036888"/>
          </a:xfrm>
        </p:spPr>
        <p:txBody>
          <a:bodyPr>
            <a:normAutofit/>
          </a:bodyPr>
          <a:lstStyle/>
          <a:p>
            <a:pPr>
              <a:lnSpc>
                <a:spcPct val="150000"/>
              </a:lnSpc>
            </a:pPr>
            <a:r>
              <a:rPr lang="en-US" sz="4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Low-Cost Offline Voice Assistant </a:t>
            </a:r>
            <a:br>
              <a:rPr lang="en-US" sz="4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br>
            <a:r>
              <a:rPr lang="en-US" sz="4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for Hospitality Services in Sri Lanka </a:t>
            </a:r>
            <a:br>
              <a:rPr lang="en-US" sz="4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br>
            <a:r>
              <a:rPr lang="en-US" sz="4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Using Small-Scale Neural Models</a:t>
            </a:r>
          </a:p>
        </p:txBody>
      </p:sp>
      <p:sp>
        <p:nvSpPr>
          <p:cNvPr id="3" name="Subtitle 2">
            <a:extLst>
              <a:ext uri="{FF2B5EF4-FFF2-40B4-BE49-F238E27FC236}">
                <a16:creationId xmlns:a16="http://schemas.microsoft.com/office/drawing/2014/main" id="{47293929-044A-2235-0BD7-E5D458B5C051}"/>
              </a:ext>
            </a:extLst>
          </p:cNvPr>
          <p:cNvSpPr>
            <a:spLocks noGrp="1"/>
          </p:cNvSpPr>
          <p:nvPr>
            <p:ph type="subTitle" idx="1"/>
          </p:nvPr>
        </p:nvSpPr>
        <p:spPr>
          <a:xfrm>
            <a:off x="712471" y="4975228"/>
            <a:ext cx="4724400" cy="1655762"/>
          </a:xfrm>
        </p:spPr>
        <p:txBody>
          <a:bodyPr>
            <a:noAutofit/>
          </a:bodyPr>
          <a:lstStyle/>
          <a:p>
            <a:pPr algn="l"/>
            <a:r>
              <a:rPr lang="en-US" sz="1800" dirty="0">
                <a:latin typeface="Amasis MT Pro Medium" panose="02040604050005020304" pitchFamily="18" charset="0"/>
              </a:rPr>
              <a:t>Module: Data Science Project (Research)</a:t>
            </a:r>
          </a:p>
          <a:p>
            <a:pPr algn="l"/>
            <a:r>
              <a:rPr lang="en-US" sz="1800" dirty="0">
                <a:latin typeface="Amasis MT Pro Medium" panose="02040604050005020304" pitchFamily="18" charset="0"/>
              </a:rPr>
              <a:t>Code: NIB7150CEM</a:t>
            </a:r>
          </a:p>
          <a:p>
            <a:pPr algn="l"/>
            <a:r>
              <a:rPr lang="en-US" sz="1800" dirty="0">
                <a:latin typeface="Amasis MT Pro Medium" panose="02040604050005020304" pitchFamily="18" charset="0"/>
              </a:rPr>
              <a:t>Supervisor: Mr. </a:t>
            </a:r>
            <a:r>
              <a:rPr lang="en-US" sz="1800" dirty="0" err="1">
                <a:latin typeface="Amasis MT Pro Medium" panose="02040604050005020304" pitchFamily="18" charset="0"/>
              </a:rPr>
              <a:t>Dumira</a:t>
            </a:r>
            <a:r>
              <a:rPr lang="en-US" sz="1800" dirty="0">
                <a:latin typeface="Amasis MT Pro Medium" panose="02040604050005020304" pitchFamily="18" charset="0"/>
              </a:rPr>
              <a:t> Athukorala</a:t>
            </a:r>
          </a:p>
        </p:txBody>
      </p:sp>
      <p:sp>
        <p:nvSpPr>
          <p:cNvPr id="5" name="Subtitle 2">
            <a:extLst>
              <a:ext uri="{FF2B5EF4-FFF2-40B4-BE49-F238E27FC236}">
                <a16:creationId xmlns:a16="http://schemas.microsoft.com/office/drawing/2014/main" id="{05AB3537-EF06-2071-BB36-3B75E2B7B84D}"/>
              </a:ext>
            </a:extLst>
          </p:cNvPr>
          <p:cNvSpPr txBox="1">
            <a:spLocks/>
          </p:cNvSpPr>
          <p:nvPr/>
        </p:nvSpPr>
        <p:spPr>
          <a:xfrm>
            <a:off x="6755130" y="4975228"/>
            <a:ext cx="5033011" cy="1655762"/>
          </a:xfrm>
          <a:prstGeom prst="rect">
            <a:avLst/>
          </a:prstGeom>
        </p:spPr>
        <p:txBody>
          <a:bodyPr vert="horz" lIns="91440" tIns="45720" rIns="91440" bIns="45720" rtlCol="0">
            <a:noAutofit/>
          </a:bodyPr>
          <a:lstStyle>
            <a:lvl1pPr indent="0">
              <a:lnSpc>
                <a:spcPct val="90000"/>
              </a:lnSpc>
              <a:spcBef>
                <a:spcPts val="1000"/>
              </a:spcBef>
              <a:buFont typeface="Arial" panose="020B0604020202020204" pitchFamily="34" charset="0"/>
              <a:buNone/>
              <a:defRPr>
                <a:solidFill>
                  <a:srgbClr val="1B2A4A"/>
                </a:solidFill>
                <a:latin typeface="Amasis MT Pro Medium" panose="02040604050005020304" pitchFamily="18" charset="0"/>
              </a:defRPr>
            </a:lvl1pPr>
            <a:lvl2pPr indent="0" algn="ctr">
              <a:lnSpc>
                <a:spcPct val="90000"/>
              </a:lnSpc>
              <a:spcBef>
                <a:spcPts val="500"/>
              </a:spcBef>
              <a:buFont typeface="Arial" panose="020B0604020202020204" pitchFamily="34" charset="0"/>
              <a:buNone/>
              <a:defRPr sz="2000">
                <a:solidFill>
                  <a:srgbClr val="1B2A4A"/>
                </a:solidFill>
              </a:defRPr>
            </a:lvl2pPr>
            <a:lvl3pPr indent="0" algn="ctr">
              <a:lnSpc>
                <a:spcPct val="90000"/>
              </a:lnSpc>
              <a:spcBef>
                <a:spcPts val="500"/>
              </a:spcBef>
              <a:buFont typeface="Arial" panose="020B0604020202020204" pitchFamily="34" charset="0"/>
              <a:buNone/>
              <a:defRPr>
                <a:solidFill>
                  <a:srgbClr val="1B2A4A"/>
                </a:solidFill>
              </a:defRPr>
            </a:lvl3pPr>
            <a:lvl4pPr indent="0" algn="ctr">
              <a:lnSpc>
                <a:spcPct val="90000"/>
              </a:lnSpc>
              <a:spcBef>
                <a:spcPts val="500"/>
              </a:spcBef>
              <a:buFont typeface="Arial" panose="020B0604020202020204" pitchFamily="34" charset="0"/>
              <a:buNone/>
              <a:defRPr sz="1600">
                <a:solidFill>
                  <a:srgbClr val="1B2A4A"/>
                </a:solidFill>
              </a:defRPr>
            </a:lvl4pPr>
            <a:lvl5pPr indent="0" algn="ctr">
              <a:lnSpc>
                <a:spcPct val="90000"/>
              </a:lnSpc>
              <a:spcBef>
                <a:spcPts val="500"/>
              </a:spcBef>
              <a:buFont typeface="Arial" panose="020B0604020202020204" pitchFamily="34" charset="0"/>
              <a:buNone/>
              <a:defRPr sz="1600">
                <a:solidFill>
                  <a:srgbClr val="1B2A4A"/>
                </a:solidFill>
              </a:defRPr>
            </a:lvl5pPr>
            <a:lvl6pPr indent="0" algn="ctr">
              <a:lnSpc>
                <a:spcPct val="90000"/>
              </a:lnSpc>
              <a:spcBef>
                <a:spcPts val="500"/>
              </a:spcBef>
              <a:buFont typeface="Arial" panose="020B0604020202020204" pitchFamily="34" charset="0"/>
              <a:buNone/>
              <a:defRPr sz="1600">
                <a:solidFill>
                  <a:srgbClr val="1B2A4A"/>
                </a:solidFill>
              </a:defRPr>
            </a:lvl6pPr>
            <a:lvl7pPr indent="0" algn="ctr">
              <a:lnSpc>
                <a:spcPct val="90000"/>
              </a:lnSpc>
              <a:spcBef>
                <a:spcPts val="500"/>
              </a:spcBef>
              <a:buFont typeface="Arial" panose="020B0604020202020204" pitchFamily="34" charset="0"/>
              <a:buNone/>
              <a:defRPr sz="1600">
                <a:solidFill>
                  <a:srgbClr val="1B2A4A"/>
                </a:solidFill>
              </a:defRPr>
            </a:lvl7pPr>
            <a:lvl8pPr indent="0" algn="ctr">
              <a:lnSpc>
                <a:spcPct val="90000"/>
              </a:lnSpc>
              <a:spcBef>
                <a:spcPts val="500"/>
              </a:spcBef>
              <a:buFont typeface="Arial" panose="020B0604020202020204" pitchFamily="34" charset="0"/>
              <a:buNone/>
              <a:defRPr sz="1600">
                <a:solidFill>
                  <a:srgbClr val="1B2A4A"/>
                </a:solidFill>
              </a:defRPr>
            </a:lvl8pPr>
            <a:lvl9pPr indent="0" algn="ctr">
              <a:lnSpc>
                <a:spcPct val="90000"/>
              </a:lnSpc>
              <a:spcBef>
                <a:spcPts val="500"/>
              </a:spcBef>
              <a:buFont typeface="Arial" panose="020B0604020202020204" pitchFamily="34" charset="0"/>
              <a:buNone/>
              <a:defRPr sz="1600">
                <a:solidFill>
                  <a:srgbClr val="1B2A4A"/>
                </a:solidFill>
              </a:defRPr>
            </a:lvl9pPr>
          </a:lstStyle>
          <a:p>
            <a:r>
              <a:rPr lang="en-US" dirty="0"/>
              <a:t>Student Name: M. D. P. Wijesuriya</a:t>
            </a:r>
          </a:p>
          <a:p>
            <a:r>
              <a:rPr lang="en-US" dirty="0"/>
              <a:t>Student ID: COMScDS241P-002</a:t>
            </a:r>
          </a:p>
          <a:p>
            <a:r>
              <a:rPr lang="en-US" dirty="0"/>
              <a:t>Email: COMScDS241P-002@student.nibm.lk</a:t>
            </a:r>
          </a:p>
        </p:txBody>
      </p:sp>
    </p:spTree>
    <p:extLst>
      <p:ext uri="{BB962C8B-B14F-4D97-AF65-F5344CB8AC3E}">
        <p14:creationId xmlns:p14="http://schemas.microsoft.com/office/powerpoint/2010/main" val="3557205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5D939-3F98-F947-9129-9BD50A7338FD}"/>
              </a:ext>
            </a:extLst>
          </p:cNvPr>
          <p:cNvSpPr>
            <a:spLocks noGrp="1"/>
          </p:cNvSpPr>
          <p:nvPr>
            <p:ph type="title"/>
          </p:nvPr>
        </p:nvSpPr>
        <p:spPr>
          <a:xfrm>
            <a:off x="794385" y="113664"/>
            <a:ext cx="10515600" cy="868363"/>
          </a:xfrm>
        </p:spPr>
        <p:txBody>
          <a:bodyPr/>
          <a:lstStyle/>
          <a:p>
            <a:r>
              <a:rPr lang="en-US" dirty="0"/>
              <a:t>Introduction &amp; Motivation</a:t>
            </a:r>
          </a:p>
        </p:txBody>
      </p:sp>
      <p:sp>
        <p:nvSpPr>
          <p:cNvPr id="3" name="Content Placeholder 2">
            <a:extLst>
              <a:ext uri="{FF2B5EF4-FFF2-40B4-BE49-F238E27FC236}">
                <a16:creationId xmlns:a16="http://schemas.microsoft.com/office/drawing/2014/main" id="{3EEA3866-A58B-AAB4-E72F-4B18A3FBEA78}"/>
              </a:ext>
            </a:extLst>
          </p:cNvPr>
          <p:cNvSpPr>
            <a:spLocks noGrp="1"/>
          </p:cNvSpPr>
          <p:nvPr>
            <p:ph idx="1"/>
          </p:nvPr>
        </p:nvSpPr>
        <p:spPr>
          <a:xfrm>
            <a:off x="794385" y="1325880"/>
            <a:ext cx="11212830" cy="5395595"/>
          </a:xfrm>
        </p:spPr>
        <p:txBody>
          <a:bodyPr>
            <a:normAutofit/>
          </a:bodyPr>
          <a:lstStyle/>
          <a:p>
            <a:pPr marL="0" indent="0">
              <a:buNone/>
            </a:pPr>
            <a:r>
              <a:rPr lang="en-US" sz="3600" b="1" dirty="0">
                <a:solidFill>
                  <a:srgbClr val="2C5F7C"/>
                </a:solidFill>
              </a:rPr>
              <a:t>The Problem…</a:t>
            </a:r>
          </a:p>
          <a:p>
            <a:pPr marL="0" indent="0">
              <a:buNone/>
            </a:pPr>
            <a:endParaRPr lang="en-US" sz="1200" b="1" dirty="0">
              <a:solidFill>
                <a:srgbClr val="2C5F7C"/>
              </a:solidFill>
            </a:endParaRPr>
          </a:p>
          <a:p>
            <a:pPr>
              <a:spcAft>
                <a:spcPts val="300"/>
              </a:spcAft>
              <a:buFont typeface="Arial"/>
              <a:buChar char="•"/>
            </a:pPr>
            <a:r>
              <a:rPr lang="en-US" sz="2400" dirty="0"/>
              <a:t>Sri Lankan hotels rely on phone-based guest requests</a:t>
            </a:r>
          </a:p>
          <a:p>
            <a:pPr marL="0" indent="0">
              <a:spcAft>
                <a:spcPts val="300"/>
              </a:spcAft>
              <a:buNone/>
            </a:pPr>
            <a:r>
              <a:rPr lang="en-US" sz="2400" dirty="0"/>
              <a:t>	</a:t>
            </a:r>
            <a:r>
              <a:rPr lang="en-US" sz="2000" dirty="0">
                <a:solidFill>
                  <a:schemeClr val="accent3">
                    <a:lumMod val="75000"/>
                  </a:schemeClr>
                </a:solidFill>
              </a:rPr>
              <a:t>slow, error-prone, difficult to track or audit</a:t>
            </a:r>
          </a:p>
          <a:p>
            <a:pPr>
              <a:spcAft>
                <a:spcPts val="300"/>
              </a:spcAft>
              <a:buFont typeface="Arial"/>
              <a:buChar char="•"/>
            </a:pPr>
            <a:r>
              <a:rPr lang="en-US" sz="2400" dirty="0"/>
              <a:t>Commercial voice assistants (Alexa) require cloud, proprietary hardware, subscriptions</a:t>
            </a:r>
          </a:p>
          <a:p>
            <a:pPr marL="0" indent="0">
              <a:spcAft>
                <a:spcPts val="300"/>
              </a:spcAft>
              <a:buNone/>
            </a:pPr>
            <a:r>
              <a:rPr lang="en-US" sz="2400" dirty="0"/>
              <a:t>	</a:t>
            </a:r>
            <a:r>
              <a:rPr lang="en-US" sz="2000" dirty="0">
                <a:solidFill>
                  <a:schemeClr val="accent3">
                    <a:lumMod val="75000"/>
                  </a:schemeClr>
                </a:solidFill>
              </a:rPr>
              <a:t>too costly for most Sri Lankan hotels</a:t>
            </a:r>
          </a:p>
          <a:p>
            <a:pPr>
              <a:spcAft>
                <a:spcPts val="300"/>
              </a:spcAft>
              <a:buFont typeface="Arial"/>
              <a:buChar char="•"/>
            </a:pPr>
            <a:r>
              <a:rPr lang="en-US" sz="2400" dirty="0"/>
              <a:t>Cloud-dependent systems add ongoing internet bandwidth costs</a:t>
            </a:r>
          </a:p>
          <a:p>
            <a:pPr marL="0" indent="0">
              <a:spcAft>
                <a:spcPts val="300"/>
              </a:spcAft>
              <a:buNone/>
            </a:pPr>
            <a:r>
              <a:rPr lang="en-US" sz="2000" dirty="0"/>
              <a:t>	</a:t>
            </a:r>
            <a:r>
              <a:rPr lang="en-US" sz="2000" dirty="0">
                <a:solidFill>
                  <a:schemeClr val="accent3">
                    <a:lumMod val="75000"/>
                  </a:schemeClr>
                </a:solidFill>
              </a:rPr>
              <a:t>internet is a managed expense, not a free utility</a:t>
            </a:r>
          </a:p>
          <a:p>
            <a:pPr>
              <a:spcAft>
                <a:spcPts val="300"/>
              </a:spcAft>
              <a:buFont typeface="Arial"/>
              <a:buChar char="•"/>
            </a:pPr>
            <a:r>
              <a:rPr lang="en-US" sz="2400" dirty="0"/>
              <a:t>Privacy risks</a:t>
            </a:r>
          </a:p>
          <a:p>
            <a:pPr marL="0" indent="0">
              <a:spcAft>
                <a:spcPts val="300"/>
              </a:spcAft>
              <a:buNone/>
            </a:pPr>
            <a:r>
              <a:rPr lang="en-US" sz="2000" dirty="0"/>
              <a:t>	</a:t>
            </a:r>
            <a:r>
              <a:rPr lang="en-US" sz="2000" dirty="0">
                <a:solidFill>
                  <a:schemeClr val="accent3">
                    <a:lumMod val="75000"/>
                  </a:schemeClr>
                </a:solidFill>
              </a:rPr>
              <a:t>cloud devices can expose guest data</a:t>
            </a:r>
          </a:p>
          <a:p>
            <a:pPr marL="0" indent="0">
              <a:spcAft>
                <a:spcPts val="300"/>
              </a:spcAft>
              <a:buNone/>
            </a:pPr>
            <a:endParaRPr lang="en-US" sz="1800" dirty="0"/>
          </a:p>
        </p:txBody>
      </p:sp>
      <p:sp>
        <p:nvSpPr>
          <p:cNvPr id="4" name="Slide Number Placeholder 3">
            <a:extLst>
              <a:ext uri="{FF2B5EF4-FFF2-40B4-BE49-F238E27FC236}">
                <a16:creationId xmlns:a16="http://schemas.microsoft.com/office/drawing/2014/main" id="{0024E047-0582-1F67-DFA2-7C035A3DCEF4}"/>
              </a:ext>
            </a:extLst>
          </p:cNvPr>
          <p:cNvSpPr>
            <a:spLocks noGrp="1"/>
          </p:cNvSpPr>
          <p:nvPr>
            <p:ph type="sldNum" sz="quarter" idx="12"/>
          </p:nvPr>
        </p:nvSpPr>
        <p:spPr/>
        <p:txBody>
          <a:bodyPr/>
          <a:lstStyle/>
          <a:p>
            <a:fld id="{9890CE2D-2882-48A4-88CB-3A003AF6C150}" type="slidenum">
              <a:rPr lang="en-US" smtClean="0"/>
              <a:t>2</a:t>
            </a:fld>
            <a:endParaRPr lang="en-US" dirty="0"/>
          </a:p>
        </p:txBody>
      </p:sp>
    </p:spTree>
    <p:extLst>
      <p:ext uri="{BB962C8B-B14F-4D97-AF65-F5344CB8AC3E}">
        <p14:creationId xmlns:p14="http://schemas.microsoft.com/office/powerpoint/2010/main" val="1185533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1450"/>
            <a:ext cx="10515600" cy="822008"/>
          </a:xfrm>
        </p:spPr>
        <p:txBody>
          <a:bodyPr/>
          <a:lstStyle/>
          <a:p>
            <a:r>
              <a:rPr dirty="0"/>
              <a:t>Research Question</a:t>
            </a:r>
          </a:p>
        </p:txBody>
      </p:sp>
      <p:sp>
        <p:nvSpPr>
          <p:cNvPr id="3" name="Content Placeholder 2"/>
          <p:cNvSpPr>
            <a:spLocks noGrp="1"/>
          </p:cNvSpPr>
          <p:nvPr>
            <p:ph idx="1"/>
          </p:nvPr>
        </p:nvSpPr>
        <p:spPr>
          <a:xfrm>
            <a:off x="1032510" y="2161222"/>
            <a:ext cx="10515600" cy="1763395"/>
          </a:xfrm>
        </p:spPr>
        <p:txBody>
          <a:bodyPr>
            <a:normAutofit/>
          </a:bodyPr>
          <a:lstStyle/>
          <a:p>
            <a:pPr marL="0" indent="0" algn="just">
              <a:buNone/>
            </a:pPr>
            <a:r>
              <a:rPr lang="en-US" i="1" dirty="0"/>
              <a:t>Can a low-cost, fully offline voice assistant system, built on a standard commodity device, achieve sufficient technical accuracy and performance to be a viable alternative to traditional room service communication in Sri Lankan hotels</a:t>
            </a:r>
            <a:r>
              <a:rPr i="1" dirty="0"/>
              <a:t>?</a:t>
            </a:r>
          </a:p>
          <a:p>
            <a:endParaRPr dirty="0"/>
          </a:p>
        </p:txBody>
      </p:sp>
      <p:sp>
        <p:nvSpPr>
          <p:cNvPr id="4" name="Slide Number Placeholder 3">
            <a:extLst>
              <a:ext uri="{FF2B5EF4-FFF2-40B4-BE49-F238E27FC236}">
                <a16:creationId xmlns:a16="http://schemas.microsoft.com/office/drawing/2014/main" id="{277A8365-BE8F-9260-66E4-C2A1808BF39C}"/>
              </a:ext>
            </a:extLst>
          </p:cNvPr>
          <p:cNvSpPr>
            <a:spLocks noGrp="1"/>
          </p:cNvSpPr>
          <p:nvPr>
            <p:ph type="sldNum" sz="quarter" idx="12"/>
          </p:nvPr>
        </p:nvSpPr>
        <p:spPr/>
        <p:txBody>
          <a:bodyPr/>
          <a:lstStyle/>
          <a:p>
            <a:fld id="{9890CE2D-2882-48A4-88CB-3A003AF6C150}"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12C12-AF91-2A53-F593-FDAFA1F054EC}"/>
              </a:ext>
            </a:extLst>
          </p:cNvPr>
          <p:cNvSpPr>
            <a:spLocks noGrp="1"/>
          </p:cNvSpPr>
          <p:nvPr>
            <p:ph type="title"/>
          </p:nvPr>
        </p:nvSpPr>
        <p:spPr>
          <a:xfrm>
            <a:off x="758190" y="148590"/>
            <a:ext cx="10515600" cy="879158"/>
          </a:xfrm>
        </p:spPr>
        <p:txBody>
          <a:bodyPr/>
          <a:lstStyle/>
          <a:p>
            <a:r>
              <a:rPr lang="en-US" dirty="0"/>
              <a:t>Research Objectives</a:t>
            </a:r>
          </a:p>
        </p:txBody>
      </p:sp>
      <p:sp>
        <p:nvSpPr>
          <p:cNvPr id="3" name="Content Placeholder 2">
            <a:extLst>
              <a:ext uri="{FF2B5EF4-FFF2-40B4-BE49-F238E27FC236}">
                <a16:creationId xmlns:a16="http://schemas.microsoft.com/office/drawing/2014/main" id="{508A54E8-1996-11C1-CAB2-CC48895C36DD}"/>
              </a:ext>
            </a:extLst>
          </p:cNvPr>
          <p:cNvSpPr>
            <a:spLocks noGrp="1"/>
          </p:cNvSpPr>
          <p:nvPr>
            <p:ph idx="1"/>
          </p:nvPr>
        </p:nvSpPr>
        <p:spPr>
          <a:xfrm>
            <a:off x="872490" y="1394460"/>
            <a:ext cx="10934700" cy="5068253"/>
          </a:xfrm>
        </p:spPr>
        <p:txBody>
          <a:bodyPr>
            <a:normAutofit/>
          </a:bodyPr>
          <a:lstStyle/>
          <a:p>
            <a:pPr marL="457200" indent="-457200" algn="just">
              <a:spcAft>
                <a:spcPts val="400"/>
              </a:spcAft>
              <a:buFont typeface="+mj-lt"/>
              <a:buAutoNum type="arabicPeriod"/>
            </a:pPr>
            <a:r>
              <a:rPr lang="en-US" sz="2400" dirty="0"/>
              <a:t>Design and develop a low-cost, offline voice assistant prototype for hospitality services on commodity Android hardware; no cloud or internet dependency</a:t>
            </a:r>
          </a:p>
          <a:p>
            <a:pPr marL="457200" indent="-457200" algn="just">
              <a:spcAft>
                <a:spcPts val="400"/>
              </a:spcAft>
              <a:buFont typeface="+mj-lt"/>
              <a:buAutoNum type="arabicPeriod"/>
            </a:pPr>
            <a:r>
              <a:rPr lang="en-US" sz="2400" dirty="0"/>
              <a:t>Build a hospitality-domain intent dataset covering most common service request categories and train a noise-aware </a:t>
            </a:r>
            <a:r>
              <a:rPr lang="en-US" sz="2400" dirty="0" err="1"/>
              <a:t>MobileBERT</a:t>
            </a:r>
            <a:r>
              <a:rPr lang="en-US" sz="2400" dirty="0"/>
              <a:t> intent classifier using </a:t>
            </a:r>
            <a:r>
              <a:rPr lang="en-US" sz="2400" dirty="0" err="1"/>
              <a:t>Vosk</a:t>
            </a:r>
            <a:r>
              <a:rPr lang="en-US" sz="2400" dirty="0"/>
              <a:t>-transcribed training data</a:t>
            </a:r>
          </a:p>
          <a:p>
            <a:pPr marL="457200" indent="-457200" algn="just">
              <a:spcAft>
                <a:spcPts val="400"/>
              </a:spcAft>
              <a:buFont typeface="+mj-lt"/>
              <a:buAutoNum type="arabicPeriod"/>
            </a:pPr>
            <a:r>
              <a:rPr lang="en-US" sz="2400" dirty="0"/>
              <a:t>Build a lightweight </a:t>
            </a:r>
            <a:r>
              <a:rPr lang="en-US" sz="2400" dirty="0" err="1"/>
              <a:t>FastAPI</a:t>
            </a:r>
            <a:r>
              <a:rPr lang="en-US" sz="2400" dirty="0"/>
              <a:t> + SQLite backend with automated department routing and real-time staff communication via WebSocket</a:t>
            </a:r>
          </a:p>
          <a:p>
            <a:pPr marL="457200" indent="-457200" algn="just">
              <a:spcAft>
                <a:spcPts val="400"/>
              </a:spcAft>
              <a:buFont typeface="+mj-lt"/>
              <a:buAutoNum type="arabicPeriod"/>
            </a:pPr>
            <a:r>
              <a:rPr lang="en-US" sz="2400" dirty="0"/>
              <a:t>Evaluate intent classification accuracy, Speech-to-Text (STT) word error rate, end-to-end latency, and cost-effectiveness for viability requirements</a:t>
            </a:r>
          </a:p>
        </p:txBody>
      </p:sp>
      <p:sp>
        <p:nvSpPr>
          <p:cNvPr id="4" name="Slide Number Placeholder 3">
            <a:extLst>
              <a:ext uri="{FF2B5EF4-FFF2-40B4-BE49-F238E27FC236}">
                <a16:creationId xmlns:a16="http://schemas.microsoft.com/office/drawing/2014/main" id="{B66BB176-D280-CCCC-EA6E-5399430CD060}"/>
              </a:ext>
            </a:extLst>
          </p:cNvPr>
          <p:cNvSpPr>
            <a:spLocks noGrp="1"/>
          </p:cNvSpPr>
          <p:nvPr>
            <p:ph type="sldNum" sz="quarter" idx="12"/>
          </p:nvPr>
        </p:nvSpPr>
        <p:spPr/>
        <p:txBody>
          <a:bodyPr/>
          <a:lstStyle/>
          <a:p>
            <a:fld id="{9890CE2D-2882-48A4-88CB-3A003AF6C150}" type="slidenum">
              <a:rPr lang="en-US" smtClean="0"/>
              <a:t>4</a:t>
            </a:fld>
            <a:endParaRPr lang="en-US"/>
          </a:p>
        </p:txBody>
      </p:sp>
    </p:spTree>
    <p:extLst>
      <p:ext uri="{BB962C8B-B14F-4D97-AF65-F5344CB8AC3E}">
        <p14:creationId xmlns:p14="http://schemas.microsoft.com/office/powerpoint/2010/main" val="1264898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739D2-CDCC-D0F5-40F8-1D925DF00B72}"/>
              </a:ext>
            </a:extLst>
          </p:cNvPr>
          <p:cNvSpPr>
            <a:spLocks noGrp="1"/>
          </p:cNvSpPr>
          <p:nvPr>
            <p:ph type="title"/>
          </p:nvPr>
        </p:nvSpPr>
        <p:spPr>
          <a:xfrm>
            <a:off x="838200" y="228600"/>
            <a:ext cx="10515600" cy="673418"/>
          </a:xfrm>
        </p:spPr>
        <p:txBody>
          <a:bodyPr>
            <a:normAutofit fontScale="90000"/>
          </a:bodyPr>
          <a:lstStyle/>
          <a:p>
            <a:r>
              <a:rPr lang="en-US" dirty="0"/>
              <a:t>Literature Review</a:t>
            </a:r>
          </a:p>
        </p:txBody>
      </p:sp>
      <p:sp>
        <p:nvSpPr>
          <p:cNvPr id="3" name="Content Placeholder 2">
            <a:extLst>
              <a:ext uri="{FF2B5EF4-FFF2-40B4-BE49-F238E27FC236}">
                <a16:creationId xmlns:a16="http://schemas.microsoft.com/office/drawing/2014/main" id="{8FC5ECF9-03A4-4E76-B7BF-2AA7767BFB54}"/>
              </a:ext>
            </a:extLst>
          </p:cNvPr>
          <p:cNvSpPr>
            <a:spLocks noGrp="1"/>
          </p:cNvSpPr>
          <p:nvPr>
            <p:ph idx="1"/>
          </p:nvPr>
        </p:nvSpPr>
        <p:spPr>
          <a:xfrm>
            <a:off x="621030" y="1253331"/>
            <a:ext cx="10900410" cy="4351338"/>
          </a:xfrm>
        </p:spPr>
        <p:txBody>
          <a:bodyPr>
            <a:normAutofit/>
          </a:bodyPr>
          <a:lstStyle/>
          <a:p>
            <a:pPr marL="0" indent="0">
              <a:buNone/>
            </a:pPr>
            <a:r>
              <a:rPr lang="en-US" b="1" dirty="0">
                <a:solidFill>
                  <a:srgbClr val="2C5F7C"/>
                </a:solidFill>
              </a:rPr>
              <a:t>Commercial Voice Assistants in Hotels</a:t>
            </a:r>
          </a:p>
          <a:p>
            <a:pPr>
              <a:spcAft>
                <a:spcPts val="200"/>
              </a:spcAft>
              <a:buFont typeface="Arial"/>
              <a:buChar char="•"/>
            </a:pPr>
            <a:r>
              <a:rPr lang="en-US" sz="2000" dirty="0"/>
              <a:t>Alexa for Hospitality (Marriott, Hilton) reduces front desk workload (</a:t>
            </a:r>
            <a:r>
              <a:rPr lang="en-US" sz="2000" dirty="0" err="1"/>
              <a:t>Buhalis</a:t>
            </a:r>
            <a:r>
              <a:rPr lang="en-US" sz="2000" dirty="0"/>
              <a:t> &amp; </a:t>
            </a:r>
            <a:r>
              <a:rPr lang="en-US" sz="2000" dirty="0" err="1"/>
              <a:t>Moldavska</a:t>
            </a:r>
            <a:r>
              <a:rPr lang="en-US" sz="2000" dirty="0"/>
              <a:t>, 2022; Hwang &amp; Erdem, 2025)</a:t>
            </a:r>
          </a:p>
          <a:p>
            <a:pPr>
              <a:spcAft>
                <a:spcPts val="200"/>
              </a:spcAft>
              <a:buFont typeface="Arial"/>
              <a:buChar char="•"/>
            </a:pPr>
            <a:r>
              <a:rPr lang="en-US" sz="2000" dirty="0"/>
              <a:t>67% of guests uncomfortable with cloud-connected microphones (</a:t>
            </a:r>
            <a:r>
              <a:rPr lang="en-US" sz="2000" dirty="0" err="1"/>
              <a:t>Buhalis</a:t>
            </a:r>
            <a:r>
              <a:rPr lang="en-US" sz="2000" dirty="0"/>
              <a:t> &amp; </a:t>
            </a:r>
            <a:r>
              <a:rPr lang="en-US" sz="2000" dirty="0" err="1"/>
              <a:t>Moldavska</a:t>
            </a:r>
            <a:r>
              <a:rPr lang="en-US" sz="2000" dirty="0"/>
              <a:t>, 2022)</a:t>
            </a:r>
          </a:p>
          <a:p>
            <a:pPr marL="0" indent="0">
              <a:buNone/>
            </a:pPr>
            <a:endParaRPr lang="en-US" sz="2000" b="1" dirty="0">
              <a:solidFill>
                <a:srgbClr val="2C5F7C"/>
              </a:solidFill>
            </a:endParaRPr>
          </a:p>
          <a:p>
            <a:pPr marL="0" indent="0">
              <a:buNone/>
            </a:pPr>
            <a:r>
              <a:rPr lang="en-US" b="1" dirty="0">
                <a:solidFill>
                  <a:srgbClr val="2C5F7C"/>
                </a:solidFill>
              </a:rPr>
              <a:t>Edge STT and Compact NLU</a:t>
            </a:r>
          </a:p>
          <a:p>
            <a:pPr>
              <a:spcAft>
                <a:spcPts val="200"/>
              </a:spcAft>
              <a:buFont typeface="Arial"/>
              <a:buChar char="•"/>
            </a:pPr>
            <a:r>
              <a:rPr lang="en-US" sz="2000" dirty="0" err="1"/>
              <a:t>Vosk</a:t>
            </a:r>
            <a:r>
              <a:rPr lang="en-US" sz="2000" dirty="0"/>
              <a:t>: real-time offline STT, comparable latency to cloud for short commands (Korkmaz et al., 2025)</a:t>
            </a:r>
          </a:p>
          <a:p>
            <a:pPr>
              <a:spcAft>
                <a:spcPts val="200"/>
              </a:spcAft>
              <a:buFont typeface="Arial"/>
              <a:buChar char="•"/>
            </a:pPr>
            <a:r>
              <a:rPr lang="en-US" sz="2000" dirty="0" err="1"/>
              <a:t>MobileBERT</a:t>
            </a:r>
            <a:r>
              <a:rPr lang="en-US" sz="2000" dirty="0"/>
              <a:t>: 4.3× compression, 62ms inference on mobile (Sun et al., 2020)</a:t>
            </a:r>
          </a:p>
          <a:p>
            <a:pPr>
              <a:spcAft>
                <a:spcPts val="200"/>
              </a:spcAft>
              <a:buFont typeface="Arial"/>
              <a:buChar char="•"/>
            </a:pPr>
            <a:r>
              <a:rPr lang="en-US" sz="2000" dirty="0"/>
              <a:t>Edge computing preserves privacy — voice data never leaves the device (Shi et al., 2016)</a:t>
            </a:r>
          </a:p>
        </p:txBody>
      </p:sp>
      <p:sp>
        <p:nvSpPr>
          <p:cNvPr id="4" name="Slide Number Placeholder 3">
            <a:extLst>
              <a:ext uri="{FF2B5EF4-FFF2-40B4-BE49-F238E27FC236}">
                <a16:creationId xmlns:a16="http://schemas.microsoft.com/office/drawing/2014/main" id="{94EF9EB2-3057-EBB6-9610-CFCDDB403E52}"/>
              </a:ext>
            </a:extLst>
          </p:cNvPr>
          <p:cNvSpPr>
            <a:spLocks noGrp="1"/>
          </p:cNvSpPr>
          <p:nvPr>
            <p:ph type="sldNum" sz="quarter" idx="12"/>
          </p:nvPr>
        </p:nvSpPr>
        <p:spPr/>
        <p:txBody>
          <a:bodyPr/>
          <a:lstStyle/>
          <a:p>
            <a:fld id="{9890CE2D-2882-48A4-88CB-3A003AF6C150}" type="slidenum">
              <a:rPr lang="en-US" smtClean="0"/>
              <a:t>5</a:t>
            </a:fld>
            <a:endParaRPr lang="en-US"/>
          </a:p>
        </p:txBody>
      </p:sp>
    </p:spTree>
    <p:extLst>
      <p:ext uri="{BB962C8B-B14F-4D97-AF65-F5344CB8AC3E}">
        <p14:creationId xmlns:p14="http://schemas.microsoft.com/office/powerpoint/2010/main" val="3835162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00F3C45-075F-0E7A-15AC-47DFE21FE4CB}"/>
              </a:ext>
            </a:extLst>
          </p:cNvPr>
          <p:cNvSpPr>
            <a:spLocks noGrp="1"/>
          </p:cNvSpPr>
          <p:nvPr>
            <p:ph type="subTitle" idx="1"/>
          </p:nvPr>
        </p:nvSpPr>
        <p:spPr>
          <a:xfrm>
            <a:off x="838200" y="1588770"/>
            <a:ext cx="10911840" cy="4297680"/>
          </a:xfrm>
        </p:spPr>
        <p:txBody>
          <a:bodyPr>
            <a:normAutofit/>
          </a:bodyPr>
          <a:lstStyle/>
          <a:p>
            <a:pPr marL="457200" indent="-457200" algn="l">
              <a:spcAft>
                <a:spcPts val="300"/>
              </a:spcAft>
              <a:buFont typeface="+mj-lt"/>
              <a:buAutoNum type="arabicPeriod"/>
            </a:pPr>
            <a:r>
              <a:rPr lang="en-US" dirty="0"/>
              <a:t>No measurement of accuracy loss when </a:t>
            </a:r>
            <a:r>
              <a:rPr lang="en-US" dirty="0" err="1"/>
              <a:t>Vosk</a:t>
            </a:r>
            <a:r>
              <a:rPr lang="en-US" dirty="0"/>
              <a:t> STT output is passed to an on-device NLU classifier; and no noise-aware training strategy to recover it</a:t>
            </a:r>
          </a:p>
          <a:p>
            <a:pPr marL="457200" indent="-457200" algn="l">
              <a:spcAft>
                <a:spcPts val="300"/>
              </a:spcAft>
              <a:buFont typeface="+mj-lt"/>
              <a:buAutoNum type="arabicPeriod"/>
            </a:pPr>
            <a:r>
              <a:rPr lang="en-US" dirty="0"/>
              <a:t>No evaluation of compact on-device NLU models on hospitality intents within a real offline STT pipeline</a:t>
            </a:r>
          </a:p>
          <a:p>
            <a:pPr marL="457200" indent="-457200" algn="l">
              <a:spcAft>
                <a:spcPts val="300"/>
              </a:spcAft>
              <a:buFont typeface="+mj-lt"/>
              <a:buAutoNum type="arabicPeriod"/>
            </a:pPr>
            <a:r>
              <a:rPr lang="en-US" dirty="0"/>
              <a:t>No end-to-end system combining offline STT, on-device NLU, and real-time staff dashboard without cloud</a:t>
            </a:r>
          </a:p>
          <a:p>
            <a:pPr marL="457200" indent="-457200" algn="l">
              <a:spcAft>
                <a:spcPts val="300"/>
              </a:spcAft>
              <a:buFont typeface="+mj-lt"/>
              <a:buAutoNum type="arabicPeriod"/>
            </a:pPr>
            <a:r>
              <a:rPr lang="en-US" dirty="0"/>
              <a:t>No such system built for developing economy conditions like Sri Lanka; low cost, no subscriptions, local serviceability</a:t>
            </a:r>
          </a:p>
          <a:p>
            <a:pPr marL="457200" indent="-457200" algn="l">
              <a:buFont typeface="+mj-lt"/>
              <a:buAutoNum type="arabicPeriod"/>
            </a:pPr>
            <a:endParaRPr lang="en-US" dirty="0"/>
          </a:p>
        </p:txBody>
      </p:sp>
      <p:sp>
        <p:nvSpPr>
          <p:cNvPr id="4" name="Title 1">
            <a:extLst>
              <a:ext uri="{FF2B5EF4-FFF2-40B4-BE49-F238E27FC236}">
                <a16:creationId xmlns:a16="http://schemas.microsoft.com/office/drawing/2014/main" id="{666E3574-DC44-3C20-5DDA-08AD21D3E99A}"/>
              </a:ext>
            </a:extLst>
          </p:cNvPr>
          <p:cNvSpPr txBox="1">
            <a:spLocks/>
          </p:cNvSpPr>
          <p:nvPr/>
        </p:nvSpPr>
        <p:spPr>
          <a:xfrm>
            <a:off x="838200" y="228600"/>
            <a:ext cx="6088380" cy="67341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rgbClr val="1B2A4A"/>
                </a:solidFill>
                <a:latin typeface="+mj-lt"/>
                <a:ea typeface="+mj-ea"/>
                <a:cs typeface="+mj-cs"/>
              </a:defRPr>
            </a:lvl1pPr>
          </a:lstStyle>
          <a:p>
            <a:pPr algn="l"/>
            <a:r>
              <a:rPr lang="en-US" sz="4400" dirty="0"/>
              <a:t>The Research Gap</a:t>
            </a:r>
          </a:p>
        </p:txBody>
      </p:sp>
      <p:sp>
        <p:nvSpPr>
          <p:cNvPr id="5" name="Slide Number Placeholder 4">
            <a:extLst>
              <a:ext uri="{FF2B5EF4-FFF2-40B4-BE49-F238E27FC236}">
                <a16:creationId xmlns:a16="http://schemas.microsoft.com/office/drawing/2014/main" id="{7FBCDB07-0CCA-9E4C-052A-871EC652E4E1}"/>
              </a:ext>
            </a:extLst>
          </p:cNvPr>
          <p:cNvSpPr>
            <a:spLocks noGrp="1"/>
          </p:cNvSpPr>
          <p:nvPr>
            <p:ph type="sldNum" sz="quarter" idx="12"/>
          </p:nvPr>
        </p:nvSpPr>
        <p:spPr/>
        <p:txBody>
          <a:bodyPr/>
          <a:lstStyle/>
          <a:p>
            <a:fld id="{9890CE2D-2882-48A4-88CB-3A003AF6C150}" type="slidenum">
              <a:rPr lang="en-US" smtClean="0"/>
              <a:t>6</a:t>
            </a:fld>
            <a:endParaRPr lang="en-US"/>
          </a:p>
        </p:txBody>
      </p:sp>
    </p:spTree>
    <p:extLst>
      <p:ext uri="{BB962C8B-B14F-4D97-AF65-F5344CB8AC3E}">
        <p14:creationId xmlns:p14="http://schemas.microsoft.com/office/powerpoint/2010/main" val="2169588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8B406-99F3-65E5-BA5F-F465EFD31081}"/>
              </a:ext>
            </a:extLst>
          </p:cNvPr>
          <p:cNvSpPr>
            <a:spLocks noGrp="1"/>
          </p:cNvSpPr>
          <p:nvPr>
            <p:ph type="title"/>
          </p:nvPr>
        </p:nvSpPr>
        <p:spPr>
          <a:xfrm>
            <a:off x="643890" y="148590"/>
            <a:ext cx="10515600" cy="787718"/>
          </a:xfrm>
        </p:spPr>
        <p:txBody>
          <a:bodyPr/>
          <a:lstStyle/>
          <a:p>
            <a:r>
              <a:rPr lang="en-US" dirty="0">
                <a:highlight>
                  <a:srgbClr val="FFFF00"/>
                </a:highlight>
              </a:rPr>
              <a:t>Methodology</a:t>
            </a:r>
          </a:p>
        </p:txBody>
      </p:sp>
      <p:sp>
        <p:nvSpPr>
          <p:cNvPr id="3" name="Content Placeholder 2">
            <a:extLst>
              <a:ext uri="{FF2B5EF4-FFF2-40B4-BE49-F238E27FC236}">
                <a16:creationId xmlns:a16="http://schemas.microsoft.com/office/drawing/2014/main" id="{2673C3C2-BB64-0FB2-0DAA-A20CEA909815}"/>
              </a:ext>
            </a:extLst>
          </p:cNvPr>
          <p:cNvSpPr>
            <a:spLocks noGrp="1"/>
          </p:cNvSpPr>
          <p:nvPr>
            <p:ph idx="1"/>
          </p:nvPr>
        </p:nvSpPr>
        <p:spPr>
          <a:xfrm>
            <a:off x="643890" y="1036955"/>
            <a:ext cx="10515600" cy="4351338"/>
          </a:xfrm>
        </p:spPr>
        <p:txBody>
          <a:bodyPr>
            <a:noAutofit/>
          </a:bodyPr>
          <a:lstStyle/>
          <a:p>
            <a:pPr marL="0" indent="0">
              <a:buNone/>
            </a:pPr>
            <a:r>
              <a:rPr lang="en-US" sz="2000" b="1" dirty="0">
                <a:solidFill>
                  <a:srgbClr val="2C5F7C"/>
                </a:solidFill>
              </a:rPr>
              <a:t>Design Science Research (Hevner et al., 2004)</a:t>
            </a:r>
          </a:p>
          <a:p>
            <a:pPr marL="228600" indent="-228600">
              <a:spcAft>
                <a:spcPts val="200"/>
              </a:spcAft>
              <a:buFont typeface="Arial"/>
              <a:buChar char="•"/>
            </a:pPr>
            <a:r>
              <a:rPr lang="en-US" sz="2000" dirty="0"/>
              <a:t>Build and evaluate an IT artefact that solves a real practical problem</a:t>
            </a:r>
          </a:p>
          <a:p>
            <a:pPr marL="228600" indent="-228600">
              <a:spcAft>
                <a:spcPts val="200"/>
              </a:spcAft>
              <a:buFont typeface="Arial"/>
              <a:buChar char="•"/>
            </a:pPr>
            <a:r>
              <a:rPr lang="en-US" sz="2000" dirty="0"/>
              <a:t>Performance can only be measured with a working system on real hardware</a:t>
            </a:r>
          </a:p>
          <a:p>
            <a:pPr marL="0" indent="0">
              <a:buNone/>
            </a:pPr>
            <a:r>
              <a:rPr lang="en-US" sz="2000" b="1" dirty="0">
                <a:solidFill>
                  <a:srgbClr val="2C5F7C"/>
                </a:solidFill>
              </a:rPr>
              <a:t>Iterative Prototyping — 4 Build Cycles</a:t>
            </a:r>
          </a:p>
          <a:p>
            <a:pPr marL="228600" indent="-228600">
              <a:spcAft>
                <a:spcPts val="200"/>
              </a:spcAft>
              <a:buAutoNum type="arabicPeriod"/>
            </a:pPr>
            <a:r>
              <a:rPr lang="en-US" sz="2000" b="1" dirty="0"/>
              <a:t>On-device STT</a:t>
            </a:r>
            <a:r>
              <a:rPr lang="en-US" sz="2000" dirty="0"/>
              <a:t> — Vosk integration, model selection, memory testing</a:t>
            </a:r>
          </a:p>
          <a:p>
            <a:pPr marL="228600" indent="-228600">
              <a:spcAft>
                <a:spcPts val="200"/>
              </a:spcAft>
              <a:buAutoNum type="arabicPeriod"/>
            </a:pPr>
            <a:r>
              <a:rPr lang="en-US" sz="2000" b="1" dirty="0"/>
              <a:t>NLU pipeline</a:t>
            </a:r>
            <a:r>
              <a:rPr lang="en-US" sz="2000" dirty="0"/>
              <a:t> — Dataset creation, MobileBERT training, TFLite conversion</a:t>
            </a:r>
          </a:p>
          <a:p>
            <a:pPr marL="228600" indent="-228600">
              <a:spcAft>
                <a:spcPts val="200"/>
              </a:spcAft>
              <a:buAutoNum type="arabicPeriod"/>
            </a:pPr>
            <a:r>
              <a:rPr lang="en-US" sz="2000" b="1" dirty="0"/>
              <a:t>Backend + Dashboard</a:t>
            </a:r>
            <a:r>
              <a:rPr lang="en-US" sz="2000" dirty="0"/>
              <a:t> — FastAPI server, SQLite, WebSocket, staff UI</a:t>
            </a:r>
          </a:p>
          <a:p>
            <a:pPr marL="228600" indent="-228600">
              <a:spcAft>
                <a:spcPts val="200"/>
              </a:spcAft>
              <a:buAutoNum type="arabicPeriod"/>
            </a:pPr>
            <a:r>
              <a:rPr lang="en-US" sz="2000" b="1" dirty="0"/>
              <a:t>Integration + Evaluation</a:t>
            </a:r>
            <a:r>
              <a:rPr lang="en-US" sz="2000" dirty="0"/>
              <a:t> — End-to-end testing, 3-model NLU comparison, WER analysis</a:t>
            </a:r>
          </a:p>
          <a:p>
            <a:pPr marL="0" indent="0">
              <a:buNone/>
            </a:pPr>
            <a:r>
              <a:rPr lang="en-US" sz="2000" b="1" dirty="0">
                <a:solidFill>
                  <a:srgbClr val="2C5F7C"/>
                </a:solidFill>
              </a:rPr>
              <a:t>Evaluation Strategy</a:t>
            </a:r>
          </a:p>
          <a:p>
            <a:pPr marL="228600" indent="-228600">
              <a:spcAft>
                <a:spcPts val="200"/>
              </a:spcAft>
              <a:buFont typeface="Arial"/>
              <a:buChar char="•"/>
            </a:pPr>
            <a:r>
              <a:rPr lang="en-US" sz="2000" dirty="0"/>
              <a:t>Controlled 3-model NLU comparison on shared 2,016-sample test set</a:t>
            </a:r>
          </a:p>
          <a:p>
            <a:pPr marL="228600" indent="-228600">
              <a:buFont typeface="Arial"/>
              <a:buChar char="•"/>
            </a:pPr>
            <a:r>
              <a:rPr lang="en-US" sz="2000" dirty="0"/>
              <a:t>WER analysis on 10,080 TTS-Vosk paired utterances; end-to-end latency profiling</a:t>
            </a:r>
          </a:p>
        </p:txBody>
      </p:sp>
      <p:sp>
        <p:nvSpPr>
          <p:cNvPr id="4" name="Slide Number Placeholder 3">
            <a:extLst>
              <a:ext uri="{FF2B5EF4-FFF2-40B4-BE49-F238E27FC236}">
                <a16:creationId xmlns:a16="http://schemas.microsoft.com/office/drawing/2014/main" id="{4ECBD5E5-FCAD-8A77-366B-C89367A67459}"/>
              </a:ext>
            </a:extLst>
          </p:cNvPr>
          <p:cNvSpPr>
            <a:spLocks noGrp="1"/>
          </p:cNvSpPr>
          <p:nvPr>
            <p:ph type="sldNum" sz="quarter" idx="12"/>
          </p:nvPr>
        </p:nvSpPr>
        <p:spPr/>
        <p:txBody>
          <a:bodyPr/>
          <a:lstStyle/>
          <a:p>
            <a:fld id="{9890CE2D-2882-48A4-88CB-3A003AF6C150}" type="slidenum">
              <a:rPr lang="en-US" smtClean="0"/>
              <a:t>7</a:t>
            </a:fld>
            <a:endParaRPr lang="en-US"/>
          </a:p>
        </p:txBody>
      </p:sp>
    </p:spTree>
    <p:extLst>
      <p:ext uri="{BB962C8B-B14F-4D97-AF65-F5344CB8AC3E}">
        <p14:creationId xmlns:p14="http://schemas.microsoft.com/office/powerpoint/2010/main" val="765708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E056A-412B-7315-EBFD-81881ECDE2DC}"/>
              </a:ext>
            </a:extLst>
          </p:cNvPr>
          <p:cNvSpPr>
            <a:spLocks noGrp="1"/>
          </p:cNvSpPr>
          <p:nvPr>
            <p:ph type="title"/>
          </p:nvPr>
        </p:nvSpPr>
        <p:spPr>
          <a:xfrm>
            <a:off x="598170" y="136525"/>
            <a:ext cx="10515600" cy="867728"/>
          </a:xfrm>
        </p:spPr>
        <p:txBody>
          <a:bodyPr/>
          <a:lstStyle/>
          <a:p>
            <a:r>
              <a:rPr lang="en-US" dirty="0"/>
              <a:t>Requirements &amp; Analysis</a:t>
            </a:r>
          </a:p>
        </p:txBody>
      </p:sp>
      <p:sp>
        <p:nvSpPr>
          <p:cNvPr id="3" name="Content Placeholder 2">
            <a:extLst>
              <a:ext uri="{FF2B5EF4-FFF2-40B4-BE49-F238E27FC236}">
                <a16:creationId xmlns:a16="http://schemas.microsoft.com/office/drawing/2014/main" id="{0711B705-C893-70B3-F41C-70B66CCE1195}"/>
              </a:ext>
            </a:extLst>
          </p:cNvPr>
          <p:cNvSpPr>
            <a:spLocks noGrp="1"/>
          </p:cNvSpPr>
          <p:nvPr>
            <p:ph idx="1"/>
          </p:nvPr>
        </p:nvSpPr>
        <p:spPr/>
        <p:txBody>
          <a:bodyPr/>
          <a:lstStyle/>
          <a:p>
            <a:pPr marL="0" indent="0">
              <a:buNone/>
            </a:pPr>
            <a:r>
              <a:rPr lang="en-US" sz="1500" b="1" dirty="0">
                <a:solidFill>
                  <a:srgbClr val="2C5F7C"/>
                </a:solidFill>
              </a:rPr>
              <a:t>Elicitation: Literature + Guest Survey (n=20)</a:t>
            </a:r>
          </a:p>
          <a:p>
            <a:pPr marL="228600" indent="-228600">
              <a:spcAft>
                <a:spcPts val="200"/>
              </a:spcAft>
              <a:buFont typeface="Arial"/>
              <a:buChar char="•"/>
            </a:pPr>
            <a:r>
              <a:rPr lang="en-US" sz="1300" b="1" dirty="0"/>
              <a:t>75%</a:t>
            </a:r>
            <a:r>
              <a:rPr lang="en-US" sz="1300" dirty="0"/>
              <a:t> experienced delays or miscommunication with phone-based requests</a:t>
            </a:r>
          </a:p>
          <a:p>
            <a:pPr marL="228600" indent="-228600">
              <a:spcAft>
                <a:spcPts val="200"/>
              </a:spcAft>
              <a:buFont typeface="Arial"/>
              <a:buChar char="•"/>
            </a:pPr>
            <a:r>
              <a:rPr lang="en-US" sz="1300" b="1" dirty="0"/>
              <a:t>65%</a:t>
            </a:r>
            <a:r>
              <a:rPr lang="en-US" sz="1300" dirty="0"/>
              <a:t> would use a voice assistant if audio stays on-device (privacy assured)</a:t>
            </a:r>
          </a:p>
          <a:p>
            <a:pPr marL="228600" indent="-228600">
              <a:spcAft>
                <a:spcPts val="200"/>
              </a:spcAft>
              <a:buFont typeface="Arial"/>
              <a:buChar char="•"/>
            </a:pPr>
            <a:r>
              <a:rPr lang="en-US" sz="1300" b="1" dirty="0"/>
              <a:t>80%</a:t>
            </a:r>
            <a:r>
              <a:rPr lang="en-US" sz="1300" dirty="0"/>
              <a:t> preferred voice input with on-screen text confirmation before submission</a:t>
            </a:r>
          </a:p>
          <a:p>
            <a:pPr marL="228600" indent="-228600">
              <a:spcAft>
                <a:spcPts val="200"/>
              </a:spcAft>
              <a:buFont typeface="Arial"/>
              <a:buChar char="•"/>
            </a:pPr>
            <a:r>
              <a:rPr lang="en-US" sz="1300" dirty="0"/>
              <a:t>Top services: towels/bedding (90%), housekeeping (85%), food &amp; beverage (80%)</a:t>
            </a:r>
          </a:p>
          <a:p>
            <a:pPr marL="0" indent="0">
              <a:buNone/>
            </a:pPr>
            <a:r>
              <a:rPr lang="en-US" sz="1500" b="1" dirty="0">
                <a:solidFill>
                  <a:srgbClr val="2C5F7C"/>
                </a:solidFill>
              </a:rPr>
              <a:t>Key Requirements Derived</a:t>
            </a:r>
          </a:p>
          <a:p>
            <a:pPr marL="228600" indent="-228600">
              <a:spcAft>
                <a:spcPts val="200"/>
              </a:spcAft>
              <a:buFont typeface="Arial"/>
              <a:buChar char="•"/>
            </a:pPr>
            <a:r>
              <a:rPr lang="en-US" sz="1300" dirty="0"/>
              <a:t>Fully offline operation — no internet dependency for day-to-day use</a:t>
            </a:r>
          </a:p>
          <a:p>
            <a:pPr marL="228600" indent="-228600">
              <a:spcAft>
                <a:spcPts val="200"/>
              </a:spcAft>
              <a:buFont typeface="Arial"/>
              <a:buChar char="•"/>
            </a:pPr>
            <a:r>
              <a:rPr lang="en-US" sz="1300" dirty="0"/>
              <a:t>On-device voice processing — no audio leaves the guest’s tablet</a:t>
            </a:r>
          </a:p>
          <a:p>
            <a:pPr marL="228600" indent="-228600">
              <a:spcAft>
                <a:spcPts val="200"/>
              </a:spcAft>
              <a:buFont typeface="Arial"/>
              <a:buChar char="•"/>
            </a:pPr>
            <a:r>
              <a:rPr lang="en-US" sz="1300" dirty="0"/>
              <a:t>18 hotel service intent categories across 5 departments</a:t>
            </a:r>
          </a:p>
          <a:p>
            <a:pPr marL="228600" indent="-228600">
              <a:buFont typeface="Arial"/>
              <a:buChar char="•"/>
            </a:pPr>
            <a:r>
              <a:rPr lang="en-US" sz="1300" dirty="0"/>
              <a:t>End-to-end response &lt; 5 seconds; ≥90% intent classification accuracy on real speech</a:t>
            </a:r>
          </a:p>
        </p:txBody>
      </p:sp>
      <p:sp>
        <p:nvSpPr>
          <p:cNvPr id="4" name="Slide Number Placeholder 3">
            <a:extLst>
              <a:ext uri="{FF2B5EF4-FFF2-40B4-BE49-F238E27FC236}">
                <a16:creationId xmlns:a16="http://schemas.microsoft.com/office/drawing/2014/main" id="{9D2B20FE-DD49-6BB3-65A2-7683C663B2F5}"/>
              </a:ext>
            </a:extLst>
          </p:cNvPr>
          <p:cNvSpPr>
            <a:spLocks noGrp="1"/>
          </p:cNvSpPr>
          <p:nvPr>
            <p:ph type="sldNum" sz="quarter" idx="12"/>
          </p:nvPr>
        </p:nvSpPr>
        <p:spPr/>
        <p:txBody>
          <a:bodyPr/>
          <a:lstStyle/>
          <a:p>
            <a:fld id="{9890CE2D-2882-48A4-88CB-3A003AF6C150}" type="slidenum">
              <a:rPr lang="en-US" smtClean="0"/>
              <a:t>8</a:t>
            </a:fld>
            <a:endParaRPr lang="en-US"/>
          </a:p>
        </p:txBody>
      </p:sp>
    </p:spTree>
    <p:extLst>
      <p:ext uri="{BB962C8B-B14F-4D97-AF65-F5344CB8AC3E}">
        <p14:creationId xmlns:p14="http://schemas.microsoft.com/office/powerpoint/2010/main" val="1648311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134E7-DEDA-3ACE-3336-05528CC5C142}"/>
              </a:ext>
            </a:extLst>
          </p:cNvPr>
          <p:cNvSpPr>
            <a:spLocks noGrp="1"/>
          </p:cNvSpPr>
          <p:nvPr>
            <p:ph type="title"/>
          </p:nvPr>
        </p:nvSpPr>
        <p:spPr/>
        <p:txBody>
          <a:bodyPr/>
          <a:lstStyle/>
          <a:p>
            <a:r>
              <a:rPr lang="en-US"/>
              <a:t>System Architecture</a:t>
            </a:r>
          </a:p>
        </p:txBody>
      </p:sp>
      <p:sp>
        <p:nvSpPr>
          <p:cNvPr id="50" name="NetworkLabel"/>
          <p:cNvSpPr/>
          <p:nvPr/>
        </p:nvSpPr>
        <p:spPr>
          <a:xfrm>
            <a:off x="762000" y="1676400"/>
            <a:ext cx="10668000" cy="381000"/>
          </a:xfrm>
          <a:prstGeom prst="roundRect">
            <a:avLst/>
          </a:prstGeom>
          <a:solidFill>
            <a:srgbClr val="E8E4DC"/>
          </a:solidFill>
          <a:ln w="12700">
            <a:solidFill>
              <a:srgbClr val="2C5F7C"/>
            </a:solidFill>
          </a:ln>
        </p:spPr>
        <p:txBody>
          <a:bodyPr wrap="square" lIns="45720" tIns="36576" rIns="45720" bIns="36576" anchor="ctr"/>
          <a:lstStyle/>
          <a:p>
            <a:pPr algn="ctr">
              <a:buNone/>
            </a:pPr>
            <a:r>
              <a:rPr lang="en-US" sz="1000" b="1" dirty="0">
                <a:solidFill>
                  <a:srgbClr val="1B2A4A"/>
                </a:solidFill>
                <a:latin typeface="Calibri"/>
              </a:rPr>
              <a:t>HOTEL LOCAL AREA NETWORK (No Internet Required)</a:t>
            </a:r>
          </a:p>
        </p:txBody>
      </p:sp>
      <p:sp>
        <p:nvSpPr>
          <p:cNvPr id="51" name="Tier1BG"/>
          <p:cNvSpPr/>
          <p:nvPr/>
        </p:nvSpPr>
        <p:spPr>
          <a:xfrm>
            <a:off x="762000" y="2159000"/>
            <a:ext cx="3302000" cy="3937000"/>
          </a:xfrm>
          <a:prstGeom prst="roundRect">
            <a:avLst/>
          </a:prstGeom>
          <a:solidFill>
            <a:srgbClr val="FFFFFF"/>
          </a:solidFill>
          <a:ln w="12700">
            <a:solidFill>
              <a:srgbClr val="2C5F7C"/>
            </a:solidFill>
          </a:ln>
        </p:spPr>
        <p:txBody>
          <a:bodyPr wrap="square" lIns="45720" tIns="36576" rIns="45720" bIns="36576" anchor="ctr"/>
          <a:lstStyle/>
          <a:p>
            <a:pPr algn="ctr">
              <a:buNone/>
            </a:pPr>
            <a:endParaRPr/>
          </a:p>
        </p:txBody>
      </p:sp>
      <p:sp>
        <p:nvSpPr>
          <p:cNvPr id="52" name="Tier1Header"/>
          <p:cNvSpPr/>
          <p:nvPr/>
        </p:nvSpPr>
        <p:spPr>
          <a:xfrm>
            <a:off x="825500" y="2222500"/>
            <a:ext cx="3175000" cy="355600"/>
          </a:xfrm>
          <a:prstGeom prst="rect">
            <a:avLst/>
          </a:prstGeom>
          <a:solidFill>
            <a:srgbClr val="2C5F7C"/>
          </a:solidFill>
          <a:ln w="12700">
            <a:solidFill>
              <a:srgbClr val="2C5F7C"/>
            </a:solidFill>
          </a:ln>
        </p:spPr>
        <p:txBody>
          <a:bodyPr wrap="square" lIns="45720" tIns="36576" rIns="45720" bIns="36576" anchor="ctr"/>
          <a:lstStyle/>
          <a:p>
            <a:pPr algn="ctr">
              <a:buNone/>
            </a:pPr>
            <a:r>
              <a:rPr lang="en-US" sz="900" b="1" dirty="0">
                <a:solidFill>
                  <a:srgbClr val="FFFFFF"/>
                </a:solidFill>
                <a:latin typeface="Calibri"/>
              </a:rPr>
              <a:t>TIER 1: GUEST DEVICE</a:t>
            </a:r>
          </a:p>
        </p:txBody>
      </p:sp>
      <p:sp>
        <p:nvSpPr>
          <p:cNvPr id="53" name="Tier1Sub"/>
          <p:cNvSpPr/>
          <p:nvPr/>
        </p:nvSpPr>
        <p:spPr>
          <a:xfrm>
            <a:off x="825500" y="2616200"/>
            <a:ext cx="3175000" cy="228600"/>
          </a:xfrm>
          <a:prstGeom prst="rect">
            <a:avLst/>
          </a:prstGeom>
          <a:solidFill>
            <a:srgbClr val="F0EDE6"/>
          </a:solidFill>
          <a:ln w="12700">
            <a:solidFill>
              <a:srgbClr val="F0EDE6"/>
            </a:solidFill>
          </a:ln>
        </p:spPr>
        <p:txBody>
          <a:bodyPr wrap="square" lIns="45720" tIns="36576" rIns="45720" bIns="36576" anchor="ctr"/>
          <a:lstStyle/>
          <a:p>
            <a:pPr algn="ctr">
              <a:buNone/>
            </a:pPr>
            <a:r>
              <a:rPr lang="en-US" sz="800" b="1" dirty="0">
                <a:solidFill>
                  <a:srgbClr val="1B2A4A"/>
                </a:solidFill>
                <a:latin typeface="Calibri"/>
              </a:rPr>
              <a:t>Android Tablet (per room)</a:t>
            </a:r>
          </a:p>
        </p:txBody>
      </p:sp>
      <p:sp>
        <p:nvSpPr>
          <p:cNvPr id="54" name="VoskBox"/>
          <p:cNvSpPr/>
          <p:nvPr/>
        </p:nvSpPr>
        <p:spPr>
          <a:xfrm>
            <a:off x="1016000" y="2946400"/>
            <a:ext cx="2857500" cy="635000"/>
          </a:xfrm>
          <a:prstGeom prst="roundRect">
            <a:avLst/>
          </a:prstGeom>
          <a:solidFill>
            <a:srgbClr val="E8F0F5"/>
          </a:solidFill>
          <a:ln w="12700">
            <a:solidFill>
              <a:srgbClr val="2C5F7C"/>
            </a:solidFill>
          </a:ln>
        </p:spPr>
        <p:txBody>
          <a:bodyPr wrap="square" lIns="45720" tIns="27432" rIns="45720" bIns="27432" anchor="ctr"/>
          <a:lstStyle/>
          <a:p>
            <a:pPr algn="ctr">
              <a:buNone/>
            </a:pPr>
            <a:r>
              <a:rPr lang="en-US" sz="900" b="1" dirty="0">
                <a:solidFill>
                  <a:srgbClr val="1B2A4A"/>
                </a:solidFill>
                <a:latin typeface="Calibri"/>
              </a:rPr>
              <a:t>Vosk STT</a:t>
            </a:r>
          </a:p>
          <a:p>
            <a:pPr algn="ctr">
              <a:buNone/>
            </a:pPr>
            <a:r>
              <a:rPr lang="en-US" sz="750" dirty="0">
                <a:solidFill>
                  <a:srgbClr val="1B2A4A"/>
                </a:solidFill>
                <a:latin typeface="Calibri"/>
              </a:rPr>
              <a:t>vosk-small-en-in-0.4 (36 MB)</a:t>
            </a:r>
          </a:p>
        </p:txBody>
      </p:sp>
      <p:sp>
        <p:nvSpPr>
          <p:cNvPr id="55" name="NLUBox"/>
          <p:cNvSpPr/>
          <p:nvPr/>
        </p:nvSpPr>
        <p:spPr>
          <a:xfrm>
            <a:off x="1016000" y="3708400"/>
            <a:ext cx="2857500" cy="635000"/>
          </a:xfrm>
          <a:prstGeom prst="roundRect">
            <a:avLst/>
          </a:prstGeom>
          <a:solidFill>
            <a:srgbClr val="E8F0F5"/>
          </a:solidFill>
          <a:ln w="12700">
            <a:solidFill>
              <a:srgbClr val="2C5F7C"/>
            </a:solidFill>
          </a:ln>
        </p:spPr>
        <p:txBody>
          <a:bodyPr wrap="square" lIns="45720" tIns="27432" rIns="45720" bIns="27432" anchor="ctr"/>
          <a:lstStyle/>
          <a:p>
            <a:pPr algn="ctr">
              <a:buNone/>
            </a:pPr>
            <a:r>
              <a:rPr lang="en-US" sz="900" b="1" dirty="0">
                <a:solidFill>
                  <a:srgbClr val="1B2A4A"/>
                </a:solidFill>
                <a:latin typeface="Calibri"/>
              </a:rPr>
              <a:t>MobileBERT NLU</a:t>
            </a:r>
          </a:p>
          <a:p>
            <a:pPr algn="ctr">
              <a:buNone/>
            </a:pPr>
            <a:r>
              <a:rPr lang="en-US" sz="750" dirty="0">
                <a:solidFill>
                  <a:srgbClr val="1B2A4A"/>
                </a:solidFill>
                <a:latin typeface="Calibri"/>
              </a:rPr>
              <a:t>TFLite 26 MB • 18 intents</a:t>
            </a:r>
          </a:p>
        </p:txBody>
      </p:sp>
      <p:sp>
        <p:nvSpPr>
          <p:cNvPr id="56" name="HybridBox"/>
          <p:cNvSpPr/>
          <p:nvPr/>
        </p:nvSpPr>
        <p:spPr>
          <a:xfrm>
            <a:off x="1016000" y="4470400"/>
            <a:ext cx="2857500" cy="635000"/>
          </a:xfrm>
          <a:prstGeom prst="roundRect">
            <a:avLst/>
          </a:prstGeom>
          <a:solidFill>
            <a:srgbClr val="E8F0F5"/>
          </a:solidFill>
          <a:ln w="12700">
            <a:solidFill>
              <a:srgbClr val="2C5F7C"/>
            </a:solidFill>
          </a:ln>
        </p:spPr>
        <p:txBody>
          <a:bodyPr wrap="square" lIns="45720" tIns="27432" rIns="45720" bIns="27432" anchor="ctr"/>
          <a:lstStyle/>
          <a:p>
            <a:pPr algn="ctr">
              <a:buNone/>
            </a:pPr>
            <a:r>
              <a:rPr lang="en-US" sz="900" b="1" dirty="0">
                <a:solidFill>
                  <a:srgbClr val="1B2A4A"/>
                </a:solidFill>
                <a:latin typeface="Calibri"/>
              </a:rPr>
              <a:t>Hybrid Pipeline</a:t>
            </a:r>
          </a:p>
          <a:p>
            <a:pPr algn="ctr">
              <a:buNone/>
            </a:pPr>
            <a:r>
              <a:rPr lang="en-US" sz="750" dirty="0">
                <a:solidFill>
                  <a:srgbClr val="1B2A4A"/>
                </a:solidFill>
                <a:latin typeface="Calibri"/>
              </a:rPr>
              <a:t>Keyword rules + Neural model</a:t>
            </a:r>
          </a:p>
        </p:txBody>
      </p:sp>
      <p:sp>
        <p:nvSpPr>
          <p:cNvPr id="57" name="TTSBox"/>
          <p:cNvSpPr/>
          <p:nvPr/>
        </p:nvSpPr>
        <p:spPr>
          <a:xfrm>
            <a:off x="1016000" y="5232400"/>
            <a:ext cx="2857500" cy="381000"/>
          </a:xfrm>
          <a:prstGeom prst="roundRect">
            <a:avLst/>
          </a:prstGeom>
          <a:solidFill>
            <a:srgbClr val="E8F0F5"/>
          </a:solidFill>
          <a:ln w="12700">
            <a:solidFill>
              <a:srgbClr val="2C5F7C"/>
            </a:solidFill>
          </a:ln>
        </p:spPr>
        <p:txBody>
          <a:bodyPr wrap="square" lIns="45720" tIns="36576" rIns="45720" bIns="36576" anchor="ctr"/>
          <a:lstStyle/>
          <a:p>
            <a:pPr algn="ctr">
              <a:buNone/>
            </a:pPr>
            <a:r>
              <a:rPr lang="en-US" sz="800" b="1" dirty="0">
                <a:solidFill>
                  <a:srgbClr val="1B2A4A"/>
                </a:solidFill>
                <a:latin typeface="Calibri"/>
              </a:rPr>
              <a:t>Android TTS (voice feedback)</a:t>
            </a:r>
          </a:p>
        </p:txBody>
      </p:sp>
      <p:sp>
        <p:nvSpPr>
          <p:cNvPr id="70" name="Arr1"/>
          <p:cNvSpPr/>
          <p:nvPr/>
        </p:nvSpPr>
        <p:spPr>
          <a:xfrm>
            <a:off x="2451100" y="3581400"/>
            <a:ext cx="1" cy="127000"/>
          </a:xfrm>
          <a:prstGeom prst="line">
            <a:avLst/>
          </a:prstGeom>
          <a:ln w="19050">
            <a:solidFill>
              <a:srgbClr val="2C5F7C"/>
            </a:solidFill>
            <a:tailEnd type="triangle" w="med" len="med"/>
          </a:ln>
        </p:spPr>
        <p:txBody>
          <a:bodyPr/>
          <a:lstStyle/>
          <a:p>
            <a:endParaRPr lang="en-US"/>
          </a:p>
        </p:txBody>
      </p:sp>
      <p:sp>
        <p:nvSpPr>
          <p:cNvPr id="71" name="Arr2"/>
          <p:cNvSpPr/>
          <p:nvPr/>
        </p:nvSpPr>
        <p:spPr>
          <a:xfrm>
            <a:off x="2451100" y="4343400"/>
            <a:ext cx="1" cy="127000"/>
          </a:xfrm>
          <a:prstGeom prst="line">
            <a:avLst/>
          </a:prstGeom>
          <a:ln w="19050">
            <a:solidFill>
              <a:srgbClr val="2C5F7C"/>
            </a:solidFill>
            <a:tailEnd type="triangle" w="med" len="med"/>
          </a:ln>
        </p:spPr>
        <p:txBody>
          <a:bodyPr/>
          <a:lstStyle/>
          <a:p>
            <a:endParaRPr lang="en-US"/>
          </a:p>
        </p:txBody>
      </p:sp>
      <p:sp>
        <p:nvSpPr>
          <p:cNvPr id="72" name="Arr3"/>
          <p:cNvSpPr/>
          <p:nvPr/>
        </p:nvSpPr>
        <p:spPr>
          <a:xfrm>
            <a:off x="2451100" y="5105400"/>
            <a:ext cx="1" cy="127000"/>
          </a:xfrm>
          <a:prstGeom prst="line">
            <a:avLst/>
          </a:prstGeom>
          <a:ln w="19050">
            <a:solidFill>
              <a:srgbClr val="2C5F7C"/>
            </a:solidFill>
            <a:tailEnd type="triangle" w="med" len="med"/>
          </a:ln>
        </p:spPr>
        <p:txBody>
          <a:bodyPr/>
          <a:lstStyle/>
          <a:p>
            <a:endParaRPr lang="en-US"/>
          </a:p>
        </p:txBody>
      </p:sp>
      <p:sp>
        <p:nvSpPr>
          <p:cNvPr id="58" name="Tier2BG"/>
          <p:cNvSpPr/>
          <p:nvPr/>
        </p:nvSpPr>
        <p:spPr>
          <a:xfrm>
            <a:off x="4445000" y="2159000"/>
            <a:ext cx="3302000" cy="3937000"/>
          </a:xfrm>
          <a:prstGeom prst="roundRect">
            <a:avLst/>
          </a:prstGeom>
          <a:solidFill>
            <a:srgbClr val="FFFFFF"/>
          </a:solidFill>
          <a:ln w="12700">
            <a:solidFill>
              <a:srgbClr val="6B8F71"/>
            </a:solidFill>
          </a:ln>
        </p:spPr>
        <p:txBody>
          <a:bodyPr wrap="square" lIns="45720" tIns="36576" rIns="45720" bIns="36576" anchor="ctr"/>
          <a:lstStyle/>
          <a:p>
            <a:pPr algn="ctr">
              <a:buNone/>
            </a:pPr>
            <a:endParaRPr/>
          </a:p>
        </p:txBody>
      </p:sp>
      <p:sp>
        <p:nvSpPr>
          <p:cNvPr id="59" name="Tier2Header"/>
          <p:cNvSpPr/>
          <p:nvPr/>
        </p:nvSpPr>
        <p:spPr>
          <a:xfrm>
            <a:off x="4508500" y="2222500"/>
            <a:ext cx="3175000" cy="355600"/>
          </a:xfrm>
          <a:prstGeom prst="rect">
            <a:avLst/>
          </a:prstGeom>
          <a:solidFill>
            <a:srgbClr val="6B8F71"/>
          </a:solidFill>
          <a:ln w="12700">
            <a:solidFill>
              <a:srgbClr val="6B8F71"/>
            </a:solidFill>
          </a:ln>
        </p:spPr>
        <p:txBody>
          <a:bodyPr wrap="square" lIns="45720" tIns="36576" rIns="45720" bIns="36576" anchor="ctr"/>
          <a:lstStyle/>
          <a:p>
            <a:pPr algn="ctr">
              <a:buNone/>
            </a:pPr>
            <a:r>
              <a:rPr lang="en-US" sz="900" b="1" dirty="0">
                <a:solidFill>
                  <a:srgbClr val="FFFFFF"/>
                </a:solidFill>
                <a:latin typeface="Calibri"/>
              </a:rPr>
              <a:t>TIER 2: HOTEL SERVER</a:t>
            </a:r>
          </a:p>
        </p:txBody>
      </p:sp>
      <p:sp>
        <p:nvSpPr>
          <p:cNvPr id="60" name="Tier2Sub"/>
          <p:cNvSpPr/>
          <p:nvPr/>
        </p:nvSpPr>
        <p:spPr>
          <a:xfrm>
            <a:off x="4508500" y="2616200"/>
            <a:ext cx="3175000" cy="228600"/>
          </a:xfrm>
          <a:prstGeom prst="rect">
            <a:avLst/>
          </a:prstGeom>
          <a:solidFill>
            <a:srgbClr val="EEF2EE"/>
          </a:solidFill>
          <a:ln w="12700">
            <a:solidFill>
              <a:srgbClr val="EEF2EE"/>
            </a:solidFill>
          </a:ln>
        </p:spPr>
        <p:txBody>
          <a:bodyPr wrap="square" lIns="45720" tIns="36576" rIns="45720" bIns="36576" anchor="ctr"/>
          <a:lstStyle/>
          <a:p>
            <a:pPr algn="ctr">
              <a:buNone/>
            </a:pPr>
            <a:r>
              <a:rPr lang="en-US" sz="800" b="1" dirty="0">
                <a:solidFill>
                  <a:srgbClr val="1B2A4A"/>
                </a:solidFill>
                <a:latin typeface="Calibri"/>
              </a:rPr>
              <a:t>Any low-cost PC / Laptop</a:t>
            </a:r>
          </a:p>
        </p:txBody>
      </p:sp>
      <p:sp>
        <p:nvSpPr>
          <p:cNvPr id="61" name="FastAPIBox"/>
          <p:cNvSpPr/>
          <p:nvPr/>
        </p:nvSpPr>
        <p:spPr>
          <a:xfrm>
            <a:off x="4635500" y="2946400"/>
            <a:ext cx="2921000" cy="635000"/>
          </a:xfrm>
          <a:prstGeom prst="roundRect">
            <a:avLst/>
          </a:prstGeom>
          <a:solidFill>
            <a:srgbClr val="EEF2EE"/>
          </a:solidFill>
          <a:ln w="12700">
            <a:solidFill>
              <a:srgbClr val="6B8F71"/>
            </a:solidFill>
          </a:ln>
        </p:spPr>
        <p:txBody>
          <a:bodyPr wrap="square" lIns="45720" tIns="27432" rIns="45720" bIns="27432" anchor="ctr"/>
          <a:lstStyle/>
          <a:p>
            <a:pPr algn="ctr">
              <a:buNone/>
            </a:pPr>
            <a:r>
              <a:rPr lang="en-US" sz="900" b="1" dirty="0">
                <a:solidFill>
                  <a:srgbClr val="1B2A4A"/>
                </a:solidFill>
                <a:latin typeface="Calibri"/>
              </a:rPr>
              <a:t>FastAPI Backend</a:t>
            </a:r>
          </a:p>
          <a:p>
            <a:pPr algn="ctr">
              <a:buNone/>
            </a:pPr>
            <a:r>
              <a:rPr lang="en-US" sz="750" dirty="0">
                <a:solidFill>
                  <a:srgbClr val="1B2A4A"/>
                </a:solidFill>
                <a:latin typeface="Calibri"/>
              </a:rPr>
              <a:t>REST API + WebSocket Hub</a:t>
            </a:r>
          </a:p>
        </p:txBody>
      </p:sp>
      <p:sp>
        <p:nvSpPr>
          <p:cNvPr id="62" name="SQLiteBox"/>
          <p:cNvSpPr/>
          <p:nvPr/>
        </p:nvSpPr>
        <p:spPr>
          <a:xfrm>
            <a:off x="4635500" y="3708400"/>
            <a:ext cx="2921000" cy="635000"/>
          </a:xfrm>
          <a:prstGeom prst="roundRect">
            <a:avLst/>
          </a:prstGeom>
          <a:solidFill>
            <a:srgbClr val="EEF2EE"/>
          </a:solidFill>
          <a:ln w="12700">
            <a:solidFill>
              <a:srgbClr val="6B8F71"/>
            </a:solidFill>
          </a:ln>
        </p:spPr>
        <p:txBody>
          <a:bodyPr wrap="square" lIns="45720" tIns="27432" rIns="45720" bIns="27432" anchor="ctr"/>
          <a:lstStyle/>
          <a:p>
            <a:pPr algn="ctr">
              <a:buNone/>
            </a:pPr>
            <a:r>
              <a:rPr lang="en-US" sz="900" b="1" dirty="0">
                <a:solidFill>
                  <a:srgbClr val="1B2A4A"/>
                </a:solidFill>
                <a:latin typeface="Calibri"/>
              </a:rPr>
              <a:t>SQLite Database</a:t>
            </a:r>
          </a:p>
          <a:p>
            <a:pPr algn="ctr">
              <a:buNone/>
            </a:pPr>
            <a:r>
              <a:rPr lang="en-US" sz="750" dirty="0">
                <a:solidFill>
                  <a:srgbClr val="1B2A4A"/>
                </a:solidFill>
                <a:latin typeface="Calibri"/>
              </a:rPr>
              <a:t>5 tables • Request persistence</a:t>
            </a:r>
          </a:p>
        </p:txBody>
      </p:sp>
      <p:sp>
        <p:nvSpPr>
          <p:cNvPr id="63" name="RoutingBox"/>
          <p:cNvSpPr/>
          <p:nvPr/>
        </p:nvSpPr>
        <p:spPr>
          <a:xfrm>
            <a:off x="4635500" y="4470400"/>
            <a:ext cx="2921000" cy="635000"/>
          </a:xfrm>
          <a:prstGeom prst="roundRect">
            <a:avLst/>
          </a:prstGeom>
          <a:solidFill>
            <a:srgbClr val="EEF2EE"/>
          </a:solidFill>
          <a:ln w="12700">
            <a:solidFill>
              <a:srgbClr val="6B8F71"/>
            </a:solidFill>
          </a:ln>
        </p:spPr>
        <p:txBody>
          <a:bodyPr wrap="square" lIns="45720" tIns="27432" rIns="45720" bIns="27432" anchor="ctr"/>
          <a:lstStyle/>
          <a:p>
            <a:pPr algn="ctr">
              <a:buNone/>
            </a:pPr>
            <a:r>
              <a:rPr lang="en-US" sz="900" b="1" dirty="0">
                <a:solidFill>
                  <a:srgbClr val="1B2A4A"/>
                </a:solidFill>
                <a:latin typeface="Calibri"/>
              </a:rPr>
              <a:t>Routing Engine</a:t>
            </a:r>
          </a:p>
          <a:p>
            <a:pPr algn="ctr">
              <a:buNone/>
            </a:pPr>
            <a:r>
              <a:rPr lang="en-US" sz="750" dirty="0">
                <a:solidFill>
                  <a:srgbClr val="1B2A4A"/>
                </a:solidFill>
                <a:latin typeface="Calibri"/>
              </a:rPr>
              <a:t>DB-driven + keyword fallback</a:t>
            </a:r>
          </a:p>
        </p:txBody>
      </p:sp>
      <p:sp>
        <p:nvSpPr>
          <p:cNvPr id="64" name="WSBox"/>
          <p:cNvSpPr/>
          <p:nvPr/>
        </p:nvSpPr>
        <p:spPr>
          <a:xfrm>
            <a:off x="4635500" y="5232400"/>
            <a:ext cx="2921000" cy="381000"/>
          </a:xfrm>
          <a:prstGeom prst="roundRect">
            <a:avLst/>
          </a:prstGeom>
          <a:solidFill>
            <a:srgbClr val="EEF2EE"/>
          </a:solidFill>
          <a:ln w="12700">
            <a:solidFill>
              <a:srgbClr val="6B8F71"/>
            </a:solidFill>
          </a:ln>
        </p:spPr>
        <p:txBody>
          <a:bodyPr wrap="square" lIns="45720" tIns="36576" rIns="45720" bIns="36576" anchor="ctr"/>
          <a:lstStyle/>
          <a:p>
            <a:pPr algn="ctr">
              <a:buNone/>
            </a:pPr>
            <a:r>
              <a:rPr lang="en-US" sz="800" b="1" dirty="0">
                <a:solidFill>
                  <a:srgbClr val="1B2A4A"/>
                </a:solidFill>
                <a:latin typeface="Calibri"/>
              </a:rPr>
              <a:t>WebSocket Connection Manager</a:t>
            </a:r>
          </a:p>
        </p:txBody>
      </p:sp>
      <p:sp>
        <p:nvSpPr>
          <p:cNvPr id="65" name="Tier3BG"/>
          <p:cNvSpPr/>
          <p:nvPr/>
        </p:nvSpPr>
        <p:spPr>
          <a:xfrm>
            <a:off x="8128000" y="2159000"/>
            <a:ext cx="3302000" cy="3937000"/>
          </a:xfrm>
          <a:prstGeom prst="roundRect">
            <a:avLst/>
          </a:prstGeom>
          <a:solidFill>
            <a:srgbClr val="FFFFFF"/>
          </a:solidFill>
          <a:ln w="12700">
            <a:solidFill>
              <a:srgbClr val="C4956A"/>
            </a:solidFill>
          </a:ln>
        </p:spPr>
        <p:txBody>
          <a:bodyPr wrap="square" lIns="45720" tIns="36576" rIns="45720" bIns="36576" anchor="ctr"/>
          <a:lstStyle/>
          <a:p>
            <a:pPr algn="ctr">
              <a:buNone/>
            </a:pPr>
            <a:endParaRPr/>
          </a:p>
        </p:txBody>
      </p:sp>
      <p:sp>
        <p:nvSpPr>
          <p:cNvPr id="66" name="Tier3Header"/>
          <p:cNvSpPr/>
          <p:nvPr/>
        </p:nvSpPr>
        <p:spPr>
          <a:xfrm>
            <a:off x="8191500" y="2222500"/>
            <a:ext cx="3175000" cy="355600"/>
          </a:xfrm>
          <a:prstGeom prst="rect">
            <a:avLst/>
          </a:prstGeom>
          <a:solidFill>
            <a:srgbClr val="C4956A"/>
          </a:solidFill>
          <a:ln w="12700">
            <a:solidFill>
              <a:srgbClr val="C4956A"/>
            </a:solidFill>
          </a:ln>
        </p:spPr>
        <p:txBody>
          <a:bodyPr wrap="square" lIns="45720" tIns="36576" rIns="45720" bIns="36576" anchor="ctr"/>
          <a:lstStyle/>
          <a:p>
            <a:pPr algn="ctr">
              <a:buNone/>
            </a:pPr>
            <a:r>
              <a:rPr lang="en-US" sz="900" b="1" dirty="0">
                <a:solidFill>
                  <a:srgbClr val="FFFFFF"/>
                </a:solidFill>
                <a:latin typeface="Calibri"/>
              </a:rPr>
              <a:t>TIER 3: STAFF DASHBOARD</a:t>
            </a:r>
          </a:p>
        </p:txBody>
      </p:sp>
      <p:sp>
        <p:nvSpPr>
          <p:cNvPr id="67" name="Tier3Sub"/>
          <p:cNvSpPr/>
          <p:nvPr/>
        </p:nvSpPr>
        <p:spPr>
          <a:xfrm>
            <a:off x="8191500" y="2616200"/>
            <a:ext cx="3175000" cy="228600"/>
          </a:xfrm>
          <a:prstGeom prst="rect">
            <a:avLst/>
          </a:prstGeom>
          <a:solidFill>
            <a:srgbClr val="F5EDE8"/>
          </a:solidFill>
          <a:ln w="12700">
            <a:solidFill>
              <a:srgbClr val="F5EDE8"/>
            </a:solidFill>
          </a:ln>
        </p:spPr>
        <p:txBody>
          <a:bodyPr wrap="square" lIns="45720" tIns="36576" rIns="45720" bIns="36576" anchor="ctr"/>
          <a:lstStyle/>
          <a:p>
            <a:pPr algn="ctr">
              <a:buNone/>
            </a:pPr>
            <a:r>
              <a:rPr lang="en-US" sz="800" b="1" dirty="0">
                <a:solidFill>
                  <a:srgbClr val="1B2A4A"/>
                </a:solidFill>
                <a:latin typeface="Calibri"/>
              </a:rPr>
              <a:t>Any Web Browser</a:t>
            </a:r>
          </a:p>
        </p:txBody>
      </p:sp>
      <p:sp>
        <p:nvSpPr>
          <p:cNvPr id="68" name="DashBoard"/>
          <p:cNvSpPr/>
          <p:nvPr/>
        </p:nvSpPr>
        <p:spPr>
          <a:xfrm>
            <a:off x="8318500" y="2946400"/>
            <a:ext cx="2921000" cy="762000"/>
          </a:xfrm>
          <a:prstGeom prst="roundRect">
            <a:avLst/>
          </a:prstGeom>
          <a:solidFill>
            <a:srgbClr val="F5EDE8"/>
          </a:solidFill>
          <a:ln w="12700">
            <a:solidFill>
              <a:srgbClr val="C4956A"/>
            </a:solidFill>
          </a:ln>
        </p:spPr>
        <p:txBody>
          <a:bodyPr wrap="square" lIns="45720" tIns="27432" rIns="45720" bIns="27432" anchor="ctr"/>
          <a:lstStyle/>
          <a:p>
            <a:pPr algn="ctr">
              <a:buNone/>
            </a:pPr>
            <a:r>
              <a:rPr lang="en-US" sz="900" b="1" dirty="0">
                <a:solidFill>
                  <a:srgbClr val="1B2A4A"/>
                </a:solidFill>
                <a:latin typeface="Calibri"/>
              </a:rPr>
              <a:t>Department Queues</a:t>
            </a:r>
          </a:p>
          <a:p>
            <a:pPr algn="ctr">
              <a:buNone/>
            </a:pPr>
            <a:r>
              <a:rPr lang="en-US" sz="750" dirty="0">
                <a:solidFill>
                  <a:srgbClr val="1B2A4A"/>
                </a:solidFill>
                <a:latin typeface="Calibri"/>
              </a:rPr>
              <a:t>Filtered by: Housekeeping,</a:t>
            </a:r>
          </a:p>
          <a:p>
            <a:pPr algn="ctr">
              <a:buNone/>
            </a:pPr>
            <a:r>
              <a:rPr lang="en-US" sz="750" dirty="0">
                <a:solidFill>
                  <a:srgbClr val="1B2A4A"/>
                </a:solidFill>
                <a:latin typeface="Calibri"/>
              </a:rPr>
              <a:t>Room Service, F&amp;B, Maintenance</a:t>
            </a:r>
          </a:p>
        </p:txBody>
      </p:sp>
      <p:sp>
        <p:nvSpPr>
          <p:cNvPr id="69" name="StatusBox"/>
          <p:cNvSpPr/>
          <p:nvPr/>
        </p:nvSpPr>
        <p:spPr>
          <a:xfrm>
            <a:off x="8318500" y="3835400"/>
            <a:ext cx="2921000" cy="635000"/>
          </a:xfrm>
          <a:prstGeom prst="roundRect">
            <a:avLst/>
          </a:prstGeom>
          <a:solidFill>
            <a:srgbClr val="F5EDE8"/>
          </a:solidFill>
          <a:ln w="12700">
            <a:solidFill>
              <a:srgbClr val="C4956A"/>
            </a:solidFill>
          </a:ln>
        </p:spPr>
        <p:txBody>
          <a:bodyPr wrap="square" lIns="45720" tIns="27432" rIns="45720" bIns="27432" anchor="ctr"/>
          <a:lstStyle/>
          <a:p>
            <a:pPr algn="ctr">
              <a:buNone/>
            </a:pPr>
            <a:r>
              <a:rPr lang="en-US" sz="900" b="1" dirty="0">
                <a:solidFill>
                  <a:srgbClr val="1B2A4A"/>
                </a:solidFill>
                <a:latin typeface="Calibri"/>
              </a:rPr>
              <a:t>Status Management</a:t>
            </a:r>
          </a:p>
          <a:p>
            <a:pPr algn="ctr">
              <a:buNone/>
            </a:pPr>
            <a:r>
              <a:rPr lang="en-US" sz="750" dirty="0">
                <a:solidFill>
                  <a:srgbClr val="1B2A4A"/>
                </a:solidFill>
                <a:latin typeface="Calibri"/>
              </a:rPr>
              <a:t>Pending → In Progress → Done</a:t>
            </a:r>
          </a:p>
        </p:txBody>
      </p:sp>
      <p:sp>
        <p:nvSpPr>
          <p:cNvPr id="73" name="MsgBox"/>
          <p:cNvSpPr/>
          <p:nvPr/>
        </p:nvSpPr>
        <p:spPr>
          <a:xfrm>
            <a:off x="8318500" y="4597400"/>
            <a:ext cx="2921000" cy="635000"/>
          </a:xfrm>
          <a:prstGeom prst="roundRect">
            <a:avLst/>
          </a:prstGeom>
          <a:solidFill>
            <a:srgbClr val="F5EDE8"/>
          </a:solidFill>
          <a:ln w="12700">
            <a:solidFill>
              <a:srgbClr val="C4956A"/>
            </a:solidFill>
          </a:ln>
        </p:spPr>
        <p:txBody>
          <a:bodyPr wrap="square" lIns="45720" tIns="27432" rIns="45720" bIns="27432" anchor="ctr"/>
          <a:lstStyle/>
          <a:p>
            <a:pPr algn="ctr">
              <a:buNone/>
            </a:pPr>
            <a:r>
              <a:rPr lang="en-US" sz="900" b="1" dirty="0">
                <a:solidFill>
                  <a:srgbClr val="1B2A4A"/>
                </a:solidFill>
                <a:latin typeface="Calibri"/>
              </a:rPr>
              <a:t>Real-Time Messaging</a:t>
            </a:r>
          </a:p>
          <a:p>
            <a:pPr algn="ctr">
              <a:buNone/>
            </a:pPr>
            <a:r>
              <a:rPr lang="en-US" sz="750" dirty="0">
                <a:solidFill>
                  <a:srgbClr val="1B2A4A"/>
                </a:solidFill>
                <a:latin typeface="Calibri"/>
              </a:rPr>
              <a:t>Bidirectional staff ↔ guest</a:t>
            </a:r>
          </a:p>
        </p:txBody>
      </p:sp>
      <p:sp>
        <p:nvSpPr>
          <p:cNvPr id="74" name="RatingBox"/>
          <p:cNvSpPr/>
          <p:nvPr/>
        </p:nvSpPr>
        <p:spPr>
          <a:xfrm>
            <a:off x="8318500" y="5359400"/>
            <a:ext cx="2921000" cy="355600"/>
          </a:xfrm>
          <a:prstGeom prst="roundRect">
            <a:avLst/>
          </a:prstGeom>
          <a:solidFill>
            <a:srgbClr val="F5EDE8"/>
          </a:solidFill>
          <a:ln w="12700">
            <a:solidFill>
              <a:srgbClr val="C4956A"/>
            </a:solidFill>
          </a:ln>
        </p:spPr>
        <p:txBody>
          <a:bodyPr wrap="square" lIns="45720" tIns="36576" rIns="45720" bIns="36576" anchor="ctr"/>
          <a:lstStyle/>
          <a:p>
            <a:pPr algn="ctr">
              <a:buNone/>
            </a:pPr>
            <a:r>
              <a:rPr lang="en-US" sz="800" b="1" dirty="0">
                <a:solidFill>
                  <a:srgbClr val="1B2A4A"/>
                </a:solidFill>
                <a:latin typeface="Calibri"/>
              </a:rPr>
              <a:t>Guest satisfaction rating</a:t>
            </a:r>
          </a:p>
        </p:txBody>
      </p:sp>
      <p:sp>
        <p:nvSpPr>
          <p:cNvPr id="80" name="T1toT2"/>
          <p:cNvSpPr/>
          <p:nvPr/>
        </p:nvSpPr>
        <p:spPr>
          <a:xfrm>
            <a:off x="4064000" y="3810000"/>
            <a:ext cx="381000" cy="1"/>
          </a:xfrm>
          <a:prstGeom prst="line">
            <a:avLst/>
          </a:prstGeom>
          <a:ln w="19050">
            <a:solidFill>
              <a:srgbClr val="1B2A4A"/>
            </a:solidFill>
            <a:tailEnd type="triangle" w="med" len="med"/>
          </a:ln>
        </p:spPr>
        <p:txBody>
          <a:bodyPr/>
          <a:lstStyle/>
          <a:p>
            <a:endParaRPr lang="en-US"/>
          </a:p>
        </p:txBody>
      </p:sp>
      <p:sp>
        <p:nvSpPr>
          <p:cNvPr id="81" name="T2toT3"/>
          <p:cNvSpPr/>
          <p:nvPr/>
        </p:nvSpPr>
        <p:spPr>
          <a:xfrm>
            <a:off x="7747000" y="3810000"/>
            <a:ext cx="381000" cy="1"/>
          </a:xfrm>
          <a:prstGeom prst="line">
            <a:avLst/>
          </a:prstGeom>
          <a:ln w="19050">
            <a:solidFill>
              <a:srgbClr val="1B2A4A"/>
            </a:solidFill>
            <a:tailEnd type="triangle" w="med" len="med"/>
          </a:ln>
        </p:spPr>
        <p:txBody>
          <a:bodyPr/>
          <a:lstStyle/>
          <a:p>
            <a:endParaRPr lang="en-US"/>
          </a:p>
        </p:txBody>
      </p:sp>
      <p:sp>
        <p:nvSpPr>
          <p:cNvPr id="82" name="HTTPLabel"/>
          <p:cNvSpPr/>
          <p:nvPr/>
        </p:nvSpPr>
        <p:spPr>
          <a:xfrm>
            <a:off x="4038600" y="3429000"/>
            <a:ext cx="533400" cy="228600"/>
          </a:xfrm>
          <a:prstGeom prst="rect">
            <a:avLst/>
          </a:prstGeom>
          <a:solidFill>
            <a:srgbClr val="F7F5F0"/>
          </a:solidFill>
          <a:ln w="12700">
            <a:solidFill>
              <a:srgbClr val="F7F5F0"/>
            </a:solidFill>
          </a:ln>
        </p:spPr>
        <p:txBody>
          <a:bodyPr wrap="square" lIns="45720" tIns="36576" rIns="45720" bIns="36576" anchor="ctr"/>
          <a:lstStyle/>
          <a:p>
            <a:pPr algn="ctr">
              <a:buNone/>
            </a:pPr>
            <a:r>
              <a:rPr lang="en-US" sz="750" b="1" dirty="0">
                <a:solidFill>
                  <a:srgbClr val="1B2A4A"/>
                </a:solidFill>
                <a:latin typeface="Calibri"/>
              </a:rPr>
              <a:t>HTTP</a:t>
            </a:r>
          </a:p>
        </p:txBody>
      </p:sp>
      <p:sp>
        <p:nvSpPr>
          <p:cNvPr id="83" name="WSLabel"/>
          <p:cNvSpPr/>
          <p:nvPr/>
        </p:nvSpPr>
        <p:spPr>
          <a:xfrm>
            <a:off x="7721600" y="3429000"/>
            <a:ext cx="635000" cy="228600"/>
          </a:xfrm>
          <a:prstGeom prst="rect">
            <a:avLst/>
          </a:prstGeom>
          <a:solidFill>
            <a:srgbClr val="F7F5F0"/>
          </a:solidFill>
          <a:ln w="12700">
            <a:solidFill>
              <a:srgbClr val="F7F5F0"/>
            </a:solidFill>
          </a:ln>
        </p:spPr>
        <p:txBody>
          <a:bodyPr wrap="square" lIns="45720" tIns="36576" rIns="45720" bIns="36576" anchor="ctr"/>
          <a:lstStyle/>
          <a:p>
            <a:pPr algn="ctr">
              <a:buNone/>
            </a:pPr>
            <a:r>
              <a:rPr lang="en-US" sz="700" b="1" dirty="0">
                <a:solidFill>
                  <a:srgbClr val="1B2A4A"/>
                </a:solidFill>
                <a:latin typeface="Calibri"/>
              </a:rPr>
              <a:t>WebSocket</a:t>
            </a:r>
          </a:p>
        </p:txBody>
      </p:sp>
      <p:sp>
        <p:nvSpPr>
          <p:cNvPr id="90" name="PrivacyBadge"/>
          <p:cNvSpPr/>
          <p:nvPr/>
        </p:nvSpPr>
        <p:spPr>
          <a:xfrm>
            <a:off x="1016000" y="5842000"/>
            <a:ext cx="2794000" cy="279400"/>
          </a:xfrm>
          <a:prstGeom prst="roundRect">
            <a:avLst/>
          </a:prstGeom>
          <a:solidFill>
            <a:srgbClr val="2C5F7C"/>
          </a:solidFill>
          <a:ln w="12700">
            <a:solidFill>
              <a:srgbClr val="2C5F7C"/>
            </a:solidFill>
          </a:ln>
        </p:spPr>
        <p:txBody>
          <a:bodyPr wrap="square" lIns="45720" tIns="36576" rIns="45720" bIns="36576" anchor="ctr"/>
          <a:lstStyle/>
          <a:p>
            <a:pPr algn="ctr">
              <a:buNone/>
            </a:pPr>
            <a:r>
              <a:rPr lang="en-US" sz="800" b="1" dirty="0">
                <a:solidFill>
                  <a:srgbClr val="FFFFFF"/>
                </a:solidFill>
                <a:latin typeface="Calibri"/>
              </a:rPr>
              <a:t>🔒 All voice data stays on-device</a:t>
            </a:r>
          </a:p>
        </p:txBody>
      </p:sp>
      <p:sp>
        <p:nvSpPr>
          <p:cNvPr id="91" name="CostBadge"/>
          <p:cNvSpPr/>
          <p:nvPr/>
        </p:nvSpPr>
        <p:spPr>
          <a:xfrm>
            <a:off x="4953000" y="5842000"/>
            <a:ext cx="2794000" cy="279400"/>
          </a:xfrm>
          <a:prstGeom prst="roundRect">
            <a:avLst/>
          </a:prstGeom>
          <a:solidFill>
            <a:srgbClr val="6B8F71"/>
          </a:solidFill>
          <a:ln w="12700">
            <a:solidFill>
              <a:srgbClr val="6B8F71"/>
            </a:solidFill>
          </a:ln>
        </p:spPr>
        <p:txBody>
          <a:bodyPr wrap="square" lIns="45720" tIns="36576" rIns="45720" bIns="36576" anchor="ctr"/>
          <a:lstStyle/>
          <a:p>
            <a:pPr algn="ctr">
              <a:buNone/>
            </a:pPr>
            <a:r>
              <a:rPr lang="en-US" sz="700" b="1" dirty="0">
                <a:solidFill>
                  <a:srgbClr val="FFFFFF"/>
                </a:solidFill>
                <a:latin typeface="Calibri"/>
              </a:rPr>
              <a:t>💻 Zero cloud costs • Zero subscriptions</a:t>
            </a:r>
          </a:p>
        </p:txBody>
      </p:sp>
      <p:sp>
        <p:nvSpPr>
          <p:cNvPr id="3" name="Slide Number Placeholder 2">
            <a:extLst>
              <a:ext uri="{FF2B5EF4-FFF2-40B4-BE49-F238E27FC236}">
                <a16:creationId xmlns:a16="http://schemas.microsoft.com/office/drawing/2014/main" id="{4272DD50-33EE-9BAF-04F4-FEDFCDDBF6A3}"/>
              </a:ext>
            </a:extLst>
          </p:cNvPr>
          <p:cNvSpPr>
            <a:spLocks noGrp="1"/>
          </p:cNvSpPr>
          <p:nvPr>
            <p:ph type="sldNum" sz="quarter" idx="12"/>
          </p:nvPr>
        </p:nvSpPr>
        <p:spPr/>
        <p:txBody>
          <a:bodyPr/>
          <a:lstStyle/>
          <a:p>
            <a:fld id="{9890CE2D-2882-48A4-88CB-3A003AF6C150}" type="slidenum">
              <a:rPr lang="en-US" smtClean="0"/>
              <a:t>9</a:t>
            </a:fld>
            <a:endParaRPr lang="en-US"/>
          </a:p>
        </p:txBody>
      </p:sp>
    </p:spTree>
    <p:extLst>
      <p:ext uri="{BB962C8B-B14F-4D97-AF65-F5344CB8AC3E}">
        <p14:creationId xmlns:p14="http://schemas.microsoft.com/office/powerpoint/2010/main" val="916497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9BCE3-A368-87E1-CCF0-237497532456}"/>
              </a:ext>
            </a:extLst>
          </p:cNvPr>
          <p:cNvSpPr>
            <a:spLocks noGrp="1"/>
          </p:cNvSpPr>
          <p:nvPr>
            <p:ph type="title"/>
          </p:nvPr>
        </p:nvSpPr>
        <p:spPr/>
        <p:txBody>
          <a:bodyPr/>
          <a:lstStyle/>
          <a:p>
            <a:r>
              <a:rPr lang="en-US"/>
              <a:t>Technology Stack</a:t>
            </a:r>
          </a:p>
        </p:txBody>
      </p:sp>
      <p:sp>
        <p:nvSpPr>
          <p:cNvPr id="3" name="Content Placeholder 2">
            <a:extLst>
              <a:ext uri="{FF2B5EF4-FFF2-40B4-BE49-F238E27FC236}">
                <a16:creationId xmlns:a16="http://schemas.microsoft.com/office/drawing/2014/main" id="{3197B27B-BD80-FCE6-8528-15C98C35552B}"/>
              </a:ext>
            </a:extLst>
          </p:cNvPr>
          <p:cNvSpPr>
            <a:spLocks noGrp="1"/>
          </p:cNvSpPr>
          <p:nvPr>
            <p:ph idx="1"/>
          </p:nvPr>
        </p:nvSpPr>
        <p:spPr/>
        <p:txBody>
          <a:bodyPr/>
          <a:lstStyle/>
          <a:p>
            <a:pPr marL="0" indent="0">
              <a:buNone/>
            </a:pPr>
            <a:r>
              <a:rPr lang="en-US" sz="1500" b="1" dirty="0">
                <a:solidFill>
                  <a:srgbClr val="2C5F7C"/>
                </a:solidFill>
              </a:rPr>
              <a:t>Speech Recognition (On-Device)</a:t>
            </a:r>
          </a:p>
          <a:p>
            <a:pPr marL="228600" indent="-228600">
              <a:spcAft>
                <a:spcPts val="150"/>
              </a:spcAft>
              <a:buFont typeface="Arial"/>
              <a:buChar char="•"/>
            </a:pPr>
            <a:r>
              <a:rPr lang="en-US" sz="1300" b="1" dirty="0"/>
              <a:t>Vosk</a:t>
            </a:r>
            <a:r>
              <a:rPr lang="en-US" sz="1300" dirty="0"/>
              <a:t> vosk-model-small-en-in-0.4 (Indian English, ~36 MB) — optimised for South Asian accents</a:t>
            </a:r>
          </a:p>
          <a:p>
            <a:pPr marL="228600" indent="-228600">
              <a:spcAft>
                <a:spcPts val="150"/>
              </a:spcAft>
              <a:buFont typeface="Arial"/>
              <a:buChar char="•"/>
            </a:pPr>
            <a:r>
              <a:rPr lang="en-US" sz="1300" dirty="0"/>
              <a:t>16 kHz, 16-bit PCM mono; real-time streaming with VAD</a:t>
            </a:r>
          </a:p>
          <a:p>
            <a:pPr marL="0" indent="0">
              <a:buNone/>
            </a:pPr>
            <a:r>
              <a:rPr lang="en-US" sz="1500" b="1" dirty="0">
                <a:solidFill>
                  <a:srgbClr val="2C5F7C"/>
                </a:solidFill>
              </a:rPr>
              <a:t>Intent Classification (On-Device)</a:t>
            </a:r>
          </a:p>
          <a:p>
            <a:pPr marL="228600" indent="-228600">
              <a:spcAft>
                <a:spcPts val="150"/>
              </a:spcAft>
              <a:buFont typeface="Arial"/>
              <a:buChar char="•"/>
            </a:pPr>
            <a:r>
              <a:rPr lang="en-US" sz="1300" b="1" dirty="0"/>
              <a:t>MobileBERT</a:t>
            </a:r>
            <a:r>
              <a:rPr lang="en-US" sz="1300" dirty="0"/>
              <a:t> fine-tuned TFLite (26 MB, dynamically quantised from 94 MB — 72% reduction)</a:t>
            </a:r>
          </a:p>
          <a:p>
            <a:pPr marL="228600" indent="-228600">
              <a:spcAft>
                <a:spcPts val="150"/>
              </a:spcAft>
              <a:buFont typeface="Arial"/>
              <a:buChar char="•"/>
            </a:pPr>
            <a:r>
              <a:rPr lang="en-US" sz="1300" b="1" dirty="0"/>
              <a:t>Hybrid pipeline:</a:t>
            </a:r>
            <a:r>
              <a:rPr lang="en-US" sz="1300" dirty="0"/>
              <a:t> Tier 1 keyword regex (~4 ms) → Tier 2 neural inference (~60 ms)</a:t>
            </a:r>
          </a:p>
          <a:p>
            <a:pPr marL="0" indent="0">
              <a:buNone/>
            </a:pPr>
            <a:r>
              <a:rPr lang="en-US" sz="1500" b="1" dirty="0">
                <a:solidFill>
                  <a:srgbClr val="2C5F7C"/>
                </a:solidFill>
              </a:rPr>
              <a:t>Backend + Staff Dashboard</a:t>
            </a:r>
          </a:p>
          <a:p>
            <a:pPr marL="228600" indent="-228600">
              <a:spcAft>
                <a:spcPts val="150"/>
              </a:spcAft>
              <a:buFont typeface="Arial"/>
              <a:buChar char="•"/>
            </a:pPr>
            <a:r>
              <a:rPr lang="en-US" sz="1300" b="1" dirty="0"/>
              <a:t>FastAPI + SQLite</a:t>
            </a:r>
            <a:r>
              <a:rPr lang="en-US" sz="1300" dirty="0"/>
              <a:t> — REST endpoints + WebSocket for real-time push notifications</a:t>
            </a:r>
          </a:p>
          <a:p>
            <a:pPr marL="228600" indent="-228600">
              <a:spcAft>
                <a:spcPts val="150"/>
              </a:spcAft>
              <a:buFont typeface="Arial"/>
              <a:buChar char="•"/>
            </a:pPr>
            <a:r>
              <a:rPr lang="en-US" sz="1300" b="1" dirty="0"/>
              <a:t>Android:</a:t>
            </a:r>
            <a:r>
              <a:rPr lang="en-US" sz="1300" dirty="0"/>
              <a:t> Kotlin + Jetpack Compose; </a:t>
            </a:r>
            <a:r>
              <a:rPr lang="en-US" sz="1300" b="1" dirty="0"/>
              <a:t>Dashboard:</a:t>
            </a:r>
            <a:r>
              <a:rPr lang="en-US" sz="1300" dirty="0"/>
              <a:t> Vanilla HTML/CSS/JS</a:t>
            </a:r>
          </a:p>
          <a:p>
            <a:pPr marL="228600" indent="-228600">
              <a:buFont typeface="Arial"/>
              <a:buChar char="•"/>
            </a:pPr>
            <a:r>
              <a:rPr lang="en-US" sz="1300" dirty="0"/>
              <a:t>100% open-source stack — zero licensing costs, minimal external dependencies</a:t>
            </a:r>
          </a:p>
        </p:txBody>
      </p:sp>
      <p:sp>
        <p:nvSpPr>
          <p:cNvPr id="4" name="Slide Number Placeholder 3">
            <a:extLst>
              <a:ext uri="{FF2B5EF4-FFF2-40B4-BE49-F238E27FC236}">
                <a16:creationId xmlns:a16="http://schemas.microsoft.com/office/drawing/2014/main" id="{8F028495-4F93-19B1-DA51-CEA67B6FB9B6}"/>
              </a:ext>
            </a:extLst>
          </p:cNvPr>
          <p:cNvSpPr>
            <a:spLocks noGrp="1"/>
          </p:cNvSpPr>
          <p:nvPr>
            <p:ph type="sldNum" sz="quarter" idx="12"/>
          </p:nvPr>
        </p:nvSpPr>
        <p:spPr/>
        <p:txBody>
          <a:bodyPr/>
          <a:lstStyle/>
          <a:p>
            <a:fld id="{9890CE2D-2882-48A4-88CB-3A003AF6C150}" type="slidenum">
              <a:rPr lang="en-US" smtClean="0"/>
              <a:t>10</a:t>
            </a:fld>
            <a:endParaRPr lang="en-US"/>
          </a:p>
        </p:txBody>
      </p:sp>
    </p:spTree>
    <p:extLst>
      <p:ext uri="{BB962C8B-B14F-4D97-AF65-F5344CB8AC3E}">
        <p14:creationId xmlns:p14="http://schemas.microsoft.com/office/powerpoint/2010/main" val="255174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DB582-925B-4496-7563-1651AFE4BB2D}"/>
              </a:ext>
            </a:extLst>
          </p:cNvPr>
          <p:cNvSpPr>
            <a:spLocks noGrp="1"/>
          </p:cNvSpPr>
          <p:nvPr>
            <p:ph type="title"/>
          </p:nvPr>
        </p:nvSpPr>
        <p:spPr/>
        <p:txBody>
          <a:bodyPr/>
          <a:lstStyle/>
          <a:p>
            <a:r>
              <a:rPr lang="en-US"/>
              <a:t>Implementation</a:t>
            </a:r>
          </a:p>
        </p:txBody>
      </p:sp>
      <p:sp>
        <p:nvSpPr>
          <p:cNvPr id="3" name="Content Placeholder 2">
            <a:extLst>
              <a:ext uri="{FF2B5EF4-FFF2-40B4-BE49-F238E27FC236}">
                <a16:creationId xmlns:a16="http://schemas.microsoft.com/office/drawing/2014/main" id="{56F8A5FA-EDFF-08A5-69A7-BEF636620B81}"/>
              </a:ext>
            </a:extLst>
          </p:cNvPr>
          <p:cNvSpPr>
            <a:spLocks noGrp="1"/>
          </p:cNvSpPr>
          <p:nvPr>
            <p:ph idx="1"/>
          </p:nvPr>
        </p:nvSpPr>
        <p:spPr/>
        <p:txBody>
          <a:bodyPr/>
          <a:lstStyle/>
          <a:p>
            <a:pPr marL="0" indent="0">
              <a:buNone/>
            </a:pPr>
            <a:r>
              <a:rPr lang="en-US" sz="1500" b="1" dirty="0">
                <a:solidFill>
                  <a:srgbClr val="2C5F7C"/>
                </a:solidFill>
              </a:rPr>
              <a:t>Dataset Creation (10,080 Utterances)</a:t>
            </a:r>
          </a:p>
          <a:p>
            <a:pPr marL="228600" indent="-228600">
              <a:spcAft>
                <a:spcPts val="200"/>
              </a:spcAft>
              <a:buFont typeface="Arial"/>
              <a:buChar char="•"/>
            </a:pPr>
            <a:r>
              <a:rPr lang="en-US" sz="1300" dirty="0"/>
              <a:t>18 intent categories × 560 utterances — exact class balance across 5 departments</a:t>
            </a:r>
          </a:p>
          <a:p>
            <a:pPr marL="228600" indent="-228600">
              <a:spcAft>
                <a:spcPts val="200"/>
              </a:spcAft>
              <a:buFont typeface="Arial"/>
              <a:buChar char="•"/>
            </a:pPr>
            <a:r>
              <a:rPr lang="en-US" sz="1300" dirty="0"/>
              <a:t>Paired dataset: each utterance has clean text + Vosk-transcribed version (via gTTS → Vosk pipeline)</a:t>
            </a:r>
          </a:p>
          <a:p>
            <a:pPr marL="0" indent="0">
              <a:buNone/>
            </a:pPr>
            <a:r>
              <a:rPr lang="en-US" sz="1500" b="1" dirty="0">
                <a:solidFill>
                  <a:srgbClr val="2C5F7C"/>
                </a:solidFill>
              </a:rPr>
              <a:t>Three-Model Training Strategy</a:t>
            </a:r>
          </a:p>
          <a:p>
            <a:pPr marL="228600" indent="-228600">
              <a:spcAft>
                <a:spcPts val="200"/>
              </a:spcAft>
              <a:buFont typeface="Arial"/>
              <a:buChar char="•"/>
            </a:pPr>
            <a:r>
              <a:rPr lang="en-US" sz="1300" b="1" dirty="0"/>
              <a:t>Model A</a:t>
            </a:r>
            <a:r>
              <a:rPr lang="en-US" sz="1300" dirty="0"/>
              <a:t> — trained on clean text only (10,080 samples, baseline)</a:t>
            </a:r>
          </a:p>
          <a:p>
            <a:pPr marL="228600" indent="-228600">
              <a:spcAft>
                <a:spcPts val="200"/>
              </a:spcAft>
              <a:buFont typeface="Arial"/>
              <a:buChar char="•"/>
            </a:pPr>
            <a:r>
              <a:rPr lang="en-US" sz="1300" b="1" dirty="0"/>
              <a:t>Model B</a:t>
            </a:r>
            <a:r>
              <a:rPr lang="en-US" sz="1300" dirty="0"/>
              <a:t> — trained on Vosk-transcribed text only (10,080 samples)</a:t>
            </a:r>
          </a:p>
          <a:p>
            <a:pPr marL="228600" indent="-228600">
              <a:spcAft>
                <a:spcPts val="200"/>
              </a:spcAft>
              <a:buFont typeface="Arial"/>
              <a:buChar char="•"/>
            </a:pPr>
            <a:r>
              <a:rPr lang="en-US" sz="1300" b="1" dirty="0"/>
              <a:t>Model C</a:t>
            </a:r>
            <a:r>
              <a:rPr lang="en-US" sz="1300" dirty="0"/>
              <a:t> — trained on mixed clean + Vosk (14,864 deduplicated, noise-aware)</a:t>
            </a:r>
          </a:p>
          <a:p>
            <a:pPr marL="0" indent="0">
              <a:buNone/>
            </a:pPr>
            <a:r>
              <a:rPr lang="en-US" sz="1500" b="1" dirty="0">
                <a:solidFill>
                  <a:srgbClr val="2C5F7C"/>
                </a:solidFill>
              </a:rPr>
              <a:t>Key Implementation Challenges</a:t>
            </a:r>
          </a:p>
          <a:p>
            <a:pPr marL="228600" indent="-228600">
              <a:spcAft>
                <a:spcPts val="200"/>
              </a:spcAft>
              <a:buFont typeface="Arial"/>
              <a:buChar char="•"/>
            </a:pPr>
            <a:r>
              <a:rPr lang="en-US" sz="1300" dirty="0"/>
              <a:t>Large Vosk model caused OOM on budget tablet → switched to small Indian English model</a:t>
            </a:r>
          </a:p>
          <a:p>
            <a:pPr marL="228600" indent="-228600">
              <a:buFont typeface="Arial"/>
              <a:buChar char="•"/>
            </a:pPr>
            <a:r>
              <a:rPr lang="en-US" sz="1300" dirty="0"/>
              <a:t>TFLite label ordering mismatch; simplified word-level tokeniser (whole-word vocabulary lookup; no subword splitting)</a:t>
            </a:r>
          </a:p>
        </p:txBody>
      </p:sp>
      <p:sp>
        <p:nvSpPr>
          <p:cNvPr id="4" name="Slide Number Placeholder 3">
            <a:extLst>
              <a:ext uri="{FF2B5EF4-FFF2-40B4-BE49-F238E27FC236}">
                <a16:creationId xmlns:a16="http://schemas.microsoft.com/office/drawing/2014/main" id="{8B615749-9DEC-9863-4F19-9B25E84B10B7}"/>
              </a:ext>
            </a:extLst>
          </p:cNvPr>
          <p:cNvSpPr>
            <a:spLocks noGrp="1"/>
          </p:cNvSpPr>
          <p:nvPr>
            <p:ph type="sldNum" sz="quarter" idx="12"/>
          </p:nvPr>
        </p:nvSpPr>
        <p:spPr/>
        <p:txBody>
          <a:bodyPr/>
          <a:lstStyle/>
          <a:p>
            <a:fld id="{9890CE2D-2882-48A4-88CB-3A003AF6C150}" type="slidenum">
              <a:rPr lang="en-US" smtClean="0"/>
              <a:t>11</a:t>
            </a:fld>
            <a:endParaRPr lang="en-US"/>
          </a:p>
        </p:txBody>
      </p:sp>
    </p:spTree>
    <p:extLst>
      <p:ext uri="{BB962C8B-B14F-4D97-AF65-F5344CB8AC3E}">
        <p14:creationId xmlns:p14="http://schemas.microsoft.com/office/powerpoint/2010/main" val="811909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87F50-3403-105C-5BBC-4987AA631505}"/>
              </a:ext>
            </a:extLst>
          </p:cNvPr>
          <p:cNvSpPr>
            <a:spLocks noGrp="1"/>
          </p:cNvSpPr>
          <p:nvPr>
            <p:ph type="title"/>
          </p:nvPr>
        </p:nvSpPr>
        <p:spPr/>
        <p:txBody>
          <a:bodyPr/>
          <a:lstStyle/>
          <a:p>
            <a:r>
              <a:rPr lang="en-US"/>
              <a:t>NLU Evaluation Results</a:t>
            </a:r>
          </a:p>
        </p:txBody>
      </p:sp>
      <p:graphicFrame>
        <p:nvGraphicFramePr>
          <p:cNvPr id="101" name="Chart 1"/>
          <p:cNvGraphicFramePr/>
          <p:nvPr/>
        </p:nvGraphicFramePr>
        <p:xfrm>
          <a:off x="457200" y="1778000"/>
          <a:ext cx="54864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200" name="KeyFinding"/>
          <p:cNvSpPr/>
          <p:nvPr/>
        </p:nvSpPr>
        <p:spPr>
          <a:xfrm>
            <a:off x="6400800" y="1778000"/>
            <a:ext cx="5334000" cy="4572000"/>
          </a:xfrm>
          <a:prstGeom prst="roundRect">
            <a:avLst>
              <a:gd name="adj" fmla="val 5000"/>
            </a:avLst>
          </a:prstGeom>
          <a:solidFill>
            <a:srgbClr val="F0EDE6"/>
          </a:solidFill>
          <a:ln w="12700">
            <a:solidFill>
              <a:srgbClr val="2C5F7C"/>
            </a:solidFill>
          </a:ln>
        </p:spPr>
        <p:txBody>
          <a:bodyPr wrap="square" lIns="91440" tIns="68580" rIns="91440" bIns="68580" anchor="t"/>
          <a:lstStyle/>
          <a:p>
            <a:pPr algn="l">
              <a:buNone/>
            </a:pPr>
            <a:r>
              <a:rPr lang="en-US" sz="1400" b="1" dirty="0">
                <a:solidFill>
                  <a:srgbClr val="2C5F7C"/>
                </a:solidFill>
                <a:latin typeface="Georgia"/>
              </a:rPr>
              <a:t>Key Findings</a:t>
            </a:r>
          </a:p>
          <a:p>
            <a:pPr marL="228600" indent="-228600">
              <a:spcAft>
                <a:spcPts val="300"/>
              </a:spcAft>
              <a:buFont typeface="Arial"/>
              <a:buChar char="•"/>
            </a:pPr>
            <a:r>
              <a:rPr lang="en-US" sz="1200" dirty="0">
                <a:solidFill>
                  <a:srgbClr val="1B2A4A"/>
                </a:solidFill>
                <a:latin typeface="Calibri"/>
              </a:rPr>
              <a:t>Model A drops </a:t>
            </a:r>
            <a:r>
              <a:rPr lang="en-US" sz="1200" b="1" dirty="0">
                <a:solidFill>
                  <a:srgbClr val="C4956A"/>
                </a:solidFill>
                <a:latin typeface="Calibri"/>
              </a:rPr>
              <a:t>8.73 pp</a:t>
            </a:r>
            <a:r>
              <a:rPr lang="en-US" sz="1200" dirty="0">
                <a:solidFill>
                  <a:srgbClr val="1B2A4A"/>
                </a:solidFill>
                <a:latin typeface="Calibri"/>
              </a:rPr>
              <a:t> when given Vosk output instead of clean text</a:t>
            </a:r>
          </a:p>
          <a:p>
            <a:pPr marL="228600" indent="-228600">
              <a:spcAft>
                <a:spcPts val="300"/>
              </a:spcAft>
              <a:buFont typeface="Arial"/>
              <a:buChar char="•"/>
            </a:pPr>
            <a:r>
              <a:rPr lang="en-US" sz="1200" dirty="0">
                <a:solidFill>
                  <a:srgbClr val="1B2A4A"/>
                </a:solidFill>
                <a:latin typeface="Calibri"/>
              </a:rPr>
              <a:t>Model C (noise-aware) achieves </a:t>
            </a:r>
            <a:r>
              <a:rPr lang="en-US" sz="1200" b="1" dirty="0">
                <a:solidFill>
                  <a:srgbClr val="6B8F71"/>
                </a:solidFill>
                <a:latin typeface="Calibri"/>
              </a:rPr>
              <a:t>99.06%</a:t>
            </a:r>
            <a:r>
              <a:rPr lang="en-US" sz="1200" dirty="0">
                <a:solidFill>
                  <a:srgbClr val="1B2A4A"/>
                </a:solidFill>
                <a:latin typeface="Calibri"/>
              </a:rPr>
              <a:t> on Vosk output — exceeding clean baseline</a:t>
            </a:r>
          </a:p>
          <a:p>
            <a:pPr marL="228600" indent="-228600">
              <a:spcAft>
                <a:spcPts val="300"/>
              </a:spcAft>
              <a:buFont typeface="Arial"/>
              <a:buChar char="•"/>
            </a:pPr>
            <a:r>
              <a:rPr lang="en-US" sz="1200" dirty="0">
                <a:solidFill>
                  <a:srgbClr val="1B2A4A"/>
                </a:solidFill>
                <a:latin typeface="Calibri"/>
              </a:rPr>
              <a:t>Gap recovery: </a:t>
            </a:r>
            <a:r>
              <a:rPr lang="en-US" sz="1200" b="1" dirty="0">
                <a:solidFill>
                  <a:srgbClr val="6B8F71"/>
                </a:solidFill>
                <a:latin typeface="Calibri"/>
              </a:rPr>
              <a:t>111.3%</a:t>
            </a:r>
            <a:r>
              <a:rPr lang="en-US" sz="1200" dirty="0">
                <a:solidFill>
                  <a:srgbClr val="1B2A4A"/>
                </a:solidFill>
                <a:latin typeface="Calibri"/>
              </a:rPr>
              <a:t> — noise-aware training more than compensates</a:t>
            </a:r>
          </a:p>
          <a:p>
            <a:pPr marL="228600" indent="-228600">
              <a:spcAft>
                <a:spcPts val="300"/>
              </a:spcAft>
              <a:buFont typeface="Arial"/>
              <a:buChar char="•"/>
            </a:pPr>
            <a:r>
              <a:rPr lang="en-US" sz="1200" dirty="0">
                <a:solidFill>
                  <a:srgbClr val="1B2A4A"/>
                </a:solidFill>
                <a:latin typeface="Calibri"/>
              </a:rPr>
              <a:t>All 18 intents achieve F1 &gt; 0.97 with Model C</a:t>
            </a:r>
          </a:p>
          <a:p>
            <a:pPr marL="228600" indent="-228600">
              <a:buFont typeface="Arial"/>
              <a:buChar char="•"/>
            </a:pPr>
            <a:r>
              <a:rPr lang="en-US" sz="1200" dirty="0">
                <a:solidFill>
                  <a:srgbClr val="1B2A4A"/>
                </a:solidFill>
                <a:latin typeface="Calibri"/>
              </a:rPr>
              <a:t>NFR-05 target (≥90%) exceeded by 9+ pp</a:t>
            </a:r>
          </a:p>
        </p:txBody>
      </p:sp>
      <p:sp>
        <p:nvSpPr>
          <p:cNvPr id="3" name="Slide Number Placeholder 2">
            <a:extLst>
              <a:ext uri="{FF2B5EF4-FFF2-40B4-BE49-F238E27FC236}">
                <a16:creationId xmlns:a16="http://schemas.microsoft.com/office/drawing/2014/main" id="{1B69A9DA-A0DA-ECF8-F67C-4C1F2D2FC0EE}"/>
              </a:ext>
            </a:extLst>
          </p:cNvPr>
          <p:cNvSpPr>
            <a:spLocks noGrp="1"/>
          </p:cNvSpPr>
          <p:nvPr>
            <p:ph type="sldNum" sz="quarter" idx="12"/>
          </p:nvPr>
        </p:nvSpPr>
        <p:spPr/>
        <p:txBody>
          <a:bodyPr/>
          <a:lstStyle/>
          <a:p>
            <a:fld id="{9890CE2D-2882-48A4-88CB-3A003AF6C150}" type="slidenum">
              <a:rPr lang="en-US" smtClean="0"/>
              <a:t>12</a:t>
            </a:fld>
            <a:endParaRPr lang="en-US"/>
          </a:p>
        </p:txBody>
      </p:sp>
    </p:spTree>
    <p:extLst>
      <p:ext uri="{BB962C8B-B14F-4D97-AF65-F5344CB8AC3E}">
        <p14:creationId xmlns:p14="http://schemas.microsoft.com/office/powerpoint/2010/main" val="2754653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8B7EB-AF0B-9BF5-43F9-FAD2595B213E}"/>
              </a:ext>
            </a:extLst>
          </p:cNvPr>
          <p:cNvSpPr>
            <a:spLocks noGrp="1"/>
          </p:cNvSpPr>
          <p:nvPr>
            <p:ph type="title"/>
          </p:nvPr>
        </p:nvSpPr>
        <p:spPr/>
        <p:txBody>
          <a:bodyPr/>
          <a:lstStyle/>
          <a:p>
            <a:r>
              <a:rPr lang="en-US"/>
              <a:t>Speech Recognition &amp; System Testing</a:t>
            </a:r>
          </a:p>
        </p:txBody>
      </p:sp>
      <p:sp>
        <p:nvSpPr>
          <p:cNvPr id="3" name="Content Placeholder 2">
            <a:extLst>
              <a:ext uri="{FF2B5EF4-FFF2-40B4-BE49-F238E27FC236}">
                <a16:creationId xmlns:a16="http://schemas.microsoft.com/office/drawing/2014/main" id="{7A6572D5-2B06-4185-936B-5B863922EF59}"/>
              </a:ext>
            </a:extLst>
          </p:cNvPr>
          <p:cNvSpPr>
            <a:spLocks noGrp="1"/>
          </p:cNvSpPr>
          <p:nvPr>
            <p:ph idx="1"/>
          </p:nvPr>
        </p:nvSpPr>
        <p:spPr/>
        <p:txBody>
          <a:bodyPr/>
          <a:lstStyle/>
          <a:p>
            <a:pPr marL="0" indent="0">
              <a:buNone/>
            </a:pPr>
            <a:r>
              <a:rPr lang="en-US" sz="1500" b="1" dirty="0">
                <a:solidFill>
                  <a:srgbClr val="2C5F7C"/>
                </a:solidFill>
              </a:rPr>
              <a:t>Word Error Rate (WER) — 10,080 Utterances</a:t>
            </a:r>
          </a:p>
          <a:p>
            <a:pPr marL="228600" indent="-228600">
              <a:spcAft>
                <a:spcPts val="200"/>
              </a:spcAft>
              <a:buFont typeface="Arial"/>
              <a:buChar char="•"/>
            </a:pPr>
            <a:r>
              <a:rPr lang="en-US" sz="1300" dirty="0"/>
              <a:t>Overall WER: </a:t>
            </a:r>
            <a:r>
              <a:rPr lang="en-US" sz="1300" b="1" dirty="0"/>
              <a:t>11.43%</a:t>
            </a:r>
            <a:r>
              <a:rPr lang="en-US" sz="1300" dirty="0"/>
              <a:t> (72,133 reference words); WER on changed sentences: </a:t>
            </a:r>
            <a:r>
              <a:rPr lang="en-US" sz="1300" b="1" dirty="0"/>
              <a:t>23.84%</a:t>
            </a:r>
          </a:p>
          <a:p>
            <a:pPr marL="228600" indent="-228600">
              <a:spcAft>
                <a:spcPts val="200"/>
              </a:spcAft>
              <a:buFont typeface="Arial"/>
              <a:buChar char="•"/>
            </a:pPr>
            <a:r>
              <a:rPr lang="en-US" sz="1300" b="1" dirty="0"/>
              <a:t>47.8%</a:t>
            </a:r>
            <a:r>
              <a:rPr lang="en-US" sz="1300" dirty="0"/>
              <a:t> of utterances changed by Vosk — nearly half of all guest requests arrive distorted</a:t>
            </a:r>
          </a:p>
          <a:p>
            <a:pPr marL="228600" indent="-228600">
              <a:spcAft>
                <a:spcPts val="200"/>
              </a:spcAft>
              <a:buFont typeface="Arial"/>
              <a:buChar char="•"/>
            </a:pPr>
            <a:r>
              <a:rPr lang="en-US" sz="1300" dirty="0"/>
              <a:t>Highest WER: temperature_control (16.83%), towel_request (16.33%); Lowest: emergency (6.78%)</a:t>
            </a:r>
          </a:p>
          <a:p>
            <a:pPr marL="228600" indent="-228600">
              <a:spcAft>
                <a:spcPts val="200"/>
              </a:spcAft>
              <a:buFont typeface="Arial"/>
              <a:buChar char="•"/>
            </a:pPr>
            <a:r>
              <a:rPr lang="en-US" sz="1300" i="1" dirty="0"/>
              <a:t>Note: WER measured on TTS-synthesised audio, not real human speech (acknowledged limitation)</a:t>
            </a:r>
          </a:p>
          <a:p>
            <a:pPr marL="0" indent="0">
              <a:buNone/>
            </a:pPr>
            <a:r>
              <a:rPr lang="en-US" sz="1500" b="1" dirty="0">
                <a:solidFill>
                  <a:srgbClr val="2C5F7C"/>
                </a:solidFill>
              </a:rPr>
              <a:t>End-to-End Latency (20 Test Requests)</a:t>
            </a:r>
          </a:p>
          <a:p>
            <a:pPr marL="228600" indent="-228600">
              <a:spcAft>
                <a:spcPts val="200"/>
              </a:spcAft>
              <a:buFont typeface="Arial"/>
              <a:buChar char="•"/>
            </a:pPr>
            <a:r>
              <a:rPr lang="en-US" sz="1300" dirty="0"/>
              <a:t>P95 end-to-end: </a:t>
            </a:r>
            <a:r>
              <a:rPr lang="en-US" sz="1300" b="1" dirty="0"/>
              <a:t>2,801 ms</a:t>
            </a:r>
            <a:r>
              <a:rPr lang="en-US" sz="1300" dirty="0"/>
              <a:t> — well within 5-second target (NFR-03)</a:t>
            </a:r>
          </a:p>
          <a:p>
            <a:pPr marL="228600" indent="-228600">
              <a:spcAft>
                <a:spcPts val="200"/>
              </a:spcAft>
              <a:buFont typeface="Arial"/>
              <a:buChar char="•"/>
            </a:pPr>
            <a:r>
              <a:rPr lang="en-US" sz="1300" dirty="0"/>
              <a:t>Vosk STT ~302 ms | NLU ~4 ms (keywords) / ~60 ms (MobileBERT) | Backend ~2,060 ms | TTS ~316 ms</a:t>
            </a:r>
          </a:p>
          <a:p>
            <a:pPr marL="0" indent="0">
              <a:buNone/>
            </a:pPr>
            <a:r>
              <a:rPr lang="en-US" sz="1500" b="1" dirty="0">
                <a:solidFill>
                  <a:srgbClr val="2C5F7C"/>
                </a:solidFill>
              </a:rPr>
              <a:t>NFR Compliance Summary</a:t>
            </a:r>
          </a:p>
          <a:p>
            <a:pPr marL="228600" indent="-228600">
              <a:spcAft>
                <a:spcPts val="200"/>
              </a:spcAft>
              <a:buFont typeface="Arial"/>
              <a:buChar char="•"/>
            </a:pPr>
            <a:r>
              <a:rPr lang="en-US" sz="1300" dirty="0"/>
              <a:t>NFR-02 (privacy): ✓ All voice processing on-device | NFR-03 (latency): ✓ P95 2,801 ms &lt; 5,000 ms</a:t>
            </a:r>
          </a:p>
          <a:p>
            <a:pPr marL="228600" indent="-228600">
              <a:buFont typeface="Arial"/>
              <a:buChar char="•"/>
            </a:pPr>
            <a:r>
              <a:rPr lang="en-US" sz="1300" dirty="0"/>
              <a:t>NFR-05 (accuracy ≥90%): ✓ Model C at 99.06% | All backend API tests passed</a:t>
            </a:r>
          </a:p>
        </p:txBody>
      </p:sp>
      <p:sp>
        <p:nvSpPr>
          <p:cNvPr id="4" name="Slide Number Placeholder 3">
            <a:extLst>
              <a:ext uri="{FF2B5EF4-FFF2-40B4-BE49-F238E27FC236}">
                <a16:creationId xmlns:a16="http://schemas.microsoft.com/office/drawing/2014/main" id="{540D7AF0-60ED-B294-A48A-76FE46C71384}"/>
              </a:ext>
            </a:extLst>
          </p:cNvPr>
          <p:cNvSpPr>
            <a:spLocks noGrp="1"/>
          </p:cNvSpPr>
          <p:nvPr>
            <p:ph type="sldNum" sz="quarter" idx="12"/>
          </p:nvPr>
        </p:nvSpPr>
        <p:spPr/>
        <p:txBody>
          <a:bodyPr/>
          <a:lstStyle/>
          <a:p>
            <a:fld id="{9890CE2D-2882-48A4-88CB-3A003AF6C150}" type="slidenum">
              <a:rPr lang="en-US" smtClean="0"/>
              <a:t>13</a:t>
            </a:fld>
            <a:endParaRPr lang="en-US"/>
          </a:p>
        </p:txBody>
      </p:sp>
    </p:spTree>
    <p:extLst>
      <p:ext uri="{BB962C8B-B14F-4D97-AF65-F5344CB8AC3E}">
        <p14:creationId xmlns:p14="http://schemas.microsoft.com/office/powerpoint/2010/main" val="13315506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DAB1B-A93C-5675-0A13-BA4774F0C5D7}"/>
              </a:ext>
            </a:extLst>
          </p:cNvPr>
          <p:cNvSpPr>
            <a:spLocks noGrp="1"/>
          </p:cNvSpPr>
          <p:nvPr>
            <p:ph type="title"/>
          </p:nvPr>
        </p:nvSpPr>
        <p:spPr/>
        <p:txBody>
          <a:bodyPr/>
          <a:lstStyle/>
          <a:p>
            <a:r>
              <a:rPr lang="en-US"/>
              <a:t>Cost-Effectiveness Analysis</a:t>
            </a:r>
          </a:p>
        </p:txBody>
      </p:sp>
      <p:graphicFrame>
        <p:nvGraphicFramePr>
          <p:cNvPr id="4" name="Table 3">
            <a:extLst>
              <a:ext uri="{FF2B5EF4-FFF2-40B4-BE49-F238E27FC236}">
                <a16:creationId xmlns:a16="http://schemas.microsoft.com/office/drawing/2014/main" id="{9DD96871-BB76-4828-B8BE-EFFB27D6C90E}"/>
              </a:ext>
            </a:extLst>
          </p:cNvPr>
          <p:cNvGraphicFramePr>
            <a:graphicFrameLocks noGrp="1"/>
          </p:cNvGraphicFramePr>
          <p:nvPr/>
        </p:nvGraphicFramePr>
        <p:xfrm>
          <a:off x="635000" y="1841500"/>
          <a:ext cx="10922000" cy="2349500"/>
        </p:xfrm>
        <a:graphic>
          <a:graphicData uri="http://schemas.openxmlformats.org/drawingml/2006/table">
            <a:tbl>
              <a:tblPr firstRow="1" bandRow="1">
                <a:tableStyleId>{5C22544A-7EE6-4342-B048-85BDC9FD1C3A}</a:tableStyleId>
              </a:tblPr>
              <a:tblGrid>
                <a:gridCol w="2730500">
                  <a:extLst>
                    <a:ext uri="{9D8B030D-6E8A-4147-A177-3AD203B41FA5}">
                      <a16:colId xmlns:a16="http://schemas.microsoft.com/office/drawing/2014/main" val="3489851340"/>
                    </a:ext>
                  </a:extLst>
                </a:gridCol>
                <a:gridCol w="2730500">
                  <a:extLst>
                    <a:ext uri="{9D8B030D-6E8A-4147-A177-3AD203B41FA5}">
                      <a16:colId xmlns:a16="http://schemas.microsoft.com/office/drawing/2014/main" val="3819073788"/>
                    </a:ext>
                  </a:extLst>
                </a:gridCol>
                <a:gridCol w="2730500">
                  <a:extLst>
                    <a:ext uri="{9D8B030D-6E8A-4147-A177-3AD203B41FA5}">
                      <a16:colId xmlns:a16="http://schemas.microsoft.com/office/drawing/2014/main" val="3959331852"/>
                    </a:ext>
                  </a:extLst>
                </a:gridCol>
                <a:gridCol w="2730500">
                  <a:extLst>
                    <a:ext uri="{9D8B030D-6E8A-4147-A177-3AD203B41FA5}">
                      <a16:colId xmlns:a16="http://schemas.microsoft.com/office/drawing/2014/main" val="1071550899"/>
                    </a:ext>
                  </a:extLst>
                </a:gridCol>
              </a:tblGrid>
              <a:tr h="469900">
                <a:tc>
                  <a:txBody>
                    <a:bodyPr/>
                    <a:lstStyle/>
                    <a:p>
                      <a:pPr algn="ctr"/>
                      <a:r>
                        <a:rPr lang="en-US" sz="1400" b="1">
                          <a:solidFill>
                            <a:srgbClr val="FFFFFF"/>
                          </a:solidFill>
                          <a:latin typeface="Calibri"/>
                          <a:ea typeface="Calibri"/>
                          <a:cs typeface="Calibri"/>
                        </a:rPr>
                        <a:t>Cost Item</a:t>
                      </a:r>
                    </a:p>
                  </a:txBody>
                  <a:tcPr anchor="ctr">
                    <a:solidFill>
                      <a:srgbClr val="2C5F7C"/>
                    </a:solidFill>
                  </a:tcPr>
                </a:tc>
                <a:tc>
                  <a:txBody>
                    <a:bodyPr/>
                    <a:lstStyle/>
                    <a:p>
                      <a:pPr algn="ctr"/>
                      <a:r>
                        <a:rPr lang="en-US" sz="1400" b="1">
                          <a:solidFill>
                            <a:srgbClr val="FFFFFF"/>
                          </a:solidFill>
                          <a:latin typeface="Calibri"/>
                          <a:ea typeface="Calibri"/>
                          <a:cs typeface="Calibri"/>
                        </a:rPr>
                        <a:t>This System</a:t>
                      </a:r>
                    </a:p>
                  </a:txBody>
                  <a:tcPr anchor="ctr">
                    <a:solidFill>
                      <a:srgbClr val="2C5F7C"/>
                    </a:solidFill>
                  </a:tcPr>
                </a:tc>
                <a:tc>
                  <a:txBody>
                    <a:bodyPr/>
                    <a:lstStyle/>
                    <a:p>
                      <a:pPr algn="ctr"/>
                      <a:r>
                        <a:rPr lang="en-US" sz="1400" b="1">
                          <a:solidFill>
                            <a:srgbClr val="FFFFFF"/>
                          </a:solidFill>
                          <a:latin typeface="Calibri"/>
                          <a:ea typeface="Calibri"/>
                          <a:cs typeface="Calibri"/>
                        </a:rPr>
                        <a:t>Cloud STT (Google)</a:t>
                      </a:r>
                    </a:p>
                  </a:txBody>
                  <a:tcPr anchor="ctr">
                    <a:solidFill>
                      <a:srgbClr val="2C5F7C"/>
                    </a:solidFill>
                  </a:tcPr>
                </a:tc>
                <a:tc>
                  <a:txBody>
                    <a:bodyPr/>
                    <a:lstStyle/>
                    <a:p>
                      <a:pPr algn="ctr"/>
                      <a:r>
                        <a:rPr lang="en-US" sz="1400" b="1">
                          <a:solidFill>
                            <a:srgbClr val="FFFFFF"/>
                          </a:solidFill>
                          <a:latin typeface="Calibri"/>
                          <a:ea typeface="Calibri"/>
                          <a:cs typeface="Calibri"/>
                        </a:rPr>
                        <a:t>Commercial (Alexa)</a:t>
                      </a:r>
                    </a:p>
                  </a:txBody>
                  <a:tcPr anchor="ctr">
                    <a:solidFill>
                      <a:srgbClr val="2C5F7C"/>
                    </a:solidFill>
                  </a:tcPr>
                </a:tc>
                <a:extLst>
                  <a:ext uri="{0D108BD9-81ED-4DB2-BD59-A6C34878D82A}">
                    <a16:rowId xmlns:a16="http://schemas.microsoft.com/office/drawing/2014/main" val="2774301109"/>
                  </a:ext>
                </a:extLst>
              </a:tr>
              <a:tr h="469900">
                <a:tc>
                  <a:txBody>
                    <a:bodyPr/>
                    <a:lstStyle/>
                    <a:p>
                      <a:pPr algn="l"/>
                      <a:r>
                        <a:rPr lang="en-US" sz="1400">
                          <a:solidFill>
                            <a:srgbClr val="1B2A4A"/>
                          </a:solidFill>
                          <a:latin typeface="Calibri"/>
                          <a:ea typeface="Calibri"/>
                          <a:cs typeface="Calibri"/>
                        </a:rPr>
                        <a:t>Hardware (50 tablets)</a:t>
                      </a:r>
                    </a:p>
                  </a:txBody>
                  <a:tcPr anchor="ctr">
                    <a:solidFill>
                      <a:srgbClr val="FFFFFF"/>
                    </a:solidFill>
                  </a:tcPr>
                </a:tc>
                <a:tc>
                  <a:txBody>
                    <a:bodyPr/>
                    <a:lstStyle/>
                    <a:p>
                      <a:pPr algn="ctr"/>
                      <a:r>
                        <a:rPr lang="en-US" sz="1400">
                          <a:solidFill>
                            <a:srgbClr val="1B2A4A"/>
                          </a:solidFill>
                          <a:latin typeface="Calibri"/>
                          <a:ea typeface="Calibri"/>
                          <a:cs typeface="Calibri"/>
                        </a:rPr>
                        <a:t>$2,500–$7,500</a:t>
                      </a:r>
                    </a:p>
                  </a:txBody>
                  <a:tcPr anchor="ctr">
                    <a:solidFill>
                      <a:srgbClr val="FFFFFF"/>
                    </a:solidFill>
                  </a:tcPr>
                </a:tc>
                <a:tc>
                  <a:txBody>
                    <a:bodyPr/>
                    <a:lstStyle/>
                    <a:p>
                      <a:pPr algn="ctr"/>
                      <a:r>
                        <a:rPr lang="en-US" sz="1400">
                          <a:solidFill>
                            <a:srgbClr val="1B2A4A"/>
                          </a:solidFill>
                          <a:latin typeface="Calibri"/>
                          <a:ea typeface="Calibri"/>
                          <a:cs typeface="Calibri"/>
                        </a:rPr>
                        <a:t>$2,500–$7,500</a:t>
                      </a:r>
                    </a:p>
                  </a:txBody>
                  <a:tcPr anchor="ctr">
                    <a:solidFill>
                      <a:srgbClr val="FFFFFF"/>
                    </a:solidFill>
                  </a:tcPr>
                </a:tc>
                <a:tc>
                  <a:txBody>
                    <a:bodyPr/>
                    <a:lstStyle/>
                    <a:p>
                      <a:pPr algn="ctr"/>
                      <a:r>
                        <a:rPr lang="en-US" sz="1400">
                          <a:solidFill>
                            <a:srgbClr val="1B2A4A"/>
                          </a:solidFill>
                          <a:latin typeface="Calibri"/>
                          <a:ea typeface="Calibri"/>
                          <a:cs typeface="Calibri"/>
                        </a:rPr>
                        <a:t>$5,000–$10,000+</a:t>
                      </a:r>
                    </a:p>
                  </a:txBody>
                  <a:tcPr anchor="ctr">
                    <a:solidFill>
                      <a:srgbClr val="FFFFFF"/>
                    </a:solidFill>
                  </a:tcPr>
                </a:tc>
                <a:extLst>
                  <a:ext uri="{0D108BD9-81ED-4DB2-BD59-A6C34878D82A}">
                    <a16:rowId xmlns:a16="http://schemas.microsoft.com/office/drawing/2014/main" val="3617666579"/>
                  </a:ext>
                </a:extLst>
              </a:tr>
              <a:tr h="469900">
                <a:tc>
                  <a:txBody>
                    <a:bodyPr/>
                    <a:lstStyle/>
                    <a:p>
                      <a:pPr algn="l"/>
                      <a:r>
                        <a:rPr lang="en-US" sz="1400">
                          <a:solidFill>
                            <a:srgbClr val="1B2A4A"/>
                          </a:solidFill>
                          <a:latin typeface="Calibri"/>
                          <a:ea typeface="Calibri"/>
                          <a:cs typeface="Calibri"/>
                        </a:rPr>
                        <a:t>Server + Network + UPS</a:t>
                      </a:r>
                    </a:p>
                  </a:txBody>
                  <a:tcPr anchor="ctr">
                    <a:solidFill>
                      <a:srgbClr val="F0EDE6"/>
                    </a:solidFill>
                  </a:tcPr>
                </a:tc>
                <a:tc>
                  <a:txBody>
                    <a:bodyPr/>
                    <a:lstStyle/>
                    <a:p>
                      <a:pPr algn="ctr"/>
                      <a:r>
                        <a:rPr lang="en-US" sz="1400">
                          <a:solidFill>
                            <a:srgbClr val="1B2A4A"/>
                          </a:solidFill>
                          <a:latin typeface="Calibri"/>
                          <a:ea typeface="Calibri"/>
                          <a:cs typeface="Calibri"/>
                        </a:rPr>
                        <a:t>$720–$1,300</a:t>
                      </a:r>
                    </a:p>
                  </a:txBody>
                  <a:tcPr anchor="ctr">
                    <a:solidFill>
                      <a:srgbClr val="F0EDE6"/>
                    </a:solidFill>
                  </a:tcPr>
                </a:tc>
                <a:tc>
                  <a:txBody>
                    <a:bodyPr/>
                    <a:lstStyle/>
                    <a:p>
                      <a:pPr algn="ctr"/>
                      <a:r>
                        <a:rPr lang="en-US" sz="1400">
                          <a:solidFill>
                            <a:srgbClr val="1B2A4A"/>
                          </a:solidFill>
                          <a:latin typeface="Calibri"/>
                          <a:ea typeface="Calibri"/>
                          <a:cs typeface="Calibri"/>
                        </a:rPr>
                        <a:t>$720–$1,300</a:t>
                      </a:r>
                    </a:p>
                  </a:txBody>
                  <a:tcPr anchor="ctr">
                    <a:solidFill>
                      <a:srgbClr val="F0EDE6"/>
                    </a:solidFill>
                  </a:tcPr>
                </a:tc>
                <a:tc>
                  <a:txBody>
                    <a:bodyPr/>
                    <a:lstStyle/>
                    <a:p>
                      <a:pPr algn="ctr"/>
                      <a:r>
                        <a:rPr lang="en-US" sz="1400">
                          <a:solidFill>
                            <a:srgbClr val="1B2A4A"/>
                          </a:solidFill>
                          <a:latin typeface="Calibri"/>
                          <a:ea typeface="Calibri"/>
                          <a:cs typeface="Calibri"/>
                        </a:rPr>
                        <a:t>Cloud-hosted</a:t>
                      </a:r>
                    </a:p>
                  </a:txBody>
                  <a:tcPr anchor="ctr">
                    <a:solidFill>
                      <a:srgbClr val="F0EDE6"/>
                    </a:solidFill>
                  </a:tcPr>
                </a:tc>
                <a:extLst>
                  <a:ext uri="{0D108BD9-81ED-4DB2-BD59-A6C34878D82A}">
                    <a16:rowId xmlns:a16="http://schemas.microsoft.com/office/drawing/2014/main" val="3210907233"/>
                  </a:ext>
                </a:extLst>
              </a:tr>
              <a:tr h="469900">
                <a:tc>
                  <a:txBody>
                    <a:bodyPr/>
                    <a:lstStyle/>
                    <a:p>
                      <a:pPr algn="l"/>
                      <a:r>
                        <a:rPr lang="en-US" sz="1400">
                          <a:solidFill>
                            <a:srgbClr val="1B2A4A"/>
                          </a:solidFill>
                          <a:latin typeface="Calibri"/>
                          <a:ea typeface="Calibri"/>
                          <a:cs typeface="Calibri"/>
                        </a:rPr>
                        <a:t>Software / API (3 yr)</a:t>
                      </a:r>
                    </a:p>
                  </a:txBody>
                  <a:tcPr anchor="ctr">
                    <a:solidFill>
                      <a:srgbClr val="FFFFFF"/>
                    </a:solidFill>
                  </a:tcPr>
                </a:tc>
                <a:tc>
                  <a:txBody>
                    <a:bodyPr/>
                    <a:lstStyle/>
                    <a:p>
                      <a:pPr algn="ctr"/>
                      <a:r>
                        <a:rPr lang="en-US" sz="1400">
                          <a:solidFill>
                            <a:srgbClr val="1B2A4A"/>
                          </a:solidFill>
                          <a:latin typeface="Calibri"/>
                          <a:ea typeface="Calibri"/>
                          <a:cs typeface="Calibri"/>
                        </a:rPr>
                        <a:t>$0</a:t>
                      </a:r>
                    </a:p>
                  </a:txBody>
                  <a:tcPr anchor="ctr">
                    <a:solidFill>
                      <a:srgbClr val="FFFFFF"/>
                    </a:solidFill>
                  </a:tcPr>
                </a:tc>
                <a:tc>
                  <a:txBody>
                    <a:bodyPr/>
                    <a:lstStyle/>
                    <a:p>
                      <a:pPr algn="ctr"/>
                      <a:r>
                        <a:rPr lang="en-US" sz="1400">
                          <a:solidFill>
                            <a:srgbClr val="1B2A4A"/>
                          </a:solidFill>
                          <a:latin typeface="Calibri"/>
                          <a:ea typeface="Calibri"/>
                          <a:cs typeface="Calibri"/>
                        </a:rPr>
                        <a:t>$1,095–$2,200</a:t>
                      </a:r>
                    </a:p>
                  </a:txBody>
                  <a:tcPr anchor="ctr">
                    <a:solidFill>
                      <a:srgbClr val="FFFFFF"/>
                    </a:solidFill>
                  </a:tcPr>
                </a:tc>
                <a:tc>
                  <a:txBody>
                    <a:bodyPr/>
                    <a:lstStyle/>
                    <a:p>
                      <a:pPr algn="ctr"/>
                      <a:r>
                        <a:rPr lang="en-US" sz="1400">
                          <a:solidFill>
                            <a:srgbClr val="1B2A4A"/>
                          </a:solidFill>
                          <a:latin typeface="Calibri"/>
                          <a:ea typeface="Calibri"/>
                          <a:cs typeface="Calibri"/>
                        </a:rPr>
                        <a:t>Proprietary terms</a:t>
                      </a:r>
                    </a:p>
                  </a:txBody>
                  <a:tcPr anchor="ctr">
                    <a:solidFill>
                      <a:srgbClr val="FFFFFF"/>
                    </a:solidFill>
                  </a:tcPr>
                </a:tc>
                <a:extLst>
                  <a:ext uri="{0D108BD9-81ED-4DB2-BD59-A6C34878D82A}">
                    <a16:rowId xmlns:a16="http://schemas.microsoft.com/office/drawing/2014/main" val="3363749373"/>
                  </a:ext>
                </a:extLst>
              </a:tr>
              <a:tr h="469900">
                <a:tc>
                  <a:txBody>
                    <a:bodyPr/>
                    <a:lstStyle/>
                    <a:p>
                      <a:pPr algn="l"/>
                      <a:r>
                        <a:rPr lang="en-US" sz="1400" b="1">
                          <a:solidFill>
                            <a:srgbClr val="1B2A4A"/>
                          </a:solidFill>
                          <a:latin typeface="Calibri"/>
                          <a:ea typeface="Calibri"/>
                          <a:cs typeface="Calibri"/>
                        </a:rPr>
                        <a:t>Estimated 3-Year Total</a:t>
                      </a:r>
                    </a:p>
                  </a:txBody>
                  <a:tcPr anchor="ctr">
                    <a:solidFill>
                      <a:srgbClr val="E8E4DC"/>
                    </a:solidFill>
                  </a:tcPr>
                </a:tc>
                <a:tc>
                  <a:txBody>
                    <a:bodyPr/>
                    <a:lstStyle/>
                    <a:p>
                      <a:pPr algn="ctr"/>
                      <a:r>
                        <a:rPr lang="en-US" sz="1400" b="1">
                          <a:solidFill>
                            <a:srgbClr val="6B8F71"/>
                          </a:solidFill>
                          <a:latin typeface="Calibri"/>
                          <a:ea typeface="Calibri"/>
                          <a:cs typeface="Calibri"/>
                        </a:rPr>
                        <a:t>$3,220–$8,800</a:t>
                      </a:r>
                    </a:p>
                  </a:txBody>
                  <a:tcPr anchor="ctr">
                    <a:solidFill>
                      <a:srgbClr val="E8E4DC"/>
                    </a:solidFill>
                  </a:tcPr>
                </a:tc>
                <a:tc>
                  <a:txBody>
                    <a:bodyPr/>
                    <a:lstStyle/>
                    <a:p>
                      <a:pPr algn="ctr"/>
                      <a:r>
                        <a:rPr lang="en-US" sz="1400" b="1">
                          <a:solidFill>
                            <a:srgbClr val="1B2A4A"/>
                          </a:solidFill>
                          <a:latin typeface="Calibri"/>
                          <a:ea typeface="Calibri"/>
                          <a:cs typeface="Calibri"/>
                        </a:rPr>
                        <a:t>$4,315–$11,000</a:t>
                      </a:r>
                    </a:p>
                  </a:txBody>
                  <a:tcPr anchor="ctr">
                    <a:solidFill>
                      <a:srgbClr val="E8E4DC"/>
                    </a:solidFill>
                  </a:tcPr>
                </a:tc>
                <a:tc>
                  <a:txBody>
                    <a:bodyPr/>
                    <a:lstStyle/>
                    <a:p>
                      <a:pPr algn="ctr"/>
                      <a:r>
                        <a:rPr lang="en-US" sz="1400" b="1">
                          <a:solidFill>
                            <a:srgbClr val="1B2A4A"/>
                          </a:solidFill>
                          <a:latin typeface="Calibri"/>
                          <a:ea typeface="Calibri"/>
                          <a:cs typeface="Calibri"/>
                        </a:rPr>
                        <a:t>Significantly higher</a:t>
                      </a:r>
                    </a:p>
                  </a:txBody>
                  <a:tcPr anchor="ctr">
                    <a:solidFill>
                      <a:srgbClr val="E8E4DC"/>
                    </a:solidFill>
                  </a:tcPr>
                </a:tc>
                <a:extLst>
                  <a:ext uri="{0D108BD9-81ED-4DB2-BD59-A6C34878D82A}">
                    <a16:rowId xmlns:a16="http://schemas.microsoft.com/office/drawing/2014/main" val="3447345922"/>
                  </a:ext>
                </a:extLst>
              </a:tr>
            </a:tbl>
          </a:graphicData>
        </a:graphic>
      </p:graphicFrame>
      <p:sp>
        <p:nvSpPr>
          <p:cNvPr id="5" name="TextBox 4">
            <a:extLst>
              <a:ext uri="{FF2B5EF4-FFF2-40B4-BE49-F238E27FC236}">
                <a16:creationId xmlns:a16="http://schemas.microsoft.com/office/drawing/2014/main" id="{54CB8F8E-109F-4C25-AB18-4E0DB35A09FE}"/>
              </a:ext>
            </a:extLst>
          </p:cNvPr>
          <p:cNvSpPr txBox="1"/>
          <p:nvPr/>
        </p:nvSpPr>
        <p:spPr>
          <a:xfrm>
            <a:off x="635000" y="4381500"/>
            <a:ext cx="10922000" cy="2032000"/>
          </a:xfrm>
          <a:prstGeom prst="rect">
            <a:avLst/>
          </a:prstGeom>
          <a:noFill/>
        </p:spPr>
        <p:txBody>
          <a:bodyPr vertOverflow="overflow" vert="horz" wrap="square" rtlCol="0" anchor="t">
            <a:spAutoFit/>
          </a:bodyPr>
          <a:lstStyle/>
          <a:p>
            <a:pPr marL="0" indent="0">
              <a:buNone/>
            </a:pPr>
            <a:r>
              <a:rPr lang="en-US" sz="1500" b="1" dirty="0">
                <a:solidFill>
                  <a:srgbClr val="2C5F7C"/>
                </a:solidFill>
                <a:latin typeface="Georgia"/>
              </a:rPr>
              <a:t>Key Cost Advantages</a:t>
            </a:r>
          </a:p>
          <a:p>
            <a:pPr marL="228600" indent="-228600">
              <a:spcAft>
                <a:spcPts val="200"/>
              </a:spcAft>
              <a:buFont typeface="Arial"/>
              <a:buChar char="•"/>
            </a:pPr>
            <a:r>
              <a:rPr lang="en-US" sz="1300" b="1" dirty="0">
                <a:solidFill>
                  <a:srgbClr val="6B8F71"/>
                </a:solidFill>
                <a:latin typeface="Calibri"/>
              </a:rPr>
              <a:t>$21–$59 per room per year</a:t>
            </a:r>
            <a:r>
              <a:rPr lang="en-US" sz="1300" dirty="0">
                <a:solidFill>
                  <a:srgbClr val="1B2A4A"/>
                </a:solidFill>
                <a:latin typeface="Calibri"/>
              </a:rPr>
              <a:t> amortised over 3 years (50-room hotel)</a:t>
            </a:r>
          </a:p>
          <a:p>
            <a:pPr marL="228600" indent="-228600">
              <a:spcAft>
                <a:spcPts val="200"/>
              </a:spcAft>
              <a:buFont typeface="Arial"/>
              <a:buChar char="•"/>
            </a:pPr>
            <a:r>
              <a:rPr lang="en-US" sz="1300" b="1" dirty="0">
                <a:solidFill>
                  <a:srgbClr val="1B2A4A"/>
                </a:solidFill>
                <a:latin typeface="Calibri"/>
              </a:rPr>
              <a:t>Zero recurring software costs</a:t>
            </a:r>
            <a:r>
              <a:rPr lang="en-US" sz="1300" dirty="0">
                <a:solidFill>
                  <a:srgbClr val="1B2A4A"/>
                </a:solidFill>
                <a:latin typeface="Calibri"/>
              </a:rPr>
              <a:t> — 100% open-source, no per-request or subscription billing</a:t>
            </a:r>
          </a:p>
          <a:p>
            <a:pPr marL="228600" indent="-228600">
              <a:spcAft>
                <a:spcPts val="200"/>
              </a:spcAft>
              <a:buFont typeface="Arial"/>
              <a:buChar char="•"/>
            </a:pPr>
            <a:r>
              <a:rPr lang="en-US" sz="1300" b="1" dirty="0">
                <a:solidFill>
                  <a:srgbClr val="1B2A4A"/>
                </a:solidFill>
                <a:latin typeface="Calibri"/>
              </a:rPr>
              <a:t>Commodity hardware</a:t>
            </a:r>
            <a:r>
              <a:rPr lang="en-US" sz="1300" dirty="0">
                <a:solidFill>
                  <a:srgbClr val="1B2A4A"/>
                </a:solidFill>
                <a:latin typeface="Calibri"/>
              </a:rPr>
              <a:t> — Android tablets ($50–$150) from local retailers, locally repairable</a:t>
            </a:r>
          </a:p>
          <a:p>
            <a:pPr marL="228600" indent="-228600">
              <a:buFont typeface="Arial"/>
              <a:buChar char="•"/>
            </a:pPr>
            <a:r>
              <a:rPr lang="en-US" sz="1300" b="1" dirty="0">
                <a:solidFill>
                  <a:srgbClr val="1B2A4A"/>
                </a:solidFill>
                <a:latin typeface="Calibri"/>
              </a:rPr>
              <a:t>Market fit</a:t>
            </a:r>
            <a:r>
              <a:rPr lang="en-US" sz="1300" dirty="0">
                <a:solidFill>
                  <a:srgbClr val="1B2A4A"/>
                </a:solidFill>
                <a:latin typeface="Calibri"/>
              </a:rPr>
              <a:t> — within reach of small independent Sri Lankan hotels (SLTDA, 2024)</a:t>
            </a:r>
          </a:p>
        </p:txBody>
      </p:sp>
      <p:sp>
        <p:nvSpPr>
          <p:cNvPr id="3" name="Slide Number Placeholder 2">
            <a:extLst>
              <a:ext uri="{FF2B5EF4-FFF2-40B4-BE49-F238E27FC236}">
                <a16:creationId xmlns:a16="http://schemas.microsoft.com/office/drawing/2014/main" id="{66D32FE0-0880-4155-1359-868C98442EA6}"/>
              </a:ext>
            </a:extLst>
          </p:cNvPr>
          <p:cNvSpPr>
            <a:spLocks noGrp="1"/>
          </p:cNvSpPr>
          <p:nvPr>
            <p:ph type="sldNum" sz="quarter" idx="12"/>
          </p:nvPr>
        </p:nvSpPr>
        <p:spPr/>
        <p:txBody>
          <a:bodyPr/>
          <a:lstStyle/>
          <a:p>
            <a:fld id="{9890CE2D-2882-48A4-88CB-3A003AF6C150}" type="slidenum">
              <a:rPr lang="en-US" smtClean="0"/>
              <a:t>14</a:t>
            </a:fld>
            <a:endParaRPr lang="en-US"/>
          </a:p>
        </p:txBody>
      </p:sp>
    </p:spTree>
    <p:extLst>
      <p:ext uri="{BB962C8B-B14F-4D97-AF65-F5344CB8AC3E}">
        <p14:creationId xmlns:p14="http://schemas.microsoft.com/office/powerpoint/2010/main" val="3753859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7C6EB-EB2D-F0D2-773E-C2549F87A8BC}"/>
              </a:ext>
            </a:extLst>
          </p:cNvPr>
          <p:cNvSpPr>
            <a:spLocks noGrp="1"/>
          </p:cNvSpPr>
          <p:nvPr>
            <p:ph type="title"/>
          </p:nvPr>
        </p:nvSpPr>
        <p:spPr/>
        <p:txBody>
          <a:bodyPr/>
          <a:lstStyle/>
          <a:p>
            <a:r>
              <a:rPr lang="en-US"/>
              <a:t>Critical Appraisal &amp; Limitations</a:t>
            </a:r>
          </a:p>
        </p:txBody>
      </p:sp>
      <p:sp>
        <p:nvSpPr>
          <p:cNvPr id="3" name="Content Placeholder 2">
            <a:extLst>
              <a:ext uri="{FF2B5EF4-FFF2-40B4-BE49-F238E27FC236}">
                <a16:creationId xmlns:a16="http://schemas.microsoft.com/office/drawing/2014/main" id="{E672150F-4BD4-3CB6-A444-4609BBC956C4}"/>
              </a:ext>
            </a:extLst>
          </p:cNvPr>
          <p:cNvSpPr>
            <a:spLocks noGrp="1"/>
          </p:cNvSpPr>
          <p:nvPr>
            <p:ph idx="1"/>
          </p:nvPr>
        </p:nvSpPr>
        <p:spPr/>
        <p:txBody>
          <a:bodyPr/>
          <a:lstStyle/>
          <a:p>
            <a:pPr marL="0" indent="0">
              <a:buNone/>
            </a:pPr>
            <a:r>
              <a:rPr lang="en-US" sz="1500" b="1" dirty="0">
                <a:solidFill>
                  <a:srgbClr val="6B8F71"/>
                </a:solidFill>
              </a:rPr>
              <a:t>Strengths</a:t>
            </a:r>
          </a:p>
          <a:p>
            <a:pPr marL="228600" indent="-228600">
              <a:spcAft>
                <a:spcPts val="200"/>
              </a:spcAft>
              <a:buFont typeface="Arial"/>
              <a:buChar char="•"/>
            </a:pPr>
            <a:r>
              <a:rPr lang="en-US" sz="1300" b="1" dirty="0"/>
              <a:t>Quantified the real-world accuracy gap</a:t>
            </a:r>
            <a:r>
              <a:rPr lang="en-US" sz="1300" dirty="0"/>
              <a:t> — 8.73 pp drop invisible under clean-text benchmarking</a:t>
            </a:r>
          </a:p>
          <a:p>
            <a:pPr marL="228600" indent="-228600">
              <a:spcAft>
                <a:spcPts val="200"/>
              </a:spcAft>
              <a:buFont typeface="Arial"/>
              <a:buChar char="•"/>
            </a:pPr>
            <a:r>
              <a:rPr lang="en-US" sz="1300" b="1" dirty="0"/>
              <a:t>Privacy by architecture</a:t>
            </a:r>
            <a:r>
              <a:rPr lang="en-US" sz="1300" dirty="0"/>
              <a:t> — no mechanism to send audio externally (stronger than policy-based)</a:t>
            </a:r>
          </a:p>
          <a:p>
            <a:pPr marL="228600" indent="-228600">
              <a:spcAft>
                <a:spcPts val="200"/>
              </a:spcAft>
              <a:buFont typeface="Arial"/>
              <a:buChar char="•"/>
            </a:pPr>
            <a:r>
              <a:rPr lang="en-US" sz="1300" b="1" dirty="0"/>
              <a:t>Reproducible evaluation</a:t>
            </a:r>
            <a:r>
              <a:rPr lang="en-US" sz="1300" dirty="0"/>
              <a:t> — balanced dataset, fixed test set, consistent Vosk model across training and deployment</a:t>
            </a:r>
          </a:p>
          <a:p>
            <a:pPr marL="228600" indent="-228600">
              <a:spcAft>
                <a:spcPts val="200"/>
              </a:spcAft>
              <a:buFont typeface="Arial"/>
              <a:buChar char="•"/>
            </a:pPr>
            <a:r>
              <a:rPr lang="en-US" sz="1300" b="1" dirty="0"/>
              <a:t>Concrete case study:</a:t>
            </a:r>
            <a:r>
              <a:rPr lang="en-US" sz="1300" dirty="0"/>
              <a:t> towel_request F1 recovered from 0.67 to 0.98 with noise-aware training</a:t>
            </a:r>
          </a:p>
          <a:p>
            <a:pPr marL="0" indent="0">
              <a:buNone/>
            </a:pPr>
            <a:r>
              <a:rPr lang="en-US" sz="1500" b="1" dirty="0">
                <a:solidFill>
                  <a:srgbClr val="C4956A"/>
                </a:solidFill>
              </a:rPr>
              <a:t>Limitations</a:t>
            </a:r>
          </a:p>
          <a:p>
            <a:pPr marL="228600" indent="-228600">
              <a:spcAft>
                <a:spcPts val="200"/>
              </a:spcAft>
              <a:buFont typeface="Arial"/>
              <a:buChar char="•"/>
            </a:pPr>
            <a:r>
              <a:rPr lang="en-US" sz="1300" b="1" dirty="0"/>
              <a:t>Synthetic speech only</a:t>
            </a:r>
            <a:r>
              <a:rPr lang="en-US" sz="1300" dirty="0"/>
              <a:t> — TTS audio, not real hotel guests; real-world WER likely higher</a:t>
            </a:r>
          </a:p>
          <a:p>
            <a:pPr marL="228600" indent="-228600">
              <a:spcAft>
                <a:spcPts val="200"/>
              </a:spcAft>
              <a:buFont typeface="Arial"/>
              <a:buChar char="•"/>
            </a:pPr>
            <a:r>
              <a:rPr lang="en-US" sz="1300" b="1" dirty="0"/>
              <a:t>Tokeniser mismatch</a:t>
            </a:r>
            <a:r>
              <a:rPr lang="en-US" sz="1300" dirty="0"/>
              <a:t> — Kotlin WordPiece implementation differs from Python; on-device accuracy lower</a:t>
            </a:r>
          </a:p>
          <a:p>
            <a:pPr marL="228600" indent="-228600">
              <a:spcAft>
                <a:spcPts val="200"/>
              </a:spcAft>
              <a:buFont typeface="Arial"/>
              <a:buChar char="•"/>
            </a:pPr>
            <a:r>
              <a:rPr lang="en-US" sz="1300" b="1" dirty="0"/>
              <a:t>No field deployment</a:t>
            </a:r>
            <a:r>
              <a:rPr lang="en-US" sz="1300" dirty="0"/>
              <a:t> — no real hotel environment testing; no real user feedback</a:t>
            </a:r>
          </a:p>
          <a:p>
            <a:pPr marL="228600" indent="-228600">
              <a:buFont typeface="Arial"/>
              <a:buChar char="•"/>
            </a:pPr>
            <a:r>
              <a:rPr lang="en-US" sz="1300" b="1" dirty="0"/>
              <a:t>No offline request queue</a:t>
            </a:r>
            <a:r>
              <a:rPr lang="en-US" sz="1300" dirty="0"/>
              <a:t> — if server unreachable, request is lost (STT/NLU still work on-device)</a:t>
            </a:r>
          </a:p>
        </p:txBody>
      </p:sp>
      <p:sp>
        <p:nvSpPr>
          <p:cNvPr id="4" name="Slide Number Placeholder 3">
            <a:extLst>
              <a:ext uri="{FF2B5EF4-FFF2-40B4-BE49-F238E27FC236}">
                <a16:creationId xmlns:a16="http://schemas.microsoft.com/office/drawing/2014/main" id="{F94DF623-70B9-0915-3546-3D9179F3BDD8}"/>
              </a:ext>
            </a:extLst>
          </p:cNvPr>
          <p:cNvSpPr>
            <a:spLocks noGrp="1"/>
          </p:cNvSpPr>
          <p:nvPr>
            <p:ph type="sldNum" sz="quarter" idx="12"/>
          </p:nvPr>
        </p:nvSpPr>
        <p:spPr/>
        <p:txBody>
          <a:bodyPr/>
          <a:lstStyle/>
          <a:p>
            <a:fld id="{9890CE2D-2882-48A4-88CB-3A003AF6C150}" type="slidenum">
              <a:rPr lang="en-US" smtClean="0"/>
              <a:t>15</a:t>
            </a:fld>
            <a:endParaRPr lang="en-US"/>
          </a:p>
        </p:txBody>
      </p:sp>
    </p:spTree>
    <p:extLst>
      <p:ext uri="{BB962C8B-B14F-4D97-AF65-F5344CB8AC3E}">
        <p14:creationId xmlns:p14="http://schemas.microsoft.com/office/powerpoint/2010/main" val="2803380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Research Contributions</a:t>
            </a:r>
          </a:p>
        </p:txBody>
      </p:sp>
      <p:sp>
        <p:nvSpPr>
          <p:cNvPr id="3" name="Content Placeholder 2"/>
          <p:cNvSpPr>
            <a:spLocks noGrp="1"/>
          </p:cNvSpPr>
          <p:nvPr>
            <p:ph idx="1"/>
          </p:nvPr>
        </p:nvSpPr>
        <p:spPr/>
        <p:txBody>
          <a:bodyPr>
            <a:normAutofit fontScale="62500" lnSpcReduction="20000"/>
          </a:bodyPr>
          <a:lstStyle/>
          <a:p>
            <a:r>
              <a:t>1. Hospitality-domain intent dataset</a:t>
            </a:r>
          </a:p>
          <a:p>
            <a:r>
              <a:t>   10,080 labelled utterances, 18 categories, paired with Vosk-transcribed versions.</a:t>
            </a:r>
          </a:p>
          <a:p>
            <a:r>
              <a:t>   First documented intent classification dataset for Sri Lankan hotel service operations.</a:t>
            </a:r>
          </a:p>
          <a:p>
            <a:endParaRPr/>
          </a:p>
          <a:p>
            <a:r>
              <a:t>2. Noise-aware NLU training approach</a:t>
            </a:r>
          </a:p>
          <a:p>
            <a:r>
              <a:t>   Model C: 99.06% on Vosk input vs 89.34% clean-text baseline (8.73 pp gap closed).</a:t>
            </a:r>
          </a:p>
          <a:p>
            <a:r>
              <a:t>   Controlled three-model experiment demonstrating noise-aware training in offline hospitality deployment.</a:t>
            </a:r>
          </a:p>
          <a:p>
            <a:endParaRPr/>
          </a:p>
          <a:p>
            <a:r>
              <a:t>3. Fully offline, low-cost voice assistant prototype</a:t>
            </a:r>
          </a:p>
          <a:p>
            <a:r>
              <a:t>   End-to-end system on commodity Android hardware below USD 150. No cloud, no voice data leaving device.</a:t>
            </a:r>
          </a:p>
          <a:p>
            <a:endParaRPr/>
          </a:p>
          <a:p>
            <a:r>
              <a:t>4. Hybrid NLU pipeline for resource-constrained on-device deployment</a:t>
            </a:r>
          </a:p>
          <a:p>
            <a:r>
              <a:t>   Two-tier architecture: rule-based keyword matching + MobileBERT neural inference.</a:t>
            </a:r>
          </a:p>
        </p:txBody>
      </p:sp>
      <p:sp>
        <p:nvSpPr>
          <p:cNvPr id="4" name="Slide Number Placeholder 3">
            <a:extLst>
              <a:ext uri="{FF2B5EF4-FFF2-40B4-BE49-F238E27FC236}">
                <a16:creationId xmlns:a16="http://schemas.microsoft.com/office/drawing/2014/main" id="{4E1339FF-3AC6-4C1E-B82C-28335786F78E}"/>
              </a:ext>
            </a:extLst>
          </p:cNvPr>
          <p:cNvSpPr>
            <a:spLocks noGrp="1"/>
          </p:cNvSpPr>
          <p:nvPr>
            <p:ph type="sldNum" sz="quarter" idx="12"/>
          </p:nvPr>
        </p:nvSpPr>
        <p:spPr/>
        <p:txBody>
          <a:bodyPr/>
          <a:lstStyle/>
          <a:p>
            <a:fld id="{9890CE2D-2882-48A4-88CB-3A003AF6C150}"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774F4-E92F-9879-3663-CB0D53BF5E04}"/>
              </a:ext>
            </a:extLst>
          </p:cNvPr>
          <p:cNvSpPr>
            <a:spLocks noGrp="1"/>
          </p:cNvSpPr>
          <p:nvPr>
            <p:ph type="title"/>
          </p:nvPr>
        </p:nvSpPr>
        <p:spPr/>
        <p:txBody>
          <a:bodyPr/>
          <a:lstStyle/>
          <a:p>
            <a:r>
              <a:rPr lang="en-US"/>
              <a:t>Conclusions &amp; Future Work</a:t>
            </a:r>
          </a:p>
        </p:txBody>
      </p:sp>
      <p:sp>
        <p:nvSpPr>
          <p:cNvPr id="3" name="Content Placeholder 2">
            <a:extLst>
              <a:ext uri="{FF2B5EF4-FFF2-40B4-BE49-F238E27FC236}">
                <a16:creationId xmlns:a16="http://schemas.microsoft.com/office/drawing/2014/main" id="{A797549B-A1F0-8B1B-F965-B74A46A35205}"/>
              </a:ext>
            </a:extLst>
          </p:cNvPr>
          <p:cNvSpPr>
            <a:spLocks noGrp="1"/>
          </p:cNvSpPr>
          <p:nvPr>
            <p:ph idx="1"/>
          </p:nvPr>
        </p:nvSpPr>
        <p:spPr/>
        <p:txBody>
          <a:bodyPr>
            <a:normAutofit fontScale="62500" lnSpcReduction="20000"/>
          </a:bodyPr>
          <a:lstStyle/>
          <a:p>
            <a:r>
              <a:rPr lang="en-US" sz="1600" dirty="0"/>
              <a:t>Answer: Yes — demonstrated across all measured dimensions</a:t>
            </a:r>
          </a:p>
          <a:p>
            <a:r>
              <a:rPr lang="en-US" sz="1600" dirty="0"/>
              <a:t>    NLU accuracy: Model C achieves 99.06% on real </a:t>
            </a:r>
            <a:r>
              <a:rPr lang="en-US" sz="1600" dirty="0" err="1"/>
              <a:t>Vosk</a:t>
            </a:r>
            <a:r>
              <a:rPr lang="en-US" sz="1600" dirty="0"/>
              <a:t> input</a:t>
            </a:r>
          </a:p>
          <a:p>
            <a:r>
              <a:rPr lang="en-US" sz="1600" dirty="0"/>
              <a:t>    STT: 11.43% overall WER — acceptable for the hospitality domain</a:t>
            </a:r>
          </a:p>
          <a:p>
            <a:r>
              <a:rPr lang="en-US" sz="1600" dirty="0"/>
              <a:t>    Latency: P95 2,801 </a:t>
            </a:r>
            <a:r>
              <a:rPr lang="en-US" sz="1600" dirty="0" err="1"/>
              <a:t>ms</a:t>
            </a:r>
            <a:r>
              <a:rPr lang="en-US" sz="1600" dirty="0"/>
              <a:t> — well within 5-second target (NFR-03)</a:t>
            </a:r>
          </a:p>
          <a:p>
            <a:r>
              <a:rPr lang="en-US" sz="1600" dirty="0"/>
              <a:t>    Cost: &lt; USD 150 per room — viable for small Sri Lankan hotels</a:t>
            </a:r>
          </a:p>
          <a:p>
            <a:pPr marL="0" indent="0">
              <a:buNone/>
            </a:pPr>
            <a:endParaRPr lang="en-US" sz="1500" b="1" dirty="0">
              <a:solidFill>
                <a:srgbClr val="2C5F7C"/>
              </a:solidFill>
            </a:endParaRPr>
          </a:p>
          <a:p>
            <a:pPr marL="0" indent="0">
              <a:buNone/>
            </a:pPr>
            <a:endParaRPr lang="en-US" sz="1500" b="1" dirty="0">
              <a:solidFill>
                <a:srgbClr val="2C5F7C"/>
              </a:solidFill>
            </a:endParaRPr>
          </a:p>
          <a:p>
            <a:pPr marL="0" indent="0">
              <a:buNone/>
            </a:pPr>
            <a:endParaRPr lang="en-US" sz="1500" b="1" dirty="0">
              <a:solidFill>
                <a:srgbClr val="2C5F7C"/>
              </a:solidFill>
            </a:endParaRPr>
          </a:p>
          <a:p>
            <a:pPr marL="0" indent="0">
              <a:buNone/>
            </a:pPr>
            <a:r>
              <a:rPr lang="en-US" sz="1500" b="1" dirty="0">
                <a:solidFill>
                  <a:srgbClr val="2C5F7C"/>
                </a:solidFill>
              </a:rPr>
              <a:t>All Four Research Objectives Achieved</a:t>
            </a:r>
          </a:p>
          <a:p>
            <a:pPr marL="228600" indent="-228600">
              <a:spcAft>
                <a:spcPts val="200"/>
              </a:spcAft>
              <a:buFont typeface="Arial"/>
              <a:buChar char="•"/>
            </a:pPr>
            <a:r>
              <a:rPr lang="en-US" sz="1300" dirty="0"/>
              <a:t>Working end-to-end prototype: voice input → intent classification → staff notification → guest feedback</a:t>
            </a:r>
          </a:p>
          <a:p>
            <a:pPr marL="228600" indent="-228600">
              <a:spcAft>
                <a:spcPts val="200"/>
              </a:spcAft>
              <a:buFont typeface="Arial"/>
              <a:buChar char="•"/>
            </a:pPr>
            <a:r>
              <a:rPr lang="en-US" sz="1300" dirty="0"/>
              <a:t>Noise-aware training </a:t>
            </a:r>
            <a:r>
              <a:rPr lang="en-US" sz="1300" b="1" dirty="0"/>
              <a:t>closes and exceeds</a:t>
            </a:r>
            <a:r>
              <a:rPr lang="en-US" sz="1300" dirty="0"/>
              <a:t> the STT-induced accuracy gap (111.3% recovery)</a:t>
            </a:r>
          </a:p>
          <a:p>
            <a:pPr marL="228600" indent="-228600">
              <a:spcAft>
                <a:spcPts val="200"/>
              </a:spcAft>
              <a:buFont typeface="Arial"/>
              <a:buChar char="•"/>
            </a:pPr>
            <a:r>
              <a:rPr lang="en-US" sz="1300" dirty="0"/>
              <a:t>Privacy guaranteed by architecture; $21–$59/room/year — viable for small Sri Lankan hotels</a:t>
            </a:r>
          </a:p>
          <a:p>
            <a:pPr marL="228600" indent="-228600">
              <a:spcAft>
                <a:spcPts val="200"/>
              </a:spcAft>
              <a:buFont typeface="Arial"/>
              <a:buChar char="•"/>
            </a:pPr>
            <a:r>
              <a:rPr lang="en-US" sz="1300" dirty="0"/>
              <a:t>First documented hospitality-domain intent dataset (10,080 utterances, 18 intents)</a:t>
            </a:r>
          </a:p>
          <a:p>
            <a:pPr marL="0" indent="0">
              <a:buNone/>
            </a:pPr>
            <a:r>
              <a:rPr lang="en-US" sz="1500" b="1" dirty="0">
                <a:solidFill>
                  <a:srgbClr val="2C5F7C"/>
                </a:solidFill>
              </a:rPr>
              <a:t>Priority Future Work</a:t>
            </a:r>
          </a:p>
          <a:p>
            <a:pPr marL="228600" indent="-228600">
              <a:spcAft>
                <a:spcPts val="200"/>
              </a:spcAft>
              <a:buAutoNum type="arabicPeriod"/>
            </a:pPr>
            <a:r>
              <a:rPr lang="en-US" sz="1300" b="1" dirty="0"/>
              <a:t>Field deployment</a:t>
            </a:r>
            <a:r>
              <a:rPr lang="en-US" sz="1300" dirty="0"/>
              <a:t> — real hotel rooms, real guests, real acoustic conditions</a:t>
            </a:r>
          </a:p>
          <a:p>
            <a:pPr marL="228600" indent="-228600">
              <a:spcAft>
                <a:spcPts val="200"/>
              </a:spcAft>
              <a:buAutoNum type="arabicPeriod"/>
            </a:pPr>
            <a:r>
              <a:rPr lang="en-US" sz="1300" b="1" dirty="0"/>
              <a:t>Real speech data</a:t>
            </a:r>
            <a:r>
              <a:rPr lang="en-US" sz="1300" dirty="0"/>
              <a:t> — collect Sri Lankan English recordings for retraining and WER validation</a:t>
            </a:r>
          </a:p>
          <a:p>
            <a:pPr marL="228600" indent="-228600">
              <a:spcAft>
                <a:spcPts val="200"/>
              </a:spcAft>
              <a:buAutoNum type="arabicPeriod"/>
            </a:pPr>
            <a:r>
              <a:rPr lang="en-US" sz="1300" b="1" dirty="0"/>
              <a:t>Proper Android tokeniser</a:t>
            </a:r>
            <a:r>
              <a:rPr lang="en-US" sz="1300" dirty="0"/>
              <a:t> — resolve the Python–Kotlin WordPiece mismatch</a:t>
            </a:r>
          </a:p>
          <a:p>
            <a:pPr marL="228600" indent="-228600">
              <a:buAutoNum type="arabicPeriod"/>
            </a:pPr>
            <a:r>
              <a:rPr lang="en-US" sz="1300" b="1" dirty="0"/>
              <a:t>Multilingual support</a:t>
            </a:r>
            <a:r>
              <a:rPr lang="en-US" sz="1300" dirty="0"/>
              <a:t> — broader language coverage for international hotel deployment</a:t>
            </a:r>
          </a:p>
        </p:txBody>
      </p:sp>
      <p:sp>
        <p:nvSpPr>
          <p:cNvPr id="4" name="Slide Number Placeholder 3">
            <a:extLst>
              <a:ext uri="{FF2B5EF4-FFF2-40B4-BE49-F238E27FC236}">
                <a16:creationId xmlns:a16="http://schemas.microsoft.com/office/drawing/2014/main" id="{158943B7-E19B-4F76-2C3C-C274FE311AF7}"/>
              </a:ext>
            </a:extLst>
          </p:cNvPr>
          <p:cNvSpPr>
            <a:spLocks noGrp="1"/>
          </p:cNvSpPr>
          <p:nvPr>
            <p:ph type="sldNum" sz="quarter" idx="12"/>
          </p:nvPr>
        </p:nvSpPr>
        <p:spPr/>
        <p:txBody>
          <a:bodyPr/>
          <a:lstStyle/>
          <a:p>
            <a:fld id="{9890CE2D-2882-48A4-88CB-3A003AF6C150}" type="slidenum">
              <a:rPr lang="en-US" smtClean="0"/>
              <a:t>17</a:t>
            </a:fld>
            <a:endParaRPr lang="en-US"/>
          </a:p>
        </p:txBody>
      </p:sp>
    </p:spTree>
    <p:extLst>
      <p:ext uri="{BB962C8B-B14F-4D97-AF65-F5344CB8AC3E}">
        <p14:creationId xmlns:p14="http://schemas.microsoft.com/office/powerpoint/2010/main" val="308887653"/>
      </p:ext>
    </p:extLst>
  </p:cSld>
  <p:clrMapOvr>
    <a:masterClrMapping/>
  </p:clrMapOvr>
</p:sld>
</file>

<file path=ppt/theme/theme1.xml><?xml version="1.0" encoding="utf-8"?>
<a:theme xmlns:a="http://schemas.openxmlformats.org/drawingml/2006/main" name="Office Theme [1774707681357]">
  <a:themeElements>
    <a:clrScheme name="Academic Formal">
      <a:dk1>
        <a:srgbClr val="1B2A4A"/>
      </a:dk1>
      <a:lt1>
        <a:srgbClr val="F7F5F0"/>
      </a:lt1>
      <a:dk2>
        <a:srgbClr val="2C3E6B"/>
      </a:dk2>
      <a:lt2>
        <a:srgbClr val="EBE8E0"/>
      </a:lt2>
      <a:accent1>
        <a:srgbClr val="2C5F7C"/>
      </a:accent1>
      <a:accent2>
        <a:srgbClr val="6B8F71"/>
      </a:accent2>
      <a:accent3>
        <a:srgbClr val="C4956A"/>
      </a:accent3>
      <a:accent4>
        <a:srgbClr val="8B6F9C"/>
      </a:accent4>
      <a:accent5>
        <a:srgbClr val="4A7C8F"/>
      </a:accent5>
      <a:accent6>
        <a:srgbClr val="9B7653"/>
      </a:accent6>
      <a:hlink>
        <a:srgbClr val="467886"/>
      </a:hlink>
      <a:folHlink>
        <a:srgbClr val="96607D"/>
      </a:folHlink>
    </a:clrScheme>
    <a:fontScheme name="Academic Formal">
      <a:majorFont>
        <a:latin typeface="Georgia"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89"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74B2DD8-8821-4663-BB90-C7B2341542B2}">
  <we:reference id="wa200010001" version="1.0.0.1" store="en-US" storeType="OMEX"/>
  <we:alternateReferences>
    <we:reference id="wa200010001" version="1.0.0.1"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113</TotalTime>
  <Words>7072</Words>
  <Application>Microsoft Office PowerPoint</Application>
  <PresentationFormat>Widescreen</PresentationFormat>
  <Paragraphs>455</Paragraphs>
  <Slides>17</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Amasis MT Pro Medium</vt:lpstr>
      <vt:lpstr>Aptos</vt:lpstr>
      <vt:lpstr>Arial</vt:lpstr>
      <vt:lpstr>Calibri</vt:lpstr>
      <vt:lpstr>Georgia</vt:lpstr>
      <vt:lpstr>Office Theme [1774707681357]</vt:lpstr>
      <vt:lpstr>Low-Cost Offline Voice Assistant  for Hospitality Services in Sri Lanka  Using Small-Scale Neural Models</vt:lpstr>
      <vt:lpstr>Introduction &amp; Motivation</vt:lpstr>
      <vt:lpstr>Research Question</vt:lpstr>
      <vt:lpstr>Research Objectives</vt:lpstr>
      <vt:lpstr>Literature Review</vt:lpstr>
      <vt:lpstr>PowerPoint Presentation</vt:lpstr>
      <vt:lpstr>Methodology</vt:lpstr>
      <vt:lpstr>Requirements &amp; Analysis</vt:lpstr>
      <vt:lpstr>System Architecture</vt:lpstr>
      <vt:lpstr>Technology Stack</vt:lpstr>
      <vt:lpstr>Implementation</vt:lpstr>
      <vt:lpstr>NLU Evaluation Results</vt:lpstr>
      <vt:lpstr>Speech Recognition &amp; System Testing</vt:lpstr>
      <vt:lpstr>Cost-Effectiveness Analysis</vt:lpstr>
      <vt:lpstr>Critical Appraisal &amp; Limitations</vt:lpstr>
      <vt:lpstr>Research Contributions</vt:lpstr>
      <vt:lpstr>Conclusions &amp;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Dinesh Wijesuriya</dc:creator>
  <cp:lastModifiedBy>Dinesh Wijesuriya</cp:lastModifiedBy>
  <cp:revision>17</cp:revision>
  <dcterms:created xsi:type="dcterms:W3CDTF">2026-03-28T14:21:21Z</dcterms:created>
  <dcterms:modified xsi:type="dcterms:W3CDTF">2026-04-20T19:34:36Z</dcterms:modified>
</cp:coreProperties>
</file>