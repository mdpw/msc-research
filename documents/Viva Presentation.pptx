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rts/chart1.xml" ContentType="application/vnd.openxmlformats-officedocument.drawingml.chart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4"/>
  </p:notesMasterIdLst>
  <p:sldIdLst>
    <p:sldId id="284" r:id="rId2"/>
    <p:sldId id="303" r:id="rId3"/>
    <p:sldId id="298" r:id="rId4"/>
    <p:sldId id="257" r:id="rId5"/>
    <p:sldId id="300" r:id="rId6"/>
    <p:sldId id="258" r:id="rId7"/>
    <p:sldId id="313" r:id="rId8"/>
    <p:sldId id="290" r:id="rId9"/>
    <p:sldId id="310" r:id="rId10"/>
    <p:sldId id="291" r:id="rId11"/>
    <p:sldId id="292" r:id="rId12"/>
    <p:sldId id="293" r:id="rId13"/>
    <p:sldId id="294" r:id="rId14"/>
    <p:sldId id="295" r:id="rId15"/>
    <p:sldId id="296" r:id="rId16"/>
    <p:sldId id="311" r:id="rId17"/>
    <p:sldId id="312" r:id="rId18"/>
    <p:sldId id="297" r:id="rId19"/>
    <p:sldId id="306" r:id="rId20"/>
    <p:sldId id="307" r:id="rId21"/>
    <p:sldId id="308" r:id="rId22"/>
    <p:sldId id="305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3725" autoAdjust="0"/>
  </p:normalViewPr>
  <p:slideViewPr>
    <p:cSldViewPr snapToGrid="0">
      <p:cViewPr varScale="1">
        <p:scale>
          <a:sx n="83" d="100"/>
          <a:sy n="83" d="100"/>
        </p:scale>
        <p:origin x="1662" y="5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title>
      <c:tx>
        <c:rich>
          <a:bodyPr/>
          <a:lstStyle/>
          <a:p>
            <a:pPr algn="ctr">
              <a:defRPr lang="en-US" sz="2000" kern="1200" dirty="0">
                <a:ln w="0"/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2000" kern="1200" dirty="0">
                <a:ln w="0"/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rPr>
              <a:t>Intent Classification Accuracy </a:t>
            </a:r>
          </a:p>
          <a:p>
            <a:pPr algn="ctr">
              <a:defRPr lang="en-US" sz="2000" kern="1200" dirty="0">
                <a:ln w="0"/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2000" kern="1200" dirty="0">
                <a:ln w="0"/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rPr>
              <a:t>(2,016-sample test set)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v>Accuracy (%)</c:v>
          </c:tx>
          <c:spPr>
            <a:noFill/>
          </c:spPr>
          <c:invertIfNegative val="1"/>
          <c:dPt>
            <c:idx val="0"/>
            <c:invertIfNegative val="1"/>
            <c:bubble3D val="0"/>
            <c:spPr>
              <a:solidFill>
                <a:srgbClr val="2C5F7C"/>
              </a:solidFill>
            </c:spPr>
            <c:extLst>
              <c:ext xmlns:c16="http://schemas.microsoft.com/office/drawing/2014/chart" uri="{C3380CC4-5D6E-409C-BE32-E72D297353CC}">
                <c16:uniqueId val="{00000001-8E2A-4C6B-B0CB-7A3DF06D7325}"/>
              </c:ext>
            </c:extLst>
          </c:dPt>
          <c:dPt>
            <c:idx val="1"/>
            <c:invertIfNegative val="1"/>
            <c:bubble3D val="0"/>
            <c:spPr>
              <a:solidFill>
                <a:srgbClr val="C4956A"/>
              </a:solidFill>
            </c:spPr>
            <c:extLst>
              <c:ext xmlns:c16="http://schemas.microsoft.com/office/drawing/2014/chart" uri="{C3380CC4-5D6E-409C-BE32-E72D297353CC}">
                <c16:uniqueId val="{00000003-8E2A-4C6B-B0CB-7A3DF06D7325}"/>
              </c:ext>
            </c:extLst>
          </c:dPt>
          <c:dPt>
            <c:idx val="2"/>
            <c:invertIfNegative val="1"/>
            <c:bubble3D val="0"/>
            <c:spPr>
              <a:solidFill>
                <a:srgbClr val="8B6F9C"/>
              </a:solidFill>
            </c:spPr>
            <c:extLst>
              <c:ext xmlns:c16="http://schemas.microsoft.com/office/drawing/2014/chart" uri="{C3380CC4-5D6E-409C-BE32-E72D297353CC}">
                <c16:uniqueId val="{00000005-8E2A-4C6B-B0CB-7A3DF06D7325}"/>
              </c:ext>
            </c:extLst>
          </c:dPt>
          <c:dPt>
            <c:idx val="3"/>
            <c:invertIfNegative val="1"/>
            <c:bubble3D val="0"/>
            <c:spPr>
              <a:solidFill>
                <a:srgbClr val="6B8F71"/>
              </a:solidFill>
            </c:spPr>
            <c:extLst>
              <c:ext xmlns:c16="http://schemas.microsoft.com/office/drawing/2014/chart" uri="{C3380CC4-5D6E-409C-BE32-E72D297353CC}">
                <c16:uniqueId val="{00000007-8E2A-4C6B-B0CB-7A3DF06D7325}"/>
              </c:ext>
            </c:extLst>
          </c:dPt>
          <c:dLbls>
            <c:numFmt formatCode="0.0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1">
                    <a:solidFill>
                      <a:srgbClr val="1B2A4A"/>
                    </a:solidFill>
                    <a:latin typeface="Calibri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4"/>
              <c:pt idx="0">
                <c:v>Model A
(Clean Input)</c:v>
              </c:pt>
              <c:pt idx="1">
                <c:v>Model A
(Vosk Input)</c:v>
              </c:pt>
              <c:pt idx="2">
                <c:v>Model B
(Vosk Input)</c:v>
              </c:pt>
              <c:pt idx="3">
                <c:v>Model C
(Vosk Input)</c:v>
              </c:pt>
            </c:strLit>
          </c:cat>
          <c:val>
            <c:numLit>
              <c:formatCode>General</c:formatCode>
              <c:ptCount val="4"/>
              <c:pt idx="0">
                <c:v>98.07</c:v>
              </c:pt>
              <c:pt idx="1">
                <c:v>89.34</c:v>
              </c:pt>
              <c:pt idx="2">
                <c:v>96.38</c:v>
              </c:pt>
              <c:pt idx="3">
                <c:v>99.06</c:v>
              </c:pt>
            </c:numLit>
          </c:val>
          <c:extLst>
            <c:ext xmlns:c16="http://schemas.microsoft.com/office/drawing/2014/chart" uri="{C3380CC4-5D6E-409C-BE32-E72D297353CC}">
              <c16:uniqueId val="{00000008-8E2A-4C6B-B0CB-7A3DF06D732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"/>
        <c:axId val="2"/>
      </c:barChart>
      <c:catAx>
        <c:axId val="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txPr>
          <a:bodyPr/>
          <a:lstStyle/>
          <a:p>
            <a:pPr>
              <a:defRPr sz="1100">
                <a:solidFill>
                  <a:srgbClr val="1B2A4A"/>
                </a:solidFill>
                <a:latin typeface="Calibri"/>
              </a:defRPr>
            </a:pPr>
            <a:endParaRPr lang="en-US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  <c:max val="105"/>
          <c:min val="80"/>
        </c:scaling>
        <c:delete val="0"/>
        <c:axPos val="l"/>
        <c:numFmt formatCode="0&quot;%&quot;" sourceLinked="0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1B2A4A"/>
                </a:solidFill>
                <a:latin typeface="Calibri"/>
              </a:defRPr>
            </a:pPr>
            <a:endParaRPr lang="en-US"/>
          </a:p>
        </c:txPr>
        <c:crossAx val="1"/>
        <c:crosses val="autoZero"/>
        <c:crossBetween val="between"/>
      </c:valAx>
    </c:plotArea>
    <c:plotVisOnly val="1"/>
    <c:dispBlanksAs val="zero"/>
    <c:showDLblsOverMax val="1"/>
  </c:chart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9449912-72E7-44B2-8958-223EDC198C7E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21C570-53BE-46F6-9D3E-69DD73653F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8423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1C570-53BE-46F6-9D3E-69DD73653F9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91390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F29F0B-F0DA-6100-1528-24B2A6A3CC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7FB943-A7BA-F261-08B9-50B45A8147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5474F1-B8E4-BDA1-3630-025AE48506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BF5FD6-EF7C-F942-351E-B2EDA9938D3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481909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94CE6F-2980-2D81-B7E0-2DA81F2CD7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C4C0A6-7181-11AC-376B-BD13B9AE65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C8F503-AE1E-C203-66D2-233A7F2884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034883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dirty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dirty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dirty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1830F8-EC9B-D640-3818-F834797225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9280CE-9A24-69C0-AC3A-B082493756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322389-1130-42F9-7A7A-C6C3810BEA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44608557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1D51C0-2BF5-D2E9-91A3-87EB6765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822645-6193-3D6F-FBDD-35DF222BEC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4E1EC7-EFF2-10BE-A1BB-2B784CBFE1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6411067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dirty="0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2A5284-702E-60C0-DD84-2BF0E5C543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0DDB01-D2A7-5D78-3618-1815499700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EEB854-CF64-527D-7FED-11CE89B44A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71667259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9D89EC-87BF-885A-1040-86F525DEA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21E8C9-9C27-3463-1AC6-0C9B7C8CEF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71CBEB-4DA8-5EE8-E3B3-1F918AB521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97173618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F7A8A5-7BB0-1860-77C3-EDB03DAAAF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5E29EC-3292-7760-2784-2B8A7543C7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679DDA-18E0-00D9-F35E-26102278C5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8210590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FB6CB-9431-6BE8-4BA2-8CA9A40A02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C3BE8A-DD0B-57A7-DE12-798A01E95A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B06EF5-0DD9-E777-DA4D-DB52552107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6173435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0CCCCD-36AC-86FD-40AB-BDD4AE15DF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4AA5FDC-E9B7-5DC9-5DCA-F0D63E4916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DC6104-2BEC-DDB4-E9B3-EFC96B3DE7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353F3F-4660-4700-9F5B-A506E0C71572}" type="datetime1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227CE3-DE6C-9EC0-BB3B-1FF073CE5F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3EEBD9-8CC6-B38B-ACF5-CC6E98A1B7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0CE2D-2882-48A4-88CB-3A003AF6C1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22406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64249D-BA72-9EB9-AE49-BD005CBDDD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243FCD-2A8F-A54A-FE94-AC1E7E31AB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4238B0-D101-E095-A47B-1DB9B58CC1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AECDF4-DBAE-4F1B-9F2F-0437977C0D6A}" type="datetime1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CBCE0B-8986-7A1E-5E22-8D828A11B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08801B-1789-42FB-CA25-7FF6136D47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0CE2D-2882-48A4-88CB-3A003AF6C1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09677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F55EB4-D773-D046-9C75-86014CDFE4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7F963C-3A03-684F-2EBC-4FDC312471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FF09EA-DA0E-2D4E-67C8-035CECA76E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DC765-BF7F-44EA-BB87-AE4B47EE0CFB}" type="datetime1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C22C14-7BAF-239F-9B86-A989C727F9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526B08-6C9F-376C-B724-0FAF4F88AF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0CE2D-2882-48A4-88CB-3A003AF6C1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07169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E25BEA-5AAE-9009-F203-A1F5CD79EE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6EB357-FDBC-8D80-1F83-595A263879C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A46655-2BB6-0B70-21C2-ABF2F68B9A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FFBC3A-D513-EAEA-C24A-353BA3EF7E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644CB-F700-4586-8D93-64F8C3A9A84D}" type="datetime1">
              <a:rPr lang="en-US" smtClean="0"/>
              <a:t>5/14/2026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EA9CCF3-D61C-814A-36ED-CAE857EB7E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F14A04A-312C-1A81-25B7-79EC896C49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0CE2D-2882-48A4-88CB-3A003AF6C1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003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79AE52-BC42-E346-F0A9-EBE76BA749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7D125B-553F-F78F-0B3C-9C45C8CE54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D280AD-ACCF-A949-18A3-260FFFD245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F20D5B3-649B-D5EB-400F-DE9208CF51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ABE17AD-E455-1A19-5BC1-9C85F6DF7B2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F2320EC-C138-01F6-011D-769F7DB761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9B2F92-DE44-41D1-8237-53690E1FE645}" type="datetime1">
              <a:rPr lang="en-US" smtClean="0"/>
              <a:t>5/14/2026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A4B207A-747F-2A33-963F-3410585158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9CBF614-492B-DE7A-682F-1EEEE90F09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0CE2D-2882-48A4-88CB-3A003AF6C1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27481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31C4C9-9A6C-9B44-2C38-0FCE71BD56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870A036-B35F-BEEE-541C-1A85E3127E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41B072-B9D0-42AE-97C8-CB2FA2B6C3D7}" type="datetime1">
              <a:rPr lang="en-US" smtClean="0"/>
              <a:t>5/14/2026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3FCC73-B5C1-44E4-9B19-A834BE5E35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91B10AC-E7D2-6255-089C-1D67DD6542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0CE2D-2882-48A4-88CB-3A003AF6C1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0455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0566C9C-EEC6-4451-FF3C-F89330AB6D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44EA85-D809-434B-81E9-BDCE20D58EE7}" type="datetime1">
              <a:rPr lang="en-US" smtClean="0"/>
              <a:t>5/14/2026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ECF0E36-D9C1-56CD-8140-5E10667588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A3D1B4-54C6-C7B7-70E5-6B5761068D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0CE2D-2882-48A4-88CB-3A003AF6C1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29035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26FF0-37BF-896D-E327-9842A701F0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E445E1-A853-4A91-FAC2-4C03B606CF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FFEE65C-1E99-A5FC-92CE-9810E3AFF8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4EFF4D-7E66-7316-E3E9-CA729B8309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204E8A-CED7-4200-8189-F6205532AB5A}" type="datetime1">
              <a:rPr lang="en-US" smtClean="0"/>
              <a:t>5/14/2026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C10280-2020-C728-AD58-8490B5A479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68E3B08-C646-36E6-3C1E-CE5AAAF1BC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0CE2D-2882-48A4-88CB-3A003AF6C1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58232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3B8EAE-0149-7E60-6D9A-5C938EDDD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78A205F-7D9D-E5AA-8688-AC5508DD225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1DA380-A23C-FB6E-F99C-1B211D0092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44D3D7-5B7D-F216-A6C2-30A6D8FF06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7E2F06-0CB0-4B78-969A-26083473BDFF}" type="datetime1">
              <a:rPr lang="en-US" smtClean="0"/>
              <a:t>5/14/2026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91A029B-275D-6ACC-4201-DD937AD169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9E15DE-6494-8A97-7F2F-F7B727AACD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0CE2D-2882-48A4-88CB-3A003AF6C1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18487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B2A73D-43D1-9B6C-B535-E12F5784DE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C7547C-F875-2A06-222E-643C6CE699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8C331C-B8EB-5760-6178-9ED936DADB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428D9F-DB8F-481A-9398-4E577FB5AB55}" type="datetime1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7A1655-DBE2-A7B0-7926-2438669B79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03C7BB-D61F-51AF-CCBC-1ADE14925B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0CE2D-2882-48A4-88CB-3A003AF6C1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85345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7480166-E883-8CC3-7892-D89A320B51F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0750B6A-2D6B-BA1B-0343-3AAF06EAD5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149A21-4E95-A64C-708F-09DE5BC758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B99F97-AF0B-49AF-B987-CCCFD847E1B3}" type="datetime1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543B32-E4C3-F6A9-4F68-476A7AFBE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96DC43-D722-00D2-C6CF-F140F557DA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0CE2D-2882-48A4-88CB-3A003AF6C1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55292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348223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01D8806-D441-66B9-36EF-AFD845D14C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45C595-9D6C-5411-3EF7-D2026B5381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50F47B-8967-8BA0-EC06-E21766EA68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9C6C94B-3B24-40A5-A029-F594780BE176}" type="datetime1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6F82AE-8B71-EC78-8311-D8276554CB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32C5BF-A3EB-819E-1697-9C52954006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90CE2D-2882-48A4-88CB-3A003AF6C150}" type="slidenum">
              <a:rPr lang="en-US" smtClean="0"/>
              <a:t>‹#›</a:t>
            </a:fld>
            <a:endParaRPr lang="en-US"/>
          </a:p>
        </p:txBody>
      </p:sp>
      <p:sp>
        <p:nvSpPr>
          <p:cNvPr id="900" name="AccentBar"/>
          <p:cNvSpPr/>
          <p:nvPr userDrawn="1"/>
        </p:nvSpPr>
        <p:spPr>
          <a:xfrm>
            <a:off x="0" y="6583050"/>
            <a:ext cx="12192000" cy="274320"/>
          </a:xfrm>
          <a:prstGeom prst="rect">
            <a:avLst/>
          </a:prstGeom>
          <a:solidFill>
            <a:srgbClr val="2C5F7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01" name="Hairline"/>
          <p:cNvSpPr/>
          <p:nvPr userDrawn="1"/>
        </p:nvSpPr>
        <p:spPr>
          <a:xfrm>
            <a:off x="0" y="6548438"/>
            <a:ext cx="12192000" cy="34612"/>
          </a:xfrm>
          <a:prstGeom prst="rect">
            <a:avLst/>
          </a:prstGeom>
          <a:solidFill>
            <a:srgbClr val="C4956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43834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1B2A4A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1B2A4A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rgbClr val="1B2A4A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1B2A4A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1B2A4A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1B2A4A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1B2A4A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1B2A4A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1B2A4A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1B2A4A"/>
          </a:solidFill>
          <a:latin typeface="+mn-lt"/>
          <a:ea typeface="+mn-ea"/>
          <a:cs typeface="+mn-cs"/>
        </a:defRPr>
      </a:lvl9pPr>
    </p:bodyStyle>
    <p:otherStyle>
      <a:defPPr>
        <a:defRPr lang="en-US">
          <a:solidFill>
            <a:srgbClr val="1B2A4A"/>
          </a:solidFill>
        </a:defRPr>
      </a:defPPr>
      <a:lvl1pPr marL="0" algn="l" defTabSz="914400" rtl="0" eaLnBrk="1" latinLnBrk="0" hangingPunct="1">
        <a:defRPr sz="1800" kern="1200">
          <a:solidFill>
            <a:srgbClr val="1B2A4A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rgbClr val="1B2A4A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rgbClr val="1B2A4A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rgbClr val="1B2A4A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rgbClr val="1B2A4A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rgbClr val="1B2A4A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rgbClr val="1B2A4A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rgbClr val="1B2A4A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rgbClr val="1B2A4A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B5D760-34C5-FE12-9CA6-45605C5A0A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6810" y="616584"/>
            <a:ext cx="10309860" cy="3036888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sz="4000" b="1" dirty="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  <a:t>Low-Cost Offline Voice Assistant </a:t>
            </a:r>
            <a:br>
              <a:rPr lang="en-US" sz="4000" b="1" dirty="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</a:br>
            <a:r>
              <a:rPr lang="en-US" sz="4000" b="1" dirty="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  <a:t>for Hospitality Services in Sri Lanka </a:t>
            </a:r>
            <a:br>
              <a:rPr lang="en-US" sz="4000" b="1" dirty="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</a:br>
            <a:r>
              <a:rPr lang="en-US" sz="4000" b="1" dirty="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  <a:t>Using Small-Scale Neural Models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293929-044A-2235-0BD7-E5D458B5C0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2471" y="4975228"/>
            <a:ext cx="4724400" cy="1655762"/>
          </a:xfrm>
        </p:spPr>
        <p:txBody>
          <a:bodyPr>
            <a:noAutofit/>
          </a:bodyPr>
          <a:lstStyle/>
          <a:p>
            <a:pPr algn="l"/>
            <a:r>
              <a:rPr lang="en-US" sz="1800" dirty="0">
                <a:latin typeface="Amasis MT Pro Medium" panose="02040604050005020304" pitchFamily="18" charset="0"/>
              </a:rPr>
              <a:t>Module: Data Science Project (Research)</a:t>
            </a:r>
          </a:p>
          <a:p>
            <a:pPr algn="l"/>
            <a:r>
              <a:rPr lang="en-US" sz="1800" dirty="0">
                <a:latin typeface="Amasis MT Pro Medium" panose="02040604050005020304" pitchFamily="18" charset="0"/>
              </a:rPr>
              <a:t>Code: NIB7150CEM</a:t>
            </a:r>
          </a:p>
          <a:p>
            <a:pPr algn="l"/>
            <a:r>
              <a:rPr lang="en-US" sz="1800" dirty="0">
                <a:latin typeface="Amasis MT Pro Medium" panose="02040604050005020304" pitchFamily="18" charset="0"/>
              </a:rPr>
              <a:t>Supervisor: Mr. </a:t>
            </a:r>
            <a:r>
              <a:rPr lang="en-US" sz="1800" dirty="0" err="1">
                <a:latin typeface="Amasis MT Pro Medium" panose="02040604050005020304" pitchFamily="18" charset="0"/>
              </a:rPr>
              <a:t>Dumira</a:t>
            </a:r>
            <a:r>
              <a:rPr lang="en-US" sz="1800" dirty="0">
                <a:latin typeface="Amasis MT Pro Medium" panose="02040604050005020304" pitchFamily="18" charset="0"/>
              </a:rPr>
              <a:t> Athukorala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05AB3537-EF06-2071-BB36-3B75E2B7B84D}"/>
              </a:ext>
            </a:extLst>
          </p:cNvPr>
          <p:cNvSpPr txBox="1">
            <a:spLocks/>
          </p:cNvSpPr>
          <p:nvPr/>
        </p:nvSpPr>
        <p:spPr>
          <a:xfrm>
            <a:off x="6755130" y="4975228"/>
            <a:ext cx="5033011" cy="165576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indent="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>
                <a:solidFill>
                  <a:srgbClr val="1B2A4A"/>
                </a:solidFill>
                <a:latin typeface="Amasis MT Pro Medium" panose="02040604050005020304" pitchFamily="18" charset="0"/>
              </a:defRPr>
            </a:lvl1pPr>
            <a:lvl2pPr indent="0" algn="ctr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>
                <a:solidFill>
                  <a:srgbClr val="1B2A4A"/>
                </a:solidFill>
              </a:defRPr>
            </a:lvl2pPr>
            <a:lvl3pPr indent="0" algn="ctr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>
                <a:solidFill>
                  <a:srgbClr val="1B2A4A"/>
                </a:solidFill>
              </a:defRPr>
            </a:lvl3pPr>
            <a:lvl4pPr indent="0" algn="ctr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>
                <a:solidFill>
                  <a:srgbClr val="1B2A4A"/>
                </a:solidFill>
              </a:defRPr>
            </a:lvl4pPr>
            <a:lvl5pPr indent="0" algn="ctr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>
                <a:solidFill>
                  <a:srgbClr val="1B2A4A"/>
                </a:solidFill>
              </a:defRPr>
            </a:lvl5pPr>
            <a:lvl6pPr indent="0" algn="ctr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>
                <a:solidFill>
                  <a:srgbClr val="1B2A4A"/>
                </a:solidFill>
              </a:defRPr>
            </a:lvl6pPr>
            <a:lvl7pPr indent="0" algn="ctr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>
                <a:solidFill>
                  <a:srgbClr val="1B2A4A"/>
                </a:solidFill>
              </a:defRPr>
            </a:lvl7pPr>
            <a:lvl8pPr indent="0" algn="ctr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>
                <a:solidFill>
                  <a:srgbClr val="1B2A4A"/>
                </a:solidFill>
              </a:defRPr>
            </a:lvl8pPr>
            <a:lvl9pPr indent="0" algn="ctr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>
                <a:solidFill>
                  <a:srgbClr val="1B2A4A"/>
                </a:solidFill>
              </a:defRPr>
            </a:lvl9pPr>
          </a:lstStyle>
          <a:p>
            <a:r>
              <a:rPr lang="en-US" dirty="0"/>
              <a:t>Student Name: M. D. P. Wijesuriya</a:t>
            </a:r>
          </a:p>
          <a:p>
            <a:r>
              <a:rPr lang="en-US" dirty="0"/>
              <a:t>Student ID: COMScDS241P-002</a:t>
            </a:r>
          </a:p>
          <a:p>
            <a:r>
              <a:rPr lang="en-US" dirty="0"/>
              <a:t>Email: COMScDS241P-002@student.nibm.lk</a:t>
            </a:r>
          </a:p>
        </p:txBody>
      </p:sp>
    </p:spTree>
    <p:extLst>
      <p:ext uri="{BB962C8B-B14F-4D97-AF65-F5344CB8AC3E}">
        <p14:creationId xmlns:p14="http://schemas.microsoft.com/office/powerpoint/2010/main" val="35572052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E4BCB5-D069-8F0B-BF9F-3FF933B71B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865813" y="6245385"/>
            <a:ext cx="291548" cy="365125"/>
          </a:xfrm>
        </p:spPr>
        <p:txBody>
          <a:bodyPr/>
          <a:lstStyle/>
          <a:p>
            <a:fld id="{9890CE2D-2882-48A4-88CB-3A003AF6C150}" type="slidenum">
              <a:rPr lang="en-US" smtClean="0"/>
              <a:t>2</a:t>
            </a:fld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020CDCCF-DE57-3852-F5CA-81B74B7E6516}"/>
              </a:ext>
            </a:extLst>
          </p:cNvPr>
          <p:cNvSpPr txBox="1">
            <a:spLocks/>
          </p:cNvSpPr>
          <p:nvPr/>
        </p:nvSpPr>
        <p:spPr>
          <a:xfrm>
            <a:off x="571976" y="113664"/>
            <a:ext cx="10841355" cy="86836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rgbClr val="1B2A4A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4400" dirty="0"/>
              <a:t>Background &amp; Objectives </a:t>
            </a:r>
          </a:p>
        </p:txBody>
      </p:sp>
      <p:sp>
        <p:nvSpPr>
          <p:cNvPr id="5" name="Shape 3"/>
          <p:cNvSpPr/>
          <p:nvPr/>
        </p:nvSpPr>
        <p:spPr>
          <a:xfrm>
            <a:off x="609600" y="1195610"/>
            <a:ext cx="10972800" cy="474694"/>
          </a:xfrm>
          <a:prstGeom prst="rect">
            <a:avLst/>
          </a:prstGeom>
          <a:solidFill>
            <a:srgbClr val="0D234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70560" y="1097280"/>
            <a:ext cx="1085088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Overview: Low-Cost Offline Voice Assistant for Hotel Room Service in Sri Lanka</a:t>
            </a:r>
            <a:endParaRPr lang="en-US" sz="20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" name="Shape 5"/>
          <p:cNvSpPr/>
          <p:nvPr/>
        </p:nvSpPr>
        <p:spPr>
          <a:xfrm>
            <a:off x="588011" y="1853185"/>
            <a:ext cx="5425440" cy="424328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sz="1600" dirty="0"/>
          </a:p>
        </p:txBody>
      </p:sp>
      <p:sp>
        <p:nvSpPr>
          <p:cNvPr id="3" name="Text 6"/>
          <p:cNvSpPr/>
          <p:nvPr/>
        </p:nvSpPr>
        <p:spPr>
          <a:xfrm>
            <a:off x="768096" y="1937496"/>
            <a:ext cx="426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240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&amp; Problem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Text 7"/>
          <p:cNvSpPr/>
          <p:nvPr/>
        </p:nvSpPr>
        <p:spPr>
          <a:xfrm>
            <a:off x="782541" y="2527592"/>
            <a:ext cx="499872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00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📞 Telephone requests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Text 8"/>
          <p:cNvSpPr/>
          <p:nvPr/>
        </p:nvSpPr>
        <p:spPr>
          <a:xfrm>
            <a:off x="801371" y="2758015"/>
            <a:ext cx="4998720" cy="195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unavailable, language barriers, no audit trail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9"/>
          <p:cNvSpPr/>
          <p:nvPr/>
        </p:nvSpPr>
        <p:spPr>
          <a:xfrm>
            <a:off x="770349" y="3938252"/>
            <a:ext cx="499872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00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💰 Alexa for Hospitality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819117" y="4186597"/>
            <a:ext cx="4998720" cy="195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Cloud-only; unaffordable for small Sri Lankan hotels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768096" y="4698994"/>
            <a:ext cx="499872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00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Internet dependency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829056" y="4947207"/>
            <a:ext cx="4998720" cy="195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Unreliable outside Colombo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82541" y="5381003"/>
            <a:ext cx="499872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00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Privacy risks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819117" y="5612651"/>
            <a:ext cx="4998720" cy="195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67% of guests uncomfortable with cloud microphones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6217920" y="1853184"/>
            <a:ext cx="5364480" cy="975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sz="1600"/>
          </a:p>
        </p:txBody>
      </p:sp>
      <p:sp>
        <p:nvSpPr>
          <p:cNvPr id="20" name="Shape 18"/>
          <p:cNvSpPr/>
          <p:nvPr/>
        </p:nvSpPr>
        <p:spPr>
          <a:xfrm>
            <a:off x="6217920" y="1853184"/>
            <a:ext cx="463296" cy="975360"/>
          </a:xfrm>
          <a:prstGeom prst="rect">
            <a:avLst/>
          </a:prstGeom>
          <a:solidFill>
            <a:srgbClr val="0E749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 sz="1600"/>
          </a:p>
        </p:txBody>
      </p:sp>
      <p:sp>
        <p:nvSpPr>
          <p:cNvPr id="21" name="Text 19"/>
          <p:cNvSpPr/>
          <p:nvPr/>
        </p:nvSpPr>
        <p:spPr>
          <a:xfrm>
            <a:off x="6217920" y="1901952"/>
            <a:ext cx="463296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600" b="1" dirty="0">
                <a:solidFill>
                  <a:srgbClr val="FFFFFF"/>
                </a:solidFill>
                <a:latin typeface="Calibri" panose="020F0502020204030204"/>
              </a:rPr>
              <a:t>01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6766560" y="1926336"/>
            <a:ext cx="4657344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Prototype</a:t>
            </a:r>
            <a:endParaRPr lang="en-US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766560" y="2316480"/>
            <a:ext cx="4657344" cy="414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voice assistant on commodity Android tablets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217920" y="2950464"/>
            <a:ext cx="5364480" cy="975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sz="1600"/>
          </a:p>
        </p:txBody>
      </p:sp>
      <p:sp>
        <p:nvSpPr>
          <p:cNvPr id="25" name="Shape 23"/>
          <p:cNvSpPr/>
          <p:nvPr/>
        </p:nvSpPr>
        <p:spPr>
          <a:xfrm>
            <a:off x="6217920" y="2950464"/>
            <a:ext cx="463296" cy="975360"/>
          </a:xfrm>
          <a:prstGeom prst="rect">
            <a:avLst/>
          </a:prstGeom>
          <a:solidFill>
            <a:srgbClr val="0E749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 sz="1600"/>
          </a:p>
        </p:txBody>
      </p:sp>
      <p:sp>
        <p:nvSpPr>
          <p:cNvPr id="26" name="Text 24"/>
          <p:cNvSpPr/>
          <p:nvPr/>
        </p:nvSpPr>
        <p:spPr>
          <a:xfrm>
            <a:off x="6217920" y="2999232"/>
            <a:ext cx="463296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600" b="1" dirty="0">
                <a:solidFill>
                  <a:srgbClr val="FFFFFF"/>
                </a:solidFill>
                <a:latin typeface="Calibri" panose="020F0502020204030204"/>
              </a:rPr>
              <a:t>02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6766560" y="3023616"/>
            <a:ext cx="4657344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&amp; Noise-Aware NLU</a:t>
            </a:r>
            <a:endParaRPr lang="en-US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6766560" y="3413760"/>
            <a:ext cx="4657344" cy="414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10,080-phrase dataset </a:t>
            </a:r>
          </a:p>
          <a:p>
            <a:pPr defTabSz="1219170"/>
            <a:r>
              <a:rPr lang="en-US" sz="16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MobileBERT</a:t>
            </a:r>
            <a:r>
              <a:rPr lang="en-US" sz="16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trained on Vosk noise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6217920" y="4047744"/>
            <a:ext cx="5364480" cy="975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sz="1600"/>
          </a:p>
        </p:txBody>
      </p:sp>
      <p:sp>
        <p:nvSpPr>
          <p:cNvPr id="30" name="Shape 28"/>
          <p:cNvSpPr/>
          <p:nvPr/>
        </p:nvSpPr>
        <p:spPr>
          <a:xfrm>
            <a:off x="6217920" y="4047744"/>
            <a:ext cx="463296" cy="975360"/>
          </a:xfrm>
          <a:prstGeom prst="rect">
            <a:avLst/>
          </a:prstGeom>
          <a:solidFill>
            <a:srgbClr val="0E749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 sz="1600"/>
          </a:p>
        </p:txBody>
      </p:sp>
      <p:sp>
        <p:nvSpPr>
          <p:cNvPr id="31" name="Text 29"/>
          <p:cNvSpPr/>
          <p:nvPr/>
        </p:nvSpPr>
        <p:spPr>
          <a:xfrm>
            <a:off x="6217920" y="4096512"/>
            <a:ext cx="463296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600" b="1" dirty="0">
                <a:solidFill>
                  <a:srgbClr val="FFFFFF"/>
                </a:solidFill>
                <a:latin typeface="Calibri" panose="020F0502020204030204"/>
              </a:rPr>
              <a:t>03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6766560" y="4120896"/>
            <a:ext cx="4657344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 Backend</a:t>
            </a:r>
            <a:endParaRPr lang="en-US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6766560" y="4511040"/>
            <a:ext cx="4657344" cy="414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+ SQLite; real-time WebSocket staff dashboard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6217920" y="5145024"/>
            <a:ext cx="5364480" cy="975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sz="1600"/>
          </a:p>
        </p:txBody>
      </p:sp>
      <p:sp>
        <p:nvSpPr>
          <p:cNvPr id="35" name="Shape 33"/>
          <p:cNvSpPr/>
          <p:nvPr/>
        </p:nvSpPr>
        <p:spPr>
          <a:xfrm>
            <a:off x="6217920" y="5145024"/>
            <a:ext cx="463296" cy="975360"/>
          </a:xfrm>
          <a:prstGeom prst="rect">
            <a:avLst/>
          </a:prstGeom>
          <a:solidFill>
            <a:srgbClr val="0E749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 sz="1600"/>
          </a:p>
        </p:txBody>
      </p:sp>
      <p:sp>
        <p:nvSpPr>
          <p:cNvPr id="36" name="Text 34"/>
          <p:cNvSpPr/>
          <p:nvPr/>
        </p:nvSpPr>
        <p:spPr>
          <a:xfrm>
            <a:off x="6217920" y="5193792"/>
            <a:ext cx="463296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600" b="1" dirty="0">
                <a:solidFill>
                  <a:srgbClr val="FFFFFF"/>
                </a:solidFill>
                <a:latin typeface="Calibri" panose="020F0502020204030204"/>
              </a:rPr>
              <a:t>04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6766560" y="5218176"/>
            <a:ext cx="4657344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&amp; Validate</a:t>
            </a:r>
            <a:endParaRPr lang="en-US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6766560" y="5608320"/>
            <a:ext cx="4657344" cy="414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NLU accuracy, WER, latency, cost vs. cloud alternatives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9" name="Text 7">
            <a:extLst>
              <a:ext uri="{FF2B5EF4-FFF2-40B4-BE49-F238E27FC236}">
                <a16:creationId xmlns:a16="http://schemas.microsoft.com/office/drawing/2014/main" id="{48BC3C49-938B-C06A-904C-168737627CBC}"/>
              </a:ext>
            </a:extLst>
          </p:cNvPr>
          <p:cNvSpPr/>
          <p:nvPr/>
        </p:nvSpPr>
        <p:spPr>
          <a:xfrm>
            <a:off x="782541" y="3191805"/>
            <a:ext cx="499872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00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Paper Forms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0" name="Text 8">
            <a:extLst>
              <a:ext uri="{FF2B5EF4-FFF2-40B4-BE49-F238E27FC236}">
                <a16:creationId xmlns:a16="http://schemas.microsoft.com/office/drawing/2014/main" id="{144B9738-8D9B-074A-F3AE-80CF7721E8F9}"/>
              </a:ext>
            </a:extLst>
          </p:cNvPr>
          <p:cNvSpPr/>
          <p:nvPr/>
        </p:nvSpPr>
        <p:spPr>
          <a:xfrm>
            <a:off x="819117" y="3445183"/>
            <a:ext cx="4998720" cy="195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Slow, unreliable, error-prone</a:t>
            </a:r>
          </a:p>
        </p:txBody>
      </p:sp>
      <p:pic>
        <p:nvPicPr>
          <p:cNvPr id="43" name="Graphic 42" descr="Checklist outline">
            <a:extLst>
              <a:ext uri="{FF2B5EF4-FFF2-40B4-BE49-F238E27FC236}">
                <a16:creationId xmlns:a16="http://schemas.microsoft.com/office/drawing/2014/main" id="{404C04BB-D5F2-FB9E-2702-82795B02537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9056" y="3182266"/>
            <a:ext cx="221479" cy="221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10115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15"/>
          <p:cNvSpPr/>
          <p:nvPr/>
        </p:nvSpPr>
        <p:spPr>
          <a:xfrm>
            <a:off x="428046" y="1851189"/>
            <a:ext cx="11335907" cy="2192863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71450"/>
            <a:ext cx="10515600" cy="822008"/>
          </a:xfrm>
        </p:spPr>
        <p:txBody>
          <a:bodyPr/>
          <a:lstStyle/>
          <a:p>
            <a:r>
              <a:rPr dirty="0"/>
              <a:t>Research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2149647"/>
            <a:ext cx="10515600" cy="1763395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i="1" dirty="0">
                <a:solidFill>
                  <a:schemeClr val="bg1"/>
                </a:solidFill>
              </a:rPr>
              <a:t>Can a low-cost, fully offline voice assistant system, built on a standard commodity device, achieve sufficient technical accuracy and performance to be a viable alternative to traditional room service communication in Sri Lankan hotels</a:t>
            </a:r>
            <a:r>
              <a:rPr i="1" dirty="0">
                <a:solidFill>
                  <a:schemeClr val="bg1"/>
                </a:solidFill>
              </a:rPr>
              <a:t>?</a:t>
            </a:r>
          </a:p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7A8365-BE8F-9260-66E4-C2A1808BF3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0CE2D-2882-48A4-88CB-3A003AF6C150}" type="slidenum">
              <a:rPr lang="en-US" smtClean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/>
          <p:nvPr/>
        </p:nvSpPr>
        <p:spPr>
          <a:xfrm>
            <a:off x="312517" y="1140553"/>
            <a:ext cx="1124673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400" i="1" dirty="0">
                <a:solidFill>
                  <a:schemeClr val="bg2">
                    <a:lumMod val="1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existing solution combines all seven dimensions needed for viable deployment in a developing-economy hospitality context.</a:t>
            </a:r>
            <a:endParaRPr lang="en-US" sz="2400" dirty="0">
              <a:solidFill>
                <a:schemeClr val="bg2">
                  <a:lumMod val="10000"/>
                </a:schemeClr>
              </a:solidFill>
            </a:endParaRPr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47535650"/>
              </p:ext>
            </p:extLst>
          </p:nvPr>
        </p:nvGraphicFramePr>
        <p:xfrm>
          <a:off x="609600" y="2183761"/>
          <a:ext cx="11070336" cy="3316224"/>
        </p:xfrm>
        <a:graphic>
          <a:graphicData uri="http://schemas.openxmlformats.org/drawingml/2006/table">
            <a:tbl>
              <a:tblPr/>
              <a:tblGrid>
                <a:gridCol w="23650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27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079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479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061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7644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4266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9004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4145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Solution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3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Offline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3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On-Device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3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Hospitality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3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Low Cost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3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Privacy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3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Staff Integ.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3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End-to-End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3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45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D2340"/>
                          </a:solidFill>
                        </a:rPr>
                        <a:t>Alexa for Hospitality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DC2626"/>
                          </a:solidFill>
                        </a:rPr>
                        <a:t>✗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DC2626"/>
                          </a:solidFill>
                        </a:rPr>
                        <a:t>✗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6A34A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DC2626"/>
                          </a:solidFill>
                        </a:rPr>
                        <a:t>✗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D97706"/>
                          </a:solidFill>
                        </a:rPr>
                        <a:t>~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6A34A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6A34A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452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kern="1200" dirty="0">
                          <a:solidFill>
                            <a:srgbClr val="0D2340"/>
                          </a:solidFill>
                          <a:latin typeface="+mn-lt"/>
                          <a:ea typeface="+mn-ea"/>
                          <a:cs typeface="+mn-cs"/>
                        </a:rPr>
                        <a:t>Edge STT 	</a:t>
                      </a: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6A34A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6A34A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DC2626"/>
                          </a:solidFill>
                        </a:rPr>
                        <a:t>✗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6A34A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6A34A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DC2626"/>
                          </a:solidFill>
                        </a:rPr>
                        <a:t>✗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DC2626"/>
                          </a:solidFill>
                        </a:rPr>
                        <a:t>✗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45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D2340"/>
                          </a:solidFill>
                        </a:rPr>
                        <a:t>Vosk / Custom LM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6A34A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6A34A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DC2626"/>
                          </a:solidFill>
                        </a:rPr>
                        <a:t>✗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6A34A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6A34A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DC2626"/>
                          </a:solidFill>
                        </a:rPr>
                        <a:t>✗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DC2626"/>
                          </a:solidFill>
                        </a:rPr>
                        <a:t>✗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45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 err="1">
                          <a:solidFill>
                            <a:srgbClr val="0D2340"/>
                          </a:solidFill>
                        </a:rPr>
                        <a:t>MobileBERT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6A34A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6A34A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DC2626"/>
                          </a:solidFill>
                        </a:rPr>
                        <a:t>✗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6A34A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6A34A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DC2626"/>
                          </a:solidFill>
                        </a:rPr>
                        <a:t>✗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DC2626"/>
                          </a:solidFill>
                        </a:rPr>
                        <a:t>✗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45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D2340"/>
                          </a:solidFill>
                        </a:rPr>
                        <a:t>Rasa DIET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D97706"/>
                          </a:solidFill>
                        </a:rPr>
                        <a:t>~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DC2626"/>
                          </a:solidFill>
                        </a:rPr>
                        <a:t>✗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DC2626"/>
                          </a:solidFill>
                        </a:rPr>
                        <a:t>✗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DC2626"/>
                          </a:solidFill>
                        </a:rPr>
                        <a:t>✗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D97706"/>
                          </a:solidFill>
                        </a:rPr>
                        <a:t>~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DC2626"/>
                          </a:solidFill>
                        </a:rPr>
                        <a:t>✗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D97706"/>
                          </a:solidFill>
                        </a:rPr>
                        <a:t>~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45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D2340"/>
                          </a:solidFill>
                        </a:rPr>
                        <a:t>Whisper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D97706"/>
                          </a:solidFill>
                        </a:rPr>
                        <a:t>~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DC2626"/>
                          </a:solidFill>
                        </a:rPr>
                        <a:t>✗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DC2626"/>
                          </a:solidFill>
                        </a:rPr>
                        <a:t>✗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DC2626"/>
                          </a:solidFill>
                        </a:rPr>
                        <a:t>✗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D97706"/>
                          </a:solidFill>
                        </a:rPr>
                        <a:t>~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DC2626"/>
                          </a:solidFill>
                        </a:rPr>
                        <a:t>✗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DC2626"/>
                          </a:solidFill>
                        </a:rPr>
                        <a:t>✗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45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⭐  This Research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49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1" name="Title 1">
            <a:extLst>
              <a:ext uri="{FF2B5EF4-FFF2-40B4-BE49-F238E27FC236}">
                <a16:creationId xmlns:a16="http://schemas.microsoft.com/office/drawing/2014/main" id="{3B312CF1-C3EA-0714-E3DC-F045CBA5F740}"/>
              </a:ext>
            </a:extLst>
          </p:cNvPr>
          <p:cNvSpPr txBox="1">
            <a:spLocks/>
          </p:cNvSpPr>
          <p:nvPr/>
        </p:nvSpPr>
        <p:spPr>
          <a:xfrm>
            <a:off x="838200" y="228600"/>
            <a:ext cx="8525719" cy="673418"/>
          </a:xfrm>
          <a:prstGeom prst="rect">
            <a:avLst/>
          </a:prstGeom>
        </p:spPr>
        <p:txBody>
          <a:bodyPr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rgbClr val="1B2A4A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Literature Review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00F3C45-075F-0E7A-15AC-47DFE21FE4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1337310"/>
            <a:ext cx="10911840" cy="4549140"/>
          </a:xfrm>
        </p:spPr>
        <p:txBody>
          <a:bodyPr>
            <a:normAutofit/>
          </a:bodyPr>
          <a:lstStyle/>
          <a:p>
            <a:pPr marL="457200" indent="-457200" algn="l">
              <a:spcAft>
                <a:spcPts val="300"/>
              </a:spcAft>
              <a:buFont typeface="+mj-lt"/>
              <a:buAutoNum type="arabicPeriod"/>
            </a:pPr>
            <a:r>
              <a:rPr lang="en-US" b="1" i="1" dirty="0"/>
              <a:t>STT Noise Impact on NLU (Core Research Gap) : </a:t>
            </a:r>
            <a:r>
              <a:rPr lang="en-US" dirty="0"/>
              <a:t>No quantification of how offline STT noise degrades NLU accuracy in a hospitality context</a:t>
            </a:r>
            <a:endParaRPr lang="en-US" b="1" i="1" dirty="0"/>
          </a:p>
          <a:p>
            <a:pPr marL="457200" indent="-457200" algn="l">
              <a:spcAft>
                <a:spcPts val="300"/>
              </a:spcAft>
              <a:buFont typeface="+mj-lt"/>
              <a:buAutoNum type="arabicPeriod"/>
            </a:pPr>
            <a:r>
              <a:rPr lang="en-US" b="1" i="1" dirty="0"/>
              <a:t>On-Device NLU for Hospitality in a Real STT Pipeline: </a:t>
            </a:r>
            <a:r>
              <a:rPr lang="en-US" dirty="0"/>
              <a:t>No evaluation of compact on-device NLU models on hospitality intents within a real offline STT pipeline</a:t>
            </a:r>
            <a:endParaRPr lang="en-US" b="1" i="1" dirty="0"/>
          </a:p>
          <a:p>
            <a:pPr marL="457200" indent="-457200" algn="l">
              <a:spcAft>
                <a:spcPts val="300"/>
              </a:spcAft>
              <a:buFont typeface="+mj-lt"/>
              <a:buAutoNum type="arabicPeriod"/>
            </a:pPr>
            <a:r>
              <a:rPr lang="en-US" b="1" i="1" dirty="0"/>
              <a:t>Integrated Offline Hospitality System : </a:t>
            </a:r>
            <a:r>
              <a:rPr lang="en-US" dirty="0"/>
              <a:t>No end-to-end system combining offline STT, on-device NLU, and real-time staff dashboard without cloud</a:t>
            </a:r>
            <a:endParaRPr lang="en-US" b="1" i="1" dirty="0"/>
          </a:p>
          <a:p>
            <a:pPr marL="457200" indent="-457200" algn="l">
              <a:spcAft>
                <a:spcPts val="300"/>
              </a:spcAft>
              <a:buFont typeface="+mj-lt"/>
              <a:buAutoNum type="arabicPeriod"/>
            </a:pPr>
            <a:r>
              <a:rPr lang="en-US" b="1" i="1" dirty="0"/>
              <a:t>Developing Economy Context : </a:t>
            </a:r>
            <a:r>
              <a:rPr lang="en-US" dirty="0"/>
              <a:t>No such system built for developing economy conditions like Sri Lanka; low cost, no subscriptions, local serviceability</a:t>
            </a:r>
          </a:p>
          <a:p>
            <a:pPr marL="457200" indent="-457200" algn="l">
              <a:buFont typeface="+mj-lt"/>
              <a:buAutoNum type="arabicPeriod"/>
            </a:pPr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666E3574-DC44-3C20-5DDA-08AD21D3E99A}"/>
              </a:ext>
            </a:extLst>
          </p:cNvPr>
          <p:cNvSpPr txBox="1">
            <a:spLocks/>
          </p:cNvSpPr>
          <p:nvPr/>
        </p:nvSpPr>
        <p:spPr>
          <a:xfrm>
            <a:off x="838200" y="228600"/>
            <a:ext cx="6088380" cy="67341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rgbClr val="1B2A4A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4400" dirty="0"/>
              <a:t>Research Gaps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BCDB07-0CCA-9E4C-052A-871EC652E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0CE2D-2882-48A4-88CB-3A003AF6C150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95881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3"/>
          <p:cNvSpPr/>
          <p:nvPr/>
        </p:nvSpPr>
        <p:spPr>
          <a:xfrm>
            <a:off x="853440" y="2022020"/>
            <a:ext cx="1097280" cy="1097280"/>
          </a:xfrm>
          <a:prstGeom prst="ellipse">
            <a:avLst/>
          </a:prstGeom>
          <a:solidFill>
            <a:srgbClr val="0E749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6" name="Text 4"/>
          <p:cNvSpPr/>
          <p:nvPr/>
        </p:nvSpPr>
        <p:spPr>
          <a:xfrm>
            <a:off x="853440" y="202202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1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2097024" y="2570660"/>
            <a:ext cx="780288" cy="0"/>
          </a:xfrm>
          <a:prstGeom prst="line">
            <a:avLst/>
          </a:prstGeom>
          <a:noFill/>
          <a:ln w="254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8" name="Text 6"/>
          <p:cNvSpPr/>
          <p:nvPr/>
        </p:nvSpPr>
        <p:spPr>
          <a:xfrm>
            <a:off x="365760" y="3216836"/>
            <a:ext cx="2072640" cy="536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333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333" dirty="0"/>
          </a:p>
          <a:p>
            <a:pPr algn="ctr"/>
            <a:r>
              <a:rPr lang="en-US" sz="1333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333" dirty="0"/>
          </a:p>
        </p:txBody>
      </p:sp>
      <p:sp>
        <p:nvSpPr>
          <p:cNvPr id="9" name="Shape 7"/>
          <p:cNvSpPr/>
          <p:nvPr/>
        </p:nvSpPr>
        <p:spPr>
          <a:xfrm>
            <a:off x="365760" y="3826436"/>
            <a:ext cx="2072640" cy="17068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51104" y="3887396"/>
            <a:ext cx="1926336" cy="1584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</a:t>
            </a:r>
            <a:endParaRPr lang="en-US" sz="1200" dirty="0"/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practitioner consultation</a:t>
            </a:r>
            <a:endParaRPr lang="en-US" sz="1200" dirty="0"/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guest survey (n=20)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18688" y="2022020"/>
            <a:ext cx="1097280" cy="1097280"/>
          </a:xfrm>
          <a:prstGeom prst="ellipse">
            <a:avLst/>
          </a:prstGeom>
          <a:solidFill>
            <a:srgbClr val="0E749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2" name="Text 10"/>
          <p:cNvSpPr/>
          <p:nvPr/>
        </p:nvSpPr>
        <p:spPr>
          <a:xfrm>
            <a:off x="3218688" y="202202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2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4462272" y="2570660"/>
            <a:ext cx="780288" cy="0"/>
          </a:xfrm>
          <a:prstGeom prst="line">
            <a:avLst/>
          </a:prstGeom>
          <a:noFill/>
          <a:ln w="254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4" name="Text 12"/>
          <p:cNvSpPr/>
          <p:nvPr/>
        </p:nvSpPr>
        <p:spPr>
          <a:xfrm>
            <a:off x="2731008" y="3216836"/>
            <a:ext cx="2072640" cy="536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333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</a:t>
            </a:r>
            <a:endParaRPr lang="en-US" sz="1333" dirty="0"/>
          </a:p>
          <a:p>
            <a:pPr algn="ctr"/>
            <a:r>
              <a:rPr lang="en-US" sz="1333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1333" dirty="0"/>
          </a:p>
        </p:txBody>
      </p:sp>
      <p:sp>
        <p:nvSpPr>
          <p:cNvPr id="15" name="Shape 13"/>
          <p:cNvSpPr/>
          <p:nvPr/>
        </p:nvSpPr>
        <p:spPr>
          <a:xfrm>
            <a:off x="2731008" y="3826436"/>
            <a:ext cx="2072640" cy="17068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6" name="Text 14"/>
          <p:cNvSpPr/>
          <p:nvPr/>
        </p:nvSpPr>
        <p:spPr>
          <a:xfrm>
            <a:off x="2816352" y="3887396"/>
            <a:ext cx="1926336" cy="1584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1200" dirty="0"/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3-model</a:t>
            </a:r>
            <a:r>
              <a:rPr lang="en-US" sz="1200" dirty="0"/>
              <a:t> 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NLU experiment design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583936" y="2022020"/>
            <a:ext cx="1097280" cy="1097280"/>
          </a:xfrm>
          <a:prstGeom prst="ellipse">
            <a:avLst/>
          </a:prstGeom>
          <a:solidFill>
            <a:srgbClr val="0E749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8" name="Text 16"/>
          <p:cNvSpPr/>
          <p:nvPr/>
        </p:nvSpPr>
        <p:spPr>
          <a:xfrm>
            <a:off x="5583936" y="202202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3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6827520" y="2570660"/>
            <a:ext cx="780288" cy="0"/>
          </a:xfrm>
          <a:prstGeom prst="line">
            <a:avLst/>
          </a:prstGeom>
          <a:noFill/>
          <a:ln w="254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0" name="Text 18"/>
          <p:cNvSpPr/>
          <p:nvPr/>
        </p:nvSpPr>
        <p:spPr>
          <a:xfrm>
            <a:off x="5096256" y="3216836"/>
            <a:ext cx="2072640" cy="536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333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Artefact</a:t>
            </a:r>
            <a:endParaRPr lang="en-US" sz="1333" dirty="0"/>
          </a:p>
          <a:p>
            <a:pPr algn="ctr"/>
            <a:r>
              <a:rPr lang="en-US" sz="1333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</a:t>
            </a:r>
            <a:endParaRPr lang="en-US" sz="1333" dirty="0"/>
          </a:p>
        </p:txBody>
      </p:sp>
      <p:sp>
        <p:nvSpPr>
          <p:cNvPr id="21" name="Shape 19"/>
          <p:cNvSpPr/>
          <p:nvPr/>
        </p:nvSpPr>
        <p:spPr>
          <a:xfrm>
            <a:off x="5096256" y="3826436"/>
            <a:ext cx="2072640" cy="17068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2" name="Text 20"/>
          <p:cNvSpPr/>
          <p:nvPr/>
        </p:nvSpPr>
        <p:spPr>
          <a:xfrm>
            <a:off x="5181600" y="3887396"/>
            <a:ext cx="1926336" cy="1584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iterative builds</a:t>
            </a:r>
            <a:endParaRPr lang="en-US" sz="1200" dirty="0"/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app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200" dirty="0"/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NLU model variants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949184" y="2022020"/>
            <a:ext cx="1097280" cy="1097280"/>
          </a:xfrm>
          <a:prstGeom prst="ellipse">
            <a:avLst/>
          </a:prstGeom>
          <a:solidFill>
            <a:srgbClr val="0E749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4" name="Text 22"/>
          <p:cNvSpPr/>
          <p:nvPr/>
        </p:nvSpPr>
        <p:spPr>
          <a:xfrm>
            <a:off x="7949184" y="202202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4</a:t>
            </a:r>
            <a:endParaRPr lang="en-US" sz="2400" dirty="0"/>
          </a:p>
        </p:txBody>
      </p:sp>
      <p:sp>
        <p:nvSpPr>
          <p:cNvPr id="25" name="Shape 23"/>
          <p:cNvSpPr/>
          <p:nvPr/>
        </p:nvSpPr>
        <p:spPr>
          <a:xfrm>
            <a:off x="9192768" y="2570660"/>
            <a:ext cx="780288" cy="0"/>
          </a:xfrm>
          <a:prstGeom prst="line">
            <a:avLst/>
          </a:prstGeom>
          <a:noFill/>
          <a:ln w="254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6" name="Text 24"/>
          <p:cNvSpPr/>
          <p:nvPr/>
        </p:nvSpPr>
        <p:spPr>
          <a:xfrm>
            <a:off x="7461504" y="3216836"/>
            <a:ext cx="2072640" cy="536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333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1333" dirty="0"/>
          </a:p>
        </p:txBody>
      </p:sp>
      <p:sp>
        <p:nvSpPr>
          <p:cNvPr id="27" name="Shape 25"/>
          <p:cNvSpPr/>
          <p:nvPr/>
        </p:nvSpPr>
        <p:spPr>
          <a:xfrm>
            <a:off x="7461504" y="3826436"/>
            <a:ext cx="2072640" cy="17068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8" name="Text 26"/>
          <p:cNvSpPr/>
          <p:nvPr/>
        </p:nvSpPr>
        <p:spPr>
          <a:xfrm>
            <a:off x="7546848" y="3887396"/>
            <a:ext cx="1926336" cy="1584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NLU accuracy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</a:t>
            </a:r>
            <a:endParaRPr lang="en-US" sz="1200" dirty="0"/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vs. cloud alternatives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10314432" y="2022020"/>
            <a:ext cx="1097280" cy="1097280"/>
          </a:xfrm>
          <a:prstGeom prst="ellipse">
            <a:avLst/>
          </a:prstGeom>
          <a:solidFill>
            <a:srgbClr val="0E749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0" name="Text 28"/>
          <p:cNvSpPr/>
          <p:nvPr/>
        </p:nvSpPr>
        <p:spPr>
          <a:xfrm>
            <a:off x="10314432" y="202202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5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9826752" y="3216836"/>
            <a:ext cx="2072640" cy="536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333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Communication</a:t>
            </a:r>
            <a:endParaRPr lang="en-US" sz="1333" dirty="0"/>
          </a:p>
        </p:txBody>
      </p:sp>
      <p:sp>
        <p:nvSpPr>
          <p:cNvPr id="32" name="Shape 30"/>
          <p:cNvSpPr/>
          <p:nvPr/>
        </p:nvSpPr>
        <p:spPr>
          <a:xfrm>
            <a:off x="9826752" y="3826436"/>
            <a:ext cx="2072640" cy="17068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33" name="Text 31"/>
          <p:cNvSpPr/>
          <p:nvPr/>
        </p:nvSpPr>
        <p:spPr>
          <a:xfrm>
            <a:off x="9912096" y="3887396"/>
            <a:ext cx="1926336" cy="1584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Contributions</a:t>
            </a:r>
            <a:endParaRPr lang="en-US" sz="1200" dirty="0"/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research</a:t>
            </a:r>
            <a:endParaRPr lang="en-US" sz="1200" dirty="0"/>
          </a:p>
        </p:txBody>
      </p:sp>
      <p:sp>
        <p:nvSpPr>
          <p:cNvPr id="40" name="Title 1">
            <a:extLst>
              <a:ext uri="{FF2B5EF4-FFF2-40B4-BE49-F238E27FC236}">
                <a16:creationId xmlns:a16="http://schemas.microsoft.com/office/drawing/2014/main" id="{8223EA41-7E47-0EB0-FD97-D9A8E9FE1D1B}"/>
              </a:ext>
            </a:extLst>
          </p:cNvPr>
          <p:cNvSpPr txBox="1">
            <a:spLocks/>
          </p:cNvSpPr>
          <p:nvPr/>
        </p:nvSpPr>
        <p:spPr>
          <a:xfrm>
            <a:off x="643890" y="148590"/>
            <a:ext cx="10515600" cy="78771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rgbClr val="1B2A4A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Methodology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CA11847-3CC5-A617-2A5E-1B4C78EC2798}"/>
              </a:ext>
            </a:extLst>
          </p:cNvPr>
          <p:cNvSpPr txBox="1"/>
          <p:nvPr/>
        </p:nvSpPr>
        <p:spPr>
          <a:xfrm>
            <a:off x="643890" y="1009460"/>
            <a:ext cx="698381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Design Science Research (DSR) Framework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0DC585-2CBF-286F-2368-6F7C3145E1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Shape 32">
            <a:extLst>
              <a:ext uri="{FF2B5EF4-FFF2-40B4-BE49-F238E27FC236}">
                <a16:creationId xmlns:a16="http://schemas.microsoft.com/office/drawing/2014/main" id="{3C173418-1CD4-30F0-E0AA-009DCA0C60CF}"/>
              </a:ext>
            </a:extLst>
          </p:cNvPr>
          <p:cNvSpPr/>
          <p:nvPr/>
        </p:nvSpPr>
        <p:spPr>
          <a:xfrm>
            <a:off x="324091" y="1004890"/>
            <a:ext cx="11458937" cy="22855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9EFDDB2E-0813-C1F2-E8D1-35AAC941F168}"/>
              </a:ext>
            </a:extLst>
          </p:cNvPr>
          <p:cNvSpPr/>
          <p:nvPr/>
        </p:nvSpPr>
        <p:spPr>
          <a:xfrm>
            <a:off x="537836" y="1012029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Collection</a:t>
            </a:r>
            <a:endParaRPr lang="en-US" sz="2000" dirty="0"/>
          </a:p>
        </p:txBody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2F3B6C96-2AB0-2394-C699-D04113AD945F}"/>
              </a:ext>
            </a:extLst>
          </p:cNvPr>
          <p:cNvSpPr/>
          <p:nvPr/>
        </p:nvSpPr>
        <p:spPr>
          <a:xfrm>
            <a:off x="408972" y="1400070"/>
            <a:ext cx="11177286" cy="18553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Guest Survey (n=20): </a:t>
            </a:r>
          </a:p>
          <a:p>
            <a:r>
              <a:rPr lang="en-US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</a:t>
            </a:r>
            <a:r>
              <a:rPr lang="en-US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Attitudes to voice assistants, privacy expectations - drove functional/non-functional requirements
</a:t>
            </a:r>
            <a:r>
              <a:rPr lang="en-US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Practitioner Consultation: </a:t>
            </a:r>
          </a:p>
          <a:p>
            <a:r>
              <a:rPr lang="en-US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</a:t>
            </a:r>
            <a:r>
              <a:rPr lang="en-US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Chef (15yr experience) confirmed phone bottlenecks identified in literature
</a:t>
            </a:r>
            <a:r>
              <a:rPr lang="en-US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Literature Review: </a:t>
            </a:r>
          </a:p>
          <a:p>
            <a:r>
              <a:rPr lang="en-US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</a:t>
            </a:r>
            <a:r>
              <a:rPr lang="en-US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Buhalis</a:t>
            </a:r>
            <a:r>
              <a:rPr lang="en-US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&amp; Moldavska (2021/22), Hwang &amp; Erdem (2025), Wickramasinghe &amp; Ratnayake (2022), SLTDA (2024)</a:t>
            </a:r>
            <a:endParaRPr lang="en-US" dirty="0"/>
          </a:p>
        </p:txBody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1B7E0873-0CB7-BC8E-6491-0E9FB6B05FA5}"/>
              </a:ext>
            </a:extLst>
          </p:cNvPr>
          <p:cNvSpPr/>
          <p:nvPr/>
        </p:nvSpPr>
        <p:spPr>
          <a:xfrm>
            <a:off x="324091" y="3488528"/>
            <a:ext cx="11458936" cy="286597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132C9EC0-5602-AA4E-7AC9-B17FBE7A8F49}"/>
              </a:ext>
            </a:extLst>
          </p:cNvPr>
          <p:cNvSpPr/>
          <p:nvPr/>
        </p:nvSpPr>
        <p:spPr>
          <a:xfrm>
            <a:off x="537835" y="3569744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Methods</a:t>
            </a:r>
            <a:endParaRPr lang="en-US" sz="2000" dirty="0"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5D61C464-B0C1-3FD7-8D16-710D5D2CD8A0}"/>
              </a:ext>
            </a:extLst>
          </p:cNvPr>
          <p:cNvSpPr/>
          <p:nvPr/>
        </p:nvSpPr>
        <p:spPr>
          <a:xfrm>
            <a:off x="537835" y="4382480"/>
            <a:ext cx="11458935" cy="1566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NLU Accuracy: </a:t>
            </a:r>
          </a:p>
          <a:p>
            <a:r>
              <a:rPr lang="en-US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</a:t>
            </a:r>
            <a:r>
              <a:rPr lang="en-US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sklearn</a:t>
            </a:r>
            <a:r>
              <a:rPr lang="en-US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accuracy, precision, recall, F1 per intent (2,016-sample fixed test set)
</a:t>
            </a:r>
            <a:r>
              <a:rPr lang="en-US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Word Error Rate (WER): </a:t>
            </a:r>
          </a:p>
          <a:p>
            <a:r>
              <a:rPr lang="en-US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</a:t>
            </a:r>
            <a:r>
              <a:rPr lang="en-US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jiwer</a:t>
            </a:r>
            <a:r>
              <a:rPr lang="en-US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library - Vosk transcriptions vs. reference text (72,133 words, 10,080 phrases)
</a:t>
            </a:r>
            <a:r>
              <a:rPr lang="en-US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Latency: </a:t>
            </a:r>
          </a:p>
          <a:p>
            <a:r>
              <a:rPr lang="en-US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</a:t>
            </a:r>
            <a:r>
              <a:rPr lang="en-US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 logging at each pipeline stage (n=20 test requests, P95 reported)
</a:t>
            </a:r>
            <a:r>
              <a:rPr lang="en-US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Cost: </a:t>
            </a:r>
          </a:p>
          <a:p>
            <a:r>
              <a:rPr lang="en-US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</a:t>
            </a:r>
            <a:r>
              <a:rPr lang="en-US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3-year </a:t>
            </a:r>
            <a:r>
              <a:rPr lang="en-US" dirty="0"/>
              <a:t>Total Cost of Ownership </a:t>
            </a:r>
            <a:r>
              <a:rPr lang="en-US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(TCO) comparison vs. Google Cloud STT &amp; Alexa for Hospitality (50-room hotel)</a:t>
            </a:r>
            <a:endParaRPr lang="en-US" dirty="0"/>
          </a:p>
        </p:txBody>
      </p:sp>
      <p:sp>
        <p:nvSpPr>
          <p:cNvPr id="40" name="Title 1">
            <a:extLst>
              <a:ext uri="{FF2B5EF4-FFF2-40B4-BE49-F238E27FC236}">
                <a16:creationId xmlns:a16="http://schemas.microsoft.com/office/drawing/2014/main" id="{B5E89C12-401C-1677-9B2E-A3800CFE0300}"/>
              </a:ext>
            </a:extLst>
          </p:cNvPr>
          <p:cNvSpPr txBox="1">
            <a:spLocks/>
          </p:cNvSpPr>
          <p:nvPr/>
        </p:nvSpPr>
        <p:spPr>
          <a:xfrm>
            <a:off x="643890" y="148590"/>
            <a:ext cx="10515600" cy="78771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rgbClr val="1B2A4A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Methodology</a:t>
            </a:r>
          </a:p>
        </p:txBody>
      </p:sp>
    </p:spTree>
    <p:extLst>
      <p:ext uri="{BB962C8B-B14F-4D97-AF65-F5344CB8AC3E}">
        <p14:creationId xmlns:p14="http://schemas.microsoft.com/office/powerpoint/2010/main" val="4835358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5134E7-DEDA-3ACE-3336-05528CC5C1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136525"/>
            <a:ext cx="10515600" cy="757548"/>
          </a:xfrm>
        </p:spPr>
        <p:txBody>
          <a:bodyPr>
            <a:normAutofit/>
          </a:bodyPr>
          <a:lstStyle/>
          <a:p>
            <a:r>
              <a:rPr lang="en-US" dirty="0"/>
              <a:t>Design and Architecture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272DD50-33EE-9BAF-04F4-FEDFCDDBF6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0CE2D-2882-48A4-88CB-3A003AF6C150}" type="slidenum">
              <a:rPr lang="en-US" smtClean="0"/>
              <a:t>8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B94AB62-E955-A42F-21C6-7F8ADED16E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5021" b="23947"/>
          <a:stretch>
            <a:fillRect/>
          </a:stretch>
        </p:blipFill>
        <p:spPr>
          <a:xfrm>
            <a:off x="608582" y="2028825"/>
            <a:ext cx="10974835" cy="28003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7FDAD13-8792-2ED1-1087-667FBB9E4C19}"/>
              </a:ext>
            </a:extLst>
          </p:cNvPr>
          <p:cNvSpPr txBox="1"/>
          <p:nvPr/>
        </p:nvSpPr>
        <p:spPr>
          <a:xfrm>
            <a:off x="762000" y="1048298"/>
            <a:ext cx="609790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High-Level System Conceptual View</a:t>
            </a:r>
            <a:endParaRPr lang="en-US" sz="28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9164974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880FF5-305C-BA99-CC0C-BF454808E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920B19-62A1-2D3B-4983-B24F28B57A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136525"/>
            <a:ext cx="10515600" cy="757548"/>
          </a:xfrm>
        </p:spPr>
        <p:txBody>
          <a:bodyPr>
            <a:normAutofit/>
          </a:bodyPr>
          <a:lstStyle/>
          <a:p>
            <a:r>
              <a:rPr lang="en-US" dirty="0"/>
              <a:t>Design and Architecture </a:t>
            </a:r>
          </a:p>
        </p:txBody>
      </p:sp>
      <p:sp>
        <p:nvSpPr>
          <p:cNvPr id="50" name="NetworkLabel">
            <a:extLst>
              <a:ext uri="{FF2B5EF4-FFF2-40B4-BE49-F238E27FC236}">
                <a16:creationId xmlns:a16="http://schemas.microsoft.com/office/drawing/2014/main" id="{8980DF5F-91CB-732F-5D3A-8711530843F7}"/>
              </a:ext>
            </a:extLst>
          </p:cNvPr>
          <p:cNvSpPr/>
          <p:nvPr/>
        </p:nvSpPr>
        <p:spPr>
          <a:xfrm>
            <a:off x="379095" y="5949962"/>
            <a:ext cx="11433810" cy="393693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rgbClr val="2C5F7C"/>
            </a:solidFill>
          </a:ln>
        </p:spPr>
        <p:txBody>
          <a:bodyPr wrap="square" lIns="45720" tIns="36576" rIns="45720" bIns="36576" anchor="ctr"/>
          <a:lstStyle/>
          <a:p>
            <a:pPr algn="ctr">
              <a:buNone/>
            </a:pPr>
            <a:r>
              <a:rPr lang="en-US" sz="1600" b="1" dirty="0">
                <a:solidFill>
                  <a:srgbClr val="1B2A4A"/>
                </a:solidFill>
                <a:latin typeface="Calibri"/>
              </a:rPr>
              <a:t>HOTEL LOCAL AREA NETWORK (No Internet Required)</a:t>
            </a:r>
          </a:p>
        </p:txBody>
      </p:sp>
      <p:sp>
        <p:nvSpPr>
          <p:cNvPr id="51" name="Tier1BG">
            <a:extLst>
              <a:ext uri="{FF2B5EF4-FFF2-40B4-BE49-F238E27FC236}">
                <a16:creationId xmlns:a16="http://schemas.microsoft.com/office/drawing/2014/main" id="{19271D1C-E88E-D126-8638-0821869FD337}"/>
              </a:ext>
            </a:extLst>
          </p:cNvPr>
          <p:cNvSpPr/>
          <p:nvPr/>
        </p:nvSpPr>
        <p:spPr>
          <a:xfrm>
            <a:off x="396240" y="1701800"/>
            <a:ext cx="3302000" cy="3937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C5F7C"/>
            </a:solidFill>
          </a:ln>
        </p:spPr>
        <p:txBody>
          <a:bodyPr wrap="square" lIns="45720" tIns="36576" rIns="45720" bIns="36576" anchor="ctr"/>
          <a:lstStyle/>
          <a:p>
            <a:pPr algn="ctr">
              <a:buNone/>
            </a:pPr>
            <a:endParaRPr/>
          </a:p>
        </p:txBody>
      </p:sp>
      <p:sp>
        <p:nvSpPr>
          <p:cNvPr id="52" name="Tier1Header">
            <a:extLst>
              <a:ext uri="{FF2B5EF4-FFF2-40B4-BE49-F238E27FC236}">
                <a16:creationId xmlns:a16="http://schemas.microsoft.com/office/drawing/2014/main" id="{85B46542-682A-929D-6A6C-392E96A75E0F}"/>
              </a:ext>
            </a:extLst>
          </p:cNvPr>
          <p:cNvSpPr/>
          <p:nvPr/>
        </p:nvSpPr>
        <p:spPr>
          <a:xfrm>
            <a:off x="762000" y="1610349"/>
            <a:ext cx="2541270" cy="355600"/>
          </a:xfrm>
          <a:prstGeom prst="rect">
            <a:avLst/>
          </a:prstGeom>
          <a:solidFill>
            <a:srgbClr val="2C5F7C"/>
          </a:solidFill>
          <a:ln w="12700">
            <a:solidFill>
              <a:srgbClr val="2C5F7C"/>
            </a:solidFill>
          </a:ln>
        </p:spPr>
        <p:txBody>
          <a:bodyPr wrap="square" lIns="45720" tIns="36576" rIns="45720" bIns="36576" anchor="ctr"/>
          <a:lstStyle/>
          <a:p>
            <a:pPr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/>
              </a:rPr>
              <a:t>TIER 1: GUEST DEVICE</a:t>
            </a:r>
          </a:p>
        </p:txBody>
      </p:sp>
      <p:sp>
        <p:nvSpPr>
          <p:cNvPr id="53" name="Tier1Sub">
            <a:extLst>
              <a:ext uri="{FF2B5EF4-FFF2-40B4-BE49-F238E27FC236}">
                <a16:creationId xmlns:a16="http://schemas.microsoft.com/office/drawing/2014/main" id="{60778A32-9B79-770A-0FA8-692302F871C0}"/>
              </a:ext>
            </a:extLst>
          </p:cNvPr>
          <p:cNvSpPr/>
          <p:nvPr/>
        </p:nvSpPr>
        <p:spPr>
          <a:xfrm>
            <a:off x="472440" y="2089150"/>
            <a:ext cx="3175000" cy="228600"/>
          </a:xfrm>
          <a:prstGeom prst="rect">
            <a:avLst/>
          </a:prstGeom>
          <a:solidFill>
            <a:srgbClr val="F0EDE6"/>
          </a:solidFill>
          <a:ln w="12700">
            <a:solidFill>
              <a:srgbClr val="F0EDE6"/>
            </a:solidFill>
          </a:ln>
        </p:spPr>
        <p:txBody>
          <a:bodyPr wrap="square" lIns="45720" tIns="36576" rIns="45720" bIns="36576" anchor="ctr"/>
          <a:lstStyle/>
          <a:p>
            <a:pPr algn="ctr">
              <a:buNone/>
            </a:pPr>
            <a:r>
              <a:rPr lang="en-US" sz="1100" b="1" dirty="0">
                <a:solidFill>
                  <a:srgbClr val="1B2A4A"/>
                </a:solidFill>
                <a:latin typeface="Calibri"/>
              </a:rPr>
              <a:t>Android Tablet (per room)</a:t>
            </a:r>
          </a:p>
        </p:txBody>
      </p:sp>
      <p:sp>
        <p:nvSpPr>
          <p:cNvPr id="54" name="VoskBox">
            <a:extLst>
              <a:ext uri="{FF2B5EF4-FFF2-40B4-BE49-F238E27FC236}">
                <a16:creationId xmlns:a16="http://schemas.microsoft.com/office/drawing/2014/main" id="{C6AB5C6A-6132-7EF7-7032-EC38894E2C97}"/>
              </a:ext>
            </a:extLst>
          </p:cNvPr>
          <p:cNvSpPr/>
          <p:nvPr/>
        </p:nvSpPr>
        <p:spPr>
          <a:xfrm>
            <a:off x="650240" y="2489200"/>
            <a:ext cx="2857500" cy="635000"/>
          </a:xfrm>
          <a:prstGeom prst="roundRect">
            <a:avLst/>
          </a:prstGeom>
          <a:solidFill>
            <a:srgbClr val="E8F0F5"/>
          </a:solidFill>
          <a:ln w="12700">
            <a:solidFill>
              <a:srgbClr val="2C5F7C"/>
            </a:solidFill>
          </a:ln>
        </p:spPr>
        <p:txBody>
          <a:bodyPr wrap="square" lIns="45720" tIns="27432" rIns="45720" bIns="27432" anchor="ctr"/>
          <a:lstStyle/>
          <a:p>
            <a:pPr algn="ctr">
              <a:buNone/>
            </a:pPr>
            <a:r>
              <a:rPr lang="en-US" sz="1400" b="1" dirty="0" err="1">
                <a:solidFill>
                  <a:srgbClr val="1B2A4A"/>
                </a:solidFill>
                <a:latin typeface="Calibri"/>
              </a:rPr>
              <a:t>Vosk</a:t>
            </a:r>
            <a:r>
              <a:rPr lang="en-US" sz="1400" b="1" dirty="0">
                <a:solidFill>
                  <a:srgbClr val="1B2A4A"/>
                </a:solidFill>
                <a:latin typeface="Calibri"/>
              </a:rPr>
              <a:t> STT</a:t>
            </a:r>
          </a:p>
        </p:txBody>
      </p:sp>
      <p:sp>
        <p:nvSpPr>
          <p:cNvPr id="55" name="NLUBox">
            <a:extLst>
              <a:ext uri="{FF2B5EF4-FFF2-40B4-BE49-F238E27FC236}">
                <a16:creationId xmlns:a16="http://schemas.microsoft.com/office/drawing/2014/main" id="{93B32AA3-E8B1-3FBE-3EF5-DE58E765D26A}"/>
              </a:ext>
            </a:extLst>
          </p:cNvPr>
          <p:cNvSpPr/>
          <p:nvPr/>
        </p:nvSpPr>
        <p:spPr>
          <a:xfrm>
            <a:off x="650240" y="3251200"/>
            <a:ext cx="2857500" cy="635000"/>
          </a:xfrm>
          <a:prstGeom prst="roundRect">
            <a:avLst/>
          </a:prstGeom>
          <a:solidFill>
            <a:srgbClr val="E8F0F5"/>
          </a:solidFill>
          <a:ln w="12700">
            <a:solidFill>
              <a:srgbClr val="2C5F7C"/>
            </a:solidFill>
          </a:ln>
        </p:spPr>
        <p:txBody>
          <a:bodyPr wrap="square" lIns="45720" tIns="27432" rIns="45720" bIns="27432" anchor="ctr"/>
          <a:lstStyle/>
          <a:p>
            <a:pPr algn="ctr">
              <a:buNone/>
            </a:pPr>
            <a:r>
              <a:rPr lang="en-US" sz="1400" b="1" dirty="0" err="1">
                <a:solidFill>
                  <a:srgbClr val="1B2A4A"/>
                </a:solidFill>
                <a:latin typeface="Calibri"/>
              </a:rPr>
              <a:t>MobileBERT</a:t>
            </a:r>
            <a:r>
              <a:rPr lang="en-US" sz="1400" b="1" dirty="0">
                <a:solidFill>
                  <a:srgbClr val="1B2A4A"/>
                </a:solidFill>
                <a:latin typeface="Calibri"/>
              </a:rPr>
              <a:t> NLU</a:t>
            </a:r>
          </a:p>
        </p:txBody>
      </p:sp>
      <p:sp>
        <p:nvSpPr>
          <p:cNvPr id="56" name="HybridBox">
            <a:extLst>
              <a:ext uri="{FF2B5EF4-FFF2-40B4-BE49-F238E27FC236}">
                <a16:creationId xmlns:a16="http://schemas.microsoft.com/office/drawing/2014/main" id="{F54E98AC-7EA8-35C4-BFD6-767E0E30AAD9}"/>
              </a:ext>
            </a:extLst>
          </p:cNvPr>
          <p:cNvSpPr/>
          <p:nvPr/>
        </p:nvSpPr>
        <p:spPr>
          <a:xfrm>
            <a:off x="650240" y="4013200"/>
            <a:ext cx="2857500" cy="635000"/>
          </a:xfrm>
          <a:prstGeom prst="roundRect">
            <a:avLst/>
          </a:prstGeom>
          <a:solidFill>
            <a:srgbClr val="E8F0F5"/>
          </a:solidFill>
          <a:ln w="12700">
            <a:solidFill>
              <a:srgbClr val="2C5F7C"/>
            </a:solidFill>
          </a:ln>
        </p:spPr>
        <p:txBody>
          <a:bodyPr wrap="square" lIns="45720" tIns="27432" rIns="45720" bIns="27432" anchor="ctr"/>
          <a:lstStyle/>
          <a:p>
            <a:pPr algn="ctr">
              <a:buNone/>
            </a:pPr>
            <a:r>
              <a:rPr lang="en-US" sz="1400" b="1" dirty="0">
                <a:solidFill>
                  <a:srgbClr val="1B2A4A"/>
                </a:solidFill>
                <a:latin typeface="Calibri"/>
              </a:rPr>
              <a:t>Hybrid Pipeline</a:t>
            </a:r>
          </a:p>
          <a:p>
            <a:pPr algn="ctr">
              <a:buNone/>
            </a:pPr>
            <a:r>
              <a:rPr lang="en-US" sz="1400" dirty="0">
                <a:solidFill>
                  <a:srgbClr val="1B2A4A"/>
                </a:solidFill>
                <a:latin typeface="Calibri"/>
              </a:rPr>
              <a:t>Keyword rules + Neural model</a:t>
            </a:r>
          </a:p>
        </p:txBody>
      </p:sp>
      <p:sp>
        <p:nvSpPr>
          <p:cNvPr id="57" name="TTSBox">
            <a:extLst>
              <a:ext uri="{FF2B5EF4-FFF2-40B4-BE49-F238E27FC236}">
                <a16:creationId xmlns:a16="http://schemas.microsoft.com/office/drawing/2014/main" id="{D3067FC4-CAA7-E7F9-15CC-A359B36051F4}"/>
              </a:ext>
            </a:extLst>
          </p:cNvPr>
          <p:cNvSpPr/>
          <p:nvPr/>
        </p:nvSpPr>
        <p:spPr>
          <a:xfrm>
            <a:off x="650240" y="4775200"/>
            <a:ext cx="2857500" cy="381000"/>
          </a:xfrm>
          <a:prstGeom prst="roundRect">
            <a:avLst/>
          </a:prstGeom>
          <a:solidFill>
            <a:srgbClr val="E8F0F5"/>
          </a:solidFill>
          <a:ln w="12700">
            <a:solidFill>
              <a:srgbClr val="2C5F7C"/>
            </a:solidFill>
          </a:ln>
        </p:spPr>
        <p:txBody>
          <a:bodyPr wrap="square" lIns="45720" tIns="36576" rIns="45720" bIns="36576" anchor="ctr"/>
          <a:lstStyle/>
          <a:p>
            <a:pPr algn="ctr">
              <a:buNone/>
            </a:pPr>
            <a:r>
              <a:rPr lang="en-US" sz="1400" b="1" dirty="0">
                <a:solidFill>
                  <a:srgbClr val="1B2A4A"/>
                </a:solidFill>
                <a:latin typeface="Calibri"/>
              </a:rPr>
              <a:t>Android TTS (voice feedback)</a:t>
            </a:r>
          </a:p>
        </p:txBody>
      </p:sp>
      <p:sp>
        <p:nvSpPr>
          <p:cNvPr id="70" name="Arr1">
            <a:extLst>
              <a:ext uri="{FF2B5EF4-FFF2-40B4-BE49-F238E27FC236}">
                <a16:creationId xmlns:a16="http://schemas.microsoft.com/office/drawing/2014/main" id="{6C0FB1BC-945C-A9FC-8C1E-AEA5287BB3E6}"/>
              </a:ext>
            </a:extLst>
          </p:cNvPr>
          <p:cNvSpPr/>
          <p:nvPr/>
        </p:nvSpPr>
        <p:spPr>
          <a:xfrm>
            <a:off x="2085340" y="3124200"/>
            <a:ext cx="1" cy="127000"/>
          </a:xfrm>
          <a:prstGeom prst="line">
            <a:avLst/>
          </a:prstGeom>
          <a:ln w="19050">
            <a:solidFill>
              <a:srgbClr val="2C5F7C"/>
            </a:solidFill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71" name="Arr2">
            <a:extLst>
              <a:ext uri="{FF2B5EF4-FFF2-40B4-BE49-F238E27FC236}">
                <a16:creationId xmlns:a16="http://schemas.microsoft.com/office/drawing/2014/main" id="{BDA1930E-27EB-576F-095F-82E911C65AFF}"/>
              </a:ext>
            </a:extLst>
          </p:cNvPr>
          <p:cNvSpPr/>
          <p:nvPr/>
        </p:nvSpPr>
        <p:spPr>
          <a:xfrm>
            <a:off x="2085340" y="3886200"/>
            <a:ext cx="1" cy="127000"/>
          </a:xfrm>
          <a:prstGeom prst="line">
            <a:avLst/>
          </a:prstGeom>
          <a:ln w="19050">
            <a:solidFill>
              <a:srgbClr val="2C5F7C"/>
            </a:solidFill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72" name="Arr3">
            <a:extLst>
              <a:ext uri="{FF2B5EF4-FFF2-40B4-BE49-F238E27FC236}">
                <a16:creationId xmlns:a16="http://schemas.microsoft.com/office/drawing/2014/main" id="{928F0656-672D-9312-420C-C38281432B16}"/>
              </a:ext>
            </a:extLst>
          </p:cNvPr>
          <p:cNvSpPr/>
          <p:nvPr/>
        </p:nvSpPr>
        <p:spPr>
          <a:xfrm>
            <a:off x="2085340" y="4648200"/>
            <a:ext cx="1" cy="127000"/>
          </a:xfrm>
          <a:prstGeom prst="line">
            <a:avLst/>
          </a:prstGeom>
          <a:ln w="19050">
            <a:solidFill>
              <a:srgbClr val="2C5F7C"/>
            </a:solidFill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58" name="Tier2BG">
            <a:extLst>
              <a:ext uri="{FF2B5EF4-FFF2-40B4-BE49-F238E27FC236}">
                <a16:creationId xmlns:a16="http://schemas.microsoft.com/office/drawing/2014/main" id="{B6C7101C-BFA9-EBB8-3B5A-785EF05292DD}"/>
              </a:ext>
            </a:extLst>
          </p:cNvPr>
          <p:cNvSpPr/>
          <p:nvPr/>
        </p:nvSpPr>
        <p:spPr>
          <a:xfrm>
            <a:off x="4491990" y="1701800"/>
            <a:ext cx="3191510" cy="3937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B8F71"/>
            </a:solidFill>
          </a:ln>
        </p:spPr>
        <p:txBody>
          <a:bodyPr wrap="square" lIns="45720" tIns="36576" rIns="45720" bIns="36576" anchor="ctr"/>
          <a:lstStyle/>
          <a:p>
            <a:pPr algn="ctr">
              <a:buNone/>
            </a:pPr>
            <a:endParaRPr/>
          </a:p>
        </p:txBody>
      </p:sp>
      <p:sp>
        <p:nvSpPr>
          <p:cNvPr id="59" name="Tier2Header">
            <a:extLst>
              <a:ext uri="{FF2B5EF4-FFF2-40B4-BE49-F238E27FC236}">
                <a16:creationId xmlns:a16="http://schemas.microsoft.com/office/drawing/2014/main" id="{A236FBAD-0C41-A808-525E-BC37257A8FCE}"/>
              </a:ext>
            </a:extLst>
          </p:cNvPr>
          <p:cNvSpPr/>
          <p:nvPr/>
        </p:nvSpPr>
        <p:spPr>
          <a:xfrm>
            <a:off x="4854575" y="1549401"/>
            <a:ext cx="2400300" cy="355600"/>
          </a:xfrm>
          <a:prstGeom prst="rect">
            <a:avLst/>
          </a:prstGeom>
          <a:solidFill>
            <a:srgbClr val="6B8F71"/>
          </a:solidFill>
          <a:ln w="12700">
            <a:solidFill>
              <a:srgbClr val="6B8F71"/>
            </a:solidFill>
          </a:ln>
        </p:spPr>
        <p:txBody>
          <a:bodyPr wrap="square" lIns="45720" tIns="36576" rIns="45720" bIns="36576" anchor="ctr"/>
          <a:lstStyle/>
          <a:p>
            <a:pPr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/>
              </a:rPr>
              <a:t>TIER 2: HOTEL SERVER</a:t>
            </a:r>
          </a:p>
        </p:txBody>
      </p:sp>
      <p:sp>
        <p:nvSpPr>
          <p:cNvPr id="60" name="Tier2Sub">
            <a:extLst>
              <a:ext uri="{FF2B5EF4-FFF2-40B4-BE49-F238E27FC236}">
                <a16:creationId xmlns:a16="http://schemas.microsoft.com/office/drawing/2014/main" id="{92895403-56F2-8A14-97DD-5B80D22A2FB9}"/>
              </a:ext>
            </a:extLst>
          </p:cNvPr>
          <p:cNvSpPr/>
          <p:nvPr/>
        </p:nvSpPr>
        <p:spPr>
          <a:xfrm>
            <a:off x="4635500" y="2101836"/>
            <a:ext cx="2921000" cy="228601"/>
          </a:xfrm>
          <a:prstGeom prst="rect">
            <a:avLst/>
          </a:prstGeom>
          <a:solidFill>
            <a:srgbClr val="EEF2EE"/>
          </a:solidFill>
          <a:ln w="12700">
            <a:solidFill>
              <a:srgbClr val="EEF2EE"/>
            </a:solidFill>
          </a:ln>
        </p:spPr>
        <p:txBody>
          <a:bodyPr wrap="square" lIns="45720" tIns="36576" rIns="45720" bIns="36576" anchor="ctr"/>
          <a:lstStyle/>
          <a:p>
            <a:pPr algn="ctr">
              <a:buNone/>
            </a:pPr>
            <a:r>
              <a:rPr lang="en-US" sz="1100" b="1" dirty="0">
                <a:solidFill>
                  <a:srgbClr val="1B2A4A"/>
                </a:solidFill>
                <a:latin typeface="Calibri"/>
              </a:rPr>
              <a:t>Any low-cost PC / Laptop</a:t>
            </a:r>
          </a:p>
        </p:txBody>
      </p:sp>
      <p:sp>
        <p:nvSpPr>
          <p:cNvPr id="61" name="FastAPIBox">
            <a:extLst>
              <a:ext uri="{FF2B5EF4-FFF2-40B4-BE49-F238E27FC236}">
                <a16:creationId xmlns:a16="http://schemas.microsoft.com/office/drawing/2014/main" id="{6C571F2B-EF0E-FFA4-D1C1-0C4754F00171}"/>
              </a:ext>
            </a:extLst>
          </p:cNvPr>
          <p:cNvSpPr/>
          <p:nvPr/>
        </p:nvSpPr>
        <p:spPr>
          <a:xfrm>
            <a:off x="4635500" y="2489200"/>
            <a:ext cx="2921000" cy="635000"/>
          </a:xfrm>
          <a:prstGeom prst="roundRect">
            <a:avLst/>
          </a:prstGeom>
          <a:solidFill>
            <a:srgbClr val="EEF2EE"/>
          </a:solidFill>
          <a:ln w="12700">
            <a:solidFill>
              <a:srgbClr val="6B8F71"/>
            </a:solidFill>
          </a:ln>
        </p:spPr>
        <p:txBody>
          <a:bodyPr wrap="square" lIns="45720" tIns="27432" rIns="45720" bIns="27432" anchor="ctr"/>
          <a:lstStyle/>
          <a:p>
            <a:pPr algn="ctr">
              <a:buNone/>
            </a:pPr>
            <a:r>
              <a:rPr lang="en-US" sz="1400" b="1" dirty="0">
                <a:solidFill>
                  <a:srgbClr val="1B2A4A"/>
                </a:solidFill>
                <a:latin typeface="Calibri"/>
              </a:rPr>
              <a:t>FastAPI Backend</a:t>
            </a:r>
          </a:p>
          <a:p>
            <a:pPr algn="ctr">
              <a:buNone/>
            </a:pPr>
            <a:r>
              <a:rPr lang="en-US" sz="1400" dirty="0">
                <a:solidFill>
                  <a:srgbClr val="1B2A4A"/>
                </a:solidFill>
                <a:latin typeface="Calibri"/>
              </a:rPr>
              <a:t>REST API + WebSocket Hub</a:t>
            </a:r>
          </a:p>
        </p:txBody>
      </p:sp>
      <p:sp>
        <p:nvSpPr>
          <p:cNvPr id="62" name="SQLiteBox">
            <a:extLst>
              <a:ext uri="{FF2B5EF4-FFF2-40B4-BE49-F238E27FC236}">
                <a16:creationId xmlns:a16="http://schemas.microsoft.com/office/drawing/2014/main" id="{01F5C761-7ADD-8647-5162-A7B11197210C}"/>
              </a:ext>
            </a:extLst>
          </p:cNvPr>
          <p:cNvSpPr/>
          <p:nvPr/>
        </p:nvSpPr>
        <p:spPr>
          <a:xfrm>
            <a:off x="4635500" y="3251200"/>
            <a:ext cx="2921000" cy="635000"/>
          </a:xfrm>
          <a:prstGeom prst="roundRect">
            <a:avLst/>
          </a:prstGeom>
          <a:solidFill>
            <a:srgbClr val="EEF2EE"/>
          </a:solidFill>
          <a:ln w="12700">
            <a:solidFill>
              <a:srgbClr val="6B8F71"/>
            </a:solidFill>
          </a:ln>
        </p:spPr>
        <p:txBody>
          <a:bodyPr wrap="square" lIns="45720" tIns="27432" rIns="45720" bIns="27432" anchor="ctr"/>
          <a:lstStyle/>
          <a:p>
            <a:pPr algn="ctr">
              <a:buNone/>
            </a:pPr>
            <a:r>
              <a:rPr lang="en-US" sz="1400" b="1" dirty="0">
                <a:solidFill>
                  <a:srgbClr val="1B2A4A"/>
                </a:solidFill>
                <a:latin typeface="Calibri"/>
              </a:rPr>
              <a:t>SQLite Database</a:t>
            </a:r>
          </a:p>
          <a:p>
            <a:pPr algn="ctr">
              <a:buNone/>
            </a:pPr>
            <a:r>
              <a:rPr lang="en-US" sz="1400" dirty="0">
                <a:solidFill>
                  <a:srgbClr val="1B2A4A"/>
                </a:solidFill>
                <a:latin typeface="Calibri"/>
              </a:rPr>
              <a:t>5 tables • Request persistence</a:t>
            </a:r>
          </a:p>
        </p:txBody>
      </p:sp>
      <p:sp>
        <p:nvSpPr>
          <p:cNvPr id="63" name="RoutingBox">
            <a:extLst>
              <a:ext uri="{FF2B5EF4-FFF2-40B4-BE49-F238E27FC236}">
                <a16:creationId xmlns:a16="http://schemas.microsoft.com/office/drawing/2014/main" id="{0EE9F73E-7DBE-E294-8161-0023BEF793BE}"/>
              </a:ext>
            </a:extLst>
          </p:cNvPr>
          <p:cNvSpPr/>
          <p:nvPr/>
        </p:nvSpPr>
        <p:spPr>
          <a:xfrm>
            <a:off x="4635500" y="4013200"/>
            <a:ext cx="2921000" cy="635000"/>
          </a:xfrm>
          <a:prstGeom prst="roundRect">
            <a:avLst/>
          </a:prstGeom>
          <a:solidFill>
            <a:srgbClr val="EEF2EE"/>
          </a:solidFill>
          <a:ln w="12700">
            <a:solidFill>
              <a:srgbClr val="6B8F71"/>
            </a:solidFill>
          </a:ln>
        </p:spPr>
        <p:txBody>
          <a:bodyPr wrap="square" lIns="45720" tIns="27432" rIns="45720" bIns="27432" anchor="ctr"/>
          <a:lstStyle/>
          <a:p>
            <a:pPr algn="ctr">
              <a:buNone/>
            </a:pPr>
            <a:r>
              <a:rPr lang="en-US" sz="1400" b="1" dirty="0">
                <a:solidFill>
                  <a:srgbClr val="1B2A4A"/>
                </a:solidFill>
                <a:latin typeface="Calibri"/>
              </a:rPr>
              <a:t>Routing Engine</a:t>
            </a:r>
          </a:p>
          <a:p>
            <a:pPr algn="ctr">
              <a:buNone/>
            </a:pPr>
            <a:r>
              <a:rPr lang="en-US" sz="1400" dirty="0">
                <a:solidFill>
                  <a:srgbClr val="1B2A4A"/>
                </a:solidFill>
                <a:latin typeface="Calibri"/>
              </a:rPr>
              <a:t>DB-driven + keyword fallback</a:t>
            </a:r>
          </a:p>
        </p:txBody>
      </p:sp>
      <p:sp>
        <p:nvSpPr>
          <p:cNvPr id="64" name="WSBox">
            <a:extLst>
              <a:ext uri="{FF2B5EF4-FFF2-40B4-BE49-F238E27FC236}">
                <a16:creationId xmlns:a16="http://schemas.microsoft.com/office/drawing/2014/main" id="{824B6401-D5FB-070E-FBB1-633D1199713D}"/>
              </a:ext>
            </a:extLst>
          </p:cNvPr>
          <p:cNvSpPr/>
          <p:nvPr/>
        </p:nvSpPr>
        <p:spPr>
          <a:xfrm>
            <a:off x="4635500" y="4775200"/>
            <a:ext cx="2921000" cy="381000"/>
          </a:xfrm>
          <a:prstGeom prst="roundRect">
            <a:avLst/>
          </a:prstGeom>
          <a:solidFill>
            <a:srgbClr val="EEF2EE"/>
          </a:solidFill>
          <a:ln w="12700">
            <a:solidFill>
              <a:srgbClr val="6B8F71"/>
            </a:solidFill>
          </a:ln>
        </p:spPr>
        <p:txBody>
          <a:bodyPr wrap="square" lIns="45720" tIns="36576" rIns="45720" bIns="36576" anchor="ctr"/>
          <a:lstStyle/>
          <a:p>
            <a:pPr algn="ctr">
              <a:buNone/>
            </a:pPr>
            <a:r>
              <a:rPr lang="en-US" sz="1400" b="1" dirty="0">
                <a:solidFill>
                  <a:srgbClr val="1B2A4A"/>
                </a:solidFill>
                <a:latin typeface="Calibri"/>
              </a:rPr>
              <a:t>WebSocket Connection Manager</a:t>
            </a:r>
          </a:p>
        </p:txBody>
      </p:sp>
      <p:sp>
        <p:nvSpPr>
          <p:cNvPr id="65" name="Tier3BG">
            <a:extLst>
              <a:ext uri="{FF2B5EF4-FFF2-40B4-BE49-F238E27FC236}">
                <a16:creationId xmlns:a16="http://schemas.microsoft.com/office/drawing/2014/main" id="{ADF9E986-2688-FE5F-E33C-A3C80E301864}"/>
              </a:ext>
            </a:extLst>
          </p:cNvPr>
          <p:cNvSpPr/>
          <p:nvPr/>
        </p:nvSpPr>
        <p:spPr>
          <a:xfrm>
            <a:off x="8528050" y="1701800"/>
            <a:ext cx="3302000" cy="3937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4956A"/>
            </a:solidFill>
          </a:ln>
        </p:spPr>
        <p:txBody>
          <a:bodyPr wrap="square" lIns="45720" tIns="36576" rIns="45720" bIns="36576" anchor="ctr"/>
          <a:lstStyle/>
          <a:p>
            <a:pPr algn="ctr">
              <a:buNone/>
            </a:pPr>
            <a:endParaRPr/>
          </a:p>
        </p:txBody>
      </p:sp>
      <p:sp>
        <p:nvSpPr>
          <p:cNvPr id="66" name="Tier3Header">
            <a:extLst>
              <a:ext uri="{FF2B5EF4-FFF2-40B4-BE49-F238E27FC236}">
                <a16:creationId xmlns:a16="http://schemas.microsoft.com/office/drawing/2014/main" id="{0746C1A1-9ADF-8FBB-AA34-0D180BAA63B0}"/>
              </a:ext>
            </a:extLst>
          </p:cNvPr>
          <p:cNvSpPr/>
          <p:nvPr/>
        </p:nvSpPr>
        <p:spPr>
          <a:xfrm>
            <a:off x="8994140" y="1562100"/>
            <a:ext cx="2369820" cy="355600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</a:ln>
        </p:spPr>
        <p:txBody>
          <a:bodyPr wrap="square" lIns="45720" tIns="36576" rIns="45720" bIns="36576" anchor="ctr"/>
          <a:lstStyle/>
          <a:p>
            <a:pPr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/>
              </a:rPr>
              <a:t>TIER 3: STAFF DASHBOARD</a:t>
            </a:r>
          </a:p>
        </p:txBody>
      </p:sp>
      <p:sp>
        <p:nvSpPr>
          <p:cNvPr id="67" name="Tier3Sub">
            <a:extLst>
              <a:ext uri="{FF2B5EF4-FFF2-40B4-BE49-F238E27FC236}">
                <a16:creationId xmlns:a16="http://schemas.microsoft.com/office/drawing/2014/main" id="{1547B0AB-E65F-8B12-EA14-EA8E28DDC6BF}"/>
              </a:ext>
            </a:extLst>
          </p:cNvPr>
          <p:cNvSpPr/>
          <p:nvPr/>
        </p:nvSpPr>
        <p:spPr>
          <a:xfrm>
            <a:off x="8607425" y="2089150"/>
            <a:ext cx="3175000" cy="228600"/>
          </a:xfrm>
          <a:prstGeom prst="rect">
            <a:avLst/>
          </a:prstGeom>
          <a:solidFill>
            <a:srgbClr val="F5EDE8"/>
          </a:solidFill>
          <a:ln w="12700">
            <a:solidFill>
              <a:srgbClr val="F5EDE8"/>
            </a:solidFill>
          </a:ln>
        </p:spPr>
        <p:txBody>
          <a:bodyPr wrap="square" lIns="45720" tIns="36576" rIns="45720" bIns="36576" anchor="ctr"/>
          <a:lstStyle/>
          <a:p>
            <a:pPr algn="ctr">
              <a:buNone/>
            </a:pPr>
            <a:r>
              <a:rPr lang="en-US" sz="1100" b="1" dirty="0">
                <a:solidFill>
                  <a:srgbClr val="1B2A4A"/>
                </a:solidFill>
                <a:latin typeface="Calibri"/>
              </a:rPr>
              <a:t>Any Web Browser</a:t>
            </a:r>
          </a:p>
        </p:txBody>
      </p:sp>
      <p:sp>
        <p:nvSpPr>
          <p:cNvPr id="68" name="DashBoard">
            <a:extLst>
              <a:ext uri="{FF2B5EF4-FFF2-40B4-BE49-F238E27FC236}">
                <a16:creationId xmlns:a16="http://schemas.microsoft.com/office/drawing/2014/main" id="{5F1FEBB2-A77F-59B4-1D96-86EE0DF7FBC1}"/>
              </a:ext>
            </a:extLst>
          </p:cNvPr>
          <p:cNvSpPr/>
          <p:nvPr/>
        </p:nvSpPr>
        <p:spPr>
          <a:xfrm>
            <a:off x="8718550" y="2489200"/>
            <a:ext cx="2921000" cy="762000"/>
          </a:xfrm>
          <a:prstGeom prst="roundRect">
            <a:avLst/>
          </a:prstGeom>
          <a:solidFill>
            <a:srgbClr val="F5EDE8"/>
          </a:solidFill>
          <a:ln w="12700">
            <a:solidFill>
              <a:srgbClr val="C4956A"/>
            </a:solidFill>
          </a:ln>
        </p:spPr>
        <p:txBody>
          <a:bodyPr wrap="square" lIns="45720" tIns="27432" rIns="45720" bIns="27432" anchor="ctr"/>
          <a:lstStyle/>
          <a:p>
            <a:pPr algn="ctr">
              <a:buNone/>
            </a:pPr>
            <a:r>
              <a:rPr lang="en-US" sz="1400" b="1" dirty="0">
                <a:solidFill>
                  <a:srgbClr val="1B2A4A"/>
                </a:solidFill>
                <a:latin typeface="Calibri"/>
              </a:rPr>
              <a:t>Department Queues</a:t>
            </a:r>
          </a:p>
          <a:p>
            <a:pPr algn="ctr">
              <a:buNone/>
            </a:pPr>
            <a:r>
              <a:rPr lang="en-US" sz="1400" dirty="0">
                <a:solidFill>
                  <a:srgbClr val="1B2A4A"/>
                </a:solidFill>
                <a:latin typeface="Calibri"/>
              </a:rPr>
              <a:t>Filtered by: Housekeeping,</a:t>
            </a:r>
          </a:p>
          <a:p>
            <a:pPr algn="ctr">
              <a:buNone/>
            </a:pPr>
            <a:r>
              <a:rPr lang="en-US" sz="1400" dirty="0">
                <a:solidFill>
                  <a:srgbClr val="1B2A4A"/>
                </a:solidFill>
                <a:latin typeface="Calibri"/>
              </a:rPr>
              <a:t>Room Service, F&amp;B, Maintenance</a:t>
            </a:r>
          </a:p>
        </p:txBody>
      </p:sp>
      <p:sp>
        <p:nvSpPr>
          <p:cNvPr id="69" name="StatusBox">
            <a:extLst>
              <a:ext uri="{FF2B5EF4-FFF2-40B4-BE49-F238E27FC236}">
                <a16:creationId xmlns:a16="http://schemas.microsoft.com/office/drawing/2014/main" id="{794E9718-9E56-5D8D-793B-19EA96581400}"/>
              </a:ext>
            </a:extLst>
          </p:cNvPr>
          <p:cNvSpPr/>
          <p:nvPr/>
        </p:nvSpPr>
        <p:spPr>
          <a:xfrm>
            <a:off x="8718550" y="3378200"/>
            <a:ext cx="2921000" cy="635000"/>
          </a:xfrm>
          <a:prstGeom prst="roundRect">
            <a:avLst/>
          </a:prstGeom>
          <a:solidFill>
            <a:srgbClr val="F5EDE8"/>
          </a:solidFill>
          <a:ln w="12700">
            <a:solidFill>
              <a:srgbClr val="C4956A"/>
            </a:solidFill>
          </a:ln>
        </p:spPr>
        <p:txBody>
          <a:bodyPr wrap="square" lIns="45720" tIns="27432" rIns="45720" bIns="27432" anchor="ctr"/>
          <a:lstStyle/>
          <a:p>
            <a:pPr algn="ctr">
              <a:buNone/>
            </a:pPr>
            <a:r>
              <a:rPr lang="en-US" sz="1400" b="1" dirty="0">
                <a:solidFill>
                  <a:srgbClr val="1B2A4A"/>
                </a:solidFill>
                <a:latin typeface="Calibri"/>
              </a:rPr>
              <a:t>Status Management</a:t>
            </a:r>
          </a:p>
          <a:p>
            <a:pPr algn="ctr">
              <a:buNone/>
            </a:pPr>
            <a:r>
              <a:rPr lang="en-US" sz="1400" dirty="0">
                <a:solidFill>
                  <a:srgbClr val="1B2A4A"/>
                </a:solidFill>
                <a:latin typeface="Calibri"/>
              </a:rPr>
              <a:t>Pending → In Progress → Completed</a:t>
            </a:r>
          </a:p>
        </p:txBody>
      </p:sp>
      <p:sp>
        <p:nvSpPr>
          <p:cNvPr id="73" name="MsgBox">
            <a:extLst>
              <a:ext uri="{FF2B5EF4-FFF2-40B4-BE49-F238E27FC236}">
                <a16:creationId xmlns:a16="http://schemas.microsoft.com/office/drawing/2014/main" id="{AF3E7BB7-D0DE-E8FE-B94B-821FD08FDFE7}"/>
              </a:ext>
            </a:extLst>
          </p:cNvPr>
          <p:cNvSpPr/>
          <p:nvPr/>
        </p:nvSpPr>
        <p:spPr>
          <a:xfrm>
            <a:off x="8718550" y="4140200"/>
            <a:ext cx="2921000" cy="635000"/>
          </a:xfrm>
          <a:prstGeom prst="roundRect">
            <a:avLst/>
          </a:prstGeom>
          <a:solidFill>
            <a:srgbClr val="F5EDE8"/>
          </a:solidFill>
          <a:ln w="12700">
            <a:solidFill>
              <a:srgbClr val="C4956A"/>
            </a:solidFill>
          </a:ln>
        </p:spPr>
        <p:txBody>
          <a:bodyPr wrap="square" lIns="45720" tIns="27432" rIns="45720" bIns="27432" anchor="ctr"/>
          <a:lstStyle/>
          <a:p>
            <a:pPr algn="ctr">
              <a:buNone/>
            </a:pPr>
            <a:r>
              <a:rPr lang="en-US" sz="1400" b="1" dirty="0">
                <a:solidFill>
                  <a:srgbClr val="1B2A4A"/>
                </a:solidFill>
                <a:latin typeface="Calibri"/>
              </a:rPr>
              <a:t>Real-Time Messaging</a:t>
            </a:r>
          </a:p>
          <a:p>
            <a:pPr algn="ctr">
              <a:buNone/>
            </a:pPr>
            <a:r>
              <a:rPr lang="en-US" sz="1400" dirty="0">
                <a:solidFill>
                  <a:srgbClr val="1B2A4A"/>
                </a:solidFill>
                <a:latin typeface="Calibri"/>
              </a:rPr>
              <a:t>Bidirectional staff ↔ guest</a:t>
            </a:r>
          </a:p>
        </p:txBody>
      </p:sp>
      <p:sp>
        <p:nvSpPr>
          <p:cNvPr id="74" name="RatingBox">
            <a:extLst>
              <a:ext uri="{FF2B5EF4-FFF2-40B4-BE49-F238E27FC236}">
                <a16:creationId xmlns:a16="http://schemas.microsoft.com/office/drawing/2014/main" id="{54FF36C9-4737-2B4D-F6B0-EF855F28DA4E}"/>
              </a:ext>
            </a:extLst>
          </p:cNvPr>
          <p:cNvSpPr/>
          <p:nvPr/>
        </p:nvSpPr>
        <p:spPr>
          <a:xfrm>
            <a:off x="8718550" y="4902200"/>
            <a:ext cx="2921000" cy="355600"/>
          </a:xfrm>
          <a:prstGeom prst="roundRect">
            <a:avLst/>
          </a:prstGeom>
          <a:solidFill>
            <a:srgbClr val="F5EDE8"/>
          </a:solidFill>
          <a:ln w="12700">
            <a:solidFill>
              <a:srgbClr val="C4956A"/>
            </a:solidFill>
          </a:ln>
        </p:spPr>
        <p:txBody>
          <a:bodyPr wrap="square" lIns="45720" tIns="36576" rIns="45720" bIns="36576" anchor="ctr"/>
          <a:lstStyle/>
          <a:p>
            <a:pPr algn="ctr">
              <a:buNone/>
            </a:pPr>
            <a:r>
              <a:rPr lang="en-US" sz="1400" b="1" dirty="0">
                <a:solidFill>
                  <a:srgbClr val="1B2A4A"/>
                </a:solidFill>
                <a:latin typeface="Calibri"/>
              </a:rPr>
              <a:t>Guest satisfaction rating</a:t>
            </a:r>
          </a:p>
        </p:txBody>
      </p:sp>
      <p:sp>
        <p:nvSpPr>
          <p:cNvPr id="82" name="HTTPLabel">
            <a:extLst>
              <a:ext uri="{FF2B5EF4-FFF2-40B4-BE49-F238E27FC236}">
                <a16:creationId xmlns:a16="http://schemas.microsoft.com/office/drawing/2014/main" id="{C0289E6A-00A3-6730-31C5-79EAE6FB2A90}"/>
              </a:ext>
            </a:extLst>
          </p:cNvPr>
          <p:cNvSpPr/>
          <p:nvPr/>
        </p:nvSpPr>
        <p:spPr>
          <a:xfrm>
            <a:off x="7848600" y="3784600"/>
            <a:ext cx="533400" cy="228600"/>
          </a:xfrm>
          <a:prstGeom prst="rect">
            <a:avLst/>
          </a:prstGeom>
          <a:solidFill>
            <a:srgbClr val="F7F5F0"/>
          </a:solidFill>
          <a:ln w="12700">
            <a:solidFill>
              <a:srgbClr val="F7F5F0"/>
            </a:solidFill>
          </a:ln>
        </p:spPr>
        <p:txBody>
          <a:bodyPr wrap="square" lIns="45720" tIns="36576" rIns="45720" bIns="36576" anchor="ctr"/>
          <a:lstStyle/>
          <a:p>
            <a:pPr algn="ctr">
              <a:buNone/>
            </a:pPr>
            <a:r>
              <a:rPr lang="en-US" sz="1200" b="1" dirty="0">
                <a:solidFill>
                  <a:srgbClr val="1B2A4A"/>
                </a:solidFill>
                <a:latin typeface="Calibri"/>
              </a:rPr>
              <a:t>HTTP</a:t>
            </a:r>
          </a:p>
        </p:txBody>
      </p:sp>
      <p:sp>
        <p:nvSpPr>
          <p:cNvPr id="83" name="WSLabel">
            <a:extLst>
              <a:ext uri="{FF2B5EF4-FFF2-40B4-BE49-F238E27FC236}">
                <a16:creationId xmlns:a16="http://schemas.microsoft.com/office/drawing/2014/main" id="{1BAF4352-C890-F17E-7738-CFAB7C22838D}"/>
              </a:ext>
            </a:extLst>
          </p:cNvPr>
          <p:cNvSpPr/>
          <p:nvPr/>
        </p:nvSpPr>
        <p:spPr>
          <a:xfrm>
            <a:off x="7670800" y="3218176"/>
            <a:ext cx="908050" cy="228593"/>
          </a:xfrm>
          <a:prstGeom prst="rect">
            <a:avLst/>
          </a:prstGeom>
          <a:solidFill>
            <a:srgbClr val="F7F5F0"/>
          </a:solidFill>
          <a:ln w="12700">
            <a:solidFill>
              <a:srgbClr val="F7F5F0"/>
            </a:solidFill>
          </a:ln>
        </p:spPr>
        <p:txBody>
          <a:bodyPr wrap="square" lIns="45720" tIns="36576" rIns="45720" bIns="36576" anchor="ctr"/>
          <a:lstStyle/>
          <a:p>
            <a:pPr algn="ctr">
              <a:buNone/>
            </a:pPr>
            <a:r>
              <a:rPr lang="en-US" sz="1200" b="1" dirty="0">
                <a:solidFill>
                  <a:srgbClr val="1B2A4A"/>
                </a:solidFill>
                <a:latin typeface="Calibri"/>
              </a:rPr>
              <a:t>WebSocket</a:t>
            </a:r>
          </a:p>
        </p:txBody>
      </p:sp>
      <p:sp>
        <p:nvSpPr>
          <p:cNvPr id="90" name="PrivacyBadge">
            <a:extLst>
              <a:ext uri="{FF2B5EF4-FFF2-40B4-BE49-F238E27FC236}">
                <a16:creationId xmlns:a16="http://schemas.microsoft.com/office/drawing/2014/main" id="{8EEB8F32-F09F-55D5-7CEF-CEDE3EE66511}"/>
              </a:ext>
            </a:extLst>
          </p:cNvPr>
          <p:cNvSpPr/>
          <p:nvPr/>
        </p:nvSpPr>
        <p:spPr>
          <a:xfrm>
            <a:off x="650240" y="5384800"/>
            <a:ext cx="2794000" cy="406398"/>
          </a:xfrm>
          <a:prstGeom prst="roundRect">
            <a:avLst/>
          </a:prstGeom>
          <a:solidFill>
            <a:srgbClr val="2C5F7C"/>
          </a:solidFill>
          <a:ln w="12700">
            <a:solidFill>
              <a:srgbClr val="2C5F7C"/>
            </a:solidFill>
          </a:ln>
        </p:spPr>
        <p:txBody>
          <a:bodyPr wrap="square" lIns="45720" tIns="36576" rIns="45720" bIns="36576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/>
              </a:rPr>
              <a:t>All voice data stays on-device</a:t>
            </a:r>
          </a:p>
        </p:txBody>
      </p:sp>
      <p:sp>
        <p:nvSpPr>
          <p:cNvPr id="91" name="CostBadge">
            <a:extLst>
              <a:ext uri="{FF2B5EF4-FFF2-40B4-BE49-F238E27FC236}">
                <a16:creationId xmlns:a16="http://schemas.microsoft.com/office/drawing/2014/main" id="{9CB00809-F0B5-B932-AC3F-466CEA6CE504}"/>
              </a:ext>
            </a:extLst>
          </p:cNvPr>
          <p:cNvSpPr/>
          <p:nvPr/>
        </p:nvSpPr>
        <p:spPr>
          <a:xfrm>
            <a:off x="4699000" y="5384800"/>
            <a:ext cx="2794000" cy="406399"/>
          </a:xfrm>
          <a:prstGeom prst="roundRect">
            <a:avLst/>
          </a:prstGeom>
          <a:solidFill>
            <a:srgbClr val="6B8F71"/>
          </a:solidFill>
          <a:ln w="12700">
            <a:solidFill>
              <a:srgbClr val="6B8F71"/>
            </a:solidFill>
          </a:ln>
        </p:spPr>
        <p:txBody>
          <a:bodyPr wrap="square" lIns="45720" tIns="36576" rIns="45720" bIns="36576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/>
              </a:rPr>
              <a:t>Zero cloud costs </a:t>
            </a:r>
          </a:p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/>
              </a:rPr>
              <a:t>Zero subscriptions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4D5D073-15C3-14AA-CC38-9B56D8BF0E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0CE2D-2882-48A4-88CB-3A003AF6C150}" type="slidenum">
              <a:rPr lang="en-US" smtClean="0"/>
              <a:t>9</a:t>
            </a:fld>
            <a:endParaRPr lang="en-US"/>
          </a:p>
        </p:txBody>
      </p:sp>
      <p:sp>
        <p:nvSpPr>
          <p:cNvPr id="4" name="Arrow: Left-Right 3">
            <a:extLst>
              <a:ext uri="{FF2B5EF4-FFF2-40B4-BE49-F238E27FC236}">
                <a16:creationId xmlns:a16="http://schemas.microsoft.com/office/drawing/2014/main" id="{07ECF4C8-D763-185C-C438-43A8B8D9176D}"/>
              </a:ext>
            </a:extLst>
          </p:cNvPr>
          <p:cNvSpPr/>
          <p:nvPr/>
        </p:nvSpPr>
        <p:spPr>
          <a:xfrm>
            <a:off x="7747000" y="3486150"/>
            <a:ext cx="781050" cy="228593"/>
          </a:xfrm>
          <a:prstGeom prst="leftRightArrow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HTTPLabel">
            <a:extLst>
              <a:ext uri="{FF2B5EF4-FFF2-40B4-BE49-F238E27FC236}">
                <a16:creationId xmlns:a16="http://schemas.microsoft.com/office/drawing/2014/main" id="{63F8B40B-6144-BFED-17BB-17408CB8CF47}"/>
              </a:ext>
            </a:extLst>
          </p:cNvPr>
          <p:cNvSpPr/>
          <p:nvPr/>
        </p:nvSpPr>
        <p:spPr>
          <a:xfrm>
            <a:off x="3797300" y="3218169"/>
            <a:ext cx="533400" cy="228600"/>
          </a:xfrm>
          <a:prstGeom prst="rect">
            <a:avLst/>
          </a:prstGeom>
          <a:solidFill>
            <a:srgbClr val="F7F5F0"/>
          </a:solidFill>
          <a:ln w="12700">
            <a:solidFill>
              <a:srgbClr val="F7F5F0"/>
            </a:solidFill>
          </a:ln>
        </p:spPr>
        <p:txBody>
          <a:bodyPr wrap="square" lIns="45720" tIns="36576" rIns="45720" bIns="36576" anchor="ctr"/>
          <a:lstStyle/>
          <a:p>
            <a:pPr algn="ctr">
              <a:buNone/>
            </a:pPr>
            <a:r>
              <a:rPr lang="en-US" sz="1200" b="1" dirty="0">
                <a:solidFill>
                  <a:srgbClr val="1B2A4A"/>
                </a:solidFill>
                <a:latin typeface="Calibri"/>
              </a:rPr>
              <a:t>HTTP</a:t>
            </a:r>
          </a:p>
        </p:txBody>
      </p:sp>
      <p:sp>
        <p:nvSpPr>
          <p:cNvPr id="6" name="Arrow: Left-Right 5">
            <a:extLst>
              <a:ext uri="{FF2B5EF4-FFF2-40B4-BE49-F238E27FC236}">
                <a16:creationId xmlns:a16="http://schemas.microsoft.com/office/drawing/2014/main" id="{BE4A6215-EFB8-5AA9-8913-7A255CB5357E}"/>
              </a:ext>
            </a:extLst>
          </p:cNvPr>
          <p:cNvSpPr/>
          <p:nvPr/>
        </p:nvSpPr>
        <p:spPr>
          <a:xfrm>
            <a:off x="3681095" y="3454407"/>
            <a:ext cx="781050" cy="228593"/>
          </a:xfrm>
          <a:prstGeom prst="leftRightArrow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WSLabel">
            <a:extLst>
              <a:ext uri="{FF2B5EF4-FFF2-40B4-BE49-F238E27FC236}">
                <a16:creationId xmlns:a16="http://schemas.microsoft.com/office/drawing/2014/main" id="{4D317DC4-081B-AB2F-B488-EA1E09C200C1}"/>
              </a:ext>
            </a:extLst>
          </p:cNvPr>
          <p:cNvSpPr/>
          <p:nvPr/>
        </p:nvSpPr>
        <p:spPr>
          <a:xfrm>
            <a:off x="3675379" y="3779528"/>
            <a:ext cx="817879" cy="226042"/>
          </a:xfrm>
          <a:prstGeom prst="rect">
            <a:avLst/>
          </a:prstGeom>
          <a:solidFill>
            <a:srgbClr val="F7F5F0"/>
          </a:solidFill>
          <a:ln w="12700">
            <a:solidFill>
              <a:srgbClr val="F7F5F0"/>
            </a:solidFill>
          </a:ln>
        </p:spPr>
        <p:txBody>
          <a:bodyPr wrap="square" lIns="45720" tIns="36576" rIns="45720" bIns="36576" anchor="ctr"/>
          <a:lstStyle/>
          <a:p>
            <a:pPr algn="ctr">
              <a:buNone/>
            </a:pPr>
            <a:r>
              <a:rPr lang="en-US" sz="1200" b="1" dirty="0">
                <a:solidFill>
                  <a:srgbClr val="1B2A4A"/>
                </a:solidFill>
                <a:latin typeface="Calibri"/>
              </a:rPr>
              <a:t>WebSocket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D816A18-4FE4-3FFC-512D-C63570F21E87}"/>
              </a:ext>
            </a:extLst>
          </p:cNvPr>
          <p:cNvSpPr txBox="1"/>
          <p:nvPr/>
        </p:nvSpPr>
        <p:spPr>
          <a:xfrm>
            <a:off x="762000" y="956311"/>
            <a:ext cx="33756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3-Tier Architecture</a:t>
            </a:r>
            <a:endParaRPr lang="en-US" sz="28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7362382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E9BCE3-A368-87E1-CCF0-2374975324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9610" y="227965"/>
            <a:ext cx="10515600" cy="709295"/>
          </a:xfrm>
        </p:spPr>
        <p:txBody>
          <a:bodyPr/>
          <a:lstStyle/>
          <a:p>
            <a:r>
              <a:rPr lang="en-US" dirty="0"/>
              <a:t>Technology Stack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97B27B-BD80-FCE6-8528-15C98C3555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68730"/>
            <a:ext cx="11521440" cy="4976813"/>
          </a:xfrm>
        </p:spPr>
        <p:txBody>
          <a:bodyPr>
            <a:normAutofit/>
          </a:bodyPr>
          <a:lstStyle/>
          <a:p>
            <a:r>
              <a:rPr lang="en-US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Speech Recognition (On-Device)</a:t>
            </a:r>
          </a:p>
          <a:p>
            <a:pPr lvl="1">
              <a:spcAft>
                <a:spcPts val="150"/>
              </a:spcAft>
              <a:buFont typeface="Arial"/>
              <a:buChar char="•"/>
            </a:pPr>
            <a:r>
              <a:rPr lang="en-US" sz="2200" b="1" dirty="0" err="1"/>
              <a:t>Vosk</a:t>
            </a:r>
            <a:r>
              <a:rPr lang="en-US" sz="2200" dirty="0"/>
              <a:t> vosk-model-small-en-in-0.4 (Indian English, ~36 MB) - Optimized for South Asian accents</a:t>
            </a:r>
          </a:p>
          <a:p>
            <a:pPr lvl="1">
              <a:spcAft>
                <a:spcPts val="150"/>
              </a:spcAft>
              <a:buFont typeface="Arial"/>
              <a:buChar char="•"/>
            </a:pPr>
            <a:r>
              <a:rPr lang="en-US" sz="2200" dirty="0"/>
              <a:t>16 kHz, 16-bit PCM mono; real-time streaming with VAD</a:t>
            </a:r>
          </a:p>
          <a:p>
            <a:r>
              <a:rPr lang="en-US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Intent Classification (On-Device)</a:t>
            </a:r>
          </a:p>
          <a:p>
            <a:pPr lvl="1">
              <a:spcAft>
                <a:spcPts val="150"/>
              </a:spcAft>
              <a:buFont typeface="Arial"/>
              <a:buChar char="•"/>
            </a:pPr>
            <a:r>
              <a:rPr lang="en-US" sz="2200" b="1" dirty="0"/>
              <a:t>MobileBERT</a:t>
            </a:r>
            <a:r>
              <a:rPr lang="en-US" sz="2200" dirty="0"/>
              <a:t> fine-tuned TFLite (26 MB)</a:t>
            </a:r>
          </a:p>
          <a:p>
            <a:pPr lvl="1">
              <a:spcAft>
                <a:spcPts val="150"/>
              </a:spcAft>
              <a:buFont typeface="Arial"/>
              <a:buChar char="•"/>
            </a:pPr>
            <a:r>
              <a:rPr lang="en-US" sz="2200" b="1" dirty="0"/>
              <a:t>Hybrid pipeline:</a:t>
            </a:r>
            <a:r>
              <a:rPr lang="en-US" sz="2200" dirty="0"/>
              <a:t> Step 1 - Keyword regex → Step 2 - Neural inference</a:t>
            </a:r>
          </a:p>
          <a:p>
            <a:r>
              <a:rPr lang="en-US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Frontend + Backend + Staff Dashboard</a:t>
            </a:r>
          </a:p>
          <a:p>
            <a:pPr lvl="1">
              <a:spcAft>
                <a:spcPts val="150"/>
              </a:spcAft>
              <a:buFont typeface="Arial"/>
              <a:buChar char="•"/>
            </a:pPr>
            <a:r>
              <a:rPr lang="en-US" sz="2200" b="1" dirty="0"/>
              <a:t>Android:</a:t>
            </a:r>
            <a:r>
              <a:rPr lang="en-US" sz="2200" dirty="0"/>
              <a:t> Kotlin + Jetpack Compose</a:t>
            </a:r>
            <a:endParaRPr lang="en-US" sz="2200" b="1" dirty="0"/>
          </a:p>
          <a:p>
            <a:pPr lvl="1">
              <a:spcAft>
                <a:spcPts val="150"/>
              </a:spcAft>
              <a:buFont typeface="Arial"/>
              <a:buChar char="•"/>
            </a:pPr>
            <a:r>
              <a:rPr lang="en-US" sz="2200" b="1" dirty="0" err="1"/>
              <a:t>FastAPI</a:t>
            </a:r>
            <a:r>
              <a:rPr lang="en-US" sz="2200" b="1" dirty="0"/>
              <a:t> + SQLite</a:t>
            </a:r>
            <a:r>
              <a:rPr lang="en-US" sz="2200" dirty="0"/>
              <a:t> - REST endpoints + WebSocket for real-time push notifications</a:t>
            </a:r>
          </a:p>
          <a:p>
            <a:pPr lvl="1">
              <a:spcAft>
                <a:spcPts val="150"/>
              </a:spcAft>
              <a:buFont typeface="Arial"/>
              <a:buChar char="•"/>
            </a:pPr>
            <a:r>
              <a:rPr lang="en-US" sz="2200" b="1" dirty="0"/>
              <a:t>Staff Dashboard:</a:t>
            </a:r>
            <a:r>
              <a:rPr lang="en-US" sz="2200" dirty="0"/>
              <a:t> Vanilla HTML/CSS/JS</a:t>
            </a:r>
          </a:p>
          <a:p>
            <a:pPr marL="0" indent="0">
              <a:spcAft>
                <a:spcPts val="150"/>
              </a:spcAft>
              <a:buNone/>
            </a:pPr>
            <a:r>
              <a:rPr lang="en-US" sz="2600" dirty="0">
                <a:solidFill>
                  <a:srgbClr val="0070C0"/>
                </a:solidFill>
              </a:rPr>
              <a:t>100% open-source stack - zero licensing costs, minimal external dependencies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028495-4F93-19B1-DA51-CEA67B6FB9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0CE2D-2882-48A4-88CB-3A003AF6C150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1744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2DB582-925B-4496-7563-1651AFE4BB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6750" y="239395"/>
            <a:ext cx="10515600" cy="709295"/>
          </a:xfrm>
        </p:spPr>
        <p:txBody>
          <a:bodyPr/>
          <a:lstStyle/>
          <a:p>
            <a:r>
              <a:rPr lang="en-US" dirty="0"/>
              <a:t>Implementation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F8A5FA-EDFF-08A5-69A7-BEF636620B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1480" y="1223010"/>
            <a:ext cx="11635740" cy="4953953"/>
          </a:xfrm>
        </p:spPr>
        <p:txBody>
          <a:bodyPr>
            <a:noAutofit/>
          </a:bodyPr>
          <a:lstStyle/>
          <a:p>
            <a:r>
              <a:rPr lang="en-US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Dataset Creation (10,080 Phrases)</a:t>
            </a:r>
          </a:p>
          <a:p>
            <a:pPr lvl="1">
              <a:spcAft>
                <a:spcPts val="200"/>
              </a:spcAft>
              <a:buFont typeface="Arial"/>
              <a:buChar char="•"/>
            </a:pPr>
            <a:r>
              <a:rPr lang="en-US" sz="2000" dirty="0"/>
              <a:t>18 intent categories × 560 phrases — exact class balance across 5 departments</a:t>
            </a:r>
          </a:p>
          <a:p>
            <a:pPr lvl="1">
              <a:spcAft>
                <a:spcPts val="200"/>
              </a:spcAft>
              <a:buFont typeface="Arial"/>
              <a:buChar char="•"/>
            </a:pPr>
            <a:r>
              <a:rPr lang="en-US" sz="2000" dirty="0"/>
              <a:t>Paired dataset: each phrase has clean text + Vosk-transcribed version (via gTTS → Vosk pipeline)</a:t>
            </a:r>
          </a:p>
          <a:p>
            <a:r>
              <a:rPr lang="en-US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Three-Model Training Strategy</a:t>
            </a:r>
          </a:p>
          <a:p>
            <a:pPr lvl="1">
              <a:spcAft>
                <a:spcPts val="200"/>
              </a:spcAft>
              <a:buFont typeface="Arial"/>
              <a:buChar char="•"/>
            </a:pPr>
            <a:r>
              <a:rPr lang="en-US" sz="2000" b="1" dirty="0"/>
              <a:t>Model A</a:t>
            </a:r>
            <a:r>
              <a:rPr lang="en-US" sz="2000" dirty="0"/>
              <a:t> — trained on </a:t>
            </a:r>
            <a:r>
              <a:rPr lang="en-US" sz="2000" i="1" u="sng" dirty="0"/>
              <a:t>clean text only</a:t>
            </a:r>
            <a:r>
              <a:rPr lang="en-US" sz="2000" dirty="0"/>
              <a:t> (10,080 samples, baseline)</a:t>
            </a:r>
          </a:p>
          <a:p>
            <a:pPr lvl="1">
              <a:spcAft>
                <a:spcPts val="200"/>
              </a:spcAft>
              <a:buFont typeface="Arial"/>
              <a:buChar char="•"/>
            </a:pPr>
            <a:r>
              <a:rPr lang="en-US" sz="2000" b="1" dirty="0"/>
              <a:t>Model B</a:t>
            </a:r>
            <a:r>
              <a:rPr lang="en-US" sz="2000" dirty="0"/>
              <a:t> — trained on </a:t>
            </a:r>
            <a:r>
              <a:rPr lang="en-US" sz="2000" i="1" u="sng" dirty="0"/>
              <a:t>Vosk-transcribed text only</a:t>
            </a:r>
            <a:r>
              <a:rPr lang="en-US" sz="2000" dirty="0"/>
              <a:t> (10,080 samples)</a:t>
            </a:r>
          </a:p>
          <a:p>
            <a:pPr lvl="1">
              <a:spcAft>
                <a:spcPts val="200"/>
              </a:spcAft>
              <a:buFont typeface="Arial"/>
              <a:buChar char="•"/>
            </a:pPr>
            <a:r>
              <a:rPr lang="en-US" sz="2000" b="1" dirty="0"/>
              <a:t>Model C</a:t>
            </a:r>
            <a:r>
              <a:rPr lang="en-US" sz="2000" dirty="0"/>
              <a:t> — trained on </a:t>
            </a:r>
            <a:r>
              <a:rPr lang="en-US" sz="2000" i="1" u="sng" dirty="0"/>
              <a:t>mixed clean + Vosk </a:t>
            </a:r>
            <a:r>
              <a:rPr lang="en-US" sz="2000" dirty="0"/>
              <a:t>(14,864 deduplicated, noise-aware)</a:t>
            </a:r>
          </a:p>
          <a:p>
            <a:r>
              <a:rPr lang="en-US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Key Implementation Challenges</a:t>
            </a:r>
          </a:p>
          <a:p>
            <a:pPr lvl="1">
              <a:spcAft>
                <a:spcPts val="200"/>
              </a:spcAft>
              <a:buFont typeface="Arial"/>
              <a:buChar char="•"/>
            </a:pPr>
            <a:r>
              <a:rPr lang="en-US" sz="2000" dirty="0"/>
              <a:t>Large Vosk model caused OOM on budget tablet → switched to small Indian English model</a:t>
            </a:r>
          </a:p>
          <a:p>
            <a:pPr lvl="1">
              <a:buFont typeface="Arial"/>
              <a:buChar char="•"/>
            </a:pPr>
            <a:r>
              <a:rPr lang="en-US" sz="2000" dirty="0"/>
              <a:t>TFLite label ordering mismatch; simplified word-level tokeniser (whole-word vocabulary lookup; no subword splitting)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615749-9DEC-9863-4F19-9B25E84B10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0CE2D-2882-48A4-88CB-3A003AF6C150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19097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687F50-3403-105C-5BBC-4987AA6315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43585"/>
          </a:xfrm>
        </p:spPr>
        <p:txBody>
          <a:bodyPr/>
          <a:lstStyle/>
          <a:p>
            <a:r>
              <a:rPr lang="en-US" dirty="0"/>
              <a:t>Models Evaluation Results</a:t>
            </a:r>
          </a:p>
        </p:txBody>
      </p:sp>
      <p:graphicFrame>
        <p:nvGraphicFramePr>
          <p:cNvPr id="101" name="Chart 1"/>
          <p:cNvGraphicFramePr/>
          <p:nvPr>
            <p:extLst>
              <p:ext uri="{D42A27DB-BD31-4B8C-83A1-F6EECF244321}">
                <p14:modId xmlns:p14="http://schemas.microsoft.com/office/powerpoint/2010/main" val="971119206"/>
              </p:ext>
            </p:extLst>
          </p:nvPr>
        </p:nvGraphicFramePr>
        <p:xfrm>
          <a:off x="457200" y="1457960"/>
          <a:ext cx="626364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00" name="KeyFinding"/>
          <p:cNvSpPr/>
          <p:nvPr/>
        </p:nvSpPr>
        <p:spPr>
          <a:xfrm>
            <a:off x="7018020" y="1567180"/>
            <a:ext cx="4876800" cy="4462780"/>
          </a:xfrm>
          <a:prstGeom prst="roundRect">
            <a:avLst>
              <a:gd name="adj" fmla="val 5000"/>
            </a:avLst>
          </a:prstGeom>
          <a:solidFill>
            <a:srgbClr val="F0EDE6"/>
          </a:solidFill>
          <a:ln w="12700">
            <a:solidFill>
              <a:srgbClr val="2C5F7C"/>
            </a:solidFill>
          </a:ln>
        </p:spPr>
        <p:txBody>
          <a:bodyPr wrap="square" lIns="91440" tIns="68580" rIns="91440" bIns="68580" anchor="t"/>
          <a:lstStyle/>
          <a:p>
            <a:pPr algn="l">
              <a:buNone/>
            </a:pPr>
            <a:r>
              <a:rPr lang="en-US" sz="2400" b="1" dirty="0">
                <a:solidFill>
                  <a:srgbClr val="2C5F7C"/>
                </a:solidFill>
              </a:rPr>
              <a:t>Key Findings</a:t>
            </a:r>
          </a:p>
          <a:p>
            <a:pPr algn="l">
              <a:buNone/>
            </a:pPr>
            <a:endParaRPr lang="en-US" sz="1400" b="1" dirty="0">
              <a:solidFill>
                <a:srgbClr val="2C5F7C"/>
              </a:solidFill>
              <a:latin typeface="Georgia"/>
            </a:endParaRP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sz="2000" dirty="0">
                <a:ln w="0"/>
                <a:solidFill>
                  <a:schemeClr val="bg2">
                    <a:lumMod val="10000"/>
                  </a:schemeClr>
                </a:solidFill>
              </a:rPr>
              <a:t>Model A drops 8.73 pp when given Vosk output instead of clean text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sz="2000" dirty="0">
                <a:ln w="0"/>
                <a:solidFill>
                  <a:schemeClr val="bg2">
                    <a:lumMod val="10000"/>
                  </a:schemeClr>
                </a:solidFill>
              </a:rPr>
              <a:t>Model C (noise-aware) achieves 99.06% on Vosk output - exceeding clean baseline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sz="2000" dirty="0">
                <a:ln w="0"/>
                <a:solidFill>
                  <a:schemeClr val="bg2">
                    <a:lumMod val="10000"/>
                  </a:schemeClr>
                </a:solidFill>
              </a:rPr>
              <a:t>Gap recovery: 111.3% - noise-aware training more than compensates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sz="2000" dirty="0">
                <a:ln w="0"/>
                <a:solidFill>
                  <a:schemeClr val="bg2">
                    <a:lumMod val="10000"/>
                  </a:schemeClr>
                </a:solidFill>
              </a:rPr>
              <a:t>All 18 intents achieve F1 &gt; 0.97 with Model C</a:t>
            </a:r>
          </a:p>
          <a:p>
            <a:pPr marL="228600" indent="-228600">
              <a:buFont typeface="Arial"/>
              <a:buChar char="•"/>
            </a:pPr>
            <a:r>
              <a:rPr lang="en-US" sz="2000" dirty="0">
                <a:ln w="0"/>
                <a:solidFill>
                  <a:schemeClr val="bg2">
                    <a:lumMod val="10000"/>
                  </a:schemeClr>
                </a:solidFill>
              </a:rPr>
              <a:t>NFR-05 target (≥90%) exceeded by 9+ percentage points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B69A9DA-A0DA-ECF8-F67C-4C1F2D2FC0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0CE2D-2882-48A4-88CB-3A003AF6C150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46532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48B7EB-AF0B-9BF5-43F9-FAD2595B21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Speech Recognition &amp; System Testing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6572D5-2B06-4185-936B-5B863922EF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1500" b="1" dirty="0">
                <a:solidFill>
                  <a:srgbClr val="2C5F7C"/>
                </a:solidFill>
              </a:rPr>
              <a:t>Word Error Rate (WER) — 10,080 Utterances</a:t>
            </a:r>
          </a:p>
          <a:p>
            <a:pPr marL="228600" indent="-228600">
              <a:spcAft>
                <a:spcPts val="200"/>
              </a:spcAft>
              <a:buFont typeface="Arial"/>
              <a:buChar char="•"/>
            </a:pPr>
            <a:r>
              <a:rPr lang="en-US" sz="1300" dirty="0"/>
              <a:t>Overall WER: </a:t>
            </a:r>
            <a:r>
              <a:rPr lang="en-US" sz="1300" b="1" dirty="0"/>
              <a:t>11.43%</a:t>
            </a:r>
            <a:r>
              <a:rPr lang="en-US" sz="1300" dirty="0"/>
              <a:t> (72,133 reference words); WER on changed sentences: </a:t>
            </a:r>
            <a:r>
              <a:rPr lang="en-US" sz="1300" b="1" dirty="0"/>
              <a:t>23.84%</a:t>
            </a:r>
          </a:p>
          <a:p>
            <a:pPr marL="228600" indent="-228600">
              <a:spcAft>
                <a:spcPts val="200"/>
              </a:spcAft>
              <a:buFont typeface="Arial"/>
              <a:buChar char="•"/>
            </a:pPr>
            <a:r>
              <a:rPr lang="en-US" sz="1300" b="1" dirty="0"/>
              <a:t>47.8%</a:t>
            </a:r>
            <a:r>
              <a:rPr lang="en-US" sz="1300" dirty="0"/>
              <a:t> of utterances changed by Vosk — nearly half of all guest requests arrive distorted</a:t>
            </a:r>
          </a:p>
          <a:p>
            <a:pPr marL="228600" indent="-228600">
              <a:spcAft>
                <a:spcPts val="200"/>
              </a:spcAft>
              <a:buFont typeface="Arial"/>
              <a:buChar char="•"/>
            </a:pPr>
            <a:r>
              <a:rPr lang="en-US" sz="1300" dirty="0"/>
              <a:t>Highest WER: temperature_control (16.83%), towel_request (16.33%); Lowest: emergency (6.78%)</a:t>
            </a:r>
          </a:p>
          <a:p>
            <a:pPr marL="228600" indent="-228600">
              <a:spcAft>
                <a:spcPts val="200"/>
              </a:spcAft>
              <a:buFont typeface="Arial"/>
              <a:buChar char="•"/>
            </a:pPr>
            <a:r>
              <a:rPr lang="en-US" sz="1300" i="1" dirty="0"/>
              <a:t>Note: WER measured on TTS-synthesised audio, not real human speech (acknowledged limitation)</a:t>
            </a:r>
          </a:p>
          <a:p>
            <a:pPr marL="0" indent="0">
              <a:buNone/>
            </a:pPr>
            <a:r>
              <a:rPr lang="en-US" sz="1500" b="1" dirty="0">
                <a:solidFill>
                  <a:srgbClr val="2C5F7C"/>
                </a:solidFill>
              </a:rPr>
              <a:t>End-to-End Latency (20 Test Requests)</a:t>
            </a:r>
          </a:p>
          <a:p>
            <a:pPr marL="228600" indent="-228600">
              <a:spcAft>
                <a:spcPts val="200"/>
              </a:spcAft>
              <a:buFont typeface="Arial"/>
              <a:buChar char="•"/>
            </a:pPr>
            <a:r>
              <a:rPr lang="en-US" sz="1300" dirty="0"/>
              <a:t>P95 end-to-end: </a:t>
            </a:r>
            <a:r>
              <a:rPr lang="en-US" sz="1300" b="1" dirty="0"/>
              <a:t>2,801 ms</a:t>
            </a:r>
            <a:r>
              <a:rPr lang="en-US" sz="1300" dirty="0"/>
              <a:t> — well within 5-second target (NFR-03)</a:t>
            </a:r>
          </a:p>
          <a:p>
            <a:pPr marL="228600" indent="-228600">
              <a:spcAft>
                <a:spcPts val="200"/>
              </a:spcAft>
              <a:buFont typeface="Arial"/>
              <a:buChar char="•"/>
            </a:pPr>
            <a:r>
              <a:rPr lang="en-US" sz="1300" dirty="0"/>
              <a:t>Vosk STT ~302 ms | NLU ~4 ms (keywords) / ~60 ms (MobileBERT) | Backend ~2,060 ms | TTS ~316 ms</a:t>
            </a:r>
          </a:p>
          <a:p>
            <a:pPr marL="0" indent="0">
              <a:buNone/>
            </a:pPr>
            <a:r>
              <a:rPr lang="en-US" sz="1500" b="1" dirty="0">
                <a:solidFill>
                  <a:srgbClr val="2C5F7C"/>
                </a:solidFill>
              </a:rPr>
              <a:t>NFR Compliance Summary</a:t>
            </a:r>
          </a:p>
          <a:p>
            <a:pPr marL="228600" indent="-228600">
              <a:spcAft>
                <a:spcPts val="200"/>
              </a:spcAft>
              <a:buFont typeface="Arial"/>
              <a:buChar char="•"/>
            </a:pPr>
            <a:r>
              <a:rPr lang="en-US" sz="1300" dirty="0"/>
              <a:t>NFR-02 (privacy): ✓ All voice processing on-device | NFR-03 (latency): ✓ P95 2,801 ms &lt; 5,000 ms</a:t>
            </a:r>
          </a:p>
          <a:p>
            <a:pPr marL="228600" indent="-228600">
              <a:buFont typeface="Arial"/>
              <a:buChar char="•"/>
            </a:pPr>
            <a:r>
              <a:rPr lang="en-US" sz="1300" dirty="0"/>
              <a:t>NFR-05 (accuracy ≥90%): ✓ Model C at 99.06% | All backend API tests passed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0D7AF0-60ED-B294-A48A-76FE46C713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0CE2D-2882-48A4-88CB-3A003AF6C150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15506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9DAB1B-A93C-5675-0A13-BA4774F0C5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97865"/>
          </a:xfrm>
        </p:spPr>
        <p:txBody>
          <a:bodyPr/>
          <a:lstStyle/>
          <a:p>
            <a:r>
              <a:rPr lang="en-US" dirty="0">
                <a:highlight>
                  <a:srgbClr val="00FF00"/>
                </a:highlight>
              </a:rPr>
              <a:t>C</a:t>
            </a:r>
            <a:r>
              <a:rPr lang="en-US" dirty="0"/>
              <a:t>ost-Effectiveness Analysis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DD96871-BB76-4828-B8BE-EFFB27D6C9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0763030"/>
              </p:ext>
            </p:extLst>
          </p:nvPr>
        </p:nvGraphicFramePr>
        <p:xfrm>
          <a:off x="635000" y="1524000"/>
          <a:ext cx="10922000" cy="2349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0500">
                  <a:extLst>
                    <a:ext uri="{9D8B030D-6E8A-4147-A177-3AD203B41FA5}">
                      <a16:colId xmlns:a16="http://schemas.microsoft.com/office/drawing/2014/main" val="3489851340"/>
                    </a:ext>
                  </a:extLst>
                </a:gridCol>
                <a:gridCol w="2730500">
                  <a:extLst>
                    <a:ext uri="{9D8B030D-6E8A-4147-A177-3AD203B41FA5}">
                      <a16:colId xmlns:a16="http://schemas.microsoft.com/office/drawing/2014/main" val="3819073788"/>
                    </a:ext>
                  </a:extLst>
                </a:gridCol>
                <a:gridCol w="2730500">
                  <a:extLst>
                    <a:ext uri="{9D8B030D-6E8A-4147-A177-3AD203B41FA5}">
                      <a16:colId xmlns:a16="http://schemas.microsoft.com/office/drawing/2014/main" val="3959331852"/>
                    </a:ext>
                  </a:extLst>
                </a:gridCol>
                <a:gridCol w="2730500">
                  <a:extLst>
                    <a:ext uri="{9D8B030D-6E8A-4147-A177-3AD203B41FA5}">
                      <a16:colId xmlns:a16="http://schemas.microsoft.com/office/drawing/2014/main" val="1071550899"/>
                    </a:ext>
                  </a:extLst>
                </a:gridCol>
              </a:tblGrid>
              <a:tr h="469900">
                <a:tc>
                  <a:txBody>
                    <a:bodyPr/>
                    <a:lstStyle/>
                    <a:p>
                      <a:pPr algn="ctr"/>
                      <a:r>
                        <a:rPr lang="en-US" sz="18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Cost Item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This System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Cloud STT (Google)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Commercial (Alexa)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74301109"/>
                  </a:ext>
                </a:extLst>
              </a:tr>
              <a:tr h="469900">
                <a:tc>
                  <a:txBody>
                    <a:bodyPr/>
                    <a:lstStyle/>
                    <a:p>
                      <a:pPr algn="l"/>
                      <a:r>
                        <a:rPr lang="en-US" sz="1800">
                          <a:solidFill>
                            <a:srgbClr val="1B2A4A"/>
                          </a:solidFill>
                          <a:latin typeface="Calibri"/>
                          <a:ea typeface="Calibri"/>
                          <a:cs typeface="Calibri"/>
                        </a:rPr>
                        <a:t>Hardware (50 tablets)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solidFill>
                            <a:srgbClr val="1B2A4A"/>
                          </a:solidFill>
                          <a:latin typeface="Calibri"/>
                          <a:ea typeface="Calibri"/>
                          <a:cs typeface="Calibri"/>
                        </a:rPr>
                        <a:t>$2,500–$7,500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solidFill>
                            <a:srgbClr val="1B2A4A"/>
                          </a:solidFill>
                          <a:latin typeface="Calibri"/>
                          <a:ea typeface="Calibri"/>
                          <a:cs typeface="Calibri"/>
                        </a:rPr>
                        <a:t>$2,500–$7,500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solidFill>
                            <a:srgbClr val="1B2A4A"/>
                          </a:solidFill>
                          <a:latin typeface="Calibri"/>
                          <a:ea typeface="Calibri"/>
                          <a:cs typeface="Calibri"/>
                        </a:rPr>
                        <a:t>$5,000–$10,000+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7666579"/>
                  </a:ext>
                </a:extLst>
              </a:tr>
              <a:tr h="469900">
                <a:tc>
                  <a:txBody>
                    <a:bodyPr/>
                    <a:lstStyle/>
                    <a:p>
                      <a:pPr algn="l"/>
                      <a:r>
                        <a:rPr lang="en-US" sz="1800">
                          <a:solidFill>
                            <a:srgbClr val="1B2A4A"/>
                          </a:solidFill>
                          <a:latin typeface="Calibri"/>
                          <a:ea typeface="Calibri"/>
                          <a:cs typeface="Calibri"/>
                        </a:rPr>
                        <a:t>Server + Network + UPS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D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solidFill>
                            <a:srgbClr val="1B2A4A"/>
                          </a:solidFill>
                          <a:latin typeface="Calibri"/>
                          <a:ea typeface="Calibri"/>
                          <a:cs typeface="Calibri"/>
                        </a:rPr>
                        <a:t>$720–$1,300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D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solidFill>
                            <a:srgbClr val="1B2A4A"/>
                          </a:solidFill>
                          <a:latin typeface="Calibri"/>
                          <a:ea typeface="Calibri"/>
                          <a:cs typeface="Calibri"/>
                        </a:rPr>
                        <a:t>$720–$1,300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D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solidFill>
                            <a:srgbClr val="1B2A4A"/>
                          </a:solidFill>
                          <a:latin typeface="Calibri"/>
                          <a:ea typeface="Calibri"/>
                          <a:cs typeface="Calibri"/>
                        </a:rPr>
                        <a:t>Cloud-hosted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D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0907233"/>
                  </a:ext>
                </a:extLst>
              </a:tr>
              <a:tr h="469900"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solidFill>
                            <a:srgbClr val="1B2A4A"/>
                          </a:solidFill>
                          <a:latin typeface="Calibri"/>
                          <a:ea typeface="Calibri"/>
                          <a:cs typeface="Calibri"/>
                        </a:rPr>
                        <a:t>Software / API (3 yr)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solidFill>
                            <a:srgbClr val="1B2A4A"/>
                          </a:solidFill>
                          <a:latin typeface="Calibri"/>
                          <a:ea typeface="Calibri"/>
                          <a:cs typeface="Calibri"/>
                        </a:rPr>
                        <a:t>$0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solidFill>
                            <a:srgbClr val="1B2A4A"/>
                          </a:solidFill>
                          <a:latin typeface="Calibri"/>
                          <a:ea typeface="Calibri"/>
                          <a:cs typeface="Calibri"/>
                        </a:rPr>
                        <a:t>$1,095–$2,200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solidFill>
                            <a:srgbClr val="1B2A4A"/>
                          </a:solidFill>
                          <a:latin typeface="Calibri"/>
                          <a:ea typeface="Calibri"/>
                          <a:cs typeface="Calibri"/>
                        </a:rPr>
                        <a:t>Proprietary terms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3749373"/>
                  </a:ext>
                </a:extLst>
              </a:tr>
              <a:tr h="469900">
                <a:tc>
                  <a:txBody>
                    <a:bodyPr/>
                    <a:lstStyle/>
                    <a:p>
                      <a:pPr algn="l"/>
                      <a:r>
                        <a:rPr lang="en-US" sz="1800" b="1">
                          <a:solidFill>
                            <a:srgbClr val="1B2A4A"/>
                          </a:solidFill>
                          <a:latin typeface="Calibri"/>
                          <a:ea typeface="Calibri"/>
                          <a:cs typeface="Calibri"/>
                        </a:rPr>
                        <a:t>Estimated 3-Year Total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4D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>
                          <a:solidFill>
                            <a:srgbClr val="6B8F71"/>
                          </a:solidFill>
                          <a:latin typeface="Calibri"/>
                          <a:ea typeface="Calibri"/>
                          <a:cs typeface="Calibri"/>
                        </a:rPr>
                        <a:t>$3,220–$8,800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4D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>
                          <a:solidFill>
                            <a:srgbClr val="1B2A4A"/>
                          </a:solidFill>
                          <a:latin typeface="Calibri"/>
                          <a:ea typeface="Calibri"/>
                          <a:cs typeface="Calibri"/>
                        </a:rPr>
                        <a:t>$4,315–$11,000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4D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rgbClr val="1B2A4A"/>
                          </a:solidFill>
                          <a:latin typeface="Calibri"/>
                          <a:ea typeface="Calibri"/>
                          <a:cs typeface="Calibri"/>
                        </a:rPr>
                        <a:t>Significantly higher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4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7345922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4CB8F8E-109F-4C25-AB18-4E0DB35A09FE}"/>
              </a:ext>
            </a:extLst>
          </p:cNvPr>
          <p:cNvSpPr txBox="1"/>
          <p:nvPr/>
        </p:nvSpPr>
        <p:spPr>
          <a:xfrm>
            <a:off x="635000" y="4381500"/>
            <a:ext cx="10922000" cy="183127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rgbClr val="2C5F7C"/>
                </a:solidFill>
              </a:rPr>
              <a:t>Key Cost Advantages</a:t>
            </a:r>
          </a:p>
          <a:p>
            <a:pPr marL="0" indent="0">
              <a:buNone/>
            </a:pPr>
            <a:endParaRPr lang="en-US" b="1" dirty="0">
              <a:solidFill>
                <a:srgbClr val="2C5F7C"/>
              </a:solidFill>
            </a:endParaRPr>
          </a:p>
          <a:p>
            <a:pPr marL="228600" indent="-228600">
              <a:spcAft>
                <a:spcPts val="200"/>
              </a:spcAft>
              <a:buFont typeface="Arial"/>
              <a:buChar char="•"/>
            </a:pPr>
            <a:r>
              <a:rPr lang="en-US" b="1" dirty="0">
                <a:solidFill>
                  <a:srgbClr val="1B2A4A"/>
                </a:solidFill>
                <a:latin typeface="Calibri"/>
              </a:rPr>
              <a:t>$21–$59 per room per year -</a:t>
            </a:r>
            <a:r>
              <a:rPr lang="en-US" dirty="0">
                <a:solidFill>
                  <a:srgbClr val="1B2A4A"/>
                </a:solidFill>
                <a:latin typeface="Calibri"/>
              </a:rPr>
              <a:t> over 3 years (50-room hotel)</a:t>
            </a:r>
          </a:p>
          <a:p>
            <a:pPr marL="228600" indent="-228600">
              <a:spcAft>
                <a:spcPts val="200"/>
              </a:spcAft>
              <a:buFont typeface="Arial"/>
              <a:buChar char="•"/>
            </a:pPr>
            <a:r>
              <a:rPr lang="en-US" b="1" dirty="0">
                <a:solidFill>
                  <a:srgbClr val="1B2A4A"/>
                </a:solidFill>
                <a:latin typeface="Calibri"/>
              </a:rPr>
              <a:t>Zero recurring software costs</a:t>
            </a:r>
            <a:r>
              <a:rPr lang="en-US" dirty="0">
                <a:solidFill>
                  <a:srgbClr val="1B2A4A"/>
                </a:solidFill>
                <a:latin typeface="Calibri"/>
              </a:rPr>
              <a:t> - 100% open-source, no per-request or subscription billing</a:t>
            </a:r>
          </a:p>
          <a:p>
            <a:pPr marL="228600" indent="-228600">
              <a:spcAft>
                <a:spcPts val="200"/>
              </a:spcAft>
              <a:buFont typeface="Arial"/>
              <a:buChar char="•"/>
            </a:pPr>
            <a:r>
              <a:rPr lang="en-US" b="1" dirty="0">
                <a:solidFill>
                  <a:srgbClr val="1B2A4A"/>
                </a:solidFill>
                <a:latin typeface="Calibri"/>
              </a:rPr>
              <a:t>Commodity hardware</a:t>
            </a:r>
            <a:r>
              <a:rPr lang="en-US" dirty="0">
                <a:solidFill>
                  <a:srgbClr val="1B2A4A"/>
                </a:solidFill>
                <a:latin typeface="Calibri"/>
              </a:rPr>
              <a:t> - Android tablets ($50–$150) from local retailers, locally repairable</a:t>
            </a:r>
          </a:p>
          <a:p>
            <a:pPr marL="228600" indent="-228600">
              <a:buFont typeface="Arial"/>
              <a:buChar char="•"/>
            </a:pPr>
            <a:r>
              <a:rPr lang="en-US" b="1" dirty="0">
                <a:solidFill>
                  <a:srgbClr val="1B2A4A"/>
                </a:solidFill>
                <a:latin typeface="Calibri"/>
              </a:rPr>
              <a:t>Market fit</a:t>
            </a:r>
            <a:r>
              <a:rPr lang="en-US" dirty="0">
                <a:solidFill>
                  <a:srgbClr val="1B2A4A"/>
                </a:solidFill>
                <a:latin typeface="Calibri"/>
              </a:rPr>
              <a:t> - within reach of Sri Lankan hotels (SLTDA, 2024)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6D32FE0-0880-4155-1359-868C98442E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0CE2D-2882-48A4-88CB-3A003AF6C150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38594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F7C6EB-EB2D-F0D2-773E-C2549F87A8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725"/>
          </a:xfrm>
        </p:spPr>
        <p:txBody>
          <a:bodyPr/>
          <a:lstStyle/>
          <a:p>
            <a:r>
              <a:rPr lang="en-US" dirty="0">
                <a:highlight>
                  <a:srgbClr val="00FF00"/>
                </a:highlight>
              </a:rPr>
              <a:t>C</a:t>
            </a:r>
            <a:r>
              <a:rPr lang="en-US" dirty="0"/>
              <a:t>ritical Appraisal &amp; Limitations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72150F-4BD4-3CB6-A444-4609BBC956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4360" y="1303020"/>
            <a:ext cx="11189970" cy="505333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Strengths</a:t>
            </a:r>
          </a:p>
          <a:p>
            <a:pPr>
              <a:spcAft>
                <a:spcPts val="200"/>
              </a:spcAft>
              <a:buFont typeface="Arial"/>
              <a:buChar char="•"/>
            </a:pPr>
            <a:r>
              <a:rPr lang="en-US" sz="2000" b="1" dirty="0">
                <a:ln w="0"/>
                <a:solidFill>
                  <a:schemeClr val="bg2">
                    <a:lumMod val="10000"/>
                  </a:schemeClr>
                </a:solidFill>
              </a:rPr>
              <a:t>Quantified the real-world accuracy gap</a:t>
            </a:r>
            <a:r>
              <a:rPr lang="en-US" sz="2000" dirty="0">
                <a:ln w="0"/>
                <a:solidFill>
                  <a:schemeClr val="bg2">
                    <a:lumMod val="10000"/>
                  </a:schemeClr>
                </a:solidFill>
              </a:rPr>
              <a:t> </a:t>
            </a:r>
          </a:p>
          <a:p>
            <a:pPr marL="457200" lvl="1" indent="0">
              <a:spcAft>
                <a:spcPts val="200"/>
              </a:spcAft>
              <a:buNone/>
            </a:pPr>
            <a:r>
              <a:rPr lang="en-US" sz="2000" dirty="0">
                <a:ln w="0"/>
                <a:solidFill>
                  <a:schemeClr val="bg2">
                    <a:lumMod val="10000"/>
                  </a:schemeClr>
                </a:solidFill>
              </a:rPr>
              <a:t>	Model A dropped from 98.07% (clean text) to 89.34% on real </a:t>
            </a:r>
            <a:r>
              <a:rPr lang="en-US" sz="2000" dirty="0" err="1">
                <a:ln w="0"/>
                <a:solidFill>
                  <a:schemeClr val="bg2">
                    <a:lumMod val="10000"/>
                  </a:schemeClr>
                </a:solidFill>
              </a:rPr>
              <a:t>Vosk</a:t>
            </a:r>
            <a:r>
              <a:rPr lang="en-US" sz="2000" dirty="0">
                <a:ln w="0"/>
                <a:solidFill>
                  <a:schemeClr val="bg2">
                    <a:lumMod val="10000"/>
                  </a:schemeClr>
                </a:solidFill>
              </a:rPr>
              <a:t> speech output</a:t>
            </a:r>
          </a:p>
          <a:p>
            <a:pPr>
              <a:spcAft>
                <a:spcPts val="200"/>
              </a:spcAft>
              <a:buFont typeface="Arial"/>
              <a:buChar char="•"/>
            </a:pPr>
            <a:r>
              <a:rPr lang="en-US" sz="2000" b="1" dirty="0">
                <a:ln w="0"/>
                <a:solidFill>
                  <a:schemeClr val="bg2">
                    <a:lumMod val="10000"/>
                  </a:schemeClr>
                </a:solidFill>
              </a:rPr>
              <a:t>Effective Noise-Aware Training</a:t>
            </a:r>
          </a:p>
          <a:p>
            <a:pPr marL="0" indent="0">
              <a:spcAft>
                <a:spcPts val="200"/>
              </a:spcAft>
              <a:buNone/>
            </a:pPr>
            <a:r>
              <a:rPr lang="en-US" sz="2000" dirty="0"/>
              <a:t>	</a:t>
            </a:r>
            <a:r>
              <a:rPr lang="en-US" sz="2000" dirty="0">
                <a:ln w="0"/>
                <a:solidFill>
                  <a:schemeClr val="bg2">
                    <a:lumMod val="10000"/>
                  </a:schemeClr>
                </a:solidFill>
              </a:rPr>
              <a:t>Mixed training approach (clean + noisy </a:t>
            </a:r>
            <a:r>
              <a:rPr lang="en-US" sz="2000" dirty="0" err="1">
                <a:ln w="0"/>
                <a:solidFill>
                  <a:schemeClr val="bg2">
                    <a:lumMod val="10000"/>
                  </a:schemeClr>
                </a:solidFill>
              </a:rPr>
              <a:t>Vosk</a:t>
            </a:r>
            <a:r>
              <a:rPr lang="en-US" sz="2000" dirty="0">
                <a:ln w="0"/>
                <a:solidFill>
                  <a:schemeClr val="bg2">
                    <a:lumMod val="10000"/>
                  </a:schemeClr>
                </a:solidFill>
              </a:rPr>
              <a:t> text) achieved 99.06% accuracy on real </a:t>
            </a:r>
            <a:r>
              <a:rPr lang="en-US" sz="2000" dirty="0" err="1">
                <a:ln w="0"/>
                <a:solidFill>
                  <a:schemeClr val="bg2">
                    <a:lumMod val="10000"/>
                  </a:schemeClr>
                </a:solidFill>
              </a:rPr>
              <a:t>Vosk</a:t>
            </a:r>
            <a:r>
              <a:rPr lang="en-US" sz="2000" dirty="0">
                <a:ln w="0"/>
                <a:solidFill>
                  <a:schemeClr val="bg2">
                    <a:lumMod val="10000"/>
                  </a:schemeClr>
                </a:solidFill>
              </a:rPr>
              <a:t> 	output. 	Outperformed both clean-only and </a:t>
            </a:r>
            <a:r>
              <a:rPr lang="en-US" sz="2000" dirty="0" err="1">
                <a:ln w="0"/>
                <a:solidFill>
                  <a:schemeClr val="bg2">
                    <a:lumMod val="10000"/>
                  </a:schemeClr>
                </a:solidFill>
              </a:rPr>
              <a:t>Vosk</a:t>
            </a:r>
            <a:r>
              <a:rPr lang="en-US" sz="2000" dirty="0">
                <a:ln w="0"/>
                <a:solidFill>
                  <a:schemeClr val="bg2">
                    <a:lumMod val="10000"/>
                  </a:schemeClr>
                </a:solidFill>
              </a:rPr>
              <a:t>-only models</a:t>
            </a:r>
          </a:p>
          <a:p>
            <a:pPr>
              <a:spcAft>
                <a:spcPts val="200"/>
              </a:spcAft>
              <a:buFont typeface="Arial"/>
              <a:buChar char="•"/>
            </a:pPr>
            <a:r>
              <a:rPr lang="en-US" sz="2000" b="1" dirty="0">
                <a:ln w="0"/>
                <a:solidFill>
                  <a:schemeClr val="bg2">
                    <a:lumMod val="10000"/>
                  </a:schemeClr>
                </a:solidFill>
              </a:rPr>
              <a:t>Strong Experimental Design</a:t>
            </a:r>
          </a:p>
          <a:p>
            <a:pPr marL="914400" lvl="2" indent="0">
              <a:spcAft>
                <a:spcPts val="200"/>
              </a:spcAft>
              <a:buNone/>
            </a:pPr>
            <a:r>
              <a:rPr lang="en-US" dirty="0">
                <a:ln w="0"/>
                <a:solidFill>
                  <a:schemeClr val="bg2">
                    <a:lumMod val="10000"/>
                  </a:schemeClr>
                </a:solidFill>
              </a:rPr>
              <a:t>Balanced dataset: 10,080 phrases, 18 intents, 560 samples per intent. 		</a:t>
            </a:r>
          </a:p>
          <a:p>
            <a:pPr marL="914400" lvl="2" indent="0">
              <a:spcAft>
                <a:spcPts val="200"/>
              </a:spcAft>
              <a:buNone/>
            </a:pPr>
            <a:r>
              <a:rPr lang="en-US" dirty="0">
                <a:ln w="0"/>
                <a:solidFill>
                  <a:schemeClr val="bg2">
                    <a:lumMod val="10000"/>
                  </a:schemeClr>
                </a:solidFill>
              </a:rPr>
              <a:t>Fixed and consistent test set, across all experiments: Fair comparison and reproducibility</a:t>
            </a:r>
          </a:p>
          <a:p>
            <a:pPr>
              <a:spcAft>
                <a:spcPts val="200"/>
              </a:spcAft>
              <a:buFont typeface="Arial"/>
              <a:buChar char="•"/>
            </a:pPr>
            <a:r>
              <a:rPr lang="en-US" sz="2000" b="1" dirty="0">
                <a:ln w="0"/>
                <a:solidFill>
                  <a:schemeClr val="bg2">
                    <a:lumMod val="10000"/>
                  </a:schemeClr>
                </a:solidFill>
              </a:rPr>
              <a:t>Cost-Effectiveness and Viability </a:t>
            </a:r>
          </a:p>
          <a:p>
            <a:pPr marL="0" indent="0">
              <a:spcAft>
                <a:spcPts val="200"/>
              </a:spcAft>
              <a:buNone/>
            </a:pPr>
            <a:r>
              <a:rPr lang="en-US" sz="2000" dirty="0">
                <a:ln w="0"/>
                <a:solidFill>
                  <a:schemeClr val="bg2">
                    <a:lumMod val="10000"/>
                  </a:schemeClr>
                </a:solidFill>
              </a:rPr>
              <a:t>	Fully offline, Low cost, Strong privacy protection by design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4DF623-70B9-0915-3546-3D9179F3B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0CE2D-2882-48A4-88CB-3A003AF6C150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33806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FE9EC7-6729-D593-1A64-E5FC1092A6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9F73EC-CDA5-93B8-0B58-AEF56C58A5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725"/>
          </a:xfrm>
        </p:spPr>
        <p:txBody>
          <a:bodyPr/>
          <a:lstStyle/>
          <a:p>
            <a:r>
              <a:rPr lang="en-US" dirty="0"/>
              <a:t>Critical Appraisal &amp; Limitations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C9EB9B-4170-8616-D205-A076080ACE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1015" y="1234440"/>
            <a:ext cx="11189970" cy="47710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Limitations</a:t>
            </a:r>
          </a:p>
          <a:p>
            <a:pPr marL="228600" indent="-228600">
              <a:spcAft>
                <a:spcPts val="200"/>
              </a:spcAft>
              <a:buFont typeface="Arial"/>
              <a:buChar char="•"/>
            </a:pPr>
            <a:r>
              <a:rPr lang="en-US" sz="2000" b="1" dirty="0">
                <a:ln w="0"/>
                <a:solidFill>
                  <a:schemeClr val="bg2">
                    <a:lumMod val="10000"/>
                  </a:schemeClr>
                </a:solidFill>
              </a:rPr>
              <a:t>Synthetic speech only</a:t>
            </a:r>
            <a:r>
              <a:rPr lang="en-US" sz="2000" dirty="0">
                <a:ln w="0"/>
                <a:solidFill>
                  <a:schemeClr val="bg2">
                    <a:lumMod val="10000"/>
                  </a:schemeClr>
                </a:solidFill>
              </a:rPr>
              <a:t> - TTS audio, not real hotel guests; real-world WER likely higher</a:t>
            </a:r>
          </a:p>
          <a:p>
            <a:pPr marL="228600" indent="-228600">
              <a:spcAft>
                <a:spcPts val="200"/>
              </a:spcAft>
              <a:buFont typeface="Arial"/>
              <a:buChar char="•"/>
            </a:pPr>
            <a:r>
              <a:rPr lang="en-US" sz="2000" b="1" dirty="0">
                <a:ln w="0"/>
                <a:solidFill>
                  <a:schemeClr val="bg2">
                    <a:lumMod val="10000"/>
                  </a:schemeClr>
                </a:solidFill>
              </a:rPr>
              <a:t>Tokeniser mismatch</a:t>
            </a:r>
            <a:r>
              <a:rPr lang="en-US" sz="2000" dirty="0">
                <a:ln w="0"/>
                <a:solidFill>
                  <a:schemeClr val="bg2">
                    <a:lumMod val="10000"/>
                  </a:schemeClr>
                </a:solidFill>
              </a:rPr>
              <a:t> - Kotlin WordPiece implementation differs from Python; on-device accuracy lower</a:t>
            </a:r>
          </a:p>
          <a:p>
            <a:pPr marL="228600" indent="-228600">
              <a:spcAft>
                <a:spcPts val="200"/>
              </a:spcAft>
              <a:buFont typeface="Arial"/>
              <a:buChar char="•"/>
            </a:pPr>
            <a:r>
              <a:rPr lang="en-US" sz="2000" b="1" dirty="0">
                <a:ln w="0"/>
                <a:solidFill>
                  <a:schemeClr val="bg2">
                    <a:lumMod val="10000"/>
                  </a:schemeClr>
                </a:solidFill>
              </a:rPr>
              <a:t>No field deployment</a:t>
            </a:r>
            <a:r>
              <a:rPr lang="en-US" sz="2000" dirty="0">
                <a:ln w="0"/>
                <a:solidFill>
                  <a:schemeClr val="bg2">
                    <a:lumMod val="10000"/>
                  </a:schemeClr>
                </a:solidFill>
              </a:rPr>
              <a:t> - No real hotel environment testing; no real user feedback</a:t>
            </a:r>
          </a:p>
          <a:p>
            <a:pPr>
              <a:buFont typeface="Arial"/>
              <a:buChar char="•"/>
            </a:pPr>
            <a:r>
              <a:rPr lang="en-US" sz="2000" b="1" dirty="0">
                <a:ln w="0"/>
                <a:solidFill>
                  <a:schemeClr val="bg2">
                    <a:lumMod val="10000"/>
                  </a:schemeClr>
                </a:solidFill>
              </a:rPr>
              <a:t>Accent and Language Scope </a:t>
            </a:r>
            <a:r>
              <a:rPr lang="en-US" sz="2000" dirty="0">
                <a:ln w="0"/>
                <a:solidFill>
                  <a:schemeClr val="bg2">
                    <a:lumMod val="10000"/>
                  </a:schemeClr>
                </a:solidFill>
              </a:rPr>
              <a:t>- Mainly using English requests with Sri Lankan accents</a:t>
            </a:r>
          </a:p>
          <a:p>
            <a:pPr>
              <a:buFont typeface="Arial"/>
              <a:buChar char="•"/>
            </a:pPr>
            <a:r>
              <a:rPr lang="en-US" sz="2000" b="1" dirty="0">
                <a:ln w="0"/>
                <a:solidFill>
                  <a:schemeClr val="bg2">
                    <a:lumMod val="10000"/>
                  </a:schemeClr>
                </a:solidFill>
              </a:rPr>
              <a:t>Prototype-scale architecture </a:t>
            </a:r>
            <a:r>
              <a:rPr lang="en-US" sz="2000" dirty="0">
                <a:ln w="0"/>
                <a:solidFill>
                  <a:schemeClr val="bg2">
                    <a:lumMod val="10000"/>
                  </a:schemeClr>
                </a:solidFill>
              </a:rPr>
              <a:t>-</a:t>
            </a:r>
            <a:r>
              <a:rPr lang="en-US" sz="2000" b="1" dirty="0">
                <a:ln w="0"/>
                <a:solidFill>
                  <a:schemeClr val="bg2">
                    <a:lumMod val="10000"/>
                  </a:schemeClr>
                </a:solidFill>
              </a:rPr>
              <a:t> </a:t>
            </a:r>
            <a:r>
              <a:rPr lang="en-US" sz="2000" dirty="0">
                <a:ln w="0"/>
                <a:solidFill>
                  <a:schemeClr val="bg2">
                    <a:lumMod val="10000"/>
                  </a:schemeClr>
                </a:solidFill>
              </a:rPr>
              <a:t>Not production-ready without further engineering </a:t>
            </a:r>
            <a:r>
              <a:rPr lang="en-US" sz="2400" dirty="0">
                <a:ln w="0"/>
                <a:solidFill>
                  <a:schemeClr val="bg2">
                    <a:lumMod val="10000"/>
                  </a:schemeClr>
                </a:solidFill>
              </a:rPr>
              <a:t>	</a:t>
            </a:r>
          </a:p>
          <a:p>
            <a:pPr marL="0" indent="0">
              <a:buNone/>
            </a:pPr>
            <a:endParaRPr lang="en-US" sz="2400" b="1" dirty="0">
              <a:ln w="0"/>
              <a:solidFill>
                <a:schemeClr val="bg2">
                  <a:lumMod val="10000"/>
                </a:schemeClr>
              </a:solidFill>
            </a:endParaRPr>
          </a:p>
          <a:p>
            <a:pPr>
              <a:buFont typeface="Arial"/>
              <a:buChar char="•"/>
            </a:pPr>
            <a:endParaRPr lang="en-US" sz="2400" dirty="0">
              <a:ln w="0"/>
              <a:solidFill>
                <a:schemeClr val="bg2">
                  <a:lumMod val="10000"/>
                </a:schemeClr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62CA2C-FB4B-F2DE-F1F2-A3BF1AE28F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0CE2D-2882-48A4-88CB-3A003AF6C150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3727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065F42-8881-E009-0476-FB7D871FB0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DEAD07-D3A6-C14D-4816-3F2C128301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725"/>
          </a:xfrm>
        </p:spPr>
        <p:txBody>
          <a:bodyPr/>
          <a:lstStyle/>
          <a:p>
            <a:r>
              <a:rPr lang="en-US" dirty="0"/>
              <a:t>Critical Appraisal &amp; Limitations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425BCF-29F9-4A2E-9192-08EA20B027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2930" y="1315085"/>
            <a:ext cx="11189970" cy="5177790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sz="36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Suggestions for Future Research</a:t>
            </a:r>
          </a:p>
          <a:p>
            <a:pPr marL="0" indent="0">
              <a:buNone/>
            </a:pPr>
            <a:endParaRPr lang="en-US" sz="14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>
              <a:lnSpc>
                <a:spcPct val="120000"/>
              </a:lnSpc>
            </a:pPr>
            <a:r>
              <a:rPr lang="en-US" sz="2600" b="1" dirty="0"/>
              <a:t>Field Deployment and User Study </a:t>
            </a:r>
            <a:r>
              <a:rPr lang="en-US" sz="2600" dirty="0"/>
              <a:t>- To evaluate performance with genuine guest interactions and room acoustic conditions. </a:t>
            </a:r>
          </a:p>
          <a:p>
            <a:pPr>
              <a:lnSpc>
                <a:spcPct val="120000"/>
              </a:lnSpc>
            </a:pPr>
            <a:r>
              <a:rPr lang="en-US" sz="2600" b="1" dirty="0"/>
              <a:t>Real Speech Data Collection and Model Retraining </a:t>
            </a:r>
            <a:r>
              <a:rPr lang="en-US" sz="2600" dirty="0"/>
              <a:t>– To improve speech recognition accuracy </a:t>
            </a:r>
          </a:p>
          <a:p>
            <a:pPr>
              <a:lnSpc>
                <a:spcPct val="120000"/>
              </a:lnSpc>
            </a:pPr>
            <a:r>
              <a:rPr lang="en-US" sz="2600" b="1" dirty="0"/>
              <a:t>Implement proper </a:t>
            </a:r>
            <a:r>
              <a:rPr lang="en-US" sz="2600" b="1" dirty="0" err="1"/>
              <a:t>WordPiece</a:t>
            </a:r>
            <a:r>
              <a:rPr lang="en-US" sz="2600" b="1" dirty="0"/>
              <a:t> tokenization on Android</a:t>
            </a:r>
            <a:r>
              <a:rPr lang="en-US" sz="2600" dirty="0"/>
              <a:t> - To reduce the on-device accuracy gap. </a:t>
            </a:r>
          </a:p>
          <a:p>
            <a:pPr>
              <a:lnSpc>
                <a:spcPct val="120000"/>
              </a:lnSpc>
            </a:pPr>
            <a:r>
              <a:rPr lang="en-US" sz="2600" b="1" dirty="0"/>
              <a:t>Extend the system with multilingual support </a:t>
            </a:r>
            <a:r>
              <a:rPr lang="en-US" sz="2600" dirty="0"/>
              <a:t>– To support Sinhala, Tamil, Other Foreign Languages</a:t>
            </a:r>
          </a:p>
          <a:p>
            <a:pPr>
              <a:lnSpc>
                <a:spcPct val="120000"/>
              </a:lnSpc>
            </a:pPr>
            <a:r>
              <a:rPr lang="en-US" sz="2600" b="1" dirty="0"/>
              <a:t>Improve the NLU layer </a:t>
            </a:r>
            <a:r>
              <a:rPr lang="en-US" sz="2600" dirty="0"/>
              <a:t>using: </a:t>
            </a:r>
          </a:p>
          <a:p>
            <a:pPr lvl="1">
              <a:lnSpc>
                <a:spcPct val="120000"/>
              </a:lnSpc>
            </a:pPr>
            <a:r>
              <a:rPr lang="en-US" sz="2600" dirty="0"/>
              <a:t>Train hospitality-specific </a:t>
            </a:r>
            <a:r>
              <a:rPr lang="en-US" sz="2600" dirty="0" err="1"/>
              <a:t>Vosk</a:t>
            </a:r>
            <a:r>
              <a:rPr lang="en-US" sz="2600" dirty="0"/>
              <a:t> language models </a:t>
            </a:r>
          </a:p>
          <a:p>
            <a:pPr lvl="1">
              <a:lnSpc>
                <a:spcPct val="120000"/>
              </a:lnSpc>
            </a:pPr>
            <a:r>
              <a:rPr lang="en-US" sz="2600" dirty="0"/>
              <a:t>Out-of-scope intent detection, </a:t>
            </a:r>
          </a:p>
          <a:p>
            <a:pPr lvl="1">
              <a:lnSpc>
                <a:spcPct val="120000"/>
              </a:lnSpc>
            </a:pPr>
            <a:r>
              <a:rPr lang="en-US" sz="2600" dirty="0"/>
              <a:t>Multi-step conversational request handling.</a:t>
            </a:r>
          </a:p>
          <a:p>
            <a:pPr marL="0" indent="0">
              <a:buNone/>
            </a:pPr>
            <a:endParaRPr lang="en-US" sz="2400" b="1" dirty="0">
              <a:ln w="0"/>
              <a:solidFill>
                <a:schemeClr val="bg2">
                  <a:lumMod val="10000"/>
                </a:schemeClr>
              </a:solidFill>
            </a:endParaRPr>
          </a:p>
          <a:p>
            <a:pPr>
              <a:buFont typeface="Arial"/>
              <a:buChar char="•"/>
            </a:pPr>
            <a:endParaRPr lang="en-US" sz="2400" dirty="0">
              <a:ln w="0"/>
              <a:solidFill>
                <a:schemeClr val="bg2">
                  <a:lumMod val="10000"/>
                </a:schemeClr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4B26FE-6B83-B49A-D6D1-B504621890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0CE2D-2882-48A4-88CB-3A003AF6C150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708217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A774F4-E92F-9879-3663-CB0D53BF5E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12165"/>
          </a:xfrm>
        </p:spPr>
        <p:txBody>
          <a:bodyPr/>
          <a:lstStyle/>
          <a:p>
            <a:r>
              <a:rPr lang="en-US" dirty="0">
                <a:highlight>
                  <a:srgbClr val="00FF00"/>
                </a:highlight>
              </a:rPr>
              <a:t>C</a:t>
            </a:r>
            <a:r>
              <a:rPr lang="en-US" dirty="0"/>
              <a:t>onclusion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8943B7-E19B-4F76-2C3C-C274FE311A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0CE2D-2882-48A4-88CB-3A003AF6C150}" type="slidenum">
              <a:rPr lang="en-US" smtClean="0"/>
              <a:t>18</a:t>
            </a:fld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14E12C-165A-8E2C-9B03-7DDF57C476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03020"/>
            <a:ext cx="10515600" cy="505333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Summary of Findings</a:t>
            </a:r>
          </a:p>
          <a:p>
            <a:pPr>
              <a:lnSpc>
                <a:spcPct val="100000"/>
              </a:lnSpc>
            </a:pPr>
            <a:r>
              <a:rPr lang="en-US" sz="2000" dirty="0">
                <a:ln w="0"/>
                <a:solidFill>
                  <a:schemeClr val="bg2">
                    <a:lumMod val="10000"/>
                  </a:schemeClr>
                </a:solidFill>
              </a:rPr>
              <a:t>Developed a fully offline, low-cost smart hotel voice assistant that runs on commodity Android tablets costing around USD 50–150 per room</a:t>
            </a:r>
          </a:p>
          <a:p>
            <a:pPr>
              <a:lnSpc>
                <a:spcPct val="100000"/>
              </a:lnSpc>
            </a:pPr>
            <a:r>
              <a:rPr lang="en-US" sz="2000" dirty="0">
                <a:ln w="0"/>
                <a:solidFill>
                  <a:schemeClr val="bg2">
                    <a:lumMod val="10000"/>
                  </a:schemeClr>
                </a:solidFill>
              </a:rPr>
              <a:t>Complete workflow from guest voice request → speech recognition → intent classification → staff notification without internet connectivity</a:t>
            </a:r>
          </a:p>
          <a:p>
            <a:pPr>
              <a:lnSpc>
                <a:spcPct val="100000"/>
              </a:lnSpc>
            </a:pPr>
            <a:r>
              <a:rPr lang="en-US" sz="2000" dirty="0">
                <a:ln w="0"/>
                <a:solidFill>
                  <a:schemeClr val="bg2">
                    <a:lumMod val="10000"/>
                  </a:schemeClr>
                </a:solidFill>
              </a:rPr>
              <a:t>A custom hospitality dataset of 10,080 labelled phrases across 18 intent categories</a:t>
            </a:r>
          </a:p>
          <a:p>
            <a:pPr>
              <a:lnSpc>
                <a:spcPct val="100000"/>
              </a:lnSpc>
            </a:pPr>
            <a:r>
              <a:rPr lang="en-US" sz="2000" dirty="0">
                <a:ln w="0"/>
                <a:solidFill>
                  <a:schemeClr val="bg2">
                    <a:lumMod val="10000"/>
                  </a:schemeClr>
                </a:solidFill>
              </a:rPr>
              <a:t>The most important finding was that evaluating only on clean text, gives overly optimistic results.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ln w="0"/>
                <a:solidFill>
                  <a:schemeClr val="bg2">
                    <a:lumMod val="10000"/>
                  </a:schemeClr>
                </a:solidFill>
              </a:rPr>
              <a:t>Model A achieved 98.07% on clean text but dropped to 89.34% on real </a:t>
            </a:r>
            <a:r>
              <a:rPr lang="en-US" sz="2000" dirty="0" err="1">
                <a:ln w="0"/>
                <a:solidFill>
                  <a:schemeClr val="bg2">
                    <a:lumMod val="10000"/>
                  </a:schemeClr>
                </a:solidFill>
              </a:rPr>
              <a:t>Vosk</a:t>
            </a:r>
            <a:r>
              <a:rPr lang="en-US" sz="2000" dirty="0">
                <a:ln w="0"/>
                <a:solidFill>
                  <a:schemeClr val="bg2">
                    <a:lumMod val="10000"/>
                  </a:schemeClr>
                </a:solidFill>
              </a:rPr>
              <a:t> speech transcriptions.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ln w="0"/>
                <a:solidFill>
                  <a:schemeClr val="bg2">
                    <a:lumMod val="10000"/>
                  </a:schemeClr>
                </a:solidFill>
              </a:rPr>
              <a:t>The proposed noise-aware training approach (Model C) recovered this gap and achieved 99.06% accuracy on </a:t>
            </a:r>
            <a:r>
              <a:rPr lang="en-US" sz="2000" dirty="0" err="1">
                <a:ln w="0"/>
                <a:solidFill>
                  <a:schemeClr val="bg2">
                    <a:lumMod val="10000"/>
                  </a:schemeClr>
                </a:solidFill>
              </a:rPr>
              <a:t>Vosk</a:t>
            </a:r>
            <a:r>
              <a:rPr lang="en-US" sz="2000" dirty="0">
                <a:ln w="0"/>
                <a:solidFill>
                  <a:schemeClr val="bg2">
                    <a:lumMod val="10000"/>
                  </a:schemeClr>
                </a:solidFill>
              </a:rPr>
              <a:t> output.</a:t>
            </a:r>
          </a:p>
          <a:p>
            <a:pPr>
              <a:lnSpc>
                <a:spcPct val="100000"/>
              </a:lnSpc>
            </a:pPr>
            <a:r>
              <a:rPr lang="en-US" sz="2000" dirty="0">
                <a:ln w="0"/>
                <a:solidFill>
                  <a:schemeClr val="bg2">
                    <a:lumMod val="10000"/>
                  </a:schemeClr>
                </a:solidFill>
              </a:rPr>
              <a:t>The system achieved a WER of 11.43%, P95 latency of 2.8 seconds, and all AI processing remained entirely on-device, ensuring privacy-preserving operation.</a:t>
            </a:r>
          </a:p>
          <a:p>
            <a:pPr>
              <a:lnSpc>
                <a:spcPct val="100000"/>
              </a:lnSpc>
            </a:pPr>
            <a:endParaRPr lang="en-US" sz="2000" dirty="0">
              <a:ln w="0"/>
              <a:solidFill>
                <a:schemeClr val="bg2">
                  <a:lumMod val="1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88876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C2CAE7-3B40-2312-D212-5D078BB94B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F07F1D-7DF7-6CFE-FF1F-829047A281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12165"/>
          </a:xfrm>
        </p:spPr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98458B-3E6A-0DB3-2B39-EEB65189CD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0CE2D-2882-48A4-88CB-3A003AF6C150}" type="slidenum">
              <a:rPr lang="en-US" smtClean="0"/>
              <a:t>19</a:t>
            </a:fld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7FE2DAC-1541-A24C-A305-AD2632E38A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03020"/>
            <a:ext cx="10515600" cy="473900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Contributions to the Field</a:t>
            </a:r>
          </a:p>
          <a:p>
            <a:pPr algn="just"/>
            <a:r>
              <a:rPr lang="en-US" sz="2000" b="1" dirty="0">
                <a:ln w="0"/>
                <a:solidFill>
                  <a:schemeClr val="bg2">
                    <a:lumMod val="10000"/>
                  </a:schemeClr>
                </a:solidFill>
              </a:rPr>
              <a:t>Hospitality-domain intent dataset</a:t>
            </a:r>
            <a:r>
              <a:rPr lang="en-US" sz="2000" dirty="0">
                <a:ln w="0"/>
                <a:solidFill>
                  <a:schemeClr val="bg2">
                    <a:lumMod val="10000"/>
                  </a:schemeClr>
                </a:solidFill>
              </a:rPr>
              <a:t> - Labelled phrases across major intent categories, paired with </a:t>
            </a:r>
            <a:r>
              <a:rPr lang="en-US" sz="2000" dirty="0" err="1">
                <a:ln w="0"/>
                <a:solidFill>
                  <a:schemeClr val="bg2">
                    <a:lumMod val="10000"/>
                  </a:schemeClr>
                </a:solidFill>
              </a:rPr>
              <a:t>Vosk</a:t>
            </a:r>
            <a:r>
              <a:rPr lang="en-US" sz="2000" dirty="0">
                <a:ln w="0"/>
                <a:solidFill>
                  <a:schemeClr val="bg2">
                    <a:lumMod val="10000"/>
                  </a:schemeClr>
                </a:solidFill>
              </a:rPr>
              <a:t>-transcribed noisy versions, which can support future research in hotel automation and multilingual hospitality AI systems</a:t>
            </a:r>
          </a:p>
          <a:p>
            <a:pPr algn="just"/>
            <a:r>
              <a:rPr lang="en-US" sz="2000" b="1" dirty="0">
                <a:ln w="0"/>
                <a:solidFill>
                  <a:schemeClr val="bg2">
                    <a:lumMod val="10000"/>
                  </a:schemeClr>
                </a:solidFill>
              </a:rPr>
              <a:t>Noise-aware NLU training for offline STT pipelines</a:t>
            </a:r>
            <a:r>
              <a:rPr lang="en-US" sz="2000" dirty="0">
                <a:ln w="0"/>
                <a:solidFill>
                  <a:schemeClr val="bg2">
                    <a:lumMod val="10000"/>
                  </a:schemeClr>
                </a:solidFill>
              </a:rPr>
              <a:t> - Shows how speech recognition errors significantly affect downstream intent classification and how mixed clean + noisy training can recover performance</a:t>
            </a:r>
          </a:p>
          <a:p>
            <a:pPr algn="just"/>
            <a:r>
              <a:rPr lang="en-US" sz="2000" b="1" dirty="0">
                <a:ln w="0"/>
                <a:solidFill>
                  <a:schemeClr val="bg2">
                    <a:lumMod val="10000"/>
                  </a:schemeClr>
                </a:solidFill>
              </a:rPr>
              <a:t>Fully offline, low-cost voice assistant prototype for hospitality domain</a:t>
            </a:r>
            <a:r>
              <a:rPr lang="en-US" sz="2000" dirty="0">
                <a:ln w="0"/>
                <a:solidFill>
                  <a:schemeClr val="bg2">
                    <a:lumMod val="10000"/>
                  </a:schemeClr>
                </a:solidFill>
              </a:rPr>
              <a:t> - AI processing is on commodity Android hardware. No cloud </a:t>
            </a:r>
            <a:r>
              <a:rPr lang="en-US" sz="2000" dirty="0" err="1">
                <a:ln w="0"/>
                <a:solidFill>
                  <a:schemeClr val="bg2">
                    <a:lumMod val="10000"/>
                  </a:schemeClr>
                </a:solidFill>
              </a:rPr>
              <a:t>dependancy</a:t>
            </a:r>
            <a:r>
              <a:rPr lang="en-US" sz="2000" dirty="0">
                <a:ln w="0"/>
                <a:solidFill>
                  <a:schemeClr val="bg2">
                    <a:lumMod val="10000"/>
                  </a:schemeClr>
                </a:solidFill>
              </a:rPr>
              <a:t>, no voice data leaving device. </a:t>
            </a:r>
          </a:p>
          <a:p>
            <a:pPr algn="just"/>
            <a:r>
              <a:rPr lang="en-US" sz="2000" b="1" dirty="0">
                <a:ln w="0"/>
                <a:solidFill>
                  <a:schemeClr val="bg2">
                    <a:lumMod val="10000"/>
                  </a:schemeClr>
                </a:solidFill>
              </a:rPr>
              <a:t>Hybrid NLU pipeline for resource-constrained on-device deployment </a:t>
            </a:r>
            <a:r>
              <a:rPr lang="en-US" sz="2000" dirty="0">
                <a:ln w="0"/>
                <a:solidFill>
                  <a:schemeClr val="bg2">
                    <a:lumMod val="10000"/>
                  </a:schemeClr>
                </a:solidFill>
              </a:rPr>
              <a:t>- Two-tier architecture: rule-based keyword matching + </a:t>
            </a:r>
            <a:r>
              <a:rPr lang="en-US" sz="2000" dirty="0" err="1">
                <a:ln w="0"/>
                <a:solidFill>
                  <a:schemeClr val="bg2">
                    <a:lumMod val="10000"/>
                  </a:schemeClr>
                </a:solidFill>
              </a:rPr>
              <a:t>MobileBERT</a:t>
            </a:r>
            <a:r>
              <a:rPr lang="en-US" sz="2000" dirty="0">
                <a:ln w="0"/>
                <a:solidFill>
                  <a:schemeClr val="bg2">
                    <a:lumMod val="10000"/>
                  </a:schemeClr>
                </a:solidFill>
              </a:rPr>
              <a:t> neural inference.</a:t>
            </a:r>
          </a:p>
        </p:txBody>
      </p:sp>
    </p:spTree>
    <p:extLst>
      <p:ext uri="{BB962C8B-B14F-4D97-AF65-F5344CB8AC3E}">
        <p14:creationId xmlns:p14="http://schemas.microsoft.com/office/powerpoint/2010/main" val="37182941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64B410-C390-5D1B-32FA-3CCCE0818E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F1ED25-F37D-FEC5-962D-29101B5449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12165"/>
          </a:xfrm>
        </p:spPr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E0F794-E6F0-17E2-D6F7-1350FCF6FF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0CE2D-2882-48A4-88CB-3A003AF6C150}" type="slidenum">
              <a:rPr lang="en-US" smtClean="0"/>
              <a:t>20</a:t>
            </a:fld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BA40E3E-ACAA-B63C-8839-50312DFFAB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03020"/>
            <a:ext cx="10515600" cy="473900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Practical Implications</a:t>
            </a:r>
          </a:p>
          <a:p>
            <a:pPr algn="just"/>
            <a:r>
              <a:rPr lang="en-US" sz="2000" dirty="0"/>
              <a:t>The system provides a practical alternative to traditional hotel communication methods </a:t>
            </a:r>
          </a:p>
          <a:p>
            <a:pPr lvl="1" algn="just"/>
            <a:r>
              <a:rPr lang="en-US" sz="2000" dirty="0"/>
              <a:t>Phone calls </a:t>
            </a:r>
          </a:p>
          <a:p>
            <a:pPr lvl="1" algn="just"/>
            <a:r>
              <a:rPr lang="en-US" sz="2000" dirty="0"/>
              <a:t>Manual logbooks</a:t>
            </a:r>
          </a:p>
          <a:p>
            <a:pPr algn="just"/>
            <a:r>
              <a:rPr lang="en-US" sz="2000" dirty="0"/>
              <a:t>Hotels can deploy the solution using low-cost Android tablets and local network infrastructure without paying recurring cloud or subscription fees.</a:t>
            </a:r>
          </a:p>
          <a:p>
            <a:r>
              <a:rPr lang="en-US" sz="2000" dirty="0"/>
              <a:t>Compared to commercial cloud-based platforms, the solution offers:</a:t>
            </a:r>
          </a:p>
          <a:p>
            <a:pPr lvl="1"/>
            <a:r>
              <a:rPr lang="en-US" sz="2000" dirty="0"/>
              <a:t>Zero recurring software costs </a:t>
            </a:r>
          </a:p>
          <a:p>
            <a:pPr lvl="1"/>
            <a:r>
              <a:rPr lang="en-US" sz="2000" dirty="0"/>
              <a:t>No internet dependency </a:t>
            </a:r>
          </a:p>
          <a:p>
            <a:pPr lvl="1"/>
            <a:r>
              <a:rPr lang="en-US" sz="2000" dirty="0"/>
              <a:t>No vendor lock-in </a:t>
            </a:r>
          </a:p>
          <a:p>
            <a:pPr lvl="1"/>
            <a:r>
              <a:rPr lang="en-US" sz="2000" dirty="0"/>
              <a:t>Improved guest privacy because voice data never leaves the device</a:t>
            </a:r>
          </a:p>
        </p:txBody>
      </p:sp>
    </p:spTree>
    <p:extLst>
      <p:ext uri="{BB962C8B-B14F-4D97-AF65-F5344CB8AC3E}">
        <p14:creationId xmlns:p14="http://schemas.microsoft.com/office/powerpoint/2010/main" val="35713331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1273B7-E13E-8340-872A-C0AF470994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731E7-6B21-7D36-482E-B4A19DA8EC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12165"/>
          </a:xfrm>
        </p:spPr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512C39-EBF2-06E9-9C1B-ADB9D8C1A3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0CE2D-2882-48A4-88CB-3A003AF6C150}" type="slidenum">
              <a:rPr lang="en-US" smtClean="0"/>
              <a:t>21</a:t>
            </a:fld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2E4BB28-F3F5-ECA7-3E6E-D60163582F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03020"/>
            <a:ext cx="10515600" cy="473900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Practical Implications</a:t>
            </a:r>
          </a:p>
          <a:p>
            <a:pPr algn="just"/>
            <a:r>
              <a:rPr lang="en-US" sz="2000" dirty="0"/>
              <a:t>The estimated deployment cost for a 50-room hotel is approximately USD 3,200 -8,800 over three years, making it affordable for hotels in Sri Lanka and similar developing economies.</a:t>
            </a:r>
          </a:p>
          <a:p>
            <a:r>
              <a:rPr lang="en-US" sz="2000" dirty="0"/>
              <a:t>The findings also provide recommendations for future deployment, including:</a:t>
            </a:r>
          </a:p>
          <a:p>
            <a:pPr lvl="1"/>
            <a:r>
              <a:rPr lang="en-US" sz="2000" dirty="0"/>
              <a:t>Collecting real guest speech data</a:t>
            </a:r>
          </a:p>
          <a:p>
            <a:pPr lvl="1"/>
            <a:r>
              <a:rPr lang="en-US" sz="2000" dirty="0"/>
              <a:t>Implementing proper </a:t>
            </a:r>
            <a:r>
              <a:rPr lang="en-US" sz="2000" dirty="0" err="1"/>
              <a:t>WordPiece</a:t>
            </a:r>
            <a:r>
              <a:rPr lang="en-US" sz="2000" dirty="0"/>
              <a:t> tokenization on Android</a:t>
            </a:r>
          </a:p>
          <a:p>
            <a:pPr lvl="1"/>
            <a:r>
              <a:rPr lang="en-US" sz="2000" dirty="0"/>
              <a:t>Adding multilingual support</a:t>
            </a:r>
          </a:p>
          <a:p>
            <a:pPr lvl="1"/>
            <a:r>
              <a:rPr lang="en-US" sz="2000" dirty="0"/>
              <a:t>Conducting real hotel field studies</a:t>
            </a:r>
          </a:p>
          <a:p>
            <a:pPr marL="457200" lvl="1" indent="0">
              <a:buNone/>
            </a:pPr>
            <a:endParaRPr lang="en-US" sz="2000" dirty="0"/>
          </a:p>
          <a:p>
            <a:pPr marL="0" indent="0" algn="just">
              <a:buNone/>
            </a:pPr>
            <a:r>
              <a:rPr lang="en-US" sz="2000" b="1" i="1" dirty="0"/>
              <a:t>Overall, the research demonstrates that offline, privacy-preserving hospitality voice assistants are technically and economically feasible for real-world deployment.</a:t>
            </a:r>
          </a:p>
        </p:txBody>
      </p:sp>
    </p:spTree>
    <p:extLst>
      <p:ext uri="{BB962C8B-B14F-4D97-AF65-F5344CB8AC3E}">
        <p14:creationId xmlns:p14="http://schemas.microsoft.com/office/powerpoint/2010/main" val="324657702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EF7CBA-B995-8887-F2FE-3F24239CBC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85BA93-43FA-8CE0-7143-C999E8E5F7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7E02D6-D19A-7D6B-9D0D-661DA471BA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FBEEFE-DC07-02EB-BBE7-E5B00C43BC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0CE2D-2882-48A4-88CB-3A003AF6C150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32092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74707681357]">
  <a:themeElements>
    <a:clrScheme name="Academic Formal">
      <a:dk1>
        <a:srgbClr val="1B2A4A"/>
      </a:dk1>
      <a:lt1>
        <a:srgbClr val="F7F5F0"/>
      </a:lt1>
      <a:dk2>
        <a:srgbClr val="2C3E6B"/>
      </a:dk2>
      <a:lt2>
        <a:srgbClr val="EBE8E0"/>
      </a:lt2>
      <a:accent1>
        <a:srgbClr val="2C5F7C"/>
      </a:accent1>
      <a:accent2>
        <a:srgbClr val="6B8F71"/>
      </a:accent2>
      <a:accent3>
        <a:srgbClr val="C4956A"/>
      </a:accent3>
      <a:accent4>
        <a:srgbClr val="8B6F9C"/>
      </a:accent4>
      <a:accent5>
        <a:srgbClr val="4A7C8F"/>
      </a:accent5>
      <a:accent6>
        <a:srgbClr val="9B7653"/>
      </a:accent6>
      <a:hlink>
        <a:srgbClr val="467886"/>
      </a:hlink>
      <a:folHlink>
        <a:srgbClr val="96607D"/>
      </a:folHlink>
    </a:clrScheme>
    <a:fontScheme name="Academic Formal">
      <a:majorFont>
        <a:latin typeface="Georgia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89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F74B2DD8-8821-4663-BB90-C7B2341542B2}">
  <we:reference id="wa200010001" version="1.0.0.1" store="en-US" storeType="OMEX"/>
  <we:alternateReferences>
    <we:reference id="wa200010001" version="1.0.0.1" store="en-US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911</TotalTime>
  <Words>2082</Words>
  <Application>Microsoft Office PowerPoint</Application>
  <PresentationFormat>Widescreen</PresentationFormat>
  <Paragraphs>349</Paragraphs>
  <Slides>22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8" baseType="lpstr">
      <vt:lpstr>Amasis MT Pro Medium</vt:lpstr>
      <vt:lpstr>Aptos</vt:lpstr>
      <vt:lpstr>Arial</vt:lpstr>
      <vt:lpstr>Calibri</vt:lpstr>
      <vt:lpstr>Georgia</vt:lpstr>
      <vt:lpstr>Office Theme [1774707681357]</vt:lpstr>
      <vt:lpstr>Low-Cost Offline Voice Assistant  for Hospitality Services in Sri Lanka  Using Small-Scale Neural Models</vt:lpstr>
      <vt:lpstr>PowerPoint Presentation</vt:lpstr>
      <vt:lpstr>Research Question</vt:lpstr>
      <vt:lpstr>PowerPoint Presentation</vt:lpstr>
      <vt:lpstr>PowerPoint Presentation</vt:lpstr>
      <vt:lpstr>PowerPoint Presentation</vt:lpstr>
      <vt:lpstr>PowerPoint Presentation</vt:lpstr>
      <vt:lpstr>Design and Architecture </vt:lpstr>
      <vt:lpstr>Design and Architecture </vt:lpstr>
      <vt:lpstr>Technology Stack</vt:lpstr>
      <vt:lpstr>Implementation</vt:lpstr>
      <vt:lpstr>Models Evaluation Results</vt:lpstr>
      <vt:lpstr>Speech Recognition &amp; System Testing</vt:lpstr>
      <vt:lpstr>Cost-Effectiveness Analysis</vt:lpstr>
      <vt:lpstr>Critical Appraisal &amp; Limitations</vt:lpstr>
      <vt:lpstr>Critical Appraisal &amp; Limitations</vt:lpstr>
      <vt:lpstr>Critical Appraisal &amp; Limitations</vt:lpstr>
      <vt:lpstr>Conclusion</vt:lpstr>
      <vt:lpstr>Conclusion</vt:lpstr>
      <vt:lpstr>Conclusion</vt:lpstr>
      <vt:lpstr>Conclusion</vt:lpstr>
      <vt:lpstr>Demo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Dinesh Wijesuriya</dc:creator>
  <cp:lastModifiedBy>Dinesh Wijesuriya</cp:lastModifiedBy>
  <cp:revision>81</cp:revision>
  <dcterms:created xsi:type="dcterms:W3CDTF">2026-03-28T14:21:21Z</dcterms:created>
  <dcterms:modified xsi:type="dcterms:W3CDTF">2026-05-14T17:19:02Z</dcterms:modified>
</cp:coreProperties>
</file>