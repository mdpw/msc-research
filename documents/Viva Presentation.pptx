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1.xml" ContentType="application/vnd.openxmlformats-officedocument.drawingml.chart+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4"/>
  </p:notesMasterIdLst>
  <p:sldIdLst>
    <p:sldId id="284" r:id="rId2"/>
    <p:sldId id="303" r:id="rId3"/>
    <p:sldId id="298" r:id="rId4"/>
    <p:sldId id="257" r:id="rId5"/>
    <p:sldId id="300" r:id="rId6"/>
    <p:sldId id="258" r:id="rId7"/>
    <p:sldId id="313" r:id="rId8"/>
    <p:sldId id="290" r:id="rId9"/>
    <p:sldId id="310" r:id="rId10"/>
    <p:sldId id="316" r:id="rId11"/>
    <p:sldId id="292" r:id="rId12"/>
    <p:sldId id="294" r:id="rId13"/>
    <p:sldId id="293" r:id="rId14"/>
    <p:sldId id="314" r:id="rId15"/>
    <p:sldId id="295" r:id="rId16"/>
    <p:sldId id="296" r:id="rId17"/>
    <p:sldId id="264" r:id="rId18"/>
    <p:sldId id="265" r:id="rId19"/>
    <p:sldId id="315" r:id="rId20"/>
    <p:sldId id="307" r:id="rId21"/>
    <p:sldId id="308" r:id="rId22"/>
    <p:sldId id="305"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2F4CA"/>
    <a:srgbClr val="06983E"/>
    <a:srgbClr val="00B050"/>
    <a:srgbClr val="F9C3C8"/>
    <a:srgbClr val="F38993"/>
    <a:srgbClr val="C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75817" autoAdjust="0"/>
  </p:normalViewPr>
  <p:slideViewPr>
    <p:cSldViewPr snapToGrid="0">
      <p:cViewPr varScale="1">
        <p:scale>
          <a:sx n="62" d="100"/>
          <a:sy n="62" d="100"/>
        </p:scale>
        <p:origin x="1488"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lgn="ctr">
              <a:defRPr lang="en-US" sz="2000" kern="1200" dirty="0">
                <a:ln w="0"/>
                <a:solidFill>
                  <a:schemeClr val="tx2">
                    <a:lumMod val="60000"/>
                    <a:lumOff val="40000"/>
                  </a:schemeClr>
                </a:solidFill>
                <a:latin typeface="+mn-lt"/>
                <a:ea typeface="+mn-ea"/>
                <a:cs typeface="+mn-cs"/>
              </a:defRPr>
            </a:pPr>
            <a:r>
              <a:rPr lang="en-US" sz="2000" kern="1200" dirty="0">
                <a:ln w="0"/>
                <a:solidFill>
                  <a:schemeClr val="tx2">
                    <a:lumMod val="60000"/>
                    <a:lumOff val="40000"/>
                  </a:schemeClr>
                </a:solidFill>
                <a:latin typeface="+mn-lt"/>
                <a:ea typeface="+mn-ea"/>
                <a:cs typeface="+mn-cs"/>
              </a:rPr>
              <a:t>Intent Classification Accuracy </a:t>
            </a:r>
          </a:p>
          <a:p>
            <a:pPr algn="ctr">
              <a:defRPr lang="en-US" sz="2000" kern="1200" dirty="0">
                <a:ln w="0"/>
                <a:solidFill>
                  <a:schemeClr val="tx2">
                    <a:lumMod val="60000"/>
                    <a:lumOff val="40000"/>
                  </a:schemeClr>
                </a:solidFill>
                <a:latin typeface="+mn-lt"/>
                <a:ea typeface="+mn-ea"/>
                <a:cs typeface="+mn-cs"/>
              </a:defRPr>
            </a:pPr>
            <a:r>
              <a:rPr lang="en-US" sz="2000" kern="1200" dirty="0">
                <a:ln w="0"/>
                <a:solidFill>
                  <a:schemeClr val="tx2">
                    <a:lumMod val="60000"/>
                    <a:lumOff val="40000"/>
                  </a:schemeClr>
                </a:solidFill>
                <a:latin typeface="+mn-lt"/>
                <a:ea typeface="+mn-ea"/>
                <a:cs typeface="+mn-cs"/>
              </a:rPr>
              <a:t>(2,016-sample test set)</a:t>
            </a:r>
          </a:p>
        </c:rich>
      </c:tx>
      <c:layout>
        <c:manualLayout>
          <c:xMode val="edge"/>
          <c:yMode val="edge"/>
          <c:x val="0.24869724313657873"/>
          <c:y val="1.6666666666666666E-2"/>
        </c:manualLayout>
      </c:layout>
      <c:overlay val="0"/>
    </c:title>
    <c:autoTitleDeleted val="0"/>
    <c:plotArea>
      <c:layout/>
      <c:barChart>
        <c:barDir val="col"/>
        <c:grouping val="clustered"/>
        <c:varyColors val="1"/>
        <c:ser>
          <c:idx val="0"/>
          <c:order val="0"/>
          <c:tx>
            <c:strRef>
              <c:f>Sheet1!$B$1</c:f>
              <c:strCache>
                <c:ptCount val="1"/>
                <c:pt idx="0">
                  <c:v>Accuracy (%)</c:v>
                </c:pt>
              </c:strCache>
            </c:strRef>
          </c:tx>
          <c:spPr>
            <a:noFill/>
          </c:spPr>
          <c:invertIfNegative val="1"/>
          <c:dPt>
            <c:idx val="0"/>
            <c:invertIfNegative val="1"/>
            <c:bubble3D val="0"/>
            <c:spPr>
              <a:solidFill>
                <a:srgbClr val="2C5F7C"/>
              </a:solidFill>
            </c:spPr>
            <c:extLst>
              <c:ext xmlns:c16="http://schemas.microsoft.com/office/drawing/2014/chart" uri="{C3380CC4-5D6E-409C-BE32-E72D297353CC}">
                <c16:uniqueId val="{00000001-8E2A-4C6B-B0CB-7A3DF06D7325}"/>
              </c:ext>
            </c:extLst>
          </c:dPt>
          <c:dPt>
            <c:idx val="1"/>
            <c:invertIfNegative val="1"/>
            <c:bubble3D val="0"/>
            <c:spPr>
              <a:solidFill>
                <a:srgbClr val="C4956A"/>
              </a:solidFill>
            </c:spPr>
            <c:extLst>
              <c:ext xmlns:c16="http://schemas.microsoft.com/office/drawing/2014/chart" uri="{C3380CC4-5D6E-409C-BE32-E72D297353CC}">
                <c16:uniqueId val="{00000003-8E2A-4C6B-B0CB-7A3DF06D7325}"/>
              </c:ext>
            </c:extLst>
          </c:dPt>
          <c:dPt>
            <c:idx val="2"/>
            <c:invertIfNegative val="1"/>
            <c:bubble3D val="0"/>
            <c:spPr>
              <a:solidFill>
                <a:srgbClr val="8B6F9C"/>
              </a:solidFill>
            </c:spPr>
            <c:extLst>
              <c:ext xmlns:c16="http://schemas.microsoft.com/office/drawing/2014/chart" uri="{C3380CC4-5D6E-409C-BE32-E72D297353CC}">
                <c16:uniqueId val="{00000005-8E2A-4C6B-B0CB-7A3DF06D7325}"/>
              </c:ext>
            </c:extLst>
          </c:dPt>
          <c:dPt>
            <c:idx val="3"/>
            <c:invertIfNegative val="1"/>
            <c:bubble3D val="0"/>
            <c:spPr>
              <a:solidFill>
                <a:srgbClr val="6B8F71"/>
              </a:solidFill>
            </c:spPr>
            <c:extLst>
              <c:ext xmlns:c16="http://schemas.microsoft.com/office/drawing/2014/chart" uri="{C3380CC4-5D6E-409C-BE32-E72D297353CC}">
                <c16:uniqueId val="{00000007-8E2A-4C6B-B0CB-7A3DF06D7325}"/>
              </c:ext>
            </c:extLst>
          </c:dPt>
          <c:dLbls>
            <c:numFmt formatCode="0.00&quot;%&quot;" sourceLinked="0"/>
            <c:spPr>
              <a:noFill/>
              <a:ln>
                <a:noFill/>
              </a:ln>
              <a:effectLst/>
            </c:spPr>
            <c:txPr>
              <a:bodyPr/>
              <a:lstStyle/>
              <a:p>
                <a:pPr>
                  <a:defRPr sz="1400" b="1">
                    <a:solidFill>
                      <a:srgbClr val="1B2A4A"/>
                    </a:solidFill>
                    <a:latin typeface="Calibri"/>
                  </a:defRPr>
                </a:pPr>
                <a:endParaRPr lang="en-US"/>
              </a:p>
            </c:txPr>
            <c:dLblPos val="outEnd"/>
            <c:showLegendKey val="0"/>
            <c:showVal val="1"/>
            <c:showCatName val="0"/>
            <c:showSerName val="0"/>
            <c:showPercent val="0"/>
            <c:showBubbleSize val="1"/>
            <c:showLeaderLines val="0"/>
            <c:extLst>
              <c:ext xmlns:c15="http://schemas.microsoft.com/office/drawing/2012/chart" uri="{CE6537A1-D6FC-4f65-9D91-7224C49458BB}">
                <c15:showLeaderLines val="0"/>
              </c:ext>
            </c:extLst>
          </c:dLbls>
          <c:cat>
            <c:strRef>
              <c:f>Sheet1!$A$2:$A$5</c:f>
              <c:strCache>
                <c:ptCount val="4"/>
                <c:pt idx="0">
                  <c:v>Model A
(Clean Input)</c:v>
                </c:pt>
                <c:pt idx="1">
                  <c:v>Model A
(Vosk Input)</c:v>
                </c:pt>
                <c:pt idx="2">
                  <c:v>Model B
(Vosk Input)</c:v>
                </c:pt>
                <c:pt idx="3">
                  <c:v>Model C
(Clean + Vosk)</c:v>
                </c:pt>
              </c:strCache>
            </c:strRef>
          </c:cat>
          <c:val>
            <c:numRef>
              <c:f>Sheet1!$B$2:$B$5</c:f>
              <c:numCache>
                <c:formatCode>General</c:formatCode>
                <c:ptCount val="4"/>
                <c:pt idx="0">
                  <c:v>98.07</c:v>
                </c:pt>
                <c:pt idx="1">
                  <c:v>89.34</c:v>
                </c:pt>
                <c:pt idx="2">
                  <c:v>96.38</c:v>
                </c:pt>
                <c:pt idx="3">
                  <c:v>99.06</c:v>
                </c:pt>
              </c:numCache>
            </c:numRef>
          </c:val>
          <c:extLst>
            <c:ext xmlns:c16="http://schemas.microsoft.com/office/drawing/2014/chart" uri="{C3380CC4-5D6E-409C-BE32-E72D297353CC}">
              <c16:uniqueId val="{00000008-8E2A-4C6B-B0CB-7A3DF06D7325}"/>
            </c:ext>
          </c:extLst>
        </c:ser>
        <c:dLbls>
          <c:showLegendKey val="0"/>
          <c:showVal val="0"/>
          <c:showCatName val="0"/>
          <c:showSerName val="0"/>
          <c:showPercent val="0"/>
          <c:showBubbleSize val="0"/>
        </c:dLbls>
        <c:gapWidth val="150"/>
        <c:axId val="1"/>
        <c:axId val="2"/>
      </c:barChart>
      <c:catAx>
        <c:axId val="1"/>
        <c:scaling>
          <c:orientation val="minMax"/>
        </c:scaling>
        <c:delete val="0"/>
        <c:axPos val="b"/>
        <c:numFmt formatCode="General" sourceLinked="0"/>
        <c:majorTickMark val="none"/>
        <c:minorTickMark val="none"/>
        <c:tickLblPos val="nextTo"/>
        <c:txPr>
          <a:bodyPr/>
          <a:lstStyle/>
          <a:p>
            <a:pPr>
              <a:defRPr sz="1100">
                <a:solidFill>
                  <a:srgbClr val="1B2A4A"/>
                </a:solidFill>
                <a:latin typeface="Calibri"/>
              </a:defRPr>
            </a:pPr>
            <a:endParaRPr lang="en-US"/>
          </a:p>
        </c:txPr>
        <c:crossAx val="2"/>
        <c:crosses val="autoZero"/>
        <c:auto val="1"/>
        <c:lblAlgn val="ctr"/>
        <c:lblOffset val="100"/>
        <c:noMultiLvlLbl val="1"/>
      </c:catAx>
      <c:valAx>
        <c:axId val="2"/>
        <c:scaling>
          <c:orientation val="minMax"/>
          <c:max val="100"/>
          <c:min val="80"/>
        </c:scaling>
        <c:delete val="0"/>
        <c:axPos val="l"/>
        <c:numFmt formatCode="0&quot;%&quot;" sourceLinked="0"/>
        <c:majorTickMark val="out"/>
        <c:minorTickMark val="none"/>
        <c:tickLblPos val="nextTo"/>
        <c:txPr>
          <a:bodyPr/>
          <a:lstStyle/>
          <a:p>
            <a:pPr>
              <a:defRPr sz="1100">
                <a:solidFill>
                  <a:srgbClr val="1B2A4A"/>
                </a:solidFill>
                <a:latin typeface="Calibri"/>
              </a:defRPr>
            </a:pPr>
            <a:endParaRPr lang="en-US"/>
          </a:p>
        </c:txPr>
        <c:crossAx val="1"/>
        <c:crosses val="autoZero"/>
        <c:crossBetween val="between"/>
        <c:majorUnit val="5"/>
      </c:valAx>
    </c:plotArea>
    <c:plotVisOnly val="1"/>
    <c:dispBlanksAs val="zero"/>
    <c:showDLblsOverMax val="1"/>
  </c:chart>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9449912-72E7-44B2-8958-223EDC198C7E}" type="datetimeFigureOut">
              <a:rPr lang="en-US" smtClean="0"/>
              <a:t>5/16/2026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521C570-53BE-46F6-9D3E-69DD73653F98}" type="slidenum">
              <a:rPr lang="en-US" smtClean="0"/>
              <a:t>‹#›</a:t>
            </a:fld>
            <a:endParaRPr lang="en-US"/>
          </a:p>
        </p:txBody>
      </p:sp>
    </p:spTree>
    <p:extLst>
      <p:ext uri="{BB962C8B-B14F-4D97-AF65-F5344CB8AC3E}">
        <p14:creationId xmlns:p14="http://schemas.microsoft.com/office/powerpoint/2010/main" val="2828423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521C570-53BE-46F6-9D3E-69DD73653F98}" type="slidenum">
              <a:rPr lang="en-US" smtClean="0"/>
              <a:t>2</a:t>
            </a:fld>
            <a:endParaRPr lang="en-US"/>
          </a:p>
        </p:txBody>
      </p:sp>
    </p:spTree>
    <p:extLst>
      <p:ext uri="{BB962C8B-B14F-4D97-AF65-F5344CB8AC3E}">
        <p14:creationId xmlns:p14="http://schemas.microsoft.com/office/powerpoint/2010/main" val="34991390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F29F0B-F0DA-6100-1528-24B2A6A3CC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7FB943-A7BA-F261-08B9-50B45A8147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5474F1-B8E4-BDA1-3630-025AE48506E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BF5FD6-EF7C-F942-351E-B2EDA9938D3B}"/>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5848190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94CE6F-2980-2D81-B7E0-2DA81F2CD7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C4C0A6-7181-11AC-376B-BD13B9AE65A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C8F503-AE1E-C203-66D2-233A7F288464}"/>
              </a:ext>
            </a:extLst>
          </p:cNvPr>
          <p:cNvSpPr>
            <a:spLocks noGrp="1"/>
          </p:cNvSpPr>
          <p:nvPr>
            <p:ph type="body" idx="1"/>
          </p:nvPr>
        </p:nvSpPr>
        <p:spPr/>
        <p:txBody>
          <a:bodyPr/>
          <a:lstStyle/>
          <a:p>
            <a:endParaRPr lang="en-US" sz="1200" dirty="0"/>
          </a:p>
        </p:txBody>
      </p:sp>
    </p:spTree>
    <p:extLst>
      <p:ext uri="{BB962C8B-B14F-4D97-AF65-F5344CB8AC3E}">
        <p14:creationId xmlns:p14="http://schemas.microsoft.com/office/powerpoint/2010/main" val="10348836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29708D-6939-58CB-A4DD-34947A55D5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7745B6-85BD-8C0C-D038-7BCA84F4C0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82A69B-7052-B5A1-8F0D-DCB639DA86F3}"/>
              </a:ext>
            </a:extLst>
          </p:cNvPr>
          <p:cNvSpPr>
            <a:spLocks noGrp="1"/>
          </p:cNvSpPr>
          <p:nvPr>
            <p:ph type="body" idx="1"/>
          </p:nvPr>
        </p:nvSpPr>
        <p:spPr/>
        <p:txBody>
          <a:bodyPr/>
          <a:lstStyle/>
          <a:p>
            <a:endParaRPr lang="en-US" sz="1200" dirty="0"/>
          </a:p>
        </p:txBody>
      </p:sp>
    </p:spTree>
    <p:extLst>
      <p:ext uri="{BB962C8B-B14F-4D97-AF65-F5344CB8AC3E}">
        <p14:creationId xmlns:p14="http://schemas.microsoft.com/office/powerpoint/2010/main" val="36371822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What is WER?</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1E8E67-92A0-EEC2-0351-481B65E625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30901C-148A-AF3E-7FA2-37129B2915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AE825B-829A-217A-7529-5619AB4B29C3}"/>
              </a:ext>
            </a:extLst>
          </p:cNvPr>
          <p:cNvSpPr>
            <a:spLocks noGrp="1"/>
          </p:cNvSpPr>
          <p:nvPr>
            <p:ph type="body" idx="1"/>
          </p:nvPr>
        </p:nvSpPr>
        <p:spPr/>
        <p:txBody>
          <a:bodyPr/>
          <a:lstStyle/>
          <a:p>
            <a:r>
              <a:rPr lang="en-US" dirty="0"/>
              <a:t>The 95th percentile (P95) latency for each stage was computed independently using sorted latency samples. The overall end-to-end P95 latency is not equal to the sum of individual stage P95 values, because each stage’s P95 may originate from different requests. Therefore, percentiles are non-additive, and the total P95 reflects the 95th percentile of complete request durations rather than a combination of per-stage worst cases.</a:t>
            </a:r>
          </a:p>
          <a:p>
            <a:endParaRPr lang="en-US" sz="1200" dirty="0"/>
          </a:p>
          <a:p>
            <a:r>
              <a:rPr lang="en-US" dirty="0"/>
              <a:t>Because:</a:t>
            </a:r>
          </a:p>
          <a:p>
            <a:r>
              <a:rPr lang="en-US" dirty="0"/>
              <a:t>The request with </a:t>
            </a:r>
            <a:r>
              <a:rPr lang="en-US" b="1" dirty="0"/>
              <a:t>worst API</a:t>
            </a:r>
            <a:r>
              <a:rPr lang="en-US" dirty="0"/>
              <a:t> did NOT have worst STT + worst TTS at the same time </a:t>
            </a:r>
          </a:p>
          <a:p>
            <a:r>
              <a:rPr lang="en-US" dirty="0"/>
              <a:t>So the combined worst-case is </a:t>
            </a:r>
            <a:r>
              <a:rPr lang="en-US" b="1" dirty="0"/>
              <a:t>less than sum of individual worsts</a:t>
            </a:r>
            <a:endParaRPr lang="en-US" dirty="0"/>
          </a:p>
          <a:p>
            <a:endParaRPr lang="en-US" sz="1200" dirty="0"/>
          </a:p>
        </p:txBody>
      </p:sp>
    </p:spTree>
    <p:extLst>
      <p:ext uri="{BB962C8B-B14F-4D97-AF65-F5344CB8AC3E}">
        <p14:creationId xmlns:p14="http://schemas.microsoft.com/office/powerpoint/2010/main" val="33733149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total hardware investment is amortized over a three-year period to estimate annual cost. Dividing the total deployment cost (USD 3,220–8,800) by three results in an annual cost of approximately USD 1,073–2,933 for the entire hotel. Then divide by 50. Then it becomes </a:t>
            </a:r>
            <a:r>
              <a:rPr lang="en-US" sz="1200" b="1" dirty="0">
                <a:solidFill>
                  <a:srgbClr val="1B2A4A"/>
                </a:solidFill>
                <a:latin typeface="Calibri"/>
              </a:rPr>
              <a:t>$21–$59 per room , per year</a:t>
            </a:r>
            <a:endParaRPr lang="en-US" sz="1200"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i="1" dirty="0">
                <a:solidFill>
                  <a:schemeClr val="bg1"/>
                </a:solidFill>
              </a:rPr>
              <a:t>Overall, the research demonstrates that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D5F87A-0DE7-1D4D-E600-FDAF87E2F2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C2BD98-B755-6C7F-896A-081FB8C848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82781A-732D-0277-3BB7-6A71B0545B53}"/>
              </a:ext>
            </a:extLst>
          </p:cNvPr>
          <p:cNvSpPr>
            <a:spLocks noGrp="1"/>
          </p:cNvSpPr>
          <p:nvPr>
            <p:ph type="body" idx="1"/>
          </p:nvPr>
        </p:nvSpPr>
        <p:spPr/>
        <p:txBody>
          <a:bodyPr/>
          <a:lstStyle/>
          <a:p>
            <a:endParaRPr lang="en-US" sz="1200" dirty="0"/>
          </a:p>
        </p:txBody>
      </p:sp>
    </p:spTree>
    <p:extLst>
      <p:ext uri="{BB962C8B-B14F-4D97-AF65-F5344CB8AC3E}">
        <p14:creationId xmlns:p14="http://schemas.microsoft.com/office/powerpoint/2010/main" val="22364877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9D89EC-87BF-885A-1040-86F525DEA3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21E8C9-9C27-3463-1AC6-0C9B7C8CEF2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71CBEB-4DA8-5EE8-E3B3-1F918AB52141}"/>
              </a:ext>
            </a:extLst>
          </p:cNvPr>
          <p:cNvSpPr>
            <a:spLocks noGrp="1"/>
          </p:cNvSpPr>
          <p:nvPr>
            <p:ph type="body" idx="1"/>
          </p:nvPr>
        </p:nvSpPr>
        <p:spPr/>
        <p:txBody>
          <a:bodyPr/>
          <a:lstStyle/>
          <a:p>
            <a:pPr algn="just"/>
            <a:r>
              <a:rPr lang="en-US" sz="2000" dirty="0"/>
              <a:t>The system provides a practical alternative to traditional hotel communication methods </a:t>
            </a:r>
          </a:p>
          <a:p>
            <a:pPr lvl="1" algn="just"/>
            <a:r>
              <a:rPr lang="en-US" sz="2000" dirty="0"/>
              <a:t>Phone calls </a:t>
            </a:r>
          </a:p>
          <a:p>
            <a:pPr lvl="1" algn="just"/>
            <a:r>
              <a:rPr lang="en-US" sz="2000" dirty="0"/>
              <a:t>Manual logbooks</a:t>
            </a:r>
          </a:p>
          <a:p>
            <a:pPr algn="just"/>
            <a:r>
              <a:rPr lang="en-US" sz="2000" dirty="0"/>
              <a:t>Hotels can deploy the solution using low-cost Android tablets and local network infrastructure without paying recurring cloud or subscription fees.</a:t>
            </a:r>
          </a:p>
          <a:p>
            <a:r>
              <a:rPr lang="en-US" sz="2000" dirty="0"/>
              <a:t>Compared to commercial cloud-based platforms, the solution offers:</a:t>
            </a:r>
          </a:p>
          <a:p>
            <a:pPr lvl="1"/>
            <a:r>
              <a:rPr lang="en-US" sz="2000" dirty="0"/>
              <a:t>Zero recurring software costs </a:t>
            </a:r>
          </a:p>
          <a:p>
            <a:pPr lvl="1"/>
            <a:r>
              <a:rPr lang="en-US" sz="2000" dirty="0"/>
              <a:t>No internet dependency </a:t>
            </a:r>
          </a:p>
          <a:p>
            <a:pPr lvl="1"/>
            <a:r>
              <a:rPr lang="en-US" sz="2000" dirty="0"/>
              <a:t>No vendor lock-in </a:t>
            </a:r>
          </a:p>
          <a:p>
            <a:pPr lvl="1"/>
            <a:r>
              <a:rPr lang="en-US" sz="2000" dirty="0"/>
              <a:t>Improved guest privacy because voice data never leaves the device</a:t>
            </a:r>
          </a:p>
          <a:p>
            <a:pPr lvl="1"/>
            <a:endParaRPr lang="en-US" sz="2000" dirty="0"/>
          </a:p>
          <a:p>
            <a:pPr algn="just"/>
            <a:r>
              <a:rPr lang="en-US" sz="2000" dirty="0"/>
              <a:t>The estimated deployment cost for a 50-room hotel is approximately USD 3,200 -8,800 over three years, making it affordable for hotels in Sri Lanka and similar developing economies.</a:t>
            </a:r>
          </a:p>
          <a:p>
            <a:r>
              <a:rPr lang="en-US" sz="2000" dirty="0"/>
              <a:t>The findings also provide recommendations for future deployment, including:</a:t>
            </a:r>
          </a:p>
          <a:p>
            <a:pPr lvl="1"/>
            <a:r>
              <a:rPr lang="en-US" sz="2000" dirty="0"/>
              <a:t>Collecting real guest speech data</a:t>
            </a:r>
          </a:p>
          <a:p>
            <a:pPr lvl="1"/>
            <a:r>
              <a:rPr lang="en-US" sz="2000" dirty="0"/>
              <a:t>Implementing proper </a:t>
            </a:r>
            <a:r>
              <a:rPr lang="en-US" sz="2000" dirty="0" err="1"/>
              <a:t>WordPiece</a:t>
            </a:r>
            <a:r>
              <a:rPr lang="en-US" sz="2000" dirty="0"/>
              <a:t> tokenization on Android</a:t>
            </a:r>
          </a:p>
          <a:p>
            <a:pPr lvl="1"/>
            <a:r>
              <a:rPr lang="en-US" sz="2000" dirty="0"/>
              <a:t>Adding multilingual support</a:t>
            </a:r>
          </a:p>
          <a:p>
            <a:pPr lvl="1"/>
            <a:r>
              <a:rPr lang="en-US" sz="2000" dirty="0"/>
              <a:t>Conducting real hotel field studies</a:t>
            </a:r>
          </a:p>
          <a:p>
            <a:endParaRPr lang="en-US" sz="1200" dirty="0"/>
          </a:p>
        </p:txBody>
      </p:sp>
    </p:spTree>
    <p:extLst>
      <p:ext uri="{BB962C8B-B14F-4D97-AF65-F5344CB8AC3E}">
        <p14:creationId xmlns:p14="http://schemas.microsoft.com/office/powerpoint/2010/main" val="297173618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F7A8A5-7BB0-1860-77C3-EDB03DAAAF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5E29EC-3292-7760-2784-2B8A7543C7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679DDA-18E0-00D9-F35E-26102278C5A9}"/>
              </a:ext>
            </a:extLst>
          </p:cNvPr>
          <p:cNvSpPr>
            <a:spLocks noGrp="1"/>
          </p:cNvSpPr>
          <p:nvPr>
            <p:ph type="body" idx="1"/>
          </p:nvPr>
        </p:nvSpPr>
        <p:spPr/>
        <p:txBody>
          <a:bodyPr/>
          <a:lstStyle/>
          <a:p>
            <a:endParaRPr lang="en-US" sz="1200" dirty="0"/>
          </a:p>
        </p:txBody>
      </p:sp>
    </p:spTree>
    <p:extLst>
      <p:ext uri="{BB962C8B-B14F-4D97-AF65-F5344CB8AC3E}">
        <p14:creationId xmlns:p14="http://schemas.microsoft.com/office/powerpoint/2010/main" val="18210590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9FB6CB-9431-6BE8-4BA2-8CA9A40A02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C3BE8A-DD0B-57A7-DE12-798A01E95A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B06EF5-0DD9-E777-DA4D-DB52552107DA}"/>
              </a:ext>
            </a:extLst>
          </p:cNvPr>
          <p:cNvSpPr>
            <a:spLocks noGrp="1"/>
          </p:cNvSpPr>
          <p:nvPr>
            <p:ph type="body" idx="1"/>
          </p:nvPr>
        </p:nvSpPr>
        <p:spPr/>
        <p:txBody>
          <a:bodyPr/>
          <a:lstStyle/>
          <a:p>
            <a:endParaRPr lang="en-US" sz="1200" dirty="0"/>
          </a:p>
        </p:txBody>
      </p:sp>
    </p:spTree>
    <p:extLst>
      <p:ext uri="{BB962C8B-B14F-4D97-AF65-F5344CB8AC3E}">
        <p14:creationId xmlns:p14="http://schemas.microsoft.com/office/powerpoint/2010/main" val="6173435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0CCCCD-36AC-86FD-40AB-BDD4AE15DF1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4AA5FDC-E9B7-5DC9-5DCA-F0D63E4916D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EDC6104-2BEC-DDB4-E9B3-EFC96B3DE705}"/>
              </a:ext>
            </a:extLst>
          </p:cNvPr>
          <p:cNvSpPr>
            <a:spLocks noGrp="1"/>
          </p:cNvSpPr>
          <p:nvPr>
            <p:ph type="dt" sz="half" idx="10"/>
          </p:nvPr>
        </p:nvSpPr>
        <p:spPr/>
        <p:txBody>
          <a:bodyPr/>
          <a:lstStyle/>
          <a:p>
            <a:fld id="{DE353F3F-4660-4700-9F5B-A506E0C71572}" type="datetime1">
              <a:rPr lang="en-US" smtClean="0"/>
              <a:t>5/16/2026</a:t>
            </a:fld>
            <a:endParaRPr lang="en-US"/>
          </a:p>
        </p:txBody>
      </p:sp>
      <p:sp>
        <p:nvSpPr>
          <p:cNvPr id="5" name="Footer Placeholder 4">
            <a:extLst>
              <a:ext uri="{FF2B5EF4-FFF2-40B4-BE49-F238E27FC236}">
                <a16:creationId xmlns:a16="http://schemas.microsoft.com/office/drawing/2014/main" id="{A5227CE3-DE6C-9EC0-BB3B-1FF073CE5F2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33EEBD9-8CC6-B38B-ACF5-CC6E98A1B767}"/>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13722406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64249D-BA72-9EB9-AE49-BD005CBDDDD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B243FCD-2A8F-A54A-FE94-AC1E7E31ABD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84238B0-D101-E095-A47B-1DB9B58CC141}"/>
              </a:ext>
            </a:extLst>
          </p:cNvPr>
          <p:cNvSpPr>
            <a:spLocks noGrp="1"/>
          </p:cNvSpPr>
          <p:nvPr>
            <p:ph type="dt" sz="half" idx="10"/>
          </p:nvPr>
        </p:nvSpPr>
        <p:spPr/>
        <p:txBody>
          <a:bodyPr/>
          <a:lstStyle/>
          <a:p>
            <a:fld id="{9BAECDF4-DBAE-4F1B-9F2F-0437977C0D6A}" type="datetime1">
              <a:rPr lang="en-US" smtClean="0"/>
              <a:t>5/16/2026</a:t>
            </a:fld>
            <a:endParaRPr lang="en-US"/>
          </a:p>
        </p:txBody>
      </p:sp>
      <p:sp>
        <p:nvSpPr>
          <p:cNvPr id="5" name="Footer Placeholder 4">
            <a:extLst>
              <a:ext uri="{FF2B5EF4-FFF2-40B4-BE49-F238E27FC236}">
                <a16:creationId xmlns:a16="http://schemas.microsoft.com/office/drawing/2014/main" id="{E3CBCE0B-8986-7A1E-5E22-8D828A11B6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308801B-1789-42FB-CA25-7FF6136D4711}"/>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33609677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55EB4-D773-D046-9C75-86014CDFE44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27F963C-3A03-684F-2EBC-4FDC312471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4FF09EA-DA0E-2D4E-67C8-035CECA76E08}"/>
              </a:ext>
            </a:extLst>
          </p:cNvPr>
          <p:cNvSpPr>
            <a:spLocks noGrp="1"/>
          </p:cNvSpPr>
          <p:nvPr>
            <p:ph type="dt" sz="half" idx="10"/>
          </p:nvPr>
        </p:nvSpPr>
        <p:spPr/>
        <p:txBody>
          <a:bodyPr/>
          <a:lstStyle/>
          <a:p>
            <a:fld id="{806DC765-BF7F-44EA-BB87-AE4B47EE0CFB}" type="datetime1">
              <a:rPr lang="en-US" smtClean="0"/>
              <a:t>5/16/2026</a:t>
            </a:fld>
            <a:endParaRPr lang="en-US"/>
          </a:p>
        </p:txBody>
      </p:sp>
      <p:sp>
        <p:nvSpPr>
          <p:cNvPr id="5" name="Footer Placeholder 4">
            <a:extLst>
              <a:ext uri="{FF2B5EF4-FFF2-40B4-BE49-F238E27FC236}">
                <a16:creationId xmlns:a16="http://schemas.microsoft.com/office/drawing/2014/main" id="{0BC22C14-7BAF-239F-9B86-A989C727F90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0526B08-6C9F-376C-B724-0FAF4F88AFC8}"/>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17507169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E25BEA-5AAE-9009-F203-A1F5CD79EEF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16EB357-FDBC-8D80-1F83-595A263879C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6A46655-2BB6-0B70-21C2-ABF2F68B9AB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3FFBC3A-D513-EAEA-C24A-353BA3EF7E28}"/>
              </a:ext>
            </a:extLst>
          </p:cNvPr>
          <p:cNvSpPr>
            <a:spLocks noGrp="1"/>
          </p:cNvSpPr>
          <p:nvPr>
            <p:ph type="dt" sz="half" idx="10"/>
          </p:nvPr>
        </p:nvSpPr>
        <p:spPr/>
        <p:txBody>
          <a:bodyPr/>
          <a:lstStyle/>
          <a:p>
            <a:fld id="{1D5644CB-F700-4586-8D93-64F8C3A9A84D}" type="datetime1">
              <a:rPr lang="en-US" smtClean="0"/>
              <a:t>5/16/2026</a:t>
            </a:fld>
            <a:endParaRPr lang="en-US"/>
          </a:p>
        </p:txBody>
      </p:sp>
      <p:sp>
        <p:nvSpPr>
          <p:cNvPr id="6" name="Footer Placeholder 5">
            <a:extLst>
              <a:ext uri="{FF2B5EF4-FFF2-40B4-BE49-F238E27FC236}">
                <a16:creationId xmlns:a16="http://schemas.microsoft.com/office/drawing/2014/main" id="{0EA9CCF3-D61C-814A-36ED-CAE857EB7E8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F14A04A-312C-1A81-25B7-79EC896C4969}"/>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35408003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79AE52-BC42-E346-F0A9-EBE76BA7490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17D125B-553F-F78F-0B3C-9C45C8CE542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0D280AD-ACCF-A949-18A3-260FFFD2453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F20D5B3-649B-D5EB-400F-DE9208CF51C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ABE17AD-E455-1A19-5BC1-9C85F6DF7B2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F2320EC-C138-01F6-011D-769F7DB76147}"/>
              </a:ext>
            </a:extLst>
          </p:cNvPr>
          <p:cNvSpPr>
            <a:spLocks noGrp="1"/>
          </p:cNvSpPr>
          <p:nvPr>
            <p:ph type="dt" sz="half" idx="10"/>
          </p:nvPr>
        </p:nvSpPr>
        <p:spPr/>
        <p:txBody>
          <a:bodyPr/>
          <a:lstStyle/>
          <a:p>
            <a:fld id="{919B2F92-DE44-41D1-8237-53690E1FE645}" type="datetime1">
              <a:rPr lang="en-US" smtClean="0"/>
              <a:t>5/16/2026</a:t>
            </a:fld>
            <a:endParaRPr lang="en-US"/>
          </a:p>
        </p:txBody>
      </p:sp>
      <p:sp>
        <p:nvSpPr>
          <p:cNvPr id="8" name="Footer Placeholder 7">
            <a:extLst>
              <a:ext uri="{FF2B5EF4-FFF2-40B4-BE49-F238E27FC236}">
                <a16:creationId xmlns:a16="http://schemas.microsoft.com/office/drawing/2014/main" id="{3A4B207A-747F-2A33-963F-34105851581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9CBF614-492B-DE7A-682F-1EEEE90F0992}"/>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28627481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31C4C9-9A6C-9B44-2C38-0FCE71BD56D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870A036-B35F-BEEE-541C-1A85E3127EC6}"/>
              </a:ext>
            </a:extLst>
          </p:cNvPr>
          <p:cNvSpPr>
            <a:spLocks noGrp="1"/>
          </p:cNvSpPr>
          <p:nvPr>
            <p:ph type="dt" sz="half" idx="10"/>
          </p:nvPr>
        </p:nvSpPr>
        <p:spPr/>
        <p:txBody>
          <a:bodyPr/>
          <a:lstStyle/>
          <a:p>
            <a:fld id="{5841B072-B9D0-42AE-97C8-CB2FA2B6C3D7}" type="datetime1">
              <a:rPr lang="en-US" smtClean="0"/>
              <a:t>5/16/2026</a:t>
            </a:fld>
            <a:endParaRPr lang="en-US"/>
          </a:p>
        </p:txBody>
      </p:sp>
      <p:sp>
        <p:nvSpPr>
          <p:cNvPr id="4" name="Footer Placeholder 3">
            <a:extLst>
              <a:ext uri="{FF2B5EF4-FFF2-40B4-BE49-F238E27FC236}">
                <a16:creationId xmlns:a16="http://schemas.microsoft.com/office/drawing/2014/main" id="{973FCC73-B5C1-44E4-9B19-A834BE5E354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91B10AC-E7D2-6255-089C-1D67DD6542BB}"/>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19504556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0566C9C-EEC6-4451-FF3C-F89330AB6D7F}"/>
              </a:ext>
            </a:extLst>
          </p:cNvPr>
          <p:cNvSpPr>
            <a:spLocks noGrp="1"/>
          </p:cNvSpPr>
          <p:nvPr>
            <p:ph type="dt" sz="half" idx="10"/>
          </p:nvPr>
        </p:nvSpPr>
        <p:spPr/>
        <p:txBody>
          <a:bodyPr/>
          <a:lstStyle/>
          <a:p>
            <a:fld id="{7244EA85-D809-434B-81E9-BDCE20D58EE7}" type="datetime1">
              <a:rPr lang="en-US" smtClean="0"/>
              <a:t>5/16/2026</a:t>
            </a:fld>
            <a:endParaRPr lang="en-US"/>
          </a:p>
        </p:txBody>
      </p:sp>
      <p:sp>
        <p:nvSpPr>
          <p:cNvPr id="3" name="Footer Placeholder 2">
            <a:extLst>
              <a:ext uri="{FF2B5EF4-FFF2-40B4-BE49-F238E27FC236}">
                <a16:creationId xmlns:a16="http://schemas.microsoft.com/office/drawing/2014/main" id="{DECF0E36-D9C1-56CD-8140-5E106675880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BA3D1B4-54C6-C7B7-70E5-6B5761068DD6}"/>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42229035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326FF0-37BF-896D-E327-9842A701F0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7E445E1-A853-4A91-FAC2-4C03B606CF3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FFEE65C-1E99-A5FC-92CE-9810E3AFF8E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F4EFF4D-7E66-7316-E3E9-CA729B8309F9}"/>
              </a:ext>
            </a:extLst>
          </p:cNvPr>
          <p:cNvSpPr>
            <a:spLocks noGrp="1"/>
          </p:cNvSpPr>
          <p:nvPr>
            <p:ph type="dt" sz="half" idx="10"/>
          </p:nvPr>
        </p:nvSpPr>
        <p:spPr/>
        <p:txBody>
          <a:bodyPr/>
          <a:lstStyle/>
          <a:p>
            <a:fld id="{67204E8A-CED7-4200-8189-F6205532AB5A}" type="datetime1">
              <a:rPr lang="en-US" smtClean="0"/>
              <a:t>5/16/2026</a:t>
            </a:fld>
            <a:endParaRPr lang="en-US"/>
          </a:p>
        </p:txBody>
      </p:sp>
      <p:sp>
        <p:nvSpPr>
          <p:cNvPr id="6" name="Footer Placeholder 5">
            <a:extLst>
              <a:ext uri="{FF2B5EF4-FFF2-40B4-BE49-F238E27FC236}">
                <a16:creationId xmlns:a16="http://schemas.microsoft.com/office/drawing/2014/main" id="{6EC10280-2020-C728-AD58-8490B5A479E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68E3B08-C646-36E6-3C1E-CE5AAAF1BCCE}"/>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30558232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3B8EAE-0149-7E60-6D9A-5C938EDDD08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78A205F-7D9D-E5AA-8688-AC5508DD225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61DA380-A23C-FB6E-F99C-1B211D00926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544D3D7-5B7D-F216-A6C2-30A6D8FF0613}"/>
              </a:ext>
            </a:extLst>
          </p:cNvPr>
          <p:cNvSpPr>
            <a:spLocks noGrp="1"/>
          </p:cNvSpPr>
          <p:nvPr>
            <p:ph type="dt" sz="half" idx="10"/>
          </p:nvPr>
        </p:nvSpPr>
        <p:spPr/>
        <p:txBody>
          <a:bodyPr/>
          <a:lstStyle/>
          <a:p>
            <a:fld id="{167E2F06-0CB0-4B78-969A-26083473BDFF}" type="datetime1">
              <a:rPr lang="en-US" smtClean="0"/>
              <a:t>5/16/2026</a:t>
            </a:fld>
            <a:endParaRPr lang="en-US"/>
          </a:p>
        </p:txBody>
      </p:sp>
      <p:sp>
        <p:nvSpPr>
          <p:cNvPr id="6" name="Footer Placeholder 5">
            <a:extLst>
              <a:ext uri="{FF2B5EF4-FFF2-40B4-BE49-F238E27FC236}">
                <a16:creationId xmlns:a16="http://schemas.microsoft.com/office/drawing/2014/main" id="{A91A029B-275D-6ACC-4201-DD937AD1693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C9E15DE-6494-8A97-7F2F-F7B727AACD08}"/>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23118487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B2A73D-43D1-9B6C-B535-E12F5784DE5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6C7547C-F875-2A06-222E-643C6CE699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28C331C-B8EB-5760-6178-9ED936DADBB3}"/>
              </a:ext>
            </a:extLst>
          </p:cNvPr>
          <p:cNvSpPr>
            <a:spLocks noGrp="1"/>
          </p:cNvSpPr>
          <p:nvPr>
            <p:ph type="dt" sz="half" idx="10"/>
          </p:nvPr>
        </p:nvSpPr>
        <p:spPr/>
        <p:txBody>
          <a:bodyPr/>
          <a:lstStyle/>
          <a:p>
            <a:fld id="{66428D9F-DB8F-481A-9398-4E577FB5AB55}" type="datetime1">
              <a:rPr lang="en-US" smtClean="0"/>
              <a:t>5/16/2026</a:t>
            </a:fld>
            <a:endParaRPr lang="en-US"/>
          </a:p>
        </p:txBody>
      </p:sp>
      <p:sp>
        <p:nvSpPr>
          <p:cNvPr id="5" name="Footer Placeholder 4">
            <a:extLst>
              <a:ext uri="{FF2B5EF4-FFF2-40B4-BE49-F238E27FC236}">
                <a16:creationId xmlns:a16="http://schemas.microsoft.com/office/drawing/2014/main" id="{977A1655-DBE2-A7B0-7926-2438669B79C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403C7BB-D61F-51AF-CCBC-1ADE14925BC6}"/>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26685345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7480166-E883-8CC3-7892-D89A320B51F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70750B6A-2D6B-BA1B-0343-3AAF06EAD59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9149A21-4E95-A64C-708F-09DE5BC758B8}"/>
              </a:ext>
            </a:extLst>
          </p:cNvPr>
          <p:cNvSpPr>
            <a:spLocks noGrp="1"/>
          </p:cNvSpPr>
          <p:nvPr>
            <p:ph type="dt" sz="half" idx="10"/>
          </p:nvPr>
        </p:nvSpPr>
        <p:spPr/>
        <p:txBody>
          <a:bodyPr/>
          <a:lstStyle/>
          <a:p>
            <a:fld id="{20B99F97-AF0B-49AF-B987-CCCFD847E1B3}" type="datetime1">
              <a:rPr lang="en-US" smtClean="0"/>
              <a:t>5/16/2026</a:t>
            </a:fld>
            <a:endParaRPr lang="en-US"/>
          </a:p>
        </p:txBody>
      </p:sp>
      <p:sp>
        <p:nvSpPr>
          <p:cNvPr id="5" name="Footer Placeholder 4">
            <a:extLst>
              <a:ext uri="{FF2B5EF4-FFF2-40B4-BE49-F238E27FC236}">
                <a16:creationId xmlns:a16="http://schemas.microsoft.com/office/drawing/2014/main" id="{71543B32-E4C3-F6A9-4F68-476A7AFBEB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596DC43-D722-00D2-C6CF-F140F557DAA3}"/>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38655292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348223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7F5F0"/>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01D8806-D441-66B9-36EF-AFD845D14C6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245C595-9D6C-5411-3EF7-D2026B53815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850F47B-8967-8BA0-EC06-E21766EA687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9C6C94B-3B24-40A5-A029-F594780BE176}" type="datetime1">
              <a:rPr lang="en-US" smtClean="0"/>
              <a:t>5/16/2026</a:t>
            </a:fld>
            <a:endParaRPr lang="en-US"/>
          </a:p>
        </p:txBody>
      </p:sp>
      <p:sp>
        <p:nvSpPr>
          <p:cNvPr id="5" name="Footer Placeholder 4">
            <a:extLst>
              <a:ext uri="{FF2B5EF4-FFF2-40B4-BE49-F238E27FC236}">
                <a16:creationId xmlns:a16="http://schemas.microsoft.com/office/drawing/2014/main" id="{CC6F82AE-8B71-EC78-8311-D8276554CB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832C5BF-A3EB-819E-1697-9C52954006D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890CE2D-2882-48A4-88CB-3A003AF6C150}" type="slidenum">
              <a:rPr lang="en-US" smtClean="0"/>
              <a:t>‹#›</a:t>
            </a:fld>
            <a:endParaRPr lang="en-US"/>
          </a:p>
        </p:txBody>
      </p:sp>
      <p:sp>
        <p:nvSpPr>
          <p:cNvPr id="900" name="AccentBar"/>
          <p:cNvSpPr/>
          <p:nvPr userDrawn="1"/>
        </p:nvSpPr>
        <p:spPr>
          <a:xfrm>
            <a:off x="0" y="6583050"/>
            <a:ext cx="12192000" cy="274320"/>
          </a:xfrm>
          <a:prstGeom prst="rect">
            <a:avLst/>
          </a:prstGeom>
          <a:solidFill>
            <a:srgbClr val="2C5F7C"/>
          </a:solidFill>
          <a:ln>
            <a:noFill/>
          </a:ln>
        </p:spPr>
        <p:txBody>
          <a:bodyPr/>
          <a:lstStyle/>
          <a:p>
            <a:endParaRPr lang="en-US"/>
          </a:p>
        </p:txBody>
      </p:sp>
      <p:sp>
        <p:nvSpPr>
          <p:cNvPr id="901" name="Hairline"/>
          <p:cNvSpPr/>
          <p:nvPr userDrawn="1"/>
        </p:nvSpPr>
        <p:spPr>
          <a:xfrm>
            <a:off x="0" y="6548438"/>
            <a:ext cx="12192000" cy="34612"/>
          </a:xfrm>
          <a:prstGeom prst="rect">
            <a:avLst/>
          </a:prstGeom>
          <a:solidFill>
            <a:srgbClr val="C4956A"/>
          </a:solidFill>
          <a:ln>
            <a:noFill/>
          </a:ln>
        </p:spPr>
        <p:txBody>
          <a:bodyPr/>
          <a:lstStyle/>
          <a:p>
            <a:endParaRPr lang="en-US"/>
          </a:p>
        </p:txBody>
      </p:sp>
    </p:spTree>
    <p:extLst>
      <p:ext uri="{BB962C8B-B14F-4D97-AF65-F5344CB8AC3E}">
        <p14:creationId xmlns:p14="http://schemas.microsoft.com/office/powerpoint/2010/main" val="255438347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hdr="0" ftr="0" dt="0"/>
  <p:txStyles>
    <p:titleStyle>
      <a:lvl1pPr algn="l" defTabSz="914400" rtl="0" eaLnBrk="1" latinLnBrk="0" hangingPunct="1">
        <a:lnSpc>
          <a:spcPct val="90000"/>
        </a:lnSpc>
        <a:spcBef>
          <a:spcPct val="0"/>
        </a:spcBef>
        <a:buNone/>
        <a:defRPr sz="4400" kern="1200">
          <a:solidFill>
            <a:srgbClr val="1B2A4A"/>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1B2A4A"/>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1B2A4A"/>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1B2A4A"/>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1B2A4A"/>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1B2A4A"/>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rgbClr val="1B2A4A"/>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rgbClr val="1B2A4A"/>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rgbClr val="1B2A4A"/>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rgbClr val="1B2A4A"/>
          </a:solidFill>
          <a:latin typeface="+mn-lt"/>
          <a:ea typeface="+mn-ea"/>
          <a:cs typeface="+mn-cs"/>
        </a:defRPr>
      </a:lvl9pPr>
    </p:bodyStyle>
    <p:otherStyle>
      <a:defPPr>
        <a:defRPr lang="en-US">
          <a:solidFill>
            <a:srgbClr val="1B2A4A"/>
          </a:solidFill>
        </a:defRPr>
      </a:defPPr>
      <a:lvl1pPr marL="0" algn="l" defTabSz="914400" rtl="0" eaLnBrk="1" latinLnBrk="0" hangingPunct="1">
        <a:defRPr sz="1800" kern="1200">
          <a:solidFill>
            <a:srgbClr val="1B2A4A"/>
          </a:solidFill>
          <a:latin typeface="+mn-lt"/>
          <a:ea typeface="+mn-ea"/>
          <a:cs typeface="+mn-cs"/>
        </a:defRPr>
      </a:lvl1pPr>
      <a:lvl2pPr marL="457200" algn="l" defTabSz="914400" rtl="0" eaLnBrk="1" latinLnBrk="0" hangingPunct="1">
        <a:defRPr sz="1800" kern="1200">
          <a:solidFill>
            <a:srgbClr val="1B2A4A"/>
          </a:solidFill>
          <a:latin typeface="+mn-lt"/>
          <a:ea typeface="+mn-ea"/>
          <a:cs typeface="+mn-cs"/>
        </a:defRPr>
      </a:lvl2pPr>
      <a:lvl3pPr marL="914400" algn="l" defTabSz="914400" rtl="0" eaLnBrk="1" latinLnBrk="0" hangingPunct="1">
        <a:defRPr sz="1800" kern="1200">
          <a:solidFill>
            <a:srgbClr val="1B2A4A"/>
          </a:solidFill>
          <a:latin typeface="+mn-lt"/>
          <a:ea typeface="+mn-ea"/>
          <a:cs typeface="+mn-cs"/>
        </a:defRPr>
      </a:lvl3pPr>
      <a:lvl4pPr marL="1371600" algn="l" defTabSz="914400" rtl="0" eaLnBrk="1" latinLnBrk="0" hangingPunct="1">
        <a:defRPr sz="1800" kern="1200">
          <a:solidFill>
            <a:srgbClr val="1B2A4A"/>
          </a:solidFill>
          <a:latin typeface="+mn-lt"/>
          <a:ea typeface="+mn-ea"/>
          <a:cs typeface="+mn-cs"/>
        </a:defRPr>
      </a:lvl4pPr>
      <a:lvl5pPr marL="1828800" algn="l" defTabSz="914400" rtl="0" eaLnBrk="1" latinLnBrk="0" hangingPunct="1">
        <a:defRPr sz="1800" kern="1200">
          <a:solidFill>
            <a:srgbClr val="1B2A4A"/>
          </a:solidFill>
          <a:latin typeface="+mn-lt"/>
          <a:ea typeface="+mn-ea"/>
          <a:cs typeface="+mn-cs"/>
        </a:defRPr>
      </a:lvl5pPr>
      <a:lvl6pPr marL="2286000" algn="l" defTabSz="914400" rtl="0" eaLnBrk="1" latinLnBrk="0" hangingPunct="1">
        <a:defRPr sz="1800" kern="1200">
          <a:solidFill>
            <a:srgbClr val="1B2A4A"/>
          </a:solidFill>
          <a:latin typeface="+mn-lt"/>
          <a:ea typeface="+mn-ea"/>
          <a:cs typeface="+mn-cs"/>
        </a:defRPr>
      </a:lvl6pPr>
      <a:lvl7pPr marL="2743200" algn="l" defTabSz="914400" rtl="0" eaLnBrk="1" latinLnBrk="0" hangingPunct="1">
        <a:defRPr sz="1800" kern="1200">
          <a:solidFill>
            <a:srgbClr val="1B2A4A"/>
          </a:solidFill>
          <a:latin typeface="+mn-lt"/>
          <a:ea typeface="+mn-ea"/>
          <a:cs typeface="+mn-cs"/>
        </a:defRPr>
      </a:lvl7pPr>
      <a:lvl8pPr marL="3200400" algn="l" defTabSz="914400" rtl="0" eaLnBrk="1" latinLnBrk="0" hangingPunct="1">
        <a:defRPr sz="1800" kern="1200">
          <a:solidFill>
            <a:srgbClr val="1B2A4A"/>
          </a:solidFill>
          <a:latin typeface="+mn-lt"/>
          <a:ea typeface="+mn-ea"/>
          <a:cs typeface="+mn-cs"/>
        </a:defRPr>
      </a:lvl8pPr>
      <a:lvl9pPr marL="3657600" algn="l" defTabSz="914400" rtl="0" eaLnBrk="1" latinLnBrk="0" hangingPunct="1">
        <a:defRPr sz="1800" kern="1200">
          <a:solidFill>
            <a:srgbClr val="1B2A4A"/>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svg"/></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6.xml"/><Relationship Id="rId4" Type="http://schemas.openxmlformats.org/officeDocument/2006/relationships/image" Target="../media/image1.jpeg"/></Relationships>
</file>

<file path=ppt/slides/_rels/slide9.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1.xml"/><Relationship Id="rId1" Type="http://schemas.openxmlformats.org/officeDocument/2006/relationships/slideLayout" Target="../slideLayouts/slideLayout6.xml"/><Relationship Id="rId4" Type="http://schemas.openxmlformats.org/officeDocument/2006/relationships/chart" Target="../charts/chart1.xml"/></Relationships>
</file>

<file path=ppt/slides/_rels/slide1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4B48220E-6924-AEC2-664C-DD0DC3F1966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EBB5D760-34C5-FE12-9CA6-45605C5A0A6F}"/>
              </a:ext>
            </a:extLst>
          </p:cNvPr>
          <p:cNvSpPr>
            <a:spLocks noGrp="1"/>
          </p:cNvSpPr>
          <p:nvPr>
            <p:ph type="ctrTitle"/>
          </p:nvPr>
        </p:nvSpPr>
        <p:spPr>
          <a:xfrm>
            <a:off x="681630" y="1356740"/>
            <a:ext cx="10828740" cy="2776142"/>
          </a:xfrm>
        </p:spPr>
        <p:txBody>
          <a:bodyPr>
            <a:noAutofit/>
          </a:bodyPr>
          <a:lstStyle/>
          <a:p>
            <a:pPr>
              <a:lnSpc>
                <a:spcPct val="150000"/>
              </a:lnSpc>
            </a:pPr>
            <a:r>
              <a:rPr lang="en-US" sz="4000" b="1" spc="50" dirty="0">
                <a:ln w="0"/>
                <a:solidFill>
                  <a:schemeClr val="bg2"/>
                </a:solidFill>
                <a:effectLst>
                  <a:innerShdw blurRad="63500" dist="50800" dir="13500000">
                    <a:srgbClr val="000000">
                      <a:alpha val="50000"/>
                    </a:srgbClr>
                  </a:innerShdw>
                </a:effectLst>
                <a:latin typeface="Amasis MT Pro" panose="02040504050005020304" pitchFamily="18" charset="0"/>
              </a:rPr>
              <a:t>Low-Cost Offline Voice Assistant </a:t>
            </a:r>
            <a:br>
              <a:rPr lang="en-US" sz="4000" b="1" spc="50" dirty="0">
                <a:ln w="0"/>
                <a:solidFill>
                  <a:schemeClr val="bg2"/>
                </a:solidFill>
                <a:effectLst>
                  <a:innerShdw blurRad="63500" dist="50800" dir="13500000">
                    <a:srgbClr val="000000">
                      <a:alpha val="50000"/>
                    </a:srgbClr>
                  </a:innerShdw>
                </a:effectLst>
                <a:latin typeface="Amasis MT Pro" panose="02040504050005020304" pitchFamily="18" charset="0"/>
              </a:rPr>
            </a:br>
            <a:r>
              <a:rPr lang="en-US" sz="4000" b="1" spc="50" dirty="0">
                <a:ln w="0"/>
                <a:solidFill>
                  <a:schemeClr val="bg2"/>
                </a:solidFill>
                <a:effectLst>
                  <a:innerShdw blurRad="63500" dist="50800" dir="13500000">
                    <a:srgbClr val="000000">
                      <a:alpha val="50000"/>
                    </a:srgbClr>
                  </a:innerShdw>
                </a:effectLst>
                <a:latin typeface="Amasis MT Pro" panose="02040504050005020304" pitchFamily="18" charset="0"/>
              </a:rPr>
              <a:t>for Hospitality Services in Sri Lanka </a:t>
            </a:r>
            <a:br>
              <a:rPr lang="en-US" sz="4000" b="1" spc="50" dirty="0">
                <a:ln w="0"/>
                <a:solidFill>
                  <a:schemeClr val="bg2"/>
                </a:solidFill>
                <a:effectLst>
                  <a:innerShdw blurRad="63500" dist="50800" dir="13500000">
                    <a:srgbClr val="000000">
                      <a:alpha val="50000"/>
                    </a:srgbClr>
                  </a:innerShdw>
                </a:effectLst>
                <a:latin typeface="Amasis MT Pro" panose="02040504050005020304" pitchFamily="18" charset="0"/>
              </a:rPr>
            </a:br>
            <a:r>
              <a:rPr lang="en-US" sz="4000" b="1" spc="50" dirty="0">
                <a:ln w="0"/>
                <a:solidFill>
                  <a:schemeClr val="bg2"/>
                </a:solidFill>
                <a:effectLst>
                  <a:innerShdw blurRad="63500" dist="50800" dir="13500000">
                    <a:srgbClr val="000000">
                      <a:alpha val="50000"/>
                    </a:srgbClr>
                  </a:innerShdw>
                </a:effectLst>
                <a:latin typeface="Amasis MT Pro" panose="02040504050005020304" pitchFamily="18" charset="0"/>
              </a:rPr>
              <a:t>Using Small-Scale Neural Models</a:t>
            </a:r>
          </a:p>
        </p:txBody>
      </p:sp>
      <p:sp>
        <p:nvSpPr>
          <p:cNvPr id="3" name="Subtitle 2">
            <a:extLst>
              <a:ext uri="{FF2B5EF4-FFF2-40B4-BE49-F238E27FC236}">
                <a16:creationId xmlns:a16="http://schemas.microsoft.com/office/drawing/2014/main" id="{47293929-044A-2235-0BD7-E5D458B5C051}"/>
              </a:ext>
            </a:extLst>
          </p:cNvPr>
          <p:cNvSpPr>
            <a:spLocks noGrp="1"/>
          </p:cNvSpPr>
          <p:nvPr>
            <p:ph type="subTitle" idx="1"/>
          </p:nvPr>
        </p:nvSpPr>
        <p:spPr>
          <a:xfrm>
            <a:off x="798968" y="5489623"/>
            <a:ext cx="4724400" cy="1141367"/>
          </a:xfrm>
        </p:spPr>
        <p:txBody>
          <a:bodyPr>
            <a:noAutofit/>
          </a:bodyPr>
          <a:lstStyle/>
          <a:p>
            <a:pPr algn="l"/>
            <a:r>
              <a:rPr lang="en-US" sz="1800" dirty="0">
                <a:solidFill>
                  <a:schemeClr val="bg1"/>
                </a:solidFill>
                <a:latin typeface="Amasis MT Pro Medium" panose="02040604050005020304" pitchFamily="18" charset="0"/>
              </a:rPr>
              <a:t>Module: Data Science Project (Research)</a:t>
            </a:r>
          </a:p>
          <a:p>
            <a:pPr algn="l"/>
            <a:r>
              <a:rPr lang="en-US" sz="1800" dirty="0">
                <a:solidFill>
                  <a:schemeClr val="bg1"/>
                </a:solidFill>
                <a:latin typeface="Amasis MT Pro Medium" panose="02040604050005020304" pitchFamily="18" charset="0"/>
              </a:rPr>
              <a:t>Code: NIB7150CEM</a:t>
            </a:r>
          </a:p>
          <a:p>
            <a:pPr algn="l"/>
            <a:r>
              <a:rPr lang="en-US" sz="1800" dirty="0">
                <a:solidFill>
                  <a:schemeClr val="bg1"/>
                </a:solidFill>
                <a:latin typeface="Amasis MT Pro Medium" panose="02040604050005020304" pitchFamily="18" charset="0"/>
              </a:rPr>
              <a:t>Supervisor: Mr. </a:t>
            </a:r>
            <a:r>
              <a:rPr lang="en-US" sz="1800" dirty="0" err="1">
                <a:solidFill>
                  <a:schemeClr val="bg1"/>
                </a:solidFill>
                <a:latin typeface="Amasis MT Pro Medium" panose="02040604050005020304" pitchFamily="18" charset="0"/>
              </a:rPr>
              <a:t>Dumira</a:t>
            </a:r>
            <a:r>
              <a:rPr lang="en-US" sz="1800" dirty="0">
                <a:solidFill>
                  <a:schemeClr val="bg1"/>
                </a:solidFill>
                <a:latin typeface="Amasis MT Pro Medium" panose="02040604050005020304" pitchFamily="18" charset="0"/>
              </a:rPr>
              <a:t> Athukorala</a:t>
            </a:r>
          </a:p>
        </p:txBody>
      </p:sp>
      <p:sp>
        <p:nvSpPr>
          <p:cNvPr id="5" name="Subtitle 2">
            <a:extLst>
              <a:ext uri="{FF2B5EF4-FFF2-40B4-BE49-F238E27FC236}">
                <a16:creationId xmlns:a16="http://schemas.microsoft.com/office/drawing/2014/main" id="{05AB3537-EF06-2071-BB36-3B75E2B7B84D}"/>
              </a:ext>
            </a:extLst>
          </p:cNvPr>
          <p:cNvSpPr txBox="1">
            <a:spLocks/>
          </p:cNvSpPr>
          <p:nvPr/>
        </p:nvSpPr>
        <p:spPr>
          <a:xfrm>
            <a:off x="6755130" y="5489622"/>
            <a:ext cx="5033011" cy="1141367"/>
          </a:xfrm>
          <a:prstGeom prst="rect">
            <a:avLst/>
          </a:prstGeom>
        </p:spPr>
        <p:txBody>
          <a:bodyPr vert="horz" lIns="91440" tIns="45720" rIns="91440" bIns="45720" rtlCol="0">
            <a:noAutofit/>
          </a:bodyPr>
          <a:lstStyle>
            <a:lvl1pPr indent="0">
              <a:lnSpc>
                <a:spcPct val="90000"/>
              </a:lnSpc>
              <a:spcBef>
                <a:spcPts val="1000"/>
              </a:spcBef>
              <a:buFont typeface="Arial" panose="020B0604020202020204" pitchFamily="34" charset="0"/>
              <a:buNone/>
              <a:defRPr>
                <a:solidFill>
                  <a:srgbClr val="1B2A4A"/>
                </a:solidFill>
                <a:latin typeface="Amasis MT Pro Medium" panose="02040604050005020304" pitchFamily="18" charset="0"/>
              </a:defRPr>
            </a:lvl1pPr>
            <a:lvl2pPr indent="0" algn="ctr">
              <a:lnSpc>
                <a:spcPct val="90000"/>
              </a:lnSpc>
              <a:spcBef>
                <a:spcPts val="500"/>
              </a:spcBef>
              <a:buFont typeface="Arial" panose="020B0604020202020204" pitchFamily="34" charset="0"/>
              <a:buNone/>
              <a:defRPr sz="2000">
                <a:solidFill>
                  <a:srgbClr val="1B2A4A"/>
                </a:solidFill>
              </a:defRPr>
            </a:lvl2pPr>
            <a:lvl3pPr indent="0" algn="ctr">
              <a:lnSpc>
                <a:spcPct val="90000"/>
              </a:lnSpc>
              <a:spcBef>
                <a:spcPts val="500"/>
              </a:spcBef>
              <a:buFont typeface="Arial" panose="020B0604020202020204" pitchFamily="34" charset="0"/>
              <a:buNone/>
              <a:defRPr>
                <a:solidFill>
                  <a:srgbClr val="1B2A4A"/>
                </a:solidFill>
              </a:defRPr>
            </a:lvl3pPr>
            <a:lvl4pPr indent="0" algn="ctr">
              <a:lnSpc>
                <a:spcPct val="90000"/>
              </a:lnSpc>
              <a:spcBef>
                <a:spcPts val="500"/>
              </a:spcBef>
              <a:buFont typeface="Arial" panose="020B0604020202020204" pitchFamily="34" charset="0"/>
              <a:buNone/>
              <a:defRPr sz="1600">
                <a:solidFill>
                  <a:srgbClr val="1B2A4A"/>
                </a:solidFill>
              </a:defRPr>
            </a:lvl4pPr>
            <a:lvl5pPr indent="0" algn="ctr">
              <a:lnSpc>
                <a:spcPct val="90000"/>
              </a:lnSpc>
              <a:spcBef>
                <a:spcPts val="500"/>
              </a:spcBef>
              <a:buFont typeface="Arial" panose="020B0604020202020204" pitchFamily="34" charset="0"/>
              <a:buNone/>
              <a:defRPr sz="1600">
                <a:solidFill>
                  <a:srgbClr val="1B2A4A"/>
                </a:solidFill>
              </a:defRPr>
            </a:lvl5pPr>
            <a:lvl6pPr indent="0" algn="ctr">
              <a:lnSpc>
                <a:spcPct val="90000"/>
              </a:lnSpc>
              <a:spcBef>
                <a:spcPts val="500"/>
              </a:spcBef>
              <a:buFont typeface="Arial" panose="020B0604020202020204" pitchFamily="34" charset="0"/>
              <a:buNone/>
              <a:defRPr sz="1600">
                <a:solidFill>
                  <a:srgbClr val="1B2A4A"/>
                </a:solidFill>
              </a:defRPr>
            </a:lvl6pPr>
            <a:lvl7pPr indent="0" algn="ctr">
              <a:lnSpc>
                <a:spcPct val="90000"/>
              </a:lnSpc>
              <a:spcBef>
                <a:spcPts val="500"/>
              </a:spcBef>
              <a:buFont typeface="Arial" panose="020B0604020202020204" pitchFamily="34" charset="0"/>
              <a:buNone/>
              <a:defRPr sz="1600">
                <a:solidFill>
                  <a:srgbClr val="1B2A4A"/>
                </a:solidFill>
              </a:defRPr>
            </a:lvl7pPr>
            <a:lvl8pPr indent="0" algn="ctr">
              <a:lnSpc>
                <a:spcPct val="90000"/>
              </a:lnSpc>
              <a:spcBef>
                <a:spcPts val="500"/>
              </a:spcBef>
              <a:buFont typeface="Arial" panose="020B0604020202020204" pitchFamily="34" charset="0"/>
              <a:buNone/>
              <a:defRPr sz="1600">
                <a:solidFill>
                  <a:srgbClr val="1B2A4A"/>
                </a:solidFill>
              </a:defRPr>
            </a:lvl8pPr>
            <a:lvl9pPr indent="0" algn="ctr">
              <a:lnSpc>
                <a:spcPct val="90000"/>
              </a:lnSpc>
              <a:spcBef>
                <a:spcPts val="500"/>
              </a:spcBef>
              <a:buFont typeface="Arial" panose="020B0604020202020204" pitchFamily="34" charset="0"/>
              <a:buNone/>
              <a:defRPr sz="1600">
                <a:solidFill>
                  <a:srgbClr val="1B2A4A"/>
                </a:solidFill>
              </a:defRPr>
            </a:lvl9pPr>
          </a:lstStyle>
          <a:p>
            <a:r>
              <a:rPr lang="en-US" dirty="0">
                <a:solidFill>
                  <a:schemeClr val="bg1"/>
                </a:solidFill>
              </a:rPr>
              <a:t>Student Name: M. D. P. Wijesuriya</a:t>
            </a:r>
          </a:p>
          <a:p>
            <a:r>
              <a:rPr lang="en-US" dirty="0">
                <a:solidFill>
                  <a:schemeClr val="bg1"/>
                </a:solidFill>
              </a:rPr>
              <a:t>Student ID: COMScDS241P-002</a:t>
            </a:r>
          </a:p>
          <a:p>
            <a:r>
              <a:rPr lang="en-US" dirty="0">
                <a:solidFill>
                  <a:schemeClr val="bg1"/>
                </a:solidFill>
              </a:rPr>
              <a:t>Email: COMScDS241P-002@student.nibm.lk</a:t>
            </a:r>
          </a:p>
        </p:txBody>
      </p:sp>
    </p:spTree>
    <p:extLst>
      <p:ext uri="{BB962C8B-B14F-4D97-AF65-F5344CB8AC3E}">
        <p14:creationId xmlns:p14="http://schemas.microsoft.com/office/powerpoint/2010/main" val="35572052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2C99545-CE02-4700-244E-A3458D0A9F3E}"/>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Slide Number Placeholder 3">
            <a:extLst>
              <a:ext uri="{FF2B5EF4-FFF2-40B4-BE49-F238E27FC236}">
                <a16:creationId xmlns:a16="http://schemas.microsoft.com/office/drawing/2014/main" id="{E0E4BCB5-D069-8F0B-BF9F-3FF933B71B4F}"/>
              </a:ext>
            </a:extLst>
          </p:cNvPr>
          <p:cNvSpPr>
            <a:spLocks noGrp="1"/>
          </p:cNvSpPr>
          <p:nvPr>
            <p:ph type="sldNum" sz="quarter" idx="12"/>
          </p:nvPr>
        </p:nvSpPr>
        <p:spPr>
          <a:xfrm>
            <a:off x="11865813" y="6245385"/>
            <a:ext cx="291548" cy="365125"/>
          </a:xfrm>
        </p:spPr>
        <p:txBody>
          <a:bodyPr/>
          <a:lstStyle/>
          <a:p>
            <a:fld id="{9890CE2D-2882-48A4-88CB-3A003AF6C150}" type="slidenum">
              <a:rPr lang="en-US" smtClean="0"/>
              <a:t>2</a:t>
            </a:fld>
            <a:endParaRPr lang="en-US"/>
          </a:p>
        </p:txBody>
      </p:sp>
      <p:sp>
        <p:nvSpPr>
          <p:cNvPr id="8" name="Title 1">
            <a:extLst>
              <a:ext uri="{FF2B5EF4-FFF2-40B4-BE49-F238E27FC236}">
                <a16:creationId xmlns:a16="http://schemas.microsoft.com/office/drawing/2014/main" id="{020CDCCF-DE57-3852-F5CA-81B74B7E6516}"/>
              </a:ext>
            </a:extLst>
          </p:cNvPr>
          <p:cNvSpPr txBox="1">
            <a:spLocks/>
          </p:cNvSpPr>
          <p:nvPr/>
        </p:nvSpPr>
        <p:spPr>
          <a:xfrm>
            <a:off x="582549" y="27179"/>
            <a:ext cx="10841355" cy="868363"/>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rgbClr val="1B2A4A"/>
                </a:solidFill>
                <a:latin typeface="+mj-lt"/>
                <a:ea typeface="+mj-ea"/>
                <a:cs typeface="+mj-cs"/>
              </a:defRPr>
            </a:lvl1pPr>
          </a:lstStyle>
          <a:p>
            <a:pPr algn="l"/>
            <a:r>
              <a:rPr lang="en-US" sz="4400" dirty="0"/>
              <a:t>Background &amp; Objectives </a:t>
            </a:r>
          </a:p>
        </p:txBody>
      </p:sp>
      <p:sp>
        <p:nvSpPr>
          <p:cNvPr id="5" name="Shape 3"/>
          <p:cNvSpPr/>
          <p:nvPr/>
        </p:nvSpPr>
        <p:spPr>
          <a:xfrm>
            <a:off x="609600" y="1195610"/>
            <a:ext cx="10972800" cy="474694"/>
          </a:xfrm>
          <a:prstGeom prst="rect">
            <a:avLst/>
          </a:prstGeom>
          <a:solidFill>
            <a:srgbClr val="0D2340"/>
          </a:solidFill>
          <a:ln w="12700">
            <a:solidFill>
              <a:srgbClr val="FFFFFF"/>
            </a:solidFill>
            <a:prstDash val="solid"/>
          </a:ln>
        </p:spPr>
        <p:txBody>
          <a:bodyPr/>
          <a:lstStyle/>
          <a:p>
            <a:endParaRPr lang="en-US"/>
          </a:p>
        </p:txBody>
      </p:sp>
      <p:sp>
        <p:nvSpPr>
          <p:cNvPr id="6" name="Text 4"/>
          <p:cNvSpPr/>
          <p:nvPr/>
        </p:nvSpPr>
        <p:spPr>
          <a:xfrm>
            <a:off x="670560" y="1097280"/>
            <a:ext cx="10850880" cy="609600"/>
          </a:xfrm>
          <a:prstGeom prst="rect">
            <a:avLst/>
          </a:prstGeom>
          <a:noFill/>
          <a:ln/>
        </p:spPr>
        <p:txBody>
          <a:bodyPr wrap="square" rtlCol="0" anchor="ctr"/>
          <a:lstStyle/>
          <a:p>
            <a:pPr algn="ctr" defTabSz="1219170"/>
            <a:r>
              <a:rPr lang="en-US" sz="2000" b="1" dirty="0">
                <a:solidFill>
                  <a:srgbClr val="FFFFFF"/>
                </a:solidFill>
                <a:latin typeface="Calibri" pitchFamily="34" charset="0"/>
                <a:ea typeface="Calibri" pitchFamily="34" charset="-122"/>
                <a:cs typeface="Calibri" pitchFamily="34" charset="-120"/>
              </a:rPr>
              <a:t>Research Overview: Low-Cost Offline Voice Assistant for Hotel Room Service in Sri Lanka</a:t>
            </a:r>
            <a:endParaRPr lang="en-US" sz="2000" dirty="0">
              <a:solidFill>
                <a:prstClr val="black"/>
              </a:solidFill>
              <a:latin typeface="Calibri" panose="020F0502020204030204"/>
            </a:endParaRPr>
          </a:p>
        </p:txBody>
      </p:sp>
      <p:sp>
        <p:nvSpPr>
          <p:cNvPr id="2" name="Shape 5"/>
          <p:cNvSpPr/>
          <p:nvPr/>
        </p:nvSpPr>
        <p:spPr>
          <a:xfrm>
            <a:off x="588011" y="1853185"/>
            <a:ext cx="5425440" cy="4243282"/>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dirty="0"/>
          </a:p>
        </p:txBody>
      </p:sp>
      <p:sp>
        <p:nvSpPr>
          <p:cNvPr id="3" name="Text 6"/>
          <p:cNvSpPr/>
          <p:nvPr/>
        </p:nvSpPr>
        <p:spPr>
          <a:xfrm>
            <a:off x="768096" y="1937496"/>
            <a:ext cx="4267200" cy="365760"/>
          </a:xfrm>
          <a:prstGeom prst="rect">
            <a:avLst/>
          </a:prstGeom>
          <a:noFill/>
          <a:ln/>
        </p:spPr>
        <p:txBody>
          <a:bodyPr wrap="square" lIns="0" tIns="0" rIns="0" bIns="0" rtlCol="0" anchor="ctr"/>
          <a:lstStyle/>
          <a:p>
            <a:pPr defTabSz="1219170"/>
            <a:r>
              <a:rPr lang="en-US" sz="2400" dirty="0">
                <a:solidFill>
                  <a:srgbClr val="0E7490"/>
                </a:solidFill>
                <a:latin typeface="Calibri" pitchFamily="34" charset="0"/>
                <a:ea typeface="Calibri" pitchFamily="34" charset="-122"/>
                <a:cs typeface="Calibri" pitchFamily="34" charset="-120"/>
              </a:rPr>
              <a:t>Context &amp; Problem</a:t>
            </a:r>
            <a:endParaRPr lang="en-US" sz="2400" dirty="0">
              <a:solidFill>
                <a:prstClr val="black"/>
              </a:solidFill>
              <a:latin typeface="Calibri" panose="020F0502020204030204"/>
            </a:endParaRPr>
          </a:p>
        </p:txBody>
      </p:sp>
      <p:sp>
        <p:nvSpPr>
          <p:cNvPr id="9" name="Text 7"/>
          <p:cNvSpPr/>
          <p:nvPr/>
        </p:nvSpPr>
        <p:spPr>
          <a:xfrm>
            <a:off x="782541" y="2527592"/>
            <a:ext cx="4998720" cy="243840"/>
          </a:xfrm>
          <a:prstGeom prst="rect">
            <a:avLst/>
          </a:prstGeom>
          <a:noFill/>
          <a:ln/>
        </p:spPr>
        <p:txBody>
          <a:bodyPr wrap="square" lIns="0" tIns="0" rIns="0" bIns="0" rtlCol="0" anchor="ctr"/>
          <a:lstStyle/>
          <a:p>
            <a:pPr defTabSz="1219170"/>
            <a:r>
              <a:rPr lang="en-US" sz="1600" b="1" dirty="0">
                <a:solidFill>
                  <a:srgbClr val="0D2340"/>
                </a:solidFill>
                <a:latin typeface="Calibri" pitchFamily="34" charset="0"/>
                <a:ea typeface="Calibri" pitchFamily="34" charset="-122"/>
                <a:cs typeface="Calibri" pitchFamily="34" charset="-120"/>
              </a:rPr>
              <a:t>📞 Telephone requests</a:t>
            </a:r>
            <a:endParaRPr lang="en-US" sz="1600" dirty="0">
              <a:solidFill>
                <a:prstClr val="black"/>
              </a:solidFill>
              <a:latin typeface="Calibri" panose="020F0502020204030204"/>
            </a:endParaRPr>
          </a:p>
        </p:txBody>
      </p:sp>
      <p:sp>
        <p:nvSpPr>
          <p:cNvPr id="10" name="Text 8"/>
          <p:cNvSpPr/>
          <p:nvPr/>
        </p:nvSpPr>
        <p:spPr>
          <a:xfrm>
            <a:off x="801371" y="2758015"/>
            <a:ext cx="4998720" cy="195072"/>
          </a:xfrm>
          <a:prstGeom prst="rect">
            <a:avLst/>
          </a:prstGeom>
          <a:noFill/>
          <a:ln/>
        </p:spPr>
        <p:txBody>
          <a:bodyPr wrap="square" lIns="0" tIns="0" rIns="0" bIns="0" rtlCol="0" anchor="ctr"/>
          <a:lstStyle/>
          <a:p>
            <a:pPr defTabSz="1219170"/>
            <a:r>
              <a:rPr lang="en-US" sz="1600" dirty="0">
                <a:solidFill>
                  <a:srgbClr val="475569"/>
                </a:solidFill>
                <a:latin typeface="Calibri" pitchFamily="34" charset="0"/>
                <a:ea typeface="Calibri" pitchFamily="34" charset="-122"/>
                <a:cs typeface="Calibri" pitchFamily="34" charset="-120"/>
              </a:rPr>
              <a:t>Staff unavailable, language barriers, no audit trail</a:t>
            </a:r>
            <a:endParaRPr lang="en-US" sz="1600" dirty="0">
              <a:solidFill>
                <a:prstClr val="black"/>
              </a:solidFill>
              <a:latin typeface="Calibri" panose="020F0502020204030204"/>
            </a:endParaRPr>
          </a:p>
        </p:txBody>
      </p:sp>
      <p:sp>
        <p:nvSpPr>
          <p:cNvPr id="11" name="Text 9"/>
          <p:cNvSpPr/>
          <p:nvPr/>
        </p:nvSpPr>
        <p:spPr>
          <a:xfrm>
            <a:off x="770349" y="3938252"/>
            <a:ext cx="4998720" cy="243840"/>
          </a:xfrm>
          <a:prstGeom prst="rect">
            <a:avLst/>
          </a:prstGeom>
          <a:noFill/>
          <a:ln/>
        </p:spPr>
        <p:txBody>
          <a:bodyPr wrap="square" lIns="0" tIns="0" rIns="0" bIns="0" rtlCol="0" anchor="ctr"/>
          <a:lstStyle/>
          <a:p>
            <a:pPr defTabSz="1219170"/>
            <a:r>
              <a:rPr lang="en-US" sz="1600" b="1" dirty="0">
                <a:solidFill>
                  <a:srgbClr val="0D2340"/>
                </a:solidFill>
                <a:latin typeface="Calibri" pitchFamily="34" charset="0"/>
                <a:ea typeface="Calibri" pitchFamily="34" charset="-122"/>
                <a:cs typeface="Calibri" pitchFamily="34" charset="-120"/>
              </a:rPr>
              <a:t>💰 Alexa for Hospitality</a:t>
            </a:r>
            <a:endParaRPr lang="en-US" sz="1600" dirty="0">
              <a:solidFill>
                <a:prstClr val="black"/>
              </a:solidFill>
              <a:latin typeface="Calibri" panose="020F0502020204030204"/>
            </a:endParaRPr>
          </a:p>
        </p:txBody>
      </p:sp>
      <p:sp>
        <p:nvSpPr>
          <p:cNvPr id="12" name="Text 10"/>
          <p:cNvSpPr/>
          <p:nvPr/>
        </p:nvSpPr>
        <p:spPr>
          <a:xfrm>
            <a:off x="819117" y="4186597"/>
            <a:ext cx="4998720" cy="195072"/>
          </a:xfrm>
          <a:prstGeom prst="rect">
            <a:avLst/>
          </a:prstGeom>
          <a:noFill/>
          <a:ln/>
        </p:spPr>
        <p:txBody>
          <a:bodyPr wrap="square" lIns="0" tIns="0" rIns="0" bIns="0" rtlCol="0" anchor="ctr"/>
          <a:lstStyle/>
          <a:p>
            <a:pPr defTabSz="1219170"/>
            <a:r>
              <a:rPr lang="en-US" sz="1600" dirty="0">
                <a:solidFill>
                  <a:srgbClr val="475569"/>
                </a:solidFill>
                <a:latin typeface="Calibri" pitchFamily="34" charset="0"/>
                <a:ea typeface="Calibri" pitchFamily="34" charset="-122"/>
                <a:cs typeface="Calibri" pitchFamily="34" charset="-120"/>
              </a:rPr>
              <a:t>Cloud-only; unaffordable for small Sri Lankan hotels</a:t>
            </a:r>
            <a:endParaRPr lang="en-US" sz="1600" dirty="0">
              <a:solidFill>
                <a:prstClr val="black"/>
              </a:solidFill>
              <a:latin typeface="Calibri" panose="020F0502020204030204"/>
            </a:endParaRPr>
          </a:p>
        </p:txBody>
      </p:sp>
      <p:sp>
        <p:nvSpPr>
          <p:cNvPr id="13" name="Text 11"/>
          <p:cNvSpPr/>
          <p:nvPr/>
        </p:nvSpPr>
        <p:spPr>
          <a:xfrm>
            <a:off x="768096" y="4698994"/>
            <a:ext cx="4998720" cy="243840"/>
          </a:xfrm>
          <a:prstGeom prst="rect">
            <a:avLst/>
          </a:prstGeom>
          <a:noFill/>
          <a:ln/>
        </p:spPr>
        <p:txBody>
          <a:bodyPr wrap="square" lIns="0" tIns="0" rIns="0" bIns="0" rtlCol="0" anchor="ctr"/>
          <a:lstStyle/>
          <a:p>
            <a:pPr defTabSz="1219170"/>
            <a:r>
              <a:rPr lang="en-US" sz="1600" b="1" dirty="0">
                <a:solidFill>
                  <a:srgbClr val="0D2340"/>
                </a:solidFill>
                <a:latin typeface="Calibri" pitchFamily="34" charset="0"/>
                <a:ea typeface="Calibri" pitchFamily="34" charset="-122"/>
                <a:cs typeface="Calibri" pitchFamily="34" charset="-120"/>
              </a:rPr>
              <a:t>🌐 Internet dependency</a:t>
            </a:r>
            <a:endParaRPr lang="en-US" sz="1600" dirty="0">
              <a:solidFill>
                <a:prstClr val="black"/>
              </a:solidFill>
              <a:latin typeface="Calibri" panose="020F0502020204030204"/>
            </a:endParaRPr>
          </a:p>
        </p:txBody>
      </p:sp>
      <p:sp>
        <p:nvSpPr>
          <p:cNvPr id="14" name="Text 12"/>
          <p:cNvSpPr/>
          <p:nvPr/>
        </p:nvSpPr>
        <p:spPr>
          <a:xfrm>
            <a:off x="829056" y="4947207"/>
            <a:ext cx="4998720" cy="195072"/>
          </a:xfrm>
          <a:prstGeom prst="rect">
            <a:avLst/>
          </a:prstGeom>
          <a:noFill/>
          <a:ln/>
        </p:spPr>
        <p:txBody>
          <a:bodyPr wrap="square" lIns="0" tIns="0" rIns="0" bIns="0" rtlCol="0" anchor="ctr"/>
          <a:lstStyle/>
          <a:p>
            <a:pPr defTabSz="1219170"/>
            <a:r>
              <a:rPr lang="en-US" sz="1600" dirty="0">
                <a:solidFill>
                  <a:srgbClr val="475569"/>
                </a:solidFill>
                <a:latin typeface="Calibri" pitchFamily="34" charset="0"/>
                <a:ea typeface="Calibri" pitchFamily="34" charset="-122"/>
                <a:cs typeface="Calibri" pitchFamily="34" charset="-120"/>
              </a:rPr>
              <a:t>Unreliable outside Colombo</a:t>
            </a:r>
            <a:endParaRPr lang="en-US" sz="1600" dirty="0">
              <a:solidFill>
                <a:prstClr val="black"/>
              </a:solidFill>
              <a:latin typeface="Calibri" panose="020F0502020204030204"/>
            </a:endParaRPr>
          </a:p>
        </p:txBody>
      </p:sp>
      <p:sp>
        <p:nvSpPr>
          <p:cNvPr id="15" name="Text 13"/>
          <p:cNvSpPr/>
          <p:nvPr/>
        </p:nvSpPr>
        <p:spPr>
          <a:xfrm>
            <a:off x="782541" y="5381003"/>
            <a:ext cx="4998720" cy="243840"/>
          </a:xfrm>
          <a:prstGeom prst="rect">
            <a:avLst/>
          </a:prstGeom>
          <a:noFill/>
          <a:ln/>
        </p:spPr>
        <p:txBody>
          <a:bodyPr wrap="square" lIns="0" tIns="0" rIns="0" bIns="0" rtlCol="0" anchor="ctr"/>
          <a:lstStyle/>
          <a:p>
            <a:pPr defTabSz="1219170"/>
            <a:r>
              <a:rPr lang="en-US" sz="1600" b="1" dirty="0">
                <a:solidFill>
                  <a:srgbClr val="0D2340"/>
                </a:solidFill>
                <a:latin typeface="Calibri" pitchFamily="34" charset="0"/>
                <a:ea typeface="Calibri" pitchFamily="34" charset="-122"/>
                <a:cs typeface="Calibri" pitchFamily="34" charset="-120"/>
              </a:rPr>
              <a:t>🔒 Privacy risks</a:t>
            </a:r>
            <a:endParaRPr lang="en-US" sz="1600" dirty="0">
              <a:solidFill>
                <a:prstClr val="black"/>
              </a:solidFill>
              <a:latin typeface="Calibri" panose="020F0502020204030204"/>
            </a:endParaRPr>
          </a:p>
        </p:txBody>
      </p:sp>
      <p:sp>
        <p:nvSpPr>
          <p:cNvPr id="16" name="Text 14"/>
          <p:cNvSpPr/>
          <p:nvPr/>
        </p:nvSpPr>
        <p:spPr>
          <a:xfrm>
            <a:off x="819117" y="5612651"/>
            <a:ext cx="4998720" cy="195072"/>
          </a:xfrm>
          <a:prstGeom prst="rect">
            <a:avLst/>
          </a:prstGeom>
          <a:noFill/>
          <a:ln/>
        </p:spPr>
        <p:txBody>
          <a:bodyPr wrap="square" lIns="0" tIns="0" rIns="0" bIns="0" rtlCol="0" anchor="ctr"/>
          <a:lstStyle/>
          <a:p>
            <a:pPr defTabSz="1219170"/>
            <a:r>
              <a:rPr lang="en-US" sz="1600" dirty="0">
                <a:solidFill>
                  <a:srgbClr val="475569"/>
                </a:solidFill>
                <a:latin typeface="Calibri" pitchFamily="34" charset="0"/>
                <a:ea typeface="Calibri" pitchFamily="34" charset="-122"/>
                <a:cs typeface="Calibri" pitchFamily="34" charset="-120"/>
              </a:rPr>
              <a:t>67% of guests uncomfortable with cloud microphones</a:t>
            </a:r>
            <a:endParaRPr lang="en-US" sz="1600" dirty="0">
              <a:solidFill>
                <a:prstClr val="black"/>
              </a:solidFill>
              <a:latin typeface="Calibri" panose="020F0502020204030204"/>
            </a:endParaRPr>
          </a:p>
        </p:txBody>
      </p:sp>
      <p:sp>
        <p:nvSpPr>
          <p:cNvPr id="19" name="Shape 17"/>
          <p:cNvSpPr/>
          <p:nvPr/>
        </p:nvSpPr>
        <p:spPr>
          <a:xfrm>
            <a:off x="6217920" y="1853184"/>
            <a:ext cx="5364480" cy="97536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20" name="Shape 18"/>
          <p:cNvSpPr/>
          <p:nvPr/>
        </p:nvSpPr>
        <p:spPr>
          <a:xfrm>
            <a:off x="6217920" y="1853184"/>
            <a:ext cx="463296" cy="975360"/>
          </a:xfrm>
          <a:prstGeom prst="rect">
            <a:avLst/>
          </a:prstGeom>
          <a:solidFill>
            <a:srgbClr val="0E7490"/>
          </a:solidFill>
          <a:ln w="12700">
            <a:solidFill>
              <a:srgbClr val="FFFFFF"/>
            </a:solidFill>
            <a:prstDash val="solid"/>
          </a:ln>
        </p:spPr>
        <p:txBody>
          <a:bodyPr/>
          <a:lstStyle/>
          <a:p>
            <a:endParaRPr lang="en-US" sz="1600"/>
          </a:p>
        </p:txBody>
      </p:sp>
      <p:sp>
        <p:nvSpPr>
          <p:cNvPr id="21" name="Text 19"/>
          <p:cNvSpPr/>
          <p:nvPr/>
        </p:nvSpPr>
        <p:spPr>
          <a:xfrm>
            <a:off x="6217920" y="1901952"/>
            <a:ext cx="463296" cy="877824"/>
          </a:xfrm>
          <a:prstGeom prst="rect">
            <a:avLst/>
          </a:prstGeom>
          <a:noFill/>
          <a:ln/>
        </p:spPr>
        <p:txBody>
          <a:bodyPr wrap="square" rtlCol="0" anchor="ctr"/>
          <a:lstStyle/>
          <a:p>
            <a:pPr algn="ctr" defTabSz="1219170"/>
            <a:r>
              <a:rPr lang="en-US" sz="1600" b="1" dirty="0">
                <a:solidFill>
                  <a:srgbClr val="FFFFFF"/>
                </a:solidFill>
                <a:latin typeface="Calibri" panose="020F0502020204030204"/>
              </a:rPr>
              <a:t>01</a:t>
            </a:r>
            <a:endParaRPr lang="en-US" sz="1600" dirty="0">
              <a:solidFill>
                <a:prstClr val="black"/>
              </a:solidFill>
              <a:latin typeface="Calibri" panose="020F0502020204030204"/>
            </a:endParaRPr>
          </a:p>
        </p:txBody>
      </p:sp>
      <p:sp>
        <p:nvSpPr>
          <p:cNvPr id="22" name="Text 20"/>
          <p:cNvSpPr/>
          <p:nvPr/>
        </p:nvSpPr>
        <p:spPr>
          <a:xfrm>
            <a:off x="6766560" y="1926336"/>
            <a:ext cx="4657344" cy="316992"/>
          </a:xfrm>
          <a:prstGeom prst="rect">
            <a:avLst/>
          </a:prstGeom>
          <a:noFill/>
          <a:ln/>
        </p:spPr>
        <p:txBody>
          <a:bodyPr wrap="square" lIns="0" tIns="0" rIns="0" bIns="0" rtlCol="0" anchor="ctr"/>
          <a:lstStyle/>
          <a:p>
            <a:pPr defTabSz="1219170"/>
            <a:r>
              <a:rPr lang="en-US" b="1" dirty="0">
                <a:solidFill>
                  <a:srgbClr val="0D2340"/>
                </a:solidFill>
                <a:latin typeface="Calibri" pitchFamily="34" charset="0"/>
                <a:ea typeface="Calibri" pitchFamily="34" charset="-122"/>
                <a:cs typeface="Calibri" pitchFamily="34" charset="-120"/>
              </a:rPr>
              <a:t>Build the Prototype</a:t>
            </a:r>
            <a:endParaRPr lang="en-US" dirty="0">
              <a:solidFill>
                <a:prstClr val="black"/>
              </a:solidFill>
              <a:latin typeface="Calibri" panose="020F0502020204030204"/>
            </a:endParaRPr>
          </a:p>
        </p:txBody>
      </p:sp>
      <p:sp>
        <p:nvSpPr>
          <p:cNvPr id="23" name="Text 21"/>
          <p:cNvSpPr/>
          <p:nvPr/>
        </p:nvSpPr>
        <p:spPr>
          <a:xfrm>
            <a:off x="6766560" y="2316480"/>
            <a:ext cx="4657344" cy="414528"/>
          </a:xfrm>
          <a:prstGeom prst="rect">
            <a:avLst/>
          </a:prstGeom>
          <a:noFill/>
          <a:ln/>
        </p:spPr>
        <p:txBody>
          <a:bodyPr wrap="square" lIns="0" tIns="0" rIns="0" bIns="0" rtlCol="0" anchor="ctr"/>
          <a:lstStyle/>
          <a:p>
            <a:pPr defTabSz="1219170"/>
            <a:r>
              <a:rPr lang="en-US" sz="1600" dirty="0">
                <a:solidFill>
                  <a:srgbClr val="475569"/>
                </a:solidFill>
                <a:latin typeface="Calibri" pitchFamily="34" charset="0"/>
                <a:ea typeface="Calibri" pitchFamily="34" charset="-122"/>
                <a:cs typeface="Calibri" pitchFamily="34" charset="-120"/>
              </a:rPr>
              <a:t>Offline voice assistant on commodity Android tablets</a:t>
            </a:r>
            <a:endParaRPr lang="en-US" sz="1600" dirty="0">
              <a:solidFill>
                <a:prstClr val="black"/>
              </a:solidFill>
              <a:latin typeface="Calibri" panose="020F0502020204030204"/>
            </a:endParaRPr>
          </a:p>
        </p:txBody>
      </p:sp>
      <p:sp>
        <p:nvSpPr>
          <p:cNvPr id="24" name="Shape 22"/>
          <p:cNvSpPr/>
          <p:nvPr/>
        </p:nvSpPr>
        <p:spPr>
          <a:xfrm>
            <a:off x="6217920" y="2950464"/>
            <a:ext cx="5364480" cy="97536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25" name="Shape 23"/>
          <p:cNvSpPr/>
          <p:nvPr/>
        </p:nvSpPr>
        <p:spPr>
          <a:xfrm>
            <a:off x="6217920" y="2950464"/>
            <a:ext cx="463296" cy="975360"/>
          </a:xfrm>
          <a:prstGeom prst="rect">
            <a:avLst/>
          </a:prstGeom>
          <a:solidFill>
            <a:srgbClr val="0E7490"/>
          </a:solidFill>
          <a:ln w="12700">
            <a:solidFill>
              <a:srgbClr val="FFFFFF"/>
            </a:solidFill>
            <a:prstDash val="solid"/>
          </a:ln>
        </p:spPr>
        <p:txBody>
          <a:bodyPr/>
          <a:lstStyle/>
          <a:p>
            <a:endParaRPr lang="en-US" sz="1600"/>
          </a:p>
        </p:txBody>
      </p:sp>
      <p:sp>
        <p:nvSpPr>
          <p:cNvPr id="26" name="Text 24"/>
          <p:cNvSpPr/>
          <p:nvPr/>
        </p:nvSpPr>
        <p:spPr>
          <a:xfrm>
            <a:off x="6217920" y="2999232"/>
            <a:ext cx="463296" cy="877824"/>
          </a:xfrm>
          <a:prstGeom prst="rect">
            <a:avLst/>
          </a:prstGeom>
          <a:noFill/>
          <a:ln/>
        </p:spPr>
        <p:txBody>
          <a:bodyPr wrap="square" rtlCol="0" anchor="ctr"/>
          <a:lstStyle/>
          <a:p>
            <a:pPr algn="ctr" defTabSz="1219170"/>
            <a:r>
              <a:rPr lang="en-US" sz="1600" b="1" dirty="0">
                <a:solidFill>
                  <a:srgbClr val="FFFFFF"/>
                </a:solidFill>
                <a:latin typeface="Calibri" panose="020F0502020204030204"/>
              </a:rPr>
              <a:t>02</a:t>
            </a:r>
            <a:endParaRPr lang="en-US" sz="1600" dirty="0">
              <a:solidFill>
                <a:prstClr val="black"/>
              </a:solidFill>
              <a:latin typeface="Calibri" panose="020F0502020204030204"/>
            </a:endParaRPr>
          </a:p>
        </p:txBody>
      </p:sp>
      <p:sp>
        <p:nvSpPr>
          <p:cNvPr id="27" name="Text 25"/>
          <p:cNvSpPr/>
          <p:nvPr/>
        </p:nvSpPr>
        <p:spPr>
          <a:xfrm>
            <a:off x="6766560" y="3023616"/>
            <a:ext cx="4657344" cy="316992"/>
          </a:xfrm>
          <a:prstGeom prst="rect">
            <a:avLst/>
          </a:prstGeom>
          <a:noFill/>
          <a:ln/>
        </p:spPr>
        <p:txBody>
          <a:bodyPr wrap="square" lIns="0" tIns="0" rIns="0" bIns="0" rtlCol="0" anchor="ctr"/>
          <a:lstStyle/>
          <a:p>
            <a:pPr defTabSz="1219170"/>
            <a:r>
              <a:rPr lang="en-US" b="1" dirty="0">
                <a:solidFill>
                  <a:srgbClr val="0D2340"/>
                </a:solidFill>
                <a:latin typeface="Calibri" pitchFamily="34" charset="0"/>
                <a:ea typeface="Calibri" pitchFamily="34" charset="-122"/>
                <a:cs typeface="Calibri" pitchFamily="34" charset="-120"/>
              </a:rPr>
              <a:t>Dataset &amp; Noise-Aware NLU</a:t>
            </a:r>
            <a:endParaRPr lang="en-US" dirty="0">
              <a:solidFill>
                <a:prstClr val="black"/>
              </a:solidFill>
              <a:latin typeface="Calibri" panose="020F0502020204030204"/>
            </a:endParaRPr>
          </a:p>
        </p:txBody>
      </p:sp>
      <p:sp>
        <p:nvSpPr>
          <p:cNvPr id="28" name="Text 26"/>
          <p:cNvSpPr/>
          <p:nvPr/>
        </p:nvSpPr>
        <p:spPr>
          <a:xfrm>
            <a:off x="6766560" y="3413760"/>
            <a:ext cx="4657344" cy="414528"/>
          </a:xfrm>
          <a:prstGeom prst="rect">
            <a:avLst/>
          </a:prstGeom>
          <a:noFill/>
          <a:ln/>
        </p:spPr>
        <p:txBody>
          <a:bodyPr wrap="square" lIns="0" tIns="0" rIns="0" bIns="0" rtlCol="0" anchor="ctr"/>
          <a:lstStyle/>
          <a:p>
            <a:pPr defTabSz="1219170"/>
            <a:r>
              <a:rPr lang="en-US" sz="1600" dirty="0">
                <a:solidFill>
                  <a:srgbClr val="475569"/>
                </a:solidFill>
                <a:latin typeface="Calibri" pitchFamily="34" charset="0"/>
                <a:ea typeface="Calibri" pitchFamily="34" charset="-122"/>
                <a:cs typeface="Calibri" pitchFamily="34" charset="-120"/>
              </a:rPr>
              <a:t>10,080-phrase dataset </a:t>
            </a:r>
          </a:p>
          <a:p>
            <a:pPr defTabSz="1219170"/>
            <a:r>
              <a:rPr lang="en-US" sz="1600" dirty="0" err="1">
                <a:solidFill>
                  <a:srgbClr val="475569"/>
                </a:solidFill>
                <a:latin typeface="Calibri" pitchFamily="34" charset="0"/>
                <a:ea typeface="Calibri" pitchFamily="34" charset="-122"/>
                <a:cs typeface="Calibri" pitchFamily="34" charset="-120"/>
              </a:rPr>
              <a:t>MobileBERT</a:t>
            </a:r>
            <a:r>
              <a:rPr lang="en-US" sz="1600" dirty="0">
                <a:solidFill>
                  <a:srgbClr val="475569"/>
                </a:solidFill>
                <a:latin typeface="Calibri" pitchFamily="34" charset="0"/>
                <a:ea typeface="Calibri" pitchFamily="34" charset="-122"/>
                <a:cs typeface="Calibri" pitchFamily="34" charset="-120"/>
              </a:rPr>
              <a:t> trained on Vosk noise</a:t>
            </a:r>
            <a:endParaRPr lang="en-US" sz="1600" dirty="0">
              <a:solidFill>
                <a:prstClr val="black"/>
              </a:solidFill>
              <a:latin typeface="Calibri" panose="020F0502020204030204"/>
            </a:endParaRPr>
          </a:p>
        </p:txBody>
      </p:sp>
      <p:sp>
        <p:nvSpPr>
          <p:cNvPr id="29" name="Shape 27"/>
          <p:cNvSpPr/>
          <p:nvPr/>
        </p:nvSpPr>
        <p:spPr>
          <a:xfrm>
            <a:off x="6217920" y="4047744"/>
            <a:ext cx="5364480" cy="97536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30" name="Shape 28"/>
          <p:cNvSpPr/>
          <p:nvPr/>
        </p:nvSpPr>
        <p:spPr>
          <a:xfrm>
            <a:off x="6217920" y="4047744"/>
            <a:ext cx="463296" cy="975360"/>
          </a:xfrm>
          <a:prstGeom prst="rect">
            <a:avLst/>
          </a:prstGeom>
          <a:solidFill>
            <a:srgbClr val="0E7490"/>
          </a:solidFill>
          <a:ln w="12700">
            <a:solidFill>
              <a:srgbClr val="FFFFFF"/>
            </a:solidFill>
            <a:prstDash val="solid"/>
          </a:ln>
        </p:spPr>
        <p:txBody>
          <a:bodyPr/>
          <a:lstStyle/>
          <a:p>
            <a:endParaRPr lang="en-US" sz="1600"/>
          </a:p>
        </p:txBody>
      </p:sp>
      <p:sp>
        <p:nvSpPr>
          <p:cNvPr id="31" name="Text 29"/>
          <p:cNvSpPr/>
          <p:nvPr/>
        </p:nvSpPr>
        <p:spPr>
          <a:xfrm>
            <a:off x="6217920" y="4096512"/>
            <a:ext cx="463296" cy="877824"/>
          </a:xfrm>
          <a:prstGeom prst="rect">
            <a:avLst/>
          </a:prstGeom>
          <a:noFill/>
          <a:ln/>
        </p:spPr>
        <p:txBody>
          <a:bodyPr wrap="square" rtlCol="0" anchor="ctr"/>
          <a:lstStyle/>
          <a:p>
            <a:pPr algn="ctr" defTabSz="1219170"/>
            <a:r>
              <a:rPr lang="en-US" sz="1600" b="1" dirty="0">
                <a:solidFill>
                  <a:srgbClr val="FFFFFF"/>
                </a:solidFill>
                <a:latin typeface="Calibri" panose="020F0502020204030204"/>
              </a:rPr>
              <a:t>03</a:t>
            </a:r>
            <a:endParaRPr lang="en-US" sz="1600" dirty="0">
              <a:solidFill>
                <a:prstClr val="black"/>
              </a:solidFill>
              <a:latin typeface="Calibri" panose="020F0502020204030204"/>
            </a:endParaRPr>
          </a:p>
        </p:txBody>
      </p:sp>
      <p:sp>
        <p:nvSpPr>
          <p:cNvPr id="32" name="Text 30"/>
          <p:cNvSpPr/>
          <p:nvPr/>
        </p:nvSpPr>
        <p:spPr>
          <a:xfrm>
            <a:off x="6766560" y="4120896"/>
            <a:ext cx="4657344" cy="316992"/>
          </a:xfrm>
          <a:prstGeom prst="rect">
            <a:avLst/>
          </a:prstGeom>
          <a:noFill/>
          <a:ln/>
        </p:spPr>
        <p:txBody>
          <a:bodyPr wrap="square" lIns="0" tIns="0" rIns="0" bIns="0" rtlCol="0" anchor="ctr"/>
          <a:lstStyle/>
          <a:p>
            <a:pPr defTabSz="1219170"/>
            <a:r>
              <a:rPr lang="en-US" b="1" dirty="0">
                <a:solidFill>
                  <a:srgbClr val="0D2340"/>
                </a:solidFill>
                <a:latin typeface="Calibri" pitchFamily="34" charset="0"/>
                <a:ea typeface="Calibri" pitchFamily="34" charset="-122"/>
                <a:cs typeface="Calibri" pitchFamily="34" charset="-120"/>
              </a:rPr>
              <a:t>Lightweight Backend</a:t>
            </a:r>
            <a:endParaRPr lang="en-US" dirty="0">
              <a:solidFill>
                <a:prstClr val="black"/>
              </a:solidFill>
              <a:latin typeface="Calibri" panose="020F0502020204030204"/>
            </a:endParaRPr>
          </a:p>
        </p:txBody>
      </p:sp>
      <p:sp>
        <p:nvSpPr>
          <p:cNvPr id="33" name="Text 31"/>
          <p:cNvSpPr/>
          <p:nvPr/>
        </p:nvSpPr>
        <p:spPr>
          <a:xfrm>
            <a:off x="6766560" y="4511040"/>
            <a:ext cx="4657344" cy="414528"/>
          </a:xfrm>
          <a:prstGeom prst="rect">
            <a:avLst/>
          </a:prstGeom>
          <a:noFill/>
          <a:ln/>
        </p:spPr>
        <p:txBody>
          <a:bodyPr wrap="square" lIns="0" tIns="0" rIns="0" bIns="0" rtlCol="0" anchor="ctr"/>
          <a:lstStyle/>
          <a:p>
            <a:pPr defTabSz="1219170"/>
            <a:r>
              <a:rPr lang="en-US" sz="1600" dirty="0">
                <a:solidFill>
                  <a:srgbClr val="475569"/>
                </a:solidFill>
                <a:latin typeface="Calibri" pitchFamily="34" charset="0"/>
                <a:ea typeface="Calibri" pitchFamily="34" charset="-122"/>
                <a:cs typeface="Calibri" pitchFamily="34" charset="-120"/>
              </a:rPr>
              <a:t>FastAPI + SQLite; real-time WebSocket staff dashboard</a:t>
            </a:r>
            <a:endParaRPr lang="en-US" sz="1600" dirty="0">
              <a:solidFill>
                <a:prstClr val="black"/>
              </a:solidFill>
              <a:latin typeface="Calibri" panose="020F0502020204030204"/>
            </a:endParaRPr>
          </a:p>
        </p:txBody>
      </p:sp>
      <p:sp>
        <p:nvSpPr>
          <p:cNvPr id="34" name="Shape 32"/>
          <p:cNvSpPr/>
          <p:nvPr/>
        </p:nvSpPr>
        <p:spPr>
          <a:xfrm>
            <a:off x="6217920" y="5145024"/>
            <a:ext cx="5364480" cy="97536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35" name="Shape 33"/>
          <p:cNvSpPr/>
          <p:nvPr/>
        </p:nvSpPr>
        <p:spPr>
          <a:xfrm>
            <a:off x="6217920" y="5145024"/>
            <a:ext cx="463296" cy="975360"/>
          </a:xfrm>
          <a:prstGeom prst="rect">
            <a:avLst/>
          </a:prstGeom>
          <a:solidFill>
            <a:srgbClr val="0E7490"/>
          </a:solidFill>
          <a:ln w="12700">
            <a:solidFill>
              <a:srgbClr val="FFFFFF"/>
            </a:solidFill>
            <a:prstDash val="solid"/>
          </a:ln>
        </p:spPr>
        <p:txBody>
          <a:bodyPr/>
          <a:lstStyle/>
          <a:p>
            <a:endParaRPr lang="en-US" sz="1600"/>
          </a:p>
        </p:txBody>
      </p:sp>
      <p:sp>
        <p:nvSpPr>
          <p:cNvPr id="36" name="Text 34"/>
          <p:cNvSpPr/>
          <p:nvPr/>
        </p:nvSpPr>
        <p:spPr>
          <a:xfrm>
            <a:off x="6217920" y="5193792"/>
            <a:ext cx="463296" cy="877824"/>
          </a:xfrm>
          <a:prstGeom prst="rect">
            <a:avLst/>
          </a:prstGeom>
          <a:noFill/>
          <a:ln/>
        </p:spPr>
        <p:txBody>
          <a:bodyPr wrap="square" rtlCol="0" anchor="ctr"/>
          <a:lstStyle/>
          <a:p>
            <a:pPr algn="ctr" defTabSz="1219170"/>
            <a:r>
              <a:rPr lang="en-US" sz="1600" b="1" dirty="0">
                <a:solidFill>
                  <a:srgbClr val="FFFFFF"/>
                </a:solidFill>
                <a:latin typeface="Calibri" panose="020F0502020204030204"/>
              </a:rPr>
              <a:t>04</a:t>
            </a:r>
            <a:endParaRPr lang="en-US" sz="1600" dirty="0">
              <a:solidFill>
                <a:prstClr val="black"/>
              </a:solidFill>
              <a:latin typeface="Calibri" panose="020F0502020204030204"/>
            </a:endParaRPr>
          </a:p>
        </p:txBody>
      </p:sp>
      <p:sp>
        <p:nvSpPr>
          <p:cNvPr id="37" name="Text 35"/>
          <p:cNvSpPr/>
          <p:nvPr/>
        </p:nvSpPr>
        <p:spPr>
          <a:xfrm>
            <a:off x="6766560" y="5218176"/>
            <a:ext cx="4657344" cy="316992"/>
          </a:xfrm>
          <a:prstGeom prst="rect">
            <a:avLst/>
          </a:prstGeom>
          <a:noFill/>
          <a:ln/>
        </p:spPr>
        <p:txBody>
          <a:bodyPr wrap="square" lIns="0" tIns="0" rIns="0" bIns="0" rtlCol="0" anchor="ctr"/>
          <a:lstStyle/>
          <a:p>
            <a:pPr defTabSz="1219170"/>
            <a:r>
              <a:rPr lang="en-US" b="1" dirty="0">
                <a:solidFill>
                  <a:srgbClr val="0D2340"/>
                </a:solidFill>
                <a:latin typeface="Calibri" pitchFamily="34" charset="0"/>
                <a:ea typeface="Calibri" pitchFamily="34" charset="-122"/>
                <a:cs typeface="Calibri" pitchFamily="34" charset="-120"/>
              </a:rPr>
              <a:t>Evaluate &amp; Validate</a:t>
            </a:r>
            <a:endParaRPr lang="en-US" dirty="0">
              <a:solidFill>
                <a:prstClr val="black"/>
              </a:solidFill>
              <a:latin typeface="Calibri" panose="020F0502020204030204"/>
            </a:endParaRPr>
          </a:p>
        </p:txBody>
      </p:sp>
      <p:sp>
        <p:nvSpPr>
          <p:cNvPr id="38" name="Text 36"/>
          <p:cNvSpPr/>
          <p:nvPr/>
        </p:nvSpPr>
        <p:spPr>
          <a:xfrm>
            <a:off x="6766560" y="5608320"/>
            <a:ext cx="4657344" cy="414528"/>
          </a:xfrm>
          <a:prstGeom prst="rect">
            <a:avLst/>
          </a:prstGeom>
          <a:noFill/>
          <a:ln/>
        </p:spPr>
        <p:txBody>
          <a:bodyPr wrap="square" lIns="0" tIns="0" rIns="0" bIns="0" rtlCol="0" anchor="ctr"/>
          <a:lstStyle/>
          <a:p>
            <a:pPr defTabSz="1219170"/>
            <a:r>
              <a:rPr lang="en-US" sz="1600" dirty="0">
                <a:solidFill>
                  <a:srgbClr val="475569"/>
                </a:solidFill>
                <a:latin typeface="Calibri" pitchFamily="34" charset="0"/>
                <a:ea typeface="Calibri" pitchFamily="34" charset="-122"/>
                <a:cs typeface="Calibri" pitchFamily="34" charset="-120"/>
              </a:rPr>
              <a:t>NLU accuracy, WER, latency, cost vs. cloud alternatives</a:t>
            </a:r>
            <a:endParaRPr lang="en-US" sz="1600" dirty="0">
              <a:solidFill>
                <a:prstClr val="black"/>
              </a:solidFill>
              <a:latin typeface="Calibri" panose="020F0502020204030204"/>
            </a:endParaRPr>
          </a:p>
        </p:txBody>
      </p:sp>
      <p:sp>
        <p:nvSpPr>
          <p:cNvPr id="39" name="Text 7">
            <a:extLst>
              <a:ext uri="{FF2B5EF4-FFF2-40B4-BE49-F238E27FC236}">
                <a16:creationId xmlns:a16="http://schemas.microsoft.com/office/drawing/2014/main" id="{48BC3C49-938B-C06A-904C-168737627CBC}"/>
              </a:ext>
            </a:extLst>
          </p:cNvPr>
          <p:cNvSpPr/>
          <p:nvPr/>
        </p:nvSpPr>
        <p:spPr>
          <a:xfrm>
            <a:off x="782541" y="3191805"/>
            <a:ext cx="4998720" cy="243840"/>
          </a:xfrm>
          <a:prstGeom prst="rect">
            <a:avLst/>
          </a:prstGeom>
          <a:noFill/>
          <a:ln/>
        </p:spPr>
        <p:txBody>
          <a:bodyPr wrap="square" lIns="0" tIns="0" rIns="0" bIns="0" rtlCol="0" anchor="ctr"/>
          <a:lstStyle/>
          <a:p>
            <a:pPr defTabSz="1219170"/>
            <a:r>
              <a:rPr lang="en-US" sz="1600" b="1" dirty="0">
                <a:solidFill>
                  <a:srgbClr val="0D2340"/>
                </a:solidFill>
                <a:latin typeface="Calibri" pitchFamily="34" charset="0"/>
                <a:ea typeface="Calibri" pitchFamily="34" charset="-122"/>
                <a:cs typeface="Calibri" pitchFamily="34" charset="-120"/>
              </a:rPr>
              <a:t>       Paper Forms</a:t>
            </a:r>
            <a:endParaRPr lang="en-US" sz="1600" dirty="0">
              <a:solidFill>
                <a:prstClr val="black"/>
              </a:solidFill>
              <a:latin typeface="Calibri" panose="020F0502020204030204"/>
            </a:endParaRPr>
          </a:p>
        </p:txBody>
      </p:sp>
      <p:sp>
        <p:nvSpPr>
          <p:cNvPr id="40" name="Text 8">
            <a:extLst>
              <a:ext uri="{FF2B5EF4-FFF2-40B4-BE49-F238E27FC236}">
                <a16:creationId xmlns:a16="http://schemas.microsoft.com/office/drawing/2014/main" id="{144B9738-8D9B-074A-F3AE-80CF7721E8F9}"/>
              </a:ext>
            </a:extLst>
          </p:cNvPr>
          <p:cNvSpPr/>
          <p:nvPr/>
        </p:nvSpPr>
        <p:spPr>
          <a:xfrm>
            <a:off x="819117" y="3445183"/>
            <a:ext cx="4998720" cy="195072"/>
          </a:xfrm>
          <a:prstGeom prst="rect">
            <a:avLst/>
          </a:prstGeom>
          <a:noFill/>
          <a:ln/>
        </p:spPr>
        <p:txBody>
          <a:bodyPr wrap="square" lIns="0" tIns="0" rIns="0" bIns="0" rtlCol="0" anchor="ctr"/>
          <a:lstStyle/>
          <a:p>
            <a:pPr defTabSz="1219170"/>
            <a:r>
              <a:rPr lang="en-US" sz="1600" dirty="0">
                <a:solidFill>
                  <a:srgbClr val="475569"/>
                </a:solidFill>
                <a:latin typeface="Calibri" pitchFamily="34" charset="0"/>
                <a:ea typeface="Calibri" pitchFamily="34" charset="-122"/>
                <a:cs typeface="Calibri" pitchFamily="34" charset="-120"/>
              </a:rPr>
              <a:t>Slow, unreliable, error-prone</a:t>
            </a:r>
          </a:p>
        </p:txBody>
      </p:sp>
      <p:pic>
        <p:nvPicPr>
          <p:cNvPr id="43" name="Graphic 42" descr="Checklist outline">
            <a:extLst>
              <a:ext uri="{FF2B5EF4-FFF2-40B4-BE49-F238E27FC236}">
                <a16:creationId xmlns:a16="http://schemas.microsoft.com/office/drawing/2014/main" id="{404C04BB-D5F2-FB9E-2702-82795B02537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9056" y="3182266"/>
            <a:ext cx="221479" cy="221479"/>
          </a:xfrm>
          <a:prstGeom prst="rect">
            <a:avLst/>
          </a:prstGeom>
        </p:spPr>
      </p:pic>
    </p:spTree>
    <p:extLst>
      <p:ext uri="{BB962C8B-B14F-4D97-AF65-F5344CB8AC3E}">
        <p14:creationId xmlns:p14="http://schemas.microsoft.com/office/powerpoint/2010/main" val="36010115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0CAB029-6FDE-30A8-1FA2-C288C871D32F}"/>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7" name="Shape 15"/>
          <p:cNvSpPr/>
          <p:nvPr/>
        </p:nvSpPr>
        <p:spPr>
          <a:xfrm>
            <a:off x="428046" y="1851189"/>
            <a:ext cx="11335907" cy="2192863"/>
          </a:xfrm>
          <a:prstGeom prst="rect">
            <a:avLst/>
          </a:prstGeom>
          <a:solidFill>
            <a:schemeClr val="accent1">
              <a:lumMod val="75000"/>
            </a:schemeClr>
          </a:solidFill>
          <a:ln w="12700">
            <a:solidFill>
              <a:srgbClr val="FFFFFF"/>
            </a:solidFill>
            <a:prstDash val="solid"/>
          </a:ln>
        </p:spPr>
        <p:txBody>
          <a:bodyPr/>
          <a:lstStyle/>
          <a:p>
            <a:endParaRPr lang="en-US"/>
          </a:p>
        </p:txBody>
      </p:sp>
      <p:sp>
        <p:nvSpPr>
          <p:cNvPr id="2" name="Title 1"/>
          <p:cNvSpPr>
            <a:spLocks noGrp="1"/>
          </p:cNvSpPr>
          <p:nvPr>
            <p:ph type="title"/>
          </p:nvPr>
        </p:nvSpPr>
        <p:spPr>
          <a:xfrm>
            <a:off x="591065" y="171490"/>
            <a:ext cx="10515600" cy="822008"/>
          </a:xfrm>
        </p:spPr>
        <p:txBody>
          <a:bodyPr/>
          <a:lstStyle/>
          <a:p>
            <a:r>
              <a:rPr dirty="0"/>
              <a:t>Research Question</a:t>
            </a:r>
          </a:p>
        </p:txBody>
      </p:sp>
      <p:sp>
        <p:nvSpPr>
          <p:cNvPr id="3" name="Content Placeholder 2"/>
          <p:cNvSpPr>
            <a:spLocks noGrp="1"/>
          </p:cNvSpPr>
          <p:nvPr>
            <p:ph idx="1"/>
          </p:nvPr>
        </p:nvSpPr>
        <p:spPr>
          <a:xfrm>
            <a:off x="838200" y="2149647"/>
            <a:ext cx="10515600" cy="1763395"/>
          </a:xfrm>
        </p:spPr>
        <p:txBody>
          <a:bodyPr>
            <a:normAutofit/>
          </a:bodyPr>
          <a:lstStyle/>
          <a:p>
            <a:pPr marL="0" indent="0" algn="just">
              <a:buNone/>
            </a:pPr>
            <a:r>
              <a:rPr lang="en-US" i="1" dirty="0">
                <a:solidFill>
                  <a:schemeClr val="bg1"/>
                </a:solidFill>
              </a:rPr>
              <a:t>Can a low-cost, fully offline voice assistant system, built on a standard commodity device, achieve sufficient technical accuracy and performance to be a viable alternative to traditional room service communication in Sri Lankan hotels</a:t>
            </a:r>
            <a:r>
              <a:rPr i="1" dirty="0">
                <a:solidFill>
                  <a:schemeClr val="bg1"/>
                </a:solidFill>
              </a:rPr>
              <a:t>?</a:t>
            </a:r>
          </a:p>
          <a:p>
            <a:endParaRPr dirty="0"/>
          </a:p>
        </p:txBody>
      </p:sp>
      <p:sp>
        <p:nvSpPr>
          <p:cNvPr id="4" name="Slide Number Placeholder 3">
            <a:extLst>
              <a:ext uri="{FF2B5EF4-FFF2-40B4-BE49-F238E27FC236}">
                <a16:creationId xmlns:a16="http://schemas.microsoft.com/office/drawing/2014/main" id="{277A8365-BE8F-9260-66E4-C2A1808BF39C}"/>
              </a:ext>
            </a:extLst>
          </p:cNvPr>
          <p:cNvSpPr>
            <a:spLocks noGrp="1"/>
          </p:cNvSpPr>
          <p:nvPr>
            <p:ph type="sldNum" sz="quarter" idx="12"/>
          </p:nvPr>
        </p:nvSpPr>
        <p:spPr/>
        <p:txBody>
          <a:bodyPr/>
          <a:lstStyle/>
          <a:p>
            <a:fld id="{9890CE2D-2882-48A4-88CB-3A003AF6C150}" type="slidenum">
              <a:rPr lang="en-US" smtClean="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EC3D0ED-09B5-5A37-57E9-F97EA040AF9C}"/>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5" name="Text 3"/>
          <p:cNvSpPr/>
          <p:nvPr/>
        </p:nvSpPr>
        <p:spPr>
          <a:xfrm>
            <a:off x="312517" y="1140553"/>
            <a:ext cx="11246734" cy="402336"/>
          </a:xfrm>
          <a:prstGeom prst="rect">
            <a:avLst/>
          </a:prstGeom>
          <a:noFill/>
          <a:ln/>
        </p:spPr>
        <p:txBody>
          <a:bodyPr wrap="square" rtlCol="0" anchor="ctr"/>
          <a:lstStyle/>
          <a:p>
            <a:pPr algn="ctr"/>
            <a:r>
              <a:rPr lang="en-US" sz="2400" i="1" dirty="0">
                <a:solidFill>
                  <a:schemeClr val="bg2">
                    <a:lumMod val="10000"/>
                  </a:schemeClr>
                </a:solidFill>
                <a:latin typeface="Calibri" pitchFamily="34" charset="0"/>
                <a:ea typeface="Calibri" pitchFamily="34" charset="-122"/>
                <a:cs typeface="Calibri" pitchFamily="34" charset="-120"/>
              </a:rPr>
              <a:t>No existing solution combines all seven dimensions needed for viable deployment in a developing-economy hospitality context.</a:t>
            </a:r>
            <a:endParaRPr lang="en-US" sz="2400" dirty="0">
              <a:solidFill>
                <a:schemeClr val="bg2">
                  <a:lumMod val="10000"/>
                </a:schemeClr>
              </a:solidFill>
            </a:endParaRPr>
          </a:p>
        </p:txBody>
      </p:sp>
      <p:graphicFrame>
        <p:nvGraphicFramePr>
          <p:cNvPr id="6" name="Table 0"/>
          <p:cNvGraphicFramePr>
            <a:graphicFrameLocks noGrp="1"/>
          </p:cNvGraphicFramePr>
          <p:nvPr>
            <p:extLst>
              <p:ext uri="{D42A27DB-BD31-4B8C-83A1-F6EECF244321}">
                <p14:modId xmlns:p14="http://schemas.microsoft.com/office/powerpoint/2010/main" val="2547535650"/>
              </p:ext>
            </p:extLst>
          </p:nvPr>
        </p:nvGraphicFramePr>
        <p:xfrm>
          <a:off x="609600" y="2183761"/>
          <a:ext cx="11070336" cy="3316224"/>
        </p:xfrm>
        <a:graphic>
          <a:graphicData uri="http://schemas.openxmlformats.org/drawingml/2006/table">
            <a:tbl>
              <a:tblPr/>
              <a:tblGrid>
                <a:gridCol w="2365094">
                  <a:extLst>
                    <a:ext uri="{9D8B030D-6E8A-4147-A177-3AD203B41FA5}">
                      <a16:colId xmlns:a16="http://schemas.microsoft.com/office/drawing/2014/main" val="20000"/>
                    </a:ext>
                  </a:extLst>
                </a:gridCol>
                <a:gridCol w="1122744">
                  <a:extLst>
                    <a:ext uri="{9D8B030D-6E8A-4147-A177-3AD203B41FA5}">
                      <a16:colId xmlns:a16="http://schemas.microsoft.com/office/drawing/2014/main" val="20001"/>
                    </a:ext>
                  </a:extLst>
                </a:gridCol>
                <a:gridCol w="1307939">
                  <a:extLst>
                    <a:ext uri="{9D8B030D-6E8A-4147-A177-3AD203B41FA5}">
                      <a16:colId xmlns:a16="http://schemas.microsoft.com/office/drawing/2014/main" val="20002"/>
                    </a:ext>
                  </a:extLst>
                </a:gridCol>
                <a:gridCol w="1284790">
                  <a:extLst>
                    <a:ext uri="{9D8B030D-6E8A-4147-A177-3AD203B41FA5}">
                      <a16:colId xmlns:a16="http://schemas.microsoft.com/office/drawing/2014/main" val="20003"/>
                    </a:ext>
                  </a:extLst>
                </a:gridCol>
                <a:gridCol w="1180618">
                  <a:extLst>
                    <a:ext uri="{9D8B030D-6E8A-4147-A177-3AD203B41FA5}">
                      <a16:colId xmlns:a16="http://schemas.microsoft.com/office/drawing/2014/main" val="20004"/>
                    </a:ext>
                  </a:extLst>
                </a:gridCol>
                <a:gridCol w="1076445">
                  <a:extLst>
                    <a:ext uri="{9D8B030D-6E8A-4147-A177-3AD203B41FA5}">
                      <a16:colId xmlns:a16="http://schemas.microsoft.com/office/drawing/2014/main" val="20005"/>
                    </a:ext>
                  </a:extLst>
                </a:gridCol>
                <a:gridCol w="1342664">
                  <a:extLst>
                    <a:ext uri="{9D8B030D-6E8A-4147-A177-3AD203B41FA5}">
                      <a16:colId xmlns:a16="http://schemas.microsoft.com/office/drawing/2014/main" val="20006"/>
                    </a:ext>
                  </a:extLst>
                </a:gridCol>
                <a:gridCol w="1390042">
                  <a:extLst>
                    <a:ext uri="{9D8B030D-6E8A-4147-A177-3AD203B41FA5}">
                      <a16:colId xmlns:a16="http://schemas.microsoft.com/office/drawing/2014/main" val="20007"/>
                    </a:ext>
                  </a:extLst>
                </a:gridCol>
              </a:tblGrid>
              <a:tr h="414528">
                <a:tc>
                  <a:txBody>
                    <a:bodyPr/>
                    <a:lstStyle/>
                    <a:p>
                      <a:pPr marL="0" indent="0">
                        <a:buNone/>
                      </a:pPr>
                      <a:r>
                        <a:rPr lang="en-US" sz="1600" b="1" dirty="0">
                          <a:solidFill>
                            <a:srgbClr val="FFFFFF"/>
                          </a:solidFill>
                        </a:rPr>
                        <a:t>Solution</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2340"/>
                    </a:solidFill>
                  </a:tcPr>
                </a:tc>
                <a:tc>
                  <a:txBody>
                    <a:bodyPr/>
                    <a:lstStyle/>
                    <a:p>
                      <a:pPr marL="0" indent="0" algn="ctr">
                        <a:buNone/>
                      </a:pPr>
                      <a:r>
                        <a:rPr lang="en-US" sz="1600" b="1" dirty="0">
                          <a:solidFill>
                            <a:srgbClr val="FFFFFF"/>
                          </a:solidFill>
                        </a:rPr>
                        <a:t>Offline</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2340"/>
                    </a:solidFill>
                  </a:tcPr>
                </a:tc>
                <a:tc>
                  <a:txBody>
                    <a:bodyPr/>
                    <a:lstStyle/>
                    <a:p>
                      <a:pPr marL="0" indent="0" algn="ctr">
                        <a:buNone/>
                      </a:pPr>
                      <a:r>
                        <a:rPr lang="en-US" sz="1600" b="1" dirty="0">
                          <a:solidFill>
                            <a:srgbClr val="FFFFFF"/>
                          </a:solidFill>
                        </a:rPr>
                        <a:t>On-Device</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2340"/>
                    </a:solidFill>
                  </a:tcPr>
                </a:tc>
                <a:tc>
                  <a:txBody>
                    <a:bodyPr/>
                    <a:lstStyle/>
                    <a:p>
                      <a:pPr marL="0" indent="0" algn="ctr">
                        <a:buNone/>
                      </a:pPr>
                      <a:r>
                        <a:rPr lang="en-US" sz="1600" b="1" dirty="0">
                          <a:solidFill>
                            <a:srgbClr val="FFFFFF"/>
                          </a:solidFill>
                        </a:rPr>
                        <a:t>Hospitality</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2340"/>
                    </a:solidFill>
                  </a:tcPr>
                </a:tc>
                <a:tc>
                  <a:txBody>
                    <a:bodyPr/>
                    <a:lstStyle/>
                    <a:p>
                      <a:pPr marL="0" indent="0" algn="ctr">
                        <a:buNone/>
                      </a:pPr>
                      <a:r>
                        <a:rPr lang="en-US" sz="1600" b="1" dirty="0">
                          <a:solidFill>
                            <a:srgbClr val="FFFFFF"/>
                          </a:solidFill>
                        </a:rPr>
                        <a:t>Low Cost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2340"/>
                    </a:solidFill>
                  </a:tcPr>
                </a:tc>
                <a:tc>
                  <a:txBody>
                    <a:bodyPr/>
                    <a:lstStyle/>
                    <a:p>
                      <a:pPr marL="0" indent="0" algn="ctr">
                        <a:buNone/>
                      </a:pPr>
                      <a:r>
                        <a:rPr lang="en-US" sz="1600" b="1" dirty="0">
                          <a:solidFill>
                            <a:srgbClr val="FFFFFF"/>
                          </a:solidFill>
                        </a:rPr>
                        <a:t>Privacy</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2340"/>
                    </a:solidFill>
                  </a:tcPr>
                </a:tc>
                <a:tc>
                  <a:txBody>
                    <a:bodyPr/>
                    <a:lstStyle/>
                    <a:p>
                      <a:pPr marL="0" indent="0" algn="ctr">
                        <a:buNone/>
                      </a:pPr>
                      <a:r>
                        <a:rPr lang="en-US" sz="1600" b="1" dirty="0">
                          <a:solidFill>
                            <a:srgbClr val="FFFFFF"/>
                          </a:solidFill>
                        </a:rPr>
                        <a:t>Staff Integ.</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2340"/>
                    </a:solidFill>
                  </a:tcPr>
                </a:tc>
                <a:tc>
                  <a:txBody>
                    <a:bodyPr/>
                    <a:lstStyle/>
                    <a:p>
                      <a:pPr marL="0" indent="0" algn="ctr">
                        <a:buNone/>
                      </a:pPr>
                      <a:r>
                        <a:rPr lang="en-US" sz="1600" b="1" dirty="0">
                          <a:solidFill>
                            <a:srgbClr val="FFFFFF"/>
                          </a:solidFill>
                        </a:rPr>
                        <a:t>End-to-End</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2340"/>
                    </a:solidFill>
                  </a:tcPr>
                </a:tc>
                <a:extLst>
                  <a:ext uri="{0D108BD9-81ED-4DB2-BD59-A6C34878D82A}">
                    <a16:rowId xmlns:a16="http://schemas.microsoft.com/office/drawing/2014/main" val="10000"/>
                  </a:ext>
                </a:extLst>
              </a:tr>
              <a:tr h="414528">
                <a:tc>
                  <a:txBody>
                    <a:bodyPr/>
                    <a:lstStyle/>
                    <a:p>
                      <a:pPr marL="0" indent="0">
                        <a:buNone/>
                      </a:pPr>
                      <a:r>
                        <a:rPr lang="en-US" sz="1600" dirty="0">
                          <a:solidFill>
                            <a:srgbClr val="0D2340"/>
                          </a:solidFill>
                        </a:rPr>
                        <a:t>Alexa for Hospitality</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D9770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1452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kern="1200" dirty="0">
                          <a:solidFill>
                            <a:srgbClr val="0D2340"/>
                          </a:solidFill>
                          <a:latin typeface="+mn-lt"/>
                          <a:ea typeface="+mn-ea"/>
                          <a:cs typeface="+mn-cs"/>
                        </a:rPr>
                        <a:t>Edge STT 	</a:t>
                      </a:r>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extLst>
                  <a:ext uri="{0D108BD9-81ED-4DB2-BD59-A6C34878D82A}">
                    <a16:rowId xmlns:a16="http://schemas.microsoft.com/office/drawing/2014/main" val="10002"/>
                  </a:ext>
                </a:extLst>
              </a:tr>
              <a:tr h="414528">
                <a:tc>
                  <a:txBody>
                    <a:bodyPr/>
                    <a:lstStyle/>
                    <a:p>
                      <a:pPr marL="0" indent="0">
                        <a:buNone/>
                      </a:pPr>
                      <a:r>
                        <a:rPr lang="en-US" sz="1600" dirty="0">
                          <a:solidFill>
                            <a:srgbClr val="0D2340"/>
                          </a:solidFill>
                        </a:rPr>
                        <a:t>Vosk / Custom LM</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14528">
                <a:tc>
                  <a:txBody>
                    <a:bodyPr/>
                    <a:lstStyle/>
                    <a:p>
                      <a:pPr marL="0" indent="0">
                        <a:buNone/>
                      </a:pPr>
                      <a:r>
                        <a:rPr lang="en-US" sz="1600" dirty="0" err="1">
                          <a:solidFill>
                            <a:srgbClr val="0D2340"/>
                          </a:solidFill>
                        </a:rPr>
                        <a:t>MobileBERT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extLst>
                  <a:ext uri="{0D108BD9-81ED-4DB2-BD59-A6C34878D82A}">
                    <a16:rowId xmlns:a16="http://schemas.microsoft.com/office/drawing/2014/main" val="10004"/>
                  </a:ext>
                </a:extLst>
              </a:tr>
              <a:tr h="414528">
                <a:tc>
                  <a:txBody>
                    <a:bodyPr/>
                    <a:lstStyle/>
                    <a:p>
                      <a:pPr marL="0" indent="0">
                        <a:buNone/>
                      </a:pPr>
                      <a:r>
                        <a:rPr lang="en-US" sz="1600" dirty="0">
                          <a:solidFill>
                            <a:srgbClr val="0D2340"/>
                          </a:solidFill>
                        </a:rPr>
                        <a:t>Rasa DIET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D9770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D9770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D9770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14528">
                <a:tc>
                  <a:txBody>
                    <a:bodyPr/>
                    <a:lstStyle/>
                    <a:p>
                      <a:pPr marL="0" indent="0">
                        <a:buNone/>
                      </a:pPr>
                      <a:r>
                        <a:rPr lang="en-US" sz="1600" dirty="0">
                          <a:solidFill>
                            <a:srgbClr val="0D2340"/>
                          </a:solidFill>
                        </a:rPr>
                        <a:t>Whisper</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D9770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D9770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extLst>
                  <a:ext uri="{0D108BD9-81ED-4DB2-BD59-A6C34878D82A}">
                    <a16:rowId xmlns:a16="http://schemas.microsoft.com/office/drawing/2014/main" val="10006"/>
                  </a:ext>
                </a:extLst>
              </a:tr>
              <a:tr h="414528">
                <a:tc>
                  <a:txBody>
                    <a:bodyPr/>
                    <a:lstStyle/>
                    <a:p>
                      <a:pPr marL="0" indent="0">
                        <a:buNone/>
                      </a:pPr>
                      <a:r>
                        <a:rPr lang="en-US" sz="1600" b="1" dirty="0">
                          <a:solidFill>
                            <a:srgbClr val="FFFFFF"/>
                          </a:solidFill>
                        </a:rPr>
                        <a:t>⭐  This Research</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E7490"/>
                    </a:solidFill>
                  </a:tcPr>
                </a:tc>
                <a:tc>
                  <a:txBody>
                    <a:bodyPr/>
                    <a:lstStyle/>
                    <a:p>
                      <a:pPr marL="0" indent="0" algn="ctr">
                        <a:buNone/>
                      </a:pPr>
                      <a:r>
                        <a:rPr lang="en-US" sz="1600" b="1" dirty="0">
                          <a:solidFill>
                            <a:srgbClr val="FFFFFF"/>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E7490"/>
                    </a:solidFill>
                  </a:tcPr>
                </a:tc>
                <a:tc>
                  <a:txBody>
                    <a:bodyPr/>
                    <a:lstStyle/>
                    <a:p>
                      <a:pPr marL="0" indent="0" algn="ctr">
                        <a:buNone/>
                      </a:pPr>
                      <a:r>
                        <a:rPr lang="en-US" sz="1600" b="1" dirty="0">
                          <a:solidFill>
                            <a:srgbClr val="FFFFFF"/>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E7490"/>
                    </a:solidFill>
                  </a:tcPr>
                </a:tc>
                <a:tc>
                  <a:txBody>
                    <a:bodyPr/>
                    <a:lstStyle/>
                    <a:p>
                      <a:pPr marL="0" indent="0" algn="ctr">
                        <a:buNone/>
                      </a:pPr>
                      <a:r>
                        <a:rPr lang="en-US" sz="1600" b="1" dirty="0">
                          <a:solidFill>
                            <a:srgbClr val="FFFFFF"/>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E7490"/>
                    </a:solidFill>
                  </a:tcPr>
                </a:tc>
                <a:tc>
                  <a:txBody>
                    <a:bodyPr/>
                    <a:lstStyle/>
                    <a:p>
                      <a:pPr marL="0" indent="0" algn="ctr">
                        <a:buNone/>
                      </a:pPr>
                      <a:r>
                        <a:rPr lang="en-US" sz="1600" b="1" dirty="0">
                          <a:solidFill>
                            <a:srgbClr val="FFFFFF"/>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E7490"/>
                    </a:solidFill>
                  </a:tcPr>
                </a:tc>
                <a:tc>
                  <a:txBody>
                    <a:bodyPr/>
                    <a:lstStyle/>
                    <a:p>
                      <a:pPr marL="0" indent="0" algn="ctr">
                        <a:buNone/>
                      </a:pPr>
                      <a:r>
                        <a:rPr lang="en-US" sz="1600" b="1" dirty="0">
                          <a:solidFill>
                            <a:srgbClr val="FFFFFF"/>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E7490"/>
                    </a:solidFill>
                  </a:tcPr>
                </a:tc>
                <a:tc>
                  <a:txBody>
                    <a:bodyPr/>
                    <a:lstStyle/>
                    <a:p>
                      <a:pPr marL="0" indent="0" algn="ctr">
                        <a:buNone/>
                      </a:pPr>
                      <a:r>
                        <a:rPr lang="en-US" sz="1600" b="1" dirty="0">
                          <a:solidFill>
                            <a:srgbClr val="FFFFFF"/>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E7490"/>
                    </a:solidFill>
                  </a:tcPr>
                </a:tc>
                <a:tc>
                  <a:txBody>
                    <a:bodyPr/>
                    <a:lstStyle/>
                    <a:p>
                      <a:pPr marL="0" indent="0" algn="ctr">
                        <a:buNone/>
                      </a:pPr>
                      <a:r>
                        <a:rPr lang="en-US" sz="1600" b="1" dirty="0">
                          <a:solidFill>
                            <a:srgbClr val="FFFFFF"/>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E7490"/>
                    </a:solidFill>
                  </a:tcPr>
                </a:tc>
                <a:extLst>
                  <a:ext uri="{0D108BD9-81ED-4DB2-BD59-A6C34878D82A}">
                    <a16:rowId xmlns:a16="http://schemas.microsoft.com/office/drawing/2014/main" val="10007"/>
                  </a:ext>
                </a:extLst>
              </a:tr>
            </a:tbl>
          </a:graphicData>
        </a:graphic>
      </p:graphicFrame>
      <p:sp>
        <p:nvSpPr>
          <p:cNvPr id="11" name="Title 1">
            <a:extLst>
              <a:ext uri="{FF2B5EF4-FFF2-40B4-BE49-F238E27FC236}">
                <a16:creationId xmlns:a16="http://schemas.microsoft.com/office/drawing/2014/main" id="{3B312CF1-C3EA-0714-E3DC-F045CBA5F740}"/>
              </a:ext>
            </a:extLst>
          </p:cNvPr>
          <p:cNvSpPr txBox="1">
            <a:spLocks/>
          </p:cNvSpPr>
          <p:nvPr/>
        </p:nvSpPr>
        <p:spPr>
          <a:xfrm>
            <a:off x="609600" y="290383"/>
            <a:ext cx="8525719" cy="673418"/>
          </a:xfrm>
          <a:prstGeom prst="rect">
            <a:avLst/>
          </a:prstGeom>
        </p:spPr>
        <p:txBody>
          <a:bodyPr>
            <a:normAutofit fontScale="97500" lnSpcReduction="10000"/>
          </a:bodyPr>
          <a:lstStyle>
            <a:lvl1pPr algn="l" defTabSz="914400" rtl="0" eaLnBrk="1" latinLnBrk="0" hangingPunct="1">
              <a:lnSpc>
                <a:spcPct val="90000"/>
              </a:lnSpc>
              <a:spcBef>
                <a:spcPct val="0"/>
              </a:spcBef>
              <a:buNone/>
              <a:defRPr sz="4400" kern="1200">
                <a:solidFill>
                  <a:srgbClr val="1B2A4A"/>
                </a:solidFill>
                <a:latin typeface="+mj-lt"/>
                <a:ea typeface="+mj-ea"/>
                <a:cs typeface="+mj-cs"/>
              </a:defRPr>
            </a:lvl1pPr>
          </a:lstStyle>
          <a:p>
            <a:r>
              <a:rPr lang="en-US" dirty="0"/>
              <a:t>Literature Review</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44F2911-F36A-AF4A-7D32-9DE46D59EA53}"/>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 name="Subtitle 2">
            <a:extLst>
              <a:ext uri="{FF2B5EF4-FFF2-40B4-BE49-F238E27FC236}">
                <a16:creationId xmlns:a16="http://schemas.microsoft.com/office/drawing/2014/main" id="{100F3C45-075F-0E7A-15AC-47DFE21FE4CB}"/>
              </a:ext>
            </a:extLst>
          </p:cNvPr>
          <p:cNvSpPr>
            <a:spLocks noGrp="1"/>
          </p:cNvSpPr>
          <p:nvPr>
            <p:ph type="subTitle" idx="1"/>
          </p:nvPr>
        </p:nvSpPr>
        <p:spPr>
          <a:xfrm>
            <a:off x="838200" y="1337310"/>
            <a:ext cx="10911840" cy="4549140"/>
          </a:xfrm>
        </p:spPr>
        <p:txBody>
          <a:bodyPr>
            <a:normAutofit/>
          </a:bodyPr>
          <a:lstStyle/>
          <a:p>
            <a:pPr marL="457200" indent="-457200" algn="l">
              <a:spcAft>
                <a:spcPts val="300"/>
              </a:spcAft>
              <a:buFont typeface="+mj-lt"/>
              <a:buAutoNum type="arabicPeriod"/>
            </a:pPr>
            <a:r>
              <a:rPr lang="en-US" b="1" i="1" dirty="0"/>
              <a:t>STT Noise Impact on NLU (Core Research Gap) : </a:t>
            </a:r>
            <a:r>
              <a:rPr lang="en-US" dirty="0"/>
              <a:t>No quantification of how offline STT noise degrades NLU accuracy in a hospitality context</a:t>
            </a:r>
            <a:endParaRPr lang="en-US" b="1" i="1" dirty="0"/>
          </a:p>
          <a:p>
            <a:pPr marL="457200" indent="-457200" algn="l">
              <a:spcAft>
                <a:spcPts val="300"/>
              </a:spcAft>
              <a:buFont typeface="+mj-lt"/>
              <a:buAutoNum type="arabicPeriod"/>
            </a:pPr>
            <a:r>
              <a:rPr lang="en-US" b="1" i="1" dirty="0"/>
              <a:t>On-Device NLU for Hospitality in a Real STT Pipeline: </a:t>
            </a:r>
            <a:r>
              <a:rPr lang="en-US" dirty="0"/>
              <a:t>No evaluation of compact on-device NLU models on hospitality intents within a real offline STT pipeline</a:t>
            </a:r>
            <a:endParaRPr lang="en-US" b="1" i="1" dirty="0"/>
          </a:p>
          <a:p>
            <a:pPr marL="457200" indent="-457200" algn="l">
              <a:spcAft>
                <a:spcPts val="300"/>
              </a:spcAft>
              <a:buFont typeface="+mj-lt"/>
              <a:buAutoNum type="arabicPeriod"/>
            </a:pPr>
            <a:r>
              <a:rPr lang="en-US" b="1" i="1" dirty="0"/>
              <a:t>Integrated Offline Hospitality System : </a:t>
            </a:r>
            <a:r>
              <a:rPr lang="en-US" dirty="0"/>
              <a:t>No end-to-end system combining offline STT, on-device NLU, and real-time staff dashboard without cloud</a:t>
            </a:r>
            <a:endParaRPr lang="en-US" b="1" i="1" dirty="0"/>
          </a:p>
          <a:p>
            <a:pPr marL="457200" indent="-457200" algn="l">
              <a:spcAft>
                <a:spcPts val="300"/>
              </a:spcAft>
              <a:buFont typeface="+mj-lt"/>
              <a:buAutoNum type="arabicPeriod"/>
            </a:pPr>
            <a:r>
              <a:rPr lang="en-US" b="1" i="1" dirty="0"/>
              <a:t>Developing Economy Context : </a:t>
            </a:r>
            <a:r>
              <a:rPr lang="en-US" dirty="0"/>
              <a:t>No such system built for developing economy conditions like Sri Lanka; low cost, no subscriptions, local serviceability</a:t>
            </a:r>
          </a:p>
          <a:p>
            <a:pPr marL="457200" indent="-457200" algn="l">
              <a:buFont typeface="+mj-lt"/>
              <a:buAutoNum type="arabicPeriod"/>
            </a:pPr>
            <a:endParaRPr lang="en-US" dirty="0"/>
          </a:p>
        </p:txBody>
      </p:sp>
      <p:sp>
        <p:nvSpPr>
          <p:cNvPr id="4" name="Title 1">
            <a:extLst>
              <a:ext uri="{FF2B5EF4-FFF2-40B4-BE49-F238E27FC236}">
                <a16:creationId xmlns:a16="http://schemas.microsoft.com/office/drawing/2014/main" id="{666E3574-DC44-3C20-5DDA-08AD21D3E99A}"/>
              </a:ext>
            </a:extLst>
          </p:cNvPr>
          <p:cNvSpPr txBox="1">
            <a:spLocks/>
          </p:cNvSpPr>
          <p:nvPr/>
        </p:nvSpPr>
        <p:spPr>
          <a:xfrm>
            <a:off x="603421" y="193992"/>
            <a:ext cx="6088380" cy="673418"/>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rgbClr val="1B2A4A"/>
                </a:solidFill>
                <a:latin typeface="+mj-lt"/>
                <a:ea typeface="+mj-ea"/>
                <a:cs typeface="+mj-cs"/>
              </a:defRPr>
            </a:lvl1pPr>
          </a:lstStyle>
          <a:p>
            <a:pPr algn="l"/>
            <a:r>
              <a:rPr lang="en-US" sz="4400" dirty="0"/>
              <a:t>Research Gaps</a:t>
            </a:r>
          </a:p>
        </p:txBody>
      </p:sp>
      <p:sp>
        <p:nvSpPr>
          <p:cNvPr id="5" name="Slide Number Placeholder 4">
            <a:extLst>
              <a:ext uri="{FF2B5EF4-FFF2-40B4-BE49-F238E27FC236}">
                <a16:creationId xmlns:a16="http://schemas.microsoft.com/office/drawing/2014/main" id="{7FBCDB07-0CCA-9E4C-052A-871EC652E4E1}"/>
              </a:ext>
            </a:extLst>
          </p:cNvPr>
          <p:cNvSpPr>
            <a:spLocks noGrp="1"/>
          </p:cNvSpPr>
          <p:nvPr>
            <p:ph type="sldNum" sz="quarter" idx="12"/>
          </p:nvPr>
        </p:nvSpPr>
        <p:spPr/>
        <p:txBody>
          <a:bodyPr/>
          <a:lstStyle/>
          <a:p>
            <a:fld id="{9890CE2D-2882-48A4-88CB-3A003AF6C150}" type="slidenum">
              <a:rPr lang="en-US" smtClean="0"/>
              <a:t>5</a:t>
            </a:fld>
            <a:endParaRPr lang="en-US"/>
          </a:p>
        </p:txBody>
      </p:sp>
    </p:spTree>
    <p:extLst>
      <p:ext uri="{BB962C8B-B14F-4D97-AF65-F5344CB8AC3E}">
        <p14:creationId xmlns:p14="http://schemas.microsoft.com/office/powerpoint/2010/main" val="21695881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42BE74D-59DC-E968-D3E1-BDE074D39828}"/>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5" name="Shape 3"/>
          <p:cNvSpPr/>
          <p:nvPr/>
        </p:nvSpPr>
        <p:spPr>
          <a:xfrm>
            <a:off x="853440" y="2022020"/>
            <a:ext cx="1097280" cy="1097280"/>
          </a:xfrm>
          <a:prstGeom prst="ellipse">
            <a:avLst/>
          </a:prstGeom>
          <a:solidFill>
            <a:srgbClr val="0E7490"/>
          </a:solidFill>
          <a:ln w="12700">
            <a:solidFill>
              <a:srgbClr val="FFFFFF"/>
            </a:solidFill>
            <a:prstDash val="solid"/>
          </a:ln>
        </p:spPr>
        <p:txBody>
          <a:bodyPr/>
          <a:lstStyle/>
          <a:p>
            <a:endParaRPr lang="en-US" sz="2400"/>
          </a:p>
        </p:txBody>
      </p:sp>
      <p:sp>
        <p:nvSpPr>
          <p:cNvPr id="6" name="Text 4"/>
          <p:cNvSpPr/>
          <p:nvPr/>
        </p:nvSpPr>
        <p:spPr>
          <a:xfrm>
            <a:off x="853440" y="2022020"/>
            <a:ext cx="1097280" cy="1097280"/>
          </a:xfrm>
          <a:prstGeom prst="rect">
            <a:avLst/>
          </a:prstGeom>
          <a:noFill/>
          <a:ln/>
        </p:spPr>
        <p:txBody>
          <a:bodyPr wrap="square" rtlCol="0" anchor="ctr"/>
          <a:lstStyle/>
          <a:p>
            <a:pPr algn="ctr"/>
            <a:r>
              <a:rPr lang="en-US" sz="2400" b="1" dirty="0">
                <a:solidFill>
                  <a:srgbClr val="FFFFFF"/>
                </a:solidFill>
              </a:rPr>
              <a:t>1</a:t>
            </a:r>
            <a:endParaRPr lang="en-US" sz="2400" dirty="0"/>
          </a:p>
        </p:txBody>
      </p:sp>
      <p:sp>
        <p:nvSpPr>
          <p:cNvPr id="7" name="Shape 5"/>
          <p:cNvSpPr/>
          <p:nvPr/>
        </p:nvSpPr>
        <p:spPr>
          <a:xfrm>
            <a:off x="2097024" y="2570660"/>
            <a:ext cx="780288" cy="0"/>
          </a:xfrm>
          <a:prstGeom prst="line">
            <a:avLst/>
          </a:prstGeom>
          <a:noFill/>
          <a:ln w="25400">
            <a:solidFill>
              <a:srgbClr val="0E7490"/>
            </a:solidFill>
            <a:prstDash val="solid"/>
          </a:ln>
        </p:spPr>
        <p:txBody>
          <a:bodyPr/>
          <a:lstStyle/>
          <a:p>
            <a:endParaRPr lang="en-US" sz="2400"/>
          </a:p>
        </p:txBody>
      </p:sp>
      <p:sp>
        <p:nvSpPr>
          <p:cNvPr id="8" name="Text 6"/>
          <p:cNvSpPr/>
          <p:nvPr/>
        </p:nvSpPr>
        <p:spPr>
          <a:xfrm>
            <a:off x="365760" y="3216836"/>
            <a:ext cx="2072640" cy="536448"/>
          </a:xfrm>
          <a:prstGeom prst="rect">
            <a:avLst/>
          </a:prstGeom>
          <a:noFill/>
          <a:ln/>
        </p:spPr>
        <p:txBody>
          <a:bodyPr wrap="square" rtlCol="0" anchor="ctr"/>
          <a:lstStyle/>
          <a:p>
            <a:pPr algn="ctr"/>
            <a:r>
              <a:rPr lang="en-US" sz="1333" b="1" dirty="0">
                <a:solidFill>
                  <a:srgbClr val="0D2340"/>
                </a:solidFill>
                <a:latin typeface="Calibri" pitchFamily="34" charset="0"/>
                <a:ea typeface="Calibri" pitchFamily="34" charset="-122"/>
                <a:cs typeface="Calibri" pitchFamily="34" charset="-120"/>
              </a:rPr>
              <a:t>Problem</a:t>
            </a:r>
            <a:endParaRPr lang="en-US" sz="1333" dirty="0"/>
          </a:p>
          <a:p>
            <a:pPr algn="ctr"/>
            <a:r>
              <a:rPr lang="en-US" sz="1333" b="1" dirty="0">
                <a:solidFill>
                  <a:srgbClr val="0D2340"/>
                </a:solidFill>
                <a:latin typeface="Calibri" pitchFamily="34" charset="0"/>
                <a:ea typeface="Calibri" pitchFamily="34" charset="-122"/>
                <a:cs typeface="Calibri" pitchFamily="34" charset="-120"/>
              </a:rPr>
              <a:t>Identification</a:t>
            </a:r>
            <a:endParaRPr lang="en-US" sz="1333" dirty="0"/>
          </a:p>
        </p:txBody>
      </p:sp>
      <p:sp>
        <p:nvSpPr>
          <p:cNvPr id="9" name="Shape 7"/>
          <p:cNvSpPr/>
          <p:nvPr/>
        </p:nvSpPr>
        <p:spPr>
          <a:xfrm>
            <a:off x="365760" y="3826436"/>
            <a:ext cx="2072640" cy="170688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dirty="0"/>
          </a:p>
        </p:txBody>
      </p:sp>
      <p:sp>
        <p:nvSpPr>
          <p:cNvPr id="10" name="Text 8"/>
          <p:cNvSpPr/>
          <p:nvPr/>
        </p:nvSpPr>
        <p:spPr>
          <a:xfrm>
            <a:off x="451104" y="3887396"/>
            <a:ext cx="1926336" cy="1584960"/>
          </a:xfrm>
          <a:prstGeom prst="rect">
            <a:avLst/>
          </a:prstGeom>
          <a:noFill/>
          <a:ln/>
        </p:spPr>
        <p:txBody>
          <a:bodyPr wrap="square" rtlCol="0" anchor="ctr"/>
          <a:lstStyle/>
          <a:p>
            <a:pPr marL="171450" indent="-171450">
              <a:buFont typeface="Arial" panose="020B0604020202020204" pitchFamily="34" charset="0"/>
              <a:buChar char="•"/>
            </a:pPr>
            <a:r>
              <a:rPr lang="en-US" sz="1200" dirty="0">
                <a:solidFill>
                  <a:srgbClr val="475569"/>
                </a:solidFill>
                <a:latin typeface="Calibri" pitchFamily="34" charset="0"/>
                <a:ea typeface="Calibri" pitchFamily="34" charset="-122"/>
                <a:cs typeface="Calibri" pitchFamily="34" charset="-120"/>
              </a:rPr>
              <a:t>Literature review</a:t>
            </a:r>
            <a:endParaRPr lang="en-US" sz="1200" dirty="0"/>
          </a:p>
          <a:p>
            <a:pPr marL="171450" indent="-171450">
              <a:buFont typeface="Arial" panose="020B0604020202020204" pitchFamily="34" charset="0"/>
              <a:buChar char="•"/>
            </a:pPr>
            <a:r>
              <a:rPr lang="en-US" sz="1200" dirty="0">
                <a:solidFill>
                  <a:srgbClr val="475569"/>
                </a:solidFill>
                <a:latin typeface="Calibri" pitchFamily="34" charset="0"/>
                <a:ea typeface="Calibri" pitchFamily="34" charset="-122"/>
                <a:cs typeface="Calibri" pitchFamily="34" charset="-120"/>
              </a:rPr>
              <a:t>+ practitioner consultation</a:t>
            </a:r>
            <a:endParaRPr lang="en-US" sz="1200" dirty="0"/>
          </a:p>
          <a:p>
            <a:pPr marL="171450" indent="-171450">
              <a:buFont typeface="Arial" panose="020B0604020202020204" pitchFamily="34" charset="0"/>
              <a:buChar char="•"/>
            </a:pPr>
            <a:r>
              <a:rPr lang="en-US" sz="1200" dirty="0">
                <a:solidFill>
                  <a:srgbClr val="475569"/>
                </a:solidFill>
                <a:latin typeface="Calibri" pitchFamily="34" charset="0"/>
                <a:ea typeface="Calibri" pitchFamily="34" charset="-122"/>
                <a:cs typeface="Calibri" pitchFamily="34" charset="-120"/>
              </a:rPr>
              <a:t>+ guest survey (n=20)</a:t>
            </a:r>
            <a:endParaRPr lang="en-US" sz="1200" dirty="0"/>
          </a:p>
        </p:txBody>
      </p:sp>
      <p:sp>
        <p:nvSpPr>
          <p:cNvPr id="11" name="Shape 9"/>
          <p:cNvSpPr/>
          <p:nvPr/>
        </p:nvSpPr>
        <p:spPr>
          <a:xfrm>
            <a:off x="3218688" y="2022020"/>
            <a:ext cx="1097280" cy="1097280"/>
          </a:xfrm>
          <a:prstGeom prst="ellipse">
            <a:avLst/>
          </a:prstGeom>
          <a:solidFill>
            <a:srgbClr val="0E7490"/>
          </a:solidFill>
          <a:ln w="12700">
            <a:solidFill>
              <a:srgbClr val="FFFFFF"/>
            </a:solidFill>
            <a:prstDash val="solid"/>
          </a:ln>
        </p:spPr>
        <p:txBody>
          <a:bodyPr/>
          <a:lstStyle/>
          <a:p>
            <a:endParaRPr lang="en-US" sz="2400"/>
          </a:p>
        </p:txBody>
      </p:sp>
      <p:sp>
        <p:nvSpPr>
          <p:cNvPr id="12" name="Text 10"/>
          <p:cNvSpPr/>
          <p:nvPr/>
        </p:nvSpPr>
        <p:spPr>
          <a:xfrm>
            <a:off x="3218688" y="2022020"/>
            <a:ext cx="1097280" cy="1097280"/>
          </a:xfrm>
          <a:prstGeom prst="rect">
            <a:avLst/>
          </a:prstGeom>
          <a:noFill/>
          <a:ln/>
        </p:spPr>
        <p:txBody>
          <a:bodyPr wrap="square" rtlCol="0" anchor="ctr"/>
          <a:lstStyle/>
          <a:p>
            <a:pPr algn="ctr"/>
            <a:r>
              <a:rPr lang="en-US" sz="2400" b="1" dirty="0">
                <a:solidFill>
                  <a:srgbClr val="FFFFFF"/>
                </a:solidFill>
              </a:rPr>
              <a:t>2</a:t>
            </a:r>
            <a:endParaRPr lang="en-US" sz="2400" dirty="0"/>
          </a:p>
        </p:txBody>
      </p:sp>
      <p:sp>
        <p:nvSpPr>
          <p:cNvPr id="13" name="Shape 11"/>
          <p:cNvSpPr/>
          <p:nvPr/>
        </p:nvSpPr>
        <p:spPr>
          <a:xfrm>
            <a:off x="4462272" y="2570660"/>
            <a:ext cx="780288" cy="0"/>
          </a:xfrm>
          <a:prstGeom prst="line">
            <a:avLst/>
          </a:prstGeom>
          <a:noFill/>
          <a:ln w="25400">
            <a:solidFill>
              <a:srgbClr val="0E7490"/>
            </a:solidFill>
            <a:prstDash val="solid"/>
          </a:ln>
        </p:spPr>
        <p:txBody>
          <a:bodyPr/>
          <a:lstStyle/>
          <a:p>
            <a:endParaRPr lang="en-US" sz="2400"/>
          </a:p>
        </p:txBody>
      </p:sp>
      <p:sp>
        <p:nvSpPr>
          <p:cNvPr id="14" name="Text 12"/>
          <p:cNvSpPr/>
          <p:nvPr/>
        </p:nvSpPr>
        <p:spPr>
          <a:xfrm>
            <a:off x="2731008" y="3216836"/>
            <a:ext cx="2072640" cy="536448"/>
          </a:xfrm>
          <a:prstGeom prst="rect">
            <a:avLst/>
          </a:prstGeom>
          <a:noFill/>
          <a:ln/>
        </p:spPr>
        <p:txBody>
          <a:bodyPr wrap="square" rtlCol="0" anchor="ctr"/>
          <a:lstStyle/>
          <a:p>
            <a:pPr algn="ctr"/>
            <a:r>
              <a:rPr lang="en-US" sz="1333" b="1" dirty="0">
                <a:solidFill>
                  <a:srgbClr val="0D2340"/>
                </a:solidFill>
                <a:latin typeface="Calibri" pitchFamily="34" charset="0"/>
                <a:ea typeface="Calibri" pitchFamily="34" charset="-122"/>
                <a:cs typeface="Calibri" pitchFamily="34" charset="-120"/>
              </a:rPr>
              <a:t>Solution</a:t>
            </a:r>
            <a:endParaRPr lang="en-US" sz="1333" dirty="0"/>
          </a:p>
          <a:p>
            <a:pPr algn="ctr"/>
            <a:r>
              <a:rPr lang="en-US" sz="1333" b="1" dirty="0">
                <a:solidFill>
                  <a:srgbClr val="0D2340"/>
                </a:solidFill>
                <a:latin typeface="Calibri" pitchFamily="34" charset="0"/>
                <a:ea typeface="Calibri" pitchFamily="34" charset="-122"/>
                <a:cs typeface="Calibri" pitchFamily="34" charset="-120"/>
              </a:rPr>
              <a:t>Design</a:t>
            </a:r>
            <a:endParaRPr lang="en-US" sz="1333" dirty="0"/>
          </a:p>
        </p:txBody>
      </p:sp>
      <p:sp>
        <p:nvSpPr>
          <p:cNvPr id="15" name="Shape 13"/>
          <p:cNvSpPr/>
          <p:nvPr/>
        </p:nvSpPr>
        <p:spPr>
          <a:xfrm>
            <a:off x="2731008" y="3826436"/>
            <a:ext cx="2072640" cy="170688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2400"/>
          </a:p>
        </p:txBody>
      </p:sp>
      <p:sp>
        <p:nvSpPr>
          <p:cNvPr id="16" name="Text 14"/>
          <p:cNvSpPr/>
          <p:nvPr/>
        </p:nvSpPr>
        <p:spPr>
          <a:xfrm>
            <a:off x="2816352" y="3887396"/>
            <a:ext cx="1926336" cy="1584960"/>
          </a:xfrm>
          <a:prstGeom prst="rect">
            <a:avLst/>
          </a:prstGeom>
          <a:noFill/>
          <a:ln/>
        </p:spPr>
        <p:txBody>
          <a:bodyPr wrap="square" rtlCol="0" anchor="ctr"/>
          <a:lstStyle/>
          <a:p>
            <a:pPr marL="171450" indent="-171450">
              <a:buFont typeface="Arial" panose="020B0604020202020204" pitchFamily="34" charset="0"/>
              <a:buChar char="•"/>
            </a:pPr>
            <a:r>
              <a:rPr lang="en-US" sz="1200" dirty="0">
                <a:solidFill>
                  <a:srgbClr val="475569"/>
                </a:solidFill>
                <a:latin typeface="Calibri" pitchFamily="34" charset="0"/>
                <a:ea typeface="Calibri" pitchFamily="34" charset="-122"/>
                <a:cs typeface="Calibri" pitchFamily="34" charset="-120"/>
              </a:rPr>
              <a:t>System architecture</a:t>
            </a:r>
            <a:endParaRPr lang="en-US" sz="1200" dirty="0"/>
          </a:p>
          <a:p>
            <a:pPr marL="171450" indent="-171450">
              <a:buFont typeface="Arial" panose="020B0604020202020204" pitchFamily="34" charset="0"/>
              <a:buChar char="•"/>
            </a:pPr>
            <a:r>
              <a:rPr lang="en-US" sz="1200" dirty="0">
                <a:solidFill>
                  <a:srgbClr val="475569"/>
                </a:solidFill>
                <a:latin typeface="Calibri" pitchFamily="34" charset="0"/>
                <a:ea typeface="Calibri" pitchFamily="34" charset="-122"/>
                <a:cs typeface="Calibri" pitchFamily="34" charset="-120"/>
              </a:rPr>
              <a:t>Requirements</a:t>
            </a:r>
          </a:p>
          <a:p>
            <a:pPr marL="171450" indent="-171450">
              <a:buFont typeface="Arial" panose="020B0604020202020204" pitchFamily="34" charset="0"/>
              <a:buChar char="•"/>
            </a:pPr>
            <a:r>
              <a:rPr lang="en-US" sz="1200" dirty="0">
                <a:solidFill>
                  <a:srgbClr val="475569"/>
                </a:solidFill>
                <a:latin typeface="Calibri" pitchFamily="34" charset="0"/>
                <a:ea typeface="Calibri" pitchFamily="34" charset="-122"/>
                <a:cs typeface="Calibri" pitchFamily="34" charset="-120"/>
              </a:rPr>
              <a:t>3-model</a:t>
            </a:r>
            <a:r>
              <a:rPr lang="en-US" sz="1200" dirty="0"/>
              <a:t> </a:t>
            </a:r>
            <a:r>
              <a:rPr lang="en-US" sz="1200" dirty="0">
                <a:solidFill>
                  <a:srgbClr val="475569"/>
                </a:solidFill>
                <a:latin typeface="Calibri" pitchFamily="34" charset="0"/>
                <a:ea typeface="Calibri" pitchFamily="34" charset="-122"/>
                <a:cs typeface="Calibri" pitchFamily="34" charset="-120"/>
              </a:rPr>
              <a:t>NLU experiment design</a:t>
            </a:r>
            <a:endParaRPr lang="en-US" sz="1200" dirty="0"/>
          </a:p>
        </p:txBody>
      </p:sp>
      <p:sp>
        <p:nvSpPr>
          <p:cNvPr id="17" name="Shape 15"/>
          <p:cNvSpPr/>
          <p:nvPr/>
        </p:nvSpPr>
        <p:spPr>
          <a:xfrm>
            <a:off x="5583936" y="2022020"/>
            <a:ext cx="1097280" cy="1097280"/>
          </a:xfrm>
          <a:prstGeom prst="ellipse">
            <a:avLst/>
          </a:prstGeom>
          <a:solidFill>
            <a:srgbClr val="0E7490"/>
          </a:solidFill>
          <a:ln w="12700">
            <a:solidFill>
              <a:srgbClr val="FFFFFF"/>
            </a:solidFill>
            <a:prstDash val="solid"/>
          </a:ln>
        </p:spPr>
        <p:txBody>
          <a:bodyPr/>
          <a:lstStyle/>
          <a:p>
            <a:endParaRPr lang="en-US" sz="2400"/>
          </a:p>
        </p:txBody>
      </p:sp>
      <p:sp>
        <p:nvSpPr>
          <p:cNvPr id="18" name="Text 16"/>
          <p:cNvSpPr/>
          <p:nvPr/>
        </p:nvSpPr>
        <p:spPr>
          <a:xfrm>
            <a:off x="5583936" y="2022020"/>
            <a:ext cx="1097280" cy="1097280"/>
          </a:xfrm>
          <a:prstGeom prst="rect">
            <a:avLst/>
          </a:prstGeom>
          <a:noFill/>
          <a:ln/>
        </p:spPr>
        <p:txBody>
          <a:bodyPr wrap="square" rtlCol="0" anchor="ctr"/>
          <a:lstStyle/>
          <a:p>
            <a:pPr algn="ctr"/>
            <a:r>
              <a:rPr lang="en-US" sz="2400" b="1" dirty="0">
                <a:solidFill>
                  <a:srgbClr val="FFFFFF"/>
                </a:solidFill>
              </a:rPr>
              <a:t>3</a:t>
            </a:r>
            <a:endParaRPr lang="en-US" sz="2400" dirty="0"/>
          </a:p>
        </p:txBody>
      </p:sp>
      <p:sp>
        <p:nvSpPr>
          <p:cNvPr id="19" name="Shape 17"/>
          <p:cNvSpPr/>
          <p:nvPr/>
        </p:nvSpPr>
        <p:spPr>
          <a:xfrm>
            <a:off x="6827520" y="2570660"/>
            <a:ext cx="780288" cy="0"/>
          </a:xfrm>
          <a:prstGeom prst="line">
            <a:avLst/>
          </a:prstGeom>
          <a:noFill/>
          <a:ln w="25400">
            <a:solidFill>
              <a:srgbClr val="0E7490"/>
            </a:solidFill>
            <a:prstDash val="solid"/>
          </a:ln>
        </p:spPr>
        <p:txBody>
          <a:bodyPr/>
          <a:lstStyle/>
          <a:p>
            <a:endParaRPr lang="en-US" sz="2400"/>
          </a:p>
        </p:txBody>
      </p:sp>
      <p:sp>
        <p:nvSpPr>
          <p:cNvPr id="20" name="Text 18"/>
          <p:cNvSpPr/>
          <p:nvPr/>
        </p:nvSpPr>
        <p:spPr>
          <a:xfrm>
            <a:off x="5096256" y="3216836"/>
            <a:ext cx="2072640" cy="536448"/>
          </a:xfrm>
          <a:prstGeom prst="rect">
            <a:avLst/>
          </a:prstGeom>
          <a:noFill/>
          <a:ln/>
        </p:spPr>
        <p:txBody>
          <a:bodyPr wrap="square" rtlCol="0" anchor="ctr"/>
          <a:lstStyle/>
          <a:p>
            <a:pPr algn="ctr"/>
            <a:r>
              <a:rPr lang="en-US" sz="1333" b="1" dirty="0">
                <a:solidFill>
                  <a:srgbClr val="0D2340"/>
                </a:solidFill>
                <a:latin typeface="Calibri" pitchFamily="34" charset="0"/>
                <a:ea typeface="Calibri" pitchFamily="34" charset="-122"/>
                <a:cs typeface="Calibri" pitchFamily="34" charset="-120"/>
              </a:rPr>
              <a:t>Artefact</a:t>
            </a:r>
            <a:endParaRPr lang="en-US" sz="1333" dirty="0"/>
          </a:p>
          <a:p>
            <a:pPr algn="ctr"/>
            <a:r>
              <a:rPr lang="en-US" sz="1333" b="1" dirty="0">
                <a:solidFill>
                  <a:srgbClr val="0D2340"/>
                </a:solidFill>
                <a:latin typeface="Calibri" pitchFamily="34" charset="0"/>
                <a:ea typeface="Calibri" pitchFamily="34" charset="-122"/>
                <a:cs typeface="Calibri" pitchFamily="34" charset="-120"/>
              </a:rPr>
              <a:t>Development</a:t>
            </a:r>
            <a:endParaRPr lang="en-US" sz="1333" dirty="0"/>
          </a:p>
        </p:txBody>
      </p:sp>
      <p:sp>
        <p:nvSpPr>
          <p:cNvPr id="21" name="Shape 19"/>
          <p:cNvSpPr/>
          <p:nvPr/>
        </p:nvSpPr>
        <p:spPr>
          <a:xfrm>
            <a:off x="5096256" y="3826436"/>
            <a:ext cx="2072640" cy="170688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2400"/>
          </a:p>
        </p:txBody>
      </p:sp>
      <p:sp>
        <p:nvSpPr>
          <p:cNvPr id="22" name="Text 20"/>
          <p:cNvSpPr/>
          <p:nvPr/>
        </p:nvSpPr>
        <p:spPr>
          <a:xfrm>
            <a:off x="5181600" y="3887396"/>
            <a:ext cx="1926336" cy="1584960"/>
          </a:xfrm>
          <a:prstGeom prst="rect">
            <a:avLst/>
          </a:prstGeom>
          <a:noFill/>
          <a:ln/>
        </p:spPr>
        <p:txBody>
          <a:bodyPr wrap="square" rtlCol="0" anchor="ctr"/>
          <a:lstStyle/>
          <a:p>
            <a:pPr marL="171450" indent="-171450">
              <a:buFont typeface="Arial" panose="020B0604020202020204" pitchFamily="34" charset="0"/>
              <a:buChar char="•"/>
            </a:pPr>
            <a:r>
              <a:rPr lang="en-US" sz="1200" dirty="0">
                <a:solidFill>
                  <a:srgbClr val="475569"/>
                </a:solidFill>
                <a:latin typeface="Calibri" pitchFamily="34" charset="0"/>
                <a:ea typeface="Calibri" pitchFamily="34" charset="-122"/>
                <a:cs typeface="Calibri" pitchFamily="34" charset="-120"/>
              </a:rPr>
              <a:t>4 iterative builds</a:t>
            </a:r>
            <a:endParaRPr lang="en-US" sz="1200" dirty="0"/>
          </a:p>
          <a:p>
            <a:pPr marL="171450" indent="-171450">
              <a:buFont typeface="Arial" panose="020B0604020202020204" pitchFamily="34" charset="0"/>
              <a:buChar char="•"/>
            </a:pPr>
            <a:r>
              <a:rPr lang="en-US" sz="1200" dirty="0">
                <a:solidFill>
                  <a:srgbClr val="475569"/>
                </a:solidFill>
                <a:latin typeface="Calibri" pitchFamily="34" charset="0"/>
                <a:ea typeface="Calibri" pitchFamily="34" charset="-122"/>
                <a:cs typeface="Calibri" pitchFamily="34" charset="-120"/>
              </a:rPr>
              <a:t>Android app</a:t>
            </a:r>
          </a:p>
          <a:p>
            <a:pPr marL="171450" indent="-171450">
              <a:buFont typeface="Arial" panose="020B0604020202020204" pitchFamily="34" charset="0"/>
              <a:buChar char="•"/>
            </a:pPr>
            <a:r>
              <a:rPr lang="en-US" sz="1200" dirty="0">
                <a:solidFill>
                  <a:srgbClr val="475569"/>
                </a:solidFill>
                <a:latin typeface="Calibri" pitchFamily="34" charset="0"/>
                <a:ea typeface="Calibri" pitchFamily="34" charset="-122"/>
                <a:cs typeface="Calibri" pitchFamily="34" charset="-120"/>
              </a:rPr>
              <a:t>Backend</a:t>
            </a:r>
            <a:endParaRPr lang="en-US" sz="1200" dirty="0"/>
          </a:p>
          <a:p>
            <a:pPr marL="171450" indent="-171450">
              <a:buFont typeface="Arial" panose="020B0604020202020204" pitchFamily="34" charset="0"/>
              <a:buChar char="•"/>
            </a:pPr>
            <a:r>
              <a:rPr lang="en-US" sz="1200" dirty="0">
                <a:solidFill>
                  <a:srgbClr val="475569"/>
                </a:solidFill>
                <a:latin typeface="Calibri" pitchFamily="34" charset="0"/>
                <a:ea typeface="Calibri" pitchFamily="34" charset="-122"/>
                <a:cs typeface="Calibri" pitchFamily="34" charset="-120"/>
              </a:rPr>
              <a:t>3 NLU model variants</a:t>
            </a:r>
            <a:endParaRPr lang="en-US" sz="1200" dirty="0"/>
          </a:p>
        </p:txBody>
      </p:sp>
      <p:sp>
        <p:nvSpPr>
          <p:cNvPr id="23" name="Shape 21"/>
          <p:cNvSpPr/>
          <p:nvPr/>
        </p:nvSpPr>
        <p:spPr>
          <a:xfrm>
            <a:off x="7949184" y="2022020"/>
            <a:ext cx="1097280" cy="1097280"/>
          </a:xfrm>
          <a:prstGeom prst="ellipse">
            <a:avLst/>
          </a:prstGeom>
          <a:solidFill>
            <a:srgbClr val="0E7490"/>
          </a:solidFill>
          <a:ln w="12700">
            <a:solidFill>
              <a:srgbClr val="FFFFFF"/>
            </a:solidFill>
            <a:prstDash val="solid"/>
          </a:ln>
        </p:spPr>
        <p:txBody>
          <a:bodyPr/>
          <a:lstStyle/>
          <a:p>
            <a:endParaRPr lang="en-US" sz="2400"/>
          </a:p>
        </p:txBody>
      </p:sp>
      <p:sp>
        <p:nvSpPr>
          <p:cNvPr id="24" name="Text 22"/>
          <p:cNvSpPr/>
          <p:nvPr/>
        </p:nvSpPr>
        <p:spPr>
          <a:xfrm>
            <a:off x="7949184" y="2022020"/>
            <a:ext cx="1097280" cy="1097280"/>
          </a:xfrm>
          <a:prstGeom prst="rect">
            <a:avLst/>
          </a:prstGeom>
          <a:noFill/>
          <a:ln/>
        </p:spPr>
        <p:txBody>
          <a:bodyPr wrap="square" rtlCol="0" anchor="ctr"/>
          <a:lstStyle/>
          <a:p>
            <a:pPr algn="ctr"/>
            <a:r>
              <a:rPr lang="en-US" sz="2400" b="1" dirty="0">
                <a:solidFill>
                  <a:srgbClr val="FFFFFF"/>
                </a:solidFill>
              </a:rPr>
              <a:t>4</a:t>
            </a:r>
            <a:endParaRPr lang="en-US" sz="2400" dirty="0"/>
          </a:p>
        </p:txBody>
      </p:sp>
      <p:sp>
        <p:nvSpPr>
          <p:cNvPr id="25" name="Shape 23"/>
          <p:cNvSpPr/>
          <p:nvPr/>
        </p:nvSpPr>
        <p:spPr>
          <a:xfrm>
            <a:off x="9192768" y="2570660"/>
            <a:ext cx="780288" cy="0"/>
          </a:xfrm>
          <a:prstGeom prst="line">
            <a:avLst/>
          </a:prstGeom>
          <a:noFill/>
          <a:ln w="25400">
            <a:solidFill>
              <a:srgbClr val="0E7490"/>
            </a:solidFill>
            <a:prstDash val="solid"/>
          </a:ln>
        </p:spPr>
        <p:txBody>
          <a:bodyPr/>
          <a:lstStyle/>
          <a:p>
            <a:endParaRPr lang="en-US" sz="2400"/>
          </a:p>
        </p:txBody>
      </p:sp>
      <p:sp>
        <p:nvSpPr>
          <p:cNvPr id="26" name="Text 24"/>
          <p:cNvSpPr/>
          <p:nvPr/>
        </p:nvSpPr>
        <p:spPr>
          <a:xfrm>
            <a:off x="7461504" y="3216836"/>
            <a:ext cx="2072640" cy="536448"/>
          </a:xfrm>
          <a:prstGeom prst="rect">
            <a:avLst/>
          </a:prstGeom>
          <a:noFill/>
          <a:ln/>
        </p:spPr>
        <p:txBody>
          <a:bodyPr wrap="square" rtlCol="0" anchor="ctr"/>
          <a:lstStyle/>
          <a:p>
            <a:pPr algn="ctr"/>
            <a:r>
              <a:rPr lang="en-US" sz="1333" b="1" dirty="0">
                <a:solidFill>
                  <a:srgbClr val="0D2340"/>
                </a:solidFill>
                <a:latin typeface="Calibri" pitchFamily="34" charset="0"/>
                <a:ea typeface="Calibri" pitchFamily="34" charset="-122"/>
                <a:cs typeface="Calibri" pitchFamily="34" charset="-120"/>
              </a:rPr>
              <a:t>Evaluation</a:t>
            </a:r>
            <a:endParaRPr lang="en-US" sz="1333" dirty="0"/>
          </a:p>
        </p:txBody>
      </p:sp>
      <p:sp>
        <p:nvSpPr>
          <p:cNvPr id="27" name="Shape 25"/>
          <p:cNvSpPr/>
          <p:nvPr/>
        </p:nvSpPr>
        <p:spPr>
          <a:xfrm>
            <a:off x="7461504" y="3826436"/>
            <a:ext cx="2072640" cy="170688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2400"/>
          </a:p>
        </p:txBody>
      </p:sp>
      <p:sp>
        <p:nvSpPr>
          <p:cNvPr id="28" name="Text 26"/>
          <p:cNvSpPr/>
          <p:nvPr/>
        </p:nvSpPr>
        <p:spPr>
          <a:xfrm>
            <a:off x="7607808" y="4065857"/>
            <a:ext cx="1926336" cy="1406499"/>
          </a:xfrm>
          <a:prstGeom prst="rect">
            <a:avLst/>
          </a:prstGeom>
          <a:noFill/>
          <a:ln/>
        </p:spPr>
        <p:txBody>
          <a:bodyPr wrap="square" rtlCol="0" anchor="ctr"/>
          <a:lstStyle/>
          <a:p>
            <a:pPr marL="171450" indent="-171450">
              <a:buFont typeface="Arial" panose="020B0604020202020204" pitchFamily="34" charset="0"/>
              <a:buChar char="•"/>
            </a:pPr>
            <a:r>
              <a:rPr lang="en-US" sz="1200" dirty="0">
                <a:solidFill>
                  <a:srgbClr val="475569"/>
                </a:solidFill>
                <a:latin typeface="Calibri" pitchFamily="34" charset="0"/>
                <a:ea typeface="Calibri" pitchFamily="34" charset="-122"/>
                <a:cs typeface="Calibri" pitchFamily="34" charset="-120"/>
              </a:rPr>
              <a:t>NLU accuracy</a:t>
            </a:r>
          </a:p>
          <a:p>
            <a:pPr marL="171450" indent="-171450">
              <a:buFont typeface="Arial" panose="020B0604020202020204" pitchFamily="34" charset="0"/>
              <a:buChar char="•"/>
            </a:pPr>
            <a:r>
              <a:rPr lang="en-US" sz="1200" dirty="0">
                <a:solidFill>
                  <a:srgbClr val="475569"/>
                </a:solidFill>
                <a:latin typeface="Calibri" pitchFamily="34" charset="0"/>
                <a:ea typeface="Calibri" pitchFamily="34" charset="-122"/>
                <a:cs typeface="Calibri" pitchFamily="34" charset="-120"/>
              </a:rPr>
              <a:t>WER</a:t>
            </a:r>
            <a:endParaRPr lang="en-US" sz="1200" dirty="0"/>
          </a:p>
          <a:p>
            <a:pPr marL="171450" indent="-171450">
              <a:buFont typeface="Arial" panose="020B0604020202020204" pitchFamily="34" charset="0"/>
              <a:buChar char="•"/>
            </a:pPr>
            <a:r>
              <a:rPr lang="en-US" sz="1200" dirty="0">
                <a:solidFill>
                  <a:srgbClr val="475569"/>
                </a:solidFill>
                <a:latin typeface="Calibri" pitchFamily="34" charset="0"/>
                <a:ea typeface="Calibri" pitchFamily="34" charset="-122"/>
                <a:cs typeface="Calibri" pitchFamily="34" charset="-120"/>
              </a:rPr>
              <a:t>Latency</a:t>
            </a:r>
          </a:p>
          <a:p>
            <a:pPr marL="171450" indent="-171450">
              <a:buFont typeface="Arial" panose="020B0604020202020204" pitchFamily="34" charset="0"/>
              <a:buChar char="•"/>
            </a:pPr>
            <a:r>
              <a:rPr lang="en-US" sz="1200" dirty="0">
                <a:solidFill>
                  <a:srgbClr val="475569"/>
                </a:solidFill>
                <a:latin typeface="Calibri" pitchFamily="34" charset="0"/>
                <a:ea typeface="Calibri" pitchFamily="34" charset="-122"/>
                <a:cs typeface="Calibri" pitchFamily="34" charset="-120"/>
              </a:rPr>
              <a:t>cost vs. cloud alternatives</a:t>
            </a:r>
            <a:endParaRPr lang="en-US" sz="1200" dirty="0"/>
          </a:p>
        </p:txBody>
      </p:sp>
      <p:sp>
        <p:nvSpPr>
          <p:cNvPr id="29" name="Shape 27"/>
          <p:cNvSpPr/>
          <p:nvPr/>
        </p:nvSpPr>
        <p:spPr>
          <a:xfrm>
            <a:off x="10314432" y="2022020"/>
            <a:ext cx="1097280" cy="1097280"/>
          </a:xfrm>
          <a:prstGeom prst="ellipse">
            <a:avLst/>
          </a:prstGeom>
          <a:solidFill>
            <a:srgbClr val="0E7490"/>
          </a:solidFill>
          <a:ln w="12700">
            <a:solidFill>
              <a:srgbClr val="FFFFFF"/>
            </a:solidFill>
            <a:prstDash val="solid"/>
          </a:ln>
        </p:spPr>
        <p:txBody>
          <a:bodyPr/>
          <a:lstStyle/>
          <a:p>
            <a:endParaRPr lang="en-US" sz="2400"/>
          </a:p>
        </p:txBody>
      </p:sp>
      <p:sp>
        <p:nvSpPr>
          <p:cNvPr id="30" name="Text 28"/>
          <p:cNvSpPr/>
          <p:nvPr/>
        </p:nvSpPr>
        <p:spPr>
          <a:xfrm>
            <a:off x="10314432" y="2022020"/>
            <a:ext cx="1097280" cy="1097280"/>
          </a:xfrm>
          <a:prstGeom prst="rect">
            <a:avLst/>
          </a:prstGeom>
          <a:noFill/>
          <a:ln/>
        </p:spPr>
        <p:txBody>
          <a:bodyPr wrap="square" rtlCol="0" anchor="ctr"/>
          <a:lstStyle/>
          <a:p>
            <a:pPr algn="ctr"/>
            <a:r>
              <a:rPr lang="en-US" sz="2400" b="1" dirty="0">
                <a:solidFill>
                  <a:srgbClr val="FFFFFF"/>
                </a:solidFill>
              </a:rPr>
              <a:t>5</a:t>
            </a:r>
            <a:endParaRPr lang="en-US" sz="2400" dirty="0"/>
          </a:p>
        </p:txBody>
      </p:sp>
      <p:sp>
        <p:nvSpPr>
          <p:cNvPr id="31" name="Text 29"/>
          <p:cNvSpPr/>
          <p:nvPr/>
        </p:nvSpPr>
        <p:spPr>
          <a:xfrm>
            <a:off x="9826752" y="3216836"/>
            <a:ext cx="2072640" cy="536448"/>
          </a:xfrm>
          <a:prstGeom prst="rect">
            <a:avLst/>
          </a:prstGeom>
          <a:noFill/>
          <a:ln/>
        </p:spPr>
        <p:txBody>
          <a:bodyPr wrap="square" rtlCol="0" anchor="ctr"/>
          <a:lstStyle/>
          <a:p>
            <a:pPr algn="ctr"/>
            <a:r>
              <a:rPr lang="en-US" sz="1333" b="1" dirty="0">
                <a:solidFill>
                  <a:srgbClr val="0D2340"/>
                </a:solidFill>
                <a:latin typeface="Calibri" pitchFamily="34" charset="0"/>
                <a:ea typeface="Calibri" pitchFamily="34" charset="-122"/>
                <a:cs typeface="Calibri" pitchFamily="34" charset="-120"/>
              </a:rPr>
              <a:t>Communication</a:t>
            </a:r>
            <a:endParaRPr lang="en-US" sz="1333" dirty="0"/>
          </a:p>
        </p:txBody>
      </p:sp>
      <p:sp>
        <p:nvSpPr>
          <p:cNvPr id="32" name="Shape 30"/>
          <p:cNvSpPr/>
          <p:nvPr/>
        </p:nvSpPr>
        <p:spPr>
          <a:xfrm>
            <a:off x="9826752" y="3826436"/>
            <a:ext cx="2072640" cy="170688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2400" dirty="0"/>
          </a:p>
        </p:txBody>
      </p:sp>
      <p:sp>
        <p:nvSpPr>
          <p:cNvPr id="33" name="Text 31"/>
          <p:cNvSpPr/>
          <p:nvPr/>
        </p:nvSpPr>
        <p:spPr>
          <a:xfrm>
            <a:off x="9912096" y="3887396"/>
            <a:ext cx="1926336" cy="1584960"/>
          </a:xfrm>
          <a:prstGeom prst="rect">
            <a:avLst/>
          </a:prstGeom>
          <a:noFill/>
          <a:ln/>
        </p:spPr>
        <p:txBody>
          <a:bodyPr wrap="square" rtlCol="0" anchor="ctr"/>
          <a:lstStyle/>
          <a:p>
            <a:r>
              <a:rPr lang="en-US" sz="1200" dirty="0">
                <a:solidFill>
                  <a:srgbClr val="475569"/>
                </a:solidFill>
                <a:latin typeface="Calibri" pitchFamily="34" charset="0"/>
                <a:ea typeface="Calibri" pitchFamily="34" charset="-122"/>
                <a:cs typeface="Calibri" pitchFamily="34" charset="-120"/>
              </a:rPr>
              <a:t>Reporting </a:t>
            </a:r>
          </a:p>
          <a:p>
            <a:pPr marL="171450" indent="-171450">
              <a:buFont typeface="Arial" panose="020B0604020202020204" pitchFamily="34" charset="0"/>
              <a:buChar char="•"/>
            </a:pPr>
            <a:r>
              <a:rPr lang="en-US" sz="1200" dirty="0">
                <a:solidFill>
                  <a:srgbClr val="475569"/>
                </a:solidFill>
                <a:latin typeface="Calibri" pitchFamily="34" charset="0"/>
                <a:ea typeface="Calibri" pitchFamily="34" charset="-122"/>
                <a:cs typeface="Calibri" pitchFamily="34" charset="-120"/>
              </a:rPr>
              <a:t>Limitations </a:t>
            </a:r>
          </a:p>
          <a:p>
            <a:pPr marL="171450" indent="-171450">
              <a:buFont typeface="Arial" panose="020B0604020202020204" pitchFamily="34" charset="0"/>
              <a:buChar char="•"/>
            </a:pPr>
            <a:r>
              <a:rPr lang="en-US" sz="1200" dirty="0">
                <a:solidFill>
                  <a:srgbClr val="475569"/>
                </a:solidFill>
                <a:latin typeface="Calibri" pitchFamily="34" charset="0"/>
                <a:ea typeface="Calibri" pitchFamily="34" charset="-122"/>
                <a:cs typeface="Calibri" pitchFamily="34" charset="-120"/>
              </a:rPr>
              <a:t>Contributions</a:t>
            </a:r>
            <a:endParaRPr lang="en-US" sz="1200" dirty="0"/>
          </a:p>
          <a:p>
            <a:pPr marL="171450" indent="-171450">
              <a:buFont typeface="Arial" panose="020B0604020202020204" pitchFamily="34" charset="0"/>
              <a:buChar char="•"/>
            </a:pPr>
            <a:r>
              <a:rPr lang="en-US" sz="1200" dirty="0">
                <a:solidFill>
                  <a:srgbClr val="475569"/>
                </a:solidFill>
                <a:latin typeface="Calibri" pitchFamily="34" charset="0"/>
                <a:ea typeface="Calibri" pitchFamily="34" charset="-122"/>
                <a:cs typeface="Calibri" pitchFamily="34" charset="-120"/>
              </a:rPr>
              <a:t>Future research</a:t>
            </a:r>
            <a:endParaRPr lang="en-US" sz="1200" dirty="0"/>
          </a:p>
        </p:txBody>
      </p:sp>
      <p:sp>
        <p:nvSpPr>
          <p:cNvPr id="40" name="Title 1">
            <a:extLst>
              <a:ext uri="{FF2B5EF4-FFF2-40B4-BE49-F238E27FC236}">
                <a16:creationId xmlns:a16="http://schemas.microsoft.com/office/drawing/2014/main" id="{8223EA41-7E47-0EB0-FD97-D9A8E9FE1D1B}"/>
              </a:ext>
            </a:extLst>
          </p:cNvPr>
          <p:cNvSpPr txBox="1">
            <a:spLocks/>
          </p:cNvSpPr>
          <p:nvPr/>
        </p:nvSpPr>
        <p:spPr>
          <a:xfrm>
            <a:off x="545036" y="160782"/>
            <a:ext cx="10515600" cy="787718"/>
          </a:xfrm>
          <a:prstGeom prst="rect">
            <a:avLst/>
          </a:prstGeom>
        </p:spPr>
        <p:txBody>
          <a:bodyPr/>
          <a:lstStyle>
            <a:lvl1pPr algn="l" defTabSz="914400" rtl="0" eaLnBrk="1" latinLnBrk="0" hangingPunct="1">
              <a:lnSpc>
                <a:spcPct val="90000"/>
              </a:lnSpc>
              <a:spcBef>
                <a:spcPct val="0"/>
              </a:spcBef>
              <a:buNone/>
              <a:defRPr sz="4400" kern="1200">
                <a:solidFill>
                  <a:srgbClr val="1B2A4A"/>
                </a:solidFill>
                <a:latin typeface="+mj-lt"/>
                <a:ea typeface="+mj-ea"/>
                <a:cs typeface="+mj-cs"/>
              </a:defRPr>
            </a:lvl1pPr>
          </a:lstStyle>
          <a:p>
            <a:r>
              <a:rPr lang="en-US" dirty="0"/>
              <a:t>Methodology</a:t>
            </a:r>
          </a:p>
        </p:txBody>
      </p:sp>
      <p:sp>
        <p:nvSpPr>
          <p:cNvPr id="42" name="TextBox 41">
            <a:extLst>
              <a:ext uri="{FF2B5EF4-FFF2-40B4-BE49-F238E27FC236}">
                <a16:creationId xmlns:a16="http://schemas.microsoft.com/office/drawing/2014/main" id="{1CA11847-3CC5-A617-2A5E-1B4C78EC2798}"/>
              </a:ext>
            </a:extLst>
          </p:cNvPr>
          <p:cNvSpPr txBox="1"/>
          <p:nvPr/>
        </p:nvSpPr>
        <p:spPr>
          <a:xfrm>
            <a:off x="643890" y="1009460"/>
            <a:ext cx="6983816" cy="523220"/>
          </a:xfrm>
          <a:prstGeom prst="rect">
            <a:avLst/>
          </a:prstGeom>
          <a:noFill/>
        </p:spPr>
        <p:txBody>
          <a:bodyPr wrap="square">
            <a:spAutoFit/>
          </a:bodyPr>
          <a:lstStyle/>
          <a:p>
            <a:r>
              <a:rPr lang="en-US" sz="2800" dirty="0">
                <a:ln w="0"/>
                <a:solidFill>
                  <a:schemeClr val="accent1"/>
                </a:solidFill>
                <a:effectLst>
                  <a:outerShdw blurRad="38100" dist="25400" dir="5400000" algn="ctr" rotWithShape="0">
                    <a:srgbClr val="6E747A">
                      <a:alpha val="43000"/>
                    </a:srgbClr>
                  </a:outerShdw>
                </a:effectLst>
              </a:rPr>
              <a:t>Design Science Research (DSR) Framework</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0DC585-2CBF-286F-2368-6F7C3145E1E2}"/>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5FDAC1C2-78DC-3859-8DCC-F7779F27CF7F}"/>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4" name="Shape 32">
            <a:extLst>
              <a:ext uri="{FF2B5EF4-FFF2-40B4-BE49-F238E27FC236}">
                <a16:creationId xmlns:a16="http://schemas.microsoft.com/office/drawing/2014/main" id="{3C173418-1CD4-30F0-E0AA-009DCA0C60CF}"/>
              </a:ext>
            </a:extLst>
          </p:cNvPr>
          <p:cNvSpPr/>
          <p:nvPr/>
        </p:nvSpPr>
        <p:spPr>
          <a:xfrm>
            <a:off x="324091" y="1004890"/>
            <a:ext cx="11458937" cy="2285568"/>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2400"/>
          </a:p>
        </p:txBody>
      </p:sp>
      <p:sp>
        <p:nvSpPr>
          <p:cNvPr id="35" name="Text 33">
            <a:extLst>
              <a:ext uri="{FF2B5EF4-FFF2-40B4-BE49-F238E27FC236}">
                <a16:creationId xmlns:a16="http://schemas.microsoft.com/office/drawing/2014/main" id="{9EFDDB2E-0813-C1F2-E8D1-35AAC941F168}"/>
              </a:ext>
            </a:extLst>
          </p:cNvPr>
          <p:cNvSpPr/>
          <p:nvPr/>
        </p:nvSpPr>
        <p:spPr>
          <a:xfrm>
            <a:off x="537836" y="1012029"/>
            <a:ext cx="3657600" cy="365760"/>
          </a:xfrm>
          <a:prstGeom prst="rect">
            <a:avLst/>
          </a:prstGeom>
          <a:noFill/>
          <a:ln/>
        </p:spPr>
        <p:txBody>
          <a:bodyPr wrap="square" lIns="0" tIns="0" rIns="0" bIns="0" rtlCol="0" anchor="ctr"/>
          <a:lstStyle/>
          <a:p>
            <a:r>
              <a:rPr lang="en-US" sz="2000" b="1" dirty="0">
                <a:solidFill>
                  <a:srgbClr val="0E7490"/>
                </a:solidFill>
                <a:latin typeface="Calibri" pitchFamily="34" charset="0"/>
                <a:ea typeface="Calibri" pitchFamily="34" charset="-122"/>
                <a:cs typeface="Calibri" pitchFamily="34" charset="-120"/>
              </a:rPr>
              <a:t>Data Collection</a:t>
            </a:r>
            <a:endParaRPr lang="en-US" sz="2000" dirty="0"/>
          </a:p>
        </p:txBody>
      </p:sp>
      <p:sp>
        <p:nvSpPr>
          <p:cNvPr id="36" name="Text 34">
            <a:extLst>
              <a:ext uri="{FF2B5EF4-FFF2-40B4-BE49-F238E27FC236}">
                <a16:creationId xmlns:a16="http://schemas.microsoft.com/office/drawing/2014/main" id="{2F3B6C96-2AB0-2394-C699-D04113AD945F}"/>
              </a:ext>
            </a:extLst>
          </p:cNvPr>
          <p:cNvSpPr/>
          <p:nvPr/>
        </p:nvSpPr>
        <p:spPr>
          <a:xfrm>
            <a:off x="408972" y="1400070"/>
            <a:ext cx="11177286" cy="1855326"/>
          </a:xfrm>
          <a:prstGeom prst="rect">
            <a:avLst/>
          </a:prstGeom>
          <a:noFill/>
          <a:ln/>
        </p:spPr>
        <p:txBody>
          <a:bodyPr wrap="square" rtlCol="0" anchor="ctr"/>
          <a:lstStyle/>
          <a:p>
            <a:r>
              <a:rPr lang="en-US" b="1" dirty="0">
                <a:solidFill>
                  <a:srgbClr val="475569"/>
                </a:solidFill>
                <a:latin typeface="Calibri" pitchFamily="34" charset="0"/>
                <a:ea typeface="Calibri" pitchFamily="34" charset="-122"/>
                <a:cs typeface="Calibri" pitchFamily="34" charset="-120"/>
              </a:rPr>
              <a:t>• Guest Survey (n=20): </a:t>
            </a:r>
          </a:p>
          <a:p>
            <a:r>
              <a:rPr lang="en-US" b="1" dirty="0">
                <a:solidFill>
                  <a:srgbClr val="475569"/>
                </a:solidFill>
                <a:latin typeface="Calibri" pitchFamily="34" charset="0"/>
                <a:ea typeface="Calibri" pitchFamily="34" charset="-122"/>
                <a:cs typeface="Calibri" pitchFamily="34" charset="-120"/>
              </a:rPr>
              <a:t>	</a:t>
            </a:r>
            <a:r>
              <a:rPr lang="en-US" dirty="0">
                <a:solidFill>
                  <a:srgbClr val="475569"/>
                </a:solidFill>
                <a:latin typeface="Calibri" pitchFamily="34" charset="0"/>
                <a:ea typeface="Calibri" pitchFamily="34" charset="-122"/>
                <a:cs typeface="Calibri" pitchFamily="34" charset="-120"/>
              </a:rPr>
              <a:t>Attitudes to voice assistants, privacy expectations - drove functional/non-functional requirements
</a:t>
            </a:r>
            <a:r>
              <a:rPr lang="en-US" b="1" dirty="0">
                <a:solidFill>
                  <a:srgbClr val="475569"/>
                </a:solidFill>
                <a:latin typeface="Calibri" pitchFamily="34" charset="0"/>
                <a:ea typeface="Calibri" pitchFamily="34" charset="-122"/>
                <a:cs typeface="Calibri" pitchFamily="34" charset="-120"/>
              </a:rPr>
              <a:t>• Practitioner Consultation: </a:t>
            </a:r>
          </a:p>
          <a:p>
            <a:r>
              <a:rPr lang="en-US" b="1" dirty="0">
                <a:solidFill>
                  <a:srgbClr val="475569"/>
                </a:solidFill>
                <a:latin typeface="Calibri" pitchFamily="34" charset="0"/>
                <a:ea typeface="Calibri" pitchFamily="34" charset="-122"/>
                <a:cs typeface="Calibri" pitchFamily="34" charset="-120"/>
              </a:rPr>
              <a:t>	</a:t>
            </a:r>
            <a:r>
              <a:rPr lang="en-US" dirty="0">
                <a:solidFill>
                  <a:srgbClr val="475569"/>
                </a:solidFill>
                <a:latin typeface="Calibri" pitchFamily="34" charset="0"/>
                <a:ea typeface="Calibri" pitchFamily="34" charset="-122"/>
                <a:cs typeface="Calibri" pitchFamily="34" charset="-120"/>
              </a:rPr>
              <a:t>Head Chef (15yr experience) confirmed phone bottlenecks identified in literature
</a:t>
            </a:r>
            <a:r>
              <a:rPr lang="en-US" b="1" dirty="0">
                <a:solidFill>
                  <a:srgbClr val="475569"/>
                </a:solidFill>
                <a:latin typeface="Calibri" pitchFamily="34" charset="0"/>
                <a:ea typeface="Calibri" pitchFamily="34" charset="-122"/>
                <a:cs typeface="Calibri" pitchFamily="34" charset="-120"/>
              </a:rPr>
              <a:t>• Literature Review: </a:t>
            </a:r>
          </a:p>
          <a:p>
            <a:r>
              <a:rPr lang="en-US" b="1" dirty="0">
                <a:solidFill>
                  <a:srgbClr val="475569"/>
                </a:solidFill>
                <a:latin typeface="Calibri" pitchFamily="34" charset="0"/>
                <a:ea typeface="Calibri" pitchFamily="34" charset="-122"/>
                <a:cs typeface="Calibri" pitchFamily="34" charset="-120"/>
              </a:rPr>
              <a:t>	</a:t>
            </a:r>
            <a:r>
              <a:rPr lang="en-US" dirty="0" err="1">
                <a:solidFill>
                  <a:srgbClr val="475569"/>
                </a:solidFill>
                <a:latin typeface="Calibri" pitchFamily="34" charset="0"/>
                <a:ea typeface="Calibri" pitchFamily="34" charset="-122"/>
                <a:cs typeface="Calibri" pitchFamily="34" charset="-120"/>
              </a:rPr>
              <a:t>Buhalis</a:t>
            </a:r>
            <a:r>
              <a:rPr lang="en-US" dirty="0">
                <a:solidFill>
                  <a:srgbClr val="475569"/>
                </a:solidFill>
                <a:latin typeface="Calibri" pitchFamily="34" charset="0"/>
                <a:ea typeface="Calibri" pitchFamily="34" charset="-122"/>
                <a:cs typeface="Calibri" pitchFamily="34" charset="-120"/>
              </a:rPr>
              <a:t> &amp; Moldavska (2021/22), Hwang &amp; Erdem (2025), Wickramasinghe &amp; Ratnayake (2022), SLTDA (2024)</a:t>
            </a:r>
            <a:endParaRPr lang="en-US" dirty="0"/>
          </a:p>
        </p:txBody>
      </p:sp>
      <p:sp>
        <p:nvSpPr>
          <p:cNvPr id="37" name="Shape 35">
            <a:extLst>
              <a:ext uri="{FF2B5EF4-FFF2-40B4-BE49-F238E27FC236}">
                <a16:creationId xmlns:a16="http://schemas.microsoft.com/office/drawing/2014/main" id="{1B7E0873-0CB7-BC8E-6491-0E9FB6B05FA5}"/>
              </a:ext>
            </a:extLst>
          </p:cNvPr>
          <p:cNvSpPr/>
          <p:nvPr/>
        </p:nvSpPr>
        <p:spPr>
          <a:xfrm>
            <a:off x="324091" y="3488528"/>
            <a:ext cx="11458936" cy="286597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2400"/>
          </a:p>
        </p:txBody>
      </p:sp>
      <p:sp>
        <p:nvSpPr>
          <p:cNvPr id="38" name="Text 36">
            <a:extLst>
              <a:ext uri="{FF2B5EF4-FFF2-40B4-BE49-F238E27FC236}">
                <a16:creationId xmlns:a16="http://schemas.microsoft.com/office/drawing/2014/main" id="{132C9EC0-5602-AA4E-7AC9-B17FBE7A8F49}"/>
              </a:ext>
            </a:extLst>
          </p:cNvPr>
          <p:cNvSpPr/>
          <p:nvPr/>
        </p:nvSpPr>
        <p:spPr>
          <a:xfrm>
            <a:off x="537835" y="3569744"/>
            <a:ext cx="3657600" cy="365760"/>
          </a:xfrm>
          <a:prstGeom prst="rect">
            <a:avLst/>
          </a:prstGeom>
          <a:noFill/>
          <a:ln/>
        </p:spPr>
        <p:txBody>
          <a:bodyPr wrap="square" lIns="0" tIns="0" rIns="0" bIns="0" rtlCol="0" anchor="ctr"/>
          <a:lstStyle/>
          <a:p>
            <a:r>
              <a:rPr lang="en-US" sz="2000" b="1" dirty="0">
                <a:solidFill>
                  <a:srgbClr val="0E7490"/>
                </a:solidFill>
                <a:latin typeface="Calibri" pitchFamily="34" charset="0"/>
                <a:ea typeface="Calibri" pitchFamily="34" charset="-122"/>
                <a:cs typeface="Calibri" pitchFamily="34" charset="-120"/>
              </a:rPr>
              <a:t>Analysis Methods</a:t>
            </a:r>
            <a:endParaRPr lang="en-US" sz="2000" dirty="0"/>
          </a:p>
        </p:txBody>
      </p:sp>
      <p:sp>
        <p:nvSpPr>
          <p:cNvPr id="39" name="Text 37">
            <a:extLst>
              <a:ext uri="{FF2B5EF4-FFF2-40B4-BE49-F238E27FC236}">
                <a16:creationId xmlns:a16="http://schemas.microsoft.com/office/drawing/2014/main" id="{5D61C464-B0C1-3FD7-8D16-710D5D2CD8A0}"/>
              </a:ext>
            </a:extLst>
          </p:cNvPr>
          <p:cNvSpPr/>
          <p:nvPr/>
        </p:nvSpPr>
        <p:spPr>
          <a:xfrm>
            <a:off x="537835" y="4382480"/>
            <a:ext cx="11458935" cy="1566904"/>
          </a:xfrm>
          <a:prstGeom prst="rect">
            <a:avLst/>
          </a:prstGeom>
          <a:noFill/>
          <a:ln/>
        </p:spPr>
        <p:txBody>
          <a:bodyPr wrap="square" rtlCol="0" anchor="ctr"/>
          <a:lstStyle/>
          <a:p>
            <a:r>
              <a:rPr lang="en-US" b="1" dirty="0">
                <a:solidFill>
                  <a:srgbClr val="475569"/>
                </a:solidFill>
                <a:latin typeface="Calibri" pitchFamily="34" charset="0"/>
                <a:ea typeface="Calibri" pitchFamily="34" charset="-122"/>
                <a:cs typeface="Calibri" pitchFamily="34" charset="-120"/>
              </a:rPr>
              <a:t>• NLU Accuracy: </a:t>
            </a:r>
          </a:p>
          <a:p>
            <a:r>
              <a:rPr lang="en-US" b="1" dirty="0">
                <a:solidFill>
                  <a:srgbClr val="475569"/>
                </a:solidFill>
                <a:latin typeface="Calibri" pitchFamily="34" charset="0"/>
                <a:ea typeface="Calibri" pitchFamily="34" charset="-122"/>
                <a:cs typeface="Calibri" pitchFamily="34" charset="-120"/>
              </a:rPr>
              <a:t>	</a:t>
            </a:r>
            <a:r>
              <a:rPr lang="en-US" dirty="0" err="1">
                <a:solidFill>
                  <a:srgbClr val="475569"/>
                </a:solidFill>
                <a:latin typeface="Calibri" pitchFamily="34" charset="0"/>
                <a:ea typeface="Calibri" pitchFamily="34" charset="-122"/>
                <a:cs typeface="Calibri" pitchFamily="34" charset="-120"/>
              </a:rPr>
              <a:t>sklearn</a:t>
            </a:r>
            <a:r>
              <a:rPr lang="en-US" dirty="0">
                <a:solidFill>
                  <a:srgbClr val="475569"/>
                </a:solidFill>
                <a:latin typeface="Calibri" pitchFamily="34" charset="0"/>
                <a:ea typeface="Calibri" pitchFamily="34" charset="-122"/>
                <a:cs typeface="Calibri" pitchFamily="34" charset="-120"/>
              </a:rPr>
              <a:t> - accuracy, precision, recall, F1 per intent (2,016-sample fixed test set)
</a:t>
            </a:r>
            <a:r>
              <a:rPr lang="en-US" b="1" dirty="0">
                <a:solidFill>
                  <a:srgbClr val="475569"/>
                </a:solidFill>
                <a:latin typeface="Calibri" pitchFamily="34" charset="0"/>
                <a:ea typeface="Calibri" pitchFamily="34" charset="-122"/>
                <a:cs typeface="Calibri" pitchFamily="34" charset="-120"/>
              </a:rPr>
              <a:t>• Word Error Rate (WER): </a:t>
            </a:r>
          </a:p>
          <a:p>
            <a:r>
              <a:rPr lang="en-US" b="1" dirty="0">
                <a:solidFill>
                  <a:srgbClr val="475569"/>
                </a:solidFill>
                <a:latin typeface="Calibri" pitchFamily="34" charset="0"/>
                <a:ea typeface="Calibri" pitchFamily="34" charset="-122"/>
                <a:cs typeface="Calibri" pitchFamily="34" charset="-120"/>
              </a:rPr>
              <a:t>	</a:t>
            </a:r>
            <a:r>
              <a:rPr lang="en-US" dirty="0" err="1">
                <a:solidFill>
                  <a:srgbClr val="475569"/>
                </a:solidFill>
                <a:latin typeface="Calibri" pitchFamily="34" charset="0"/>
                <a:ea typeface="Calibri" pitchFamily="34" charset="-122"/>
                <a:cs typeface="Calibri" pitchFamily="34" charset="-120"/>
              </a:rPr>
              <a:t>jiwer</a:t>
            </a:r>
            <a:r>
              <a:rPr lang="en-US" dirty="0">
                <a:solidFill>
                  <a:srgbClr val="475569"/>
                </a:solidFill>
                <a:latin typeface="Calibri" pitchFamily="34" charset="0"/>
                <a:ea typeface="Calibri" pitchFamily="34" charset="-122"/>
                <a:cs typeface="Calibri" pitchFamily="34" charset="-120"/>
              </a:rPr>
              <a:t> library - Vosk transcriptions vs. reference text (72,133 words, 10,080 phrases)
</a:t>
            </a:r>
            <a:r>
              <a:rPr lang="en-US" b="1" dirty="0">
                <a:solidFill>
                  <a:srgbClr val="475569"/>
                </a:solidFill>
                <a:latin typeface="Calibri" pitchFamily="34" charset="0"/>
                <a:ea typeface="Calibri" pitchFamily="34" charset="-122"/>
                <a:cs typeface="Calibri" pitchFamily="34" charset="-120"/>
              </a:rPr>
              <a:t>• Latency: </a:t>
            </a:r>
          </a:p>
          <a:p>
            <a:r>
              <a:rPr lang="en-US" b="1" dirty="0">
                <a:solidFill>
                  <a:srgbClr val="475569"/>
                </a:solidFill>
                <a:latin typeface="Calibri" pitchFamily="34" charset="0"/>
                <a:ea typeface="Calibri" pitchFamily="34" charset="-122"/>
                <a:cs typeface="Calibri" pitchFamily="34" charset="-120"/>
              </a:rPr>
              <a:t>	</a:t>
            </a:r>
            <a:r>
              <a:rPr lang="en-US" dirty="0">
                <a:solidFill>
                  <a:srgbClr val="475569"/>
                </a:solidFill>
                <a:latin typeface="Calibri" pitchFamily="34" charset="0"/>
                <a:ea typeface="Calibri" pitchFamily="34" charset="-122"/>
                <a:cs typeface="Calibri" pitchFamily="34" charset="-120"/>
              </a:rPr>
              <a:t>Timestamp logging at each pipeline stage (n=20 test requests, P95 reported)
</a:t>
            </a:r>
            <a:r>
              <a:rPr lang="en-US" b="1" dirty="0">
                <a:solidFill>
                  <a:srgbClr val="475569"/>
                </a:solidFill>
                <a:latin typeface="Calibri" pitchFamily="34" charset="0"/>
                <a:ea typeface="Calibri" pitchFamily="34" charset="-122"/>
                <a:cs typeface="Calibri" pitchFamily="34" charset="-120"/>
              </a:rPr>
              <a:t>• Cost: </a:t>
            </a:r>
          </a:p>
          <a:p>
            <a:r>
              <a:rPr lang="en-US" b="1" dirty="0">
                <a:solidFill>
                  <a:srgbClr val="475569"/>
                </a:solidFill>
                <a:latin typeface="Calibri" pitchFamily="34" charset="0"/>
                <a:ea typeface="Calibri" pitchFamily="34" charset="-122"/>
                <a:cs typeface="Calibri" pitchFamily="34" charset="-120"/>
              </a:rPr>
              <a:t>	</a:t>
            </a:r>
            <a:r>
              <a:rPr lang="en-US" dirty="0">
                <a:solidFill>
                  <a:srgbClr val="475569"/>
                </a:solidFill>
                <a:latin typeface="Calibri" pitchFamily="34" charset="0"/>
                <a:ea typeface="Calibri" pitchFamily="34" charset="-122"/>
                <a:cs typeface="Calibri" pitchFamily="34" charset="-120"/>
              </a:rPr>
              <a:t>3-year </a:t>
            </a:r>
            <a:r>
              <a:rPr lang="en-US" dirty="0"/>
              <a:t>Total Cost of Ownership </a:t>
            </a:r>
            <a:r>
              <a:rPr lang="en-US" dirty="0">
                <a:solidFill>
                  <a:srgbClr val="475569"/>
                </a:solidFill>
                <a:latin typeface="Calibri" pitchFamily="34" charset="0"/>
                <a:ea typeface="Calibri" pitchFamily="34" charset="-122"/>
                <a:cs typeface="Calibri" pitchFamily="34" charset="-120"/>
              </a:rPr>
              <a:t>(TCO) comparison vs. Google Cloud STT &amp; Alexa for Hospitality (50-room hotel)</a:t>
            </a:r>
            <a:endParaRPr lang="en-US" dirty="0"/>
          </a:p>
        </p:txBody>
      </p:sp>
      <p:sp>
        <p:nvSpPr>
          <p:cNvPr id="40" name="Title 1">
            <a:extLst>
              <a:ext uri="{FF2B5EF4-FFF2-40B4-BE49-F238E27FC236}">
                <a16:creationId xmlns:a16="http://schemas.microsoft.com/office/drawing/2014/main" id="{B5E89C12-401C-1677-9B2E-A3800CFE0300}"/>
              </a:ext>
            </a:extLst>
          </p:cNvPr>
          <p:cNvSpPr txBox="1">
            <a:spLocks/>
          </p:cNvSpPr>
          <p:nvPr/>
        </p:nvSpPr>
        <p:spPr>
          <a:xfrm>
            <a:off x="537835" y="171194"/>
            <a:ext cx="10515600" cy="787718"/>
          </a:xfrm>
          <a:prstGeom prst="rect">
            <a:avLst/>
          </a:prstGeom>
        </p:spPr>
        <p:txBody>
          <a:bodyPr/>
          <a:lstStyle>
            <a:lvl1pPr algn="l" defTabSz="914400" rtl="0" eaLnBrk="1" latinLnBrk="0" hangingPunct="1">
              <a:lnSpc>
                <a:spcPct val="90000"/>
              </a:lnSpc>
              <a:spcBef>
                <a:spcPct val="0"/>
              </a:spcBef>
              <a:buNone/>
              <a:defRPr sz="4400" kern="1200">
                <a:solidFill>
                  <a:srgbClr val="1B2A4A"/>
                </a:solidFill>
                <a:latin typeface="+mj-lt"/>
                <a:ea typeface="+mj-ea"/>
                <a:cs typeface="+mj-cs"/>
              </a:defRPr>
            </a:lvl1pPr>
          </a:lstStyle>
          <a:p>
            <a:r>
              <a:rPr lang="en-US" dirty="0"/>
              <a:t>Methodology</a:t>
            </a:r>
          </a:p>
        </p:txBody>
      </p:sp>
    </p:spTree>
    <p:extLst>
      <p:ext uri="{BB962C8B-B14F-4D97-AF65-F5344CB8AC3E}">
        <p14:creationId xmlns:p14="http://schemas.microsoft.com/office/powerpoint/2010/main" val="4835358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5134E7-DEDA-3ACE-3336-05528CC5C142}"/>
              </a:ext>
            </a:extLst>
          </p:cNvPr>
          <p:cNvSpPr>
            <a:spLocks noGrp="1"/>
          </p:cNvSpPr>
          <p:nvPr>
            <p:ph type="title"/>
          </p:nvPr>
        </p:nvSpPr>
        <p:spPr>
          <a:xfrm>
            <a:off x="608582" y="122876"/>
            <a:ext cx="10515600" cy="757548"/>
          </a:xfrm>
        </p:spPr>
        <p:txBody>
          <a:bodyPr>
            <a:normAutofit/>
          </a:bodyPr>
          <a:lstStyle/>
          <a:p>
            <a:r>
              <a:rPr lang="en-US" dirty="0"/>
              <a:t>Design and Architecture </a:t>
            </a:r>
          </a:p>
        </p:txBody>
      </p:sp>
      <p:sp>
        <p:nvSpPr>
          <p:cNvPr id="3" name="Slide Number Placeholder 2">
            <a:extLst>
              <a:ext uri="{FF2B5EF4-FFF2-40B4-BE49-F238E27FC236}">
                <a16:creationId xmlns:a16="http://schemas.microsoft.com/office/drawing/2014/main" id="{4272DD50-33EE-9BAF-04F4-FEDFCDDBF6A3}"/>
              </a:ext>
            </a:extLst>
          </p:cNvPr>
          <p:cNvSpPr>
            <a:spLocks noGrp="1"/>
          </p:cNvSpPr>
          <p:nvPr>
            <p:ph type="sldNum" sz="quarter" idx="12"/>
          </p:nvPr>
        </p:nvSpPr>
        <p:spPr/>
        <p:txBody>
          <a:bodyPr/>
          <a:lstStyle/>
          <a:p>
            <a:fld id="{9890CE2D-2882-48A4-88CB-3A003AF6C150}" type="slidenum">
              <a:rPr lang="en-US" smtClean="0"/>
              <a:t>8</a:t>
            </a:fld>
            <a:endParaRPr lang="en-US"/>
          </a:p>
        </p:txBody>
      </p:sp>
      <p:pic>
        <p:nvPicPr>
          <p:cNvPr id="6" name="Picture 5">
            <a:extLst>
              <a:ext uri="{FF2B5EF4-FFF2-40B4-BE49-F238E27FC236}">
                <a16:creationId xmlns:a16="http://schemas.microsoft.com/office/drawing/2014/main" id="{FB94AB62-E955-A42F-21C6-7F8ADED16E60}"/>
              </a:ext>
            </a:extLst>
          </p:cNvPr>
          <p:cNvPicPr>
            <a:picLocks noChangeAspect="1"/>
          </p:cNvPicPr>
          <p:nvPr/>
        </p:nvPicPr>
        <p:blipFill>
          <a:blip r:embed="rId3">
            <a:extLst>
              <a:ext uri="{28A0092B-C50C-407E-A947-70E740481C1C}">
                <a14:useLocalDpi xmlns:a14="http://schemas.microsoft.com/office/drawing/2010/main" val="0"/>
              </a:ext>
            </a:extLst>
          </a:blip>
          <a:srcRect t="25021" b="23947"/>
          <a:stretch>
            <a:fillRect/>
          </a:stretch>
        </p:blipFill>
        <p:spPr>
          <a:xfrm>
            <a:off x="608582" y="2028825"/>
            <a:ext cx="10974835" cy="2800350"/>
          </a:xfrm>
          <a:prstGeom prst="rect">
            <a:avLst/>
          </a:prstGeom>
        </p:spPr>
      </p:pic>
      <p:sp>
        <p:nvSpPr>
          <p:cNvPr id="8" name="TextBox 7">
            <a:extLst>
              <a:ext uri="{FF2B5EF4-FFF2-40B4-BE49-F238E27FC236}">
                <a16:creationId xmlns:a16="http://schemas.microsoft.com/office/drawing/2014/main" id="{87FDAD13-8792-2ED1-1087-667FBB9E4C19}"/>
              </a:ext>
            </a:extLst>
          </p:cNvPr>
          <p:cNvSpPr txBox="1"/>
          <p:nvPr/>
        </p:nvSpPr>
        <p:spPr>
          <a:xfrm>
            <a:off x="762000" y="1048298"/>
            <a:ext cx="6097904" cy="523220"/>
          </a:xfrm>
          <a:prstGeom prst="rect">
            <a:avLst/>
          </a:prstGeom>
          <a:noFill/>
        </p:spPr>
        <p:txBody>
          <a:bodyPr wrap="square">
            <a:spAutoFit/>
          </a:bodyPr>
          <a:lstStyle/>
          <a:p>
            <a:r>
              <a:rPr lang="en-GB" sz="2800" dirty="0">
                <a:ln w="0"/>
                <a:solidFill>
                  <a:schemeClr val="accent1"/>
                </a:solidFill>
                <a:effectLst>
                  <a:outerShdw blurRad="38100" dist="25400" dir="5400000" algn="ctr" rotWithShape="0">
                    <a:srgbClr val="6E747A">
                      <a:alpha val="43000"/>
                    </a:srgbClr>
                  </a:outerShdw>
                </a:effectLst>
              </a:rPr>
              <a:t>High-Level System Conceptual View</a:t>
            </a:r>
            <a:endParaRPr lang="en-US" sz="2800" dirty="0">
              <a:ln w="0"/>
              <a:solidFill>
                <a:schemeClr val="accent1"/>
              </a:solidFill>
              <a:effectLst>
                <a:outerShdw blurRad="38100" dist="25400" dir="5400000" algn="ctr" rotWithShape="0">
                  <a:srgbClr val="6E747A">
                    <a:alpha val="43000"/>
                  </a:srgbClr>
                </a:outerShdw>
              </a:effectLst>
            </a:endParaRPr>
          </a:p>
        </p:txBody>
      </p:sp>
      <p:pic>
        <p:nvPicPr>
          <p:cNvPr id="4" name="Picture 3">
            <a:extLst>
              <a:ext uri="{FF2B5EF4-FFF2-40B4-BE49-F238E27FC236}">
                <a16:creationId xmlns:a16="http://schemas.microsoft.com/office/drawing/2014/main" id="{8387F13B-07C6-56B2-F30A-CC3C71CD9D71}"/>
              </a:ext>
            </a:extLst>
          </p:cNvPr>
          <p:cNvPicPr>
            <a:picLocks noChangeAspect="1"/>
          </p:cNvPicPr>
          <p:nvPr/>
        </p:nvPicPr>
        <p:blipFill>
          <a:blip r:embed="rId4">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9164974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80FF5-305C-BA99-CC0C-BF454808EB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920B19-62A1-2D3B-4983-B24F28B57A41}"/>
              </a:ext>
            </a:extLst>
          </p:cNvPr>
          <p:cNvSpPr>
            <a:spLocks noGrp="1"/>
          </p:cNvSpPr>
          <p:nvPr>
            <p:ph type="title"/>
          </p:nvPr>
        </p:nvSpPr>
        <p:spPr>
          <a:xfrm>
            <a:off x="650240" y="150499"/>
            <a:ext cx="10515600" cy="757548"/>
          </a:xfrm>
        </p:spPr>
        <p:txBody>
          <a:bodyPr>
            <a:normAutofit/>
          </a:bodyPr>
          <a:lstStyle/>
          <a:p>
            <a:r>
              <a:rPr lang="en-US" dirty="0"/>
              <a:t>Design and Architecture </a:t>
            </a:r>
          </a:p>
        </p:txBody>
      </p:sp>
      <p:sp>
        <p:nvSpPr>
          <p:cNvPr id="50" name="NetworkLabel">
            <a:extLst>
              <a:ext uri="{FF2B5EF4-FFF2-40B4-BE49-F238E27FC236}">
                <a16:creationId xmlns:a16="http://schemas.microsoft.com/office/drawing/2014/main" id="{8980DF5F-91CB-732F-5D3A-8711530843F7}"/>
              </a:ext>
            </a:extLst>
          </p:cNvPr>
          <p:cNvSpPr/>
          <p:nvPr/>
        </p:nvSpPr>
        <p:spPr>
          <a:xfrm>
            <a:off x="379095" y="5949962"/>
            <a:ext cx="11433810" cy="393693"/>
          </a:xfrm>
          <a:prstGeom prst="roundRect">
            <a:avLst/>
          </a:prstGeom>
          <a:solidFill>
            <a:schemeClr val="accent4">
              <a:lumMod val="40000"/>
              <a:lumOff val="60000"/>
            </a:schemeClr>
          </a:solidFill>
          <a:ln w="12700">
            <a:solidFill>
              <a:srgbClr val="2C5F7C"/>
            </a:solidFill>
          </a:ln>
        </p:spPr>
        <p:txBody>
          <a:bodyPr wrap="square" lIns="45720" tIns="36576" rIns="45720" bIns="36576" anchor="ctr"/>
          <a:lstStyle/>
          <a:p>
            <a:pPr algn="ctr">
              <a:buNone/>
            </a:pPr>
            <a:r>
              <a:rPr lang="en-US" sz="1600" b="1" dirty="0">
                <a:solidFill>
                  <a:srgbClr val="1B2A4A"/>
                </a:solidFill>
                <a:latin typeface="Calibri"/>
              </a:rPr>
              <a:t>HOTEL LOCAL AREA NETWORK (No Internet Required)</a:t>
            </a:r>
          </a:p>
        </p:txBody>
      </p:sp>
      <p:sp>
        <p:nvSpPr>
          <p:cNvPr id="51" name="Tier1BG">
            <a:extLst>
              <a:ext uri="{FF2B5EF4-FFF2-40B4-BE49-F238E27FC236}">
                <a16:creationId xmlns:a16="http://schemas.microsoft.com/office/drawing/2014/main" id="{19271D1C-E88E-D126-8638-0821869FD337}"/>
              </a:ext>
            </a:extLst>
          </p:cNvPr>
          <p:cNvSpPr/>
          <p:nvPr/>
        </p:nvSpPr>
        <p:spPr>
          <a:xfrm>
            <a:off x="396240" y="1701800"/>
            <a:ext cx="3302000" cy="3937000"/>
          </a:xfrm>
          <a:prstGeom prst="roundRect">
            <a:avLst/>
          </a:prstGeom>
          <a:solidFill>
            <a:srgbClr val="FFFFFF"/>
          </a:solidFill>
          <a:ln w="12700">
            <a:solidFill>
              <a:srgbClr val="2C5F7C"/>
            </a:solidFill>
          </a:ln>
        </p:spPr>
        <p:txBody>
          <a:bodyPr wrap="square" lIns="45720" tIns="36576" rIns="45720" bIns="36576" anchor="ctr"/>
          <a:lstStyle/>
          <a:p>
            <a:pPr algn="ctr">
              <a:buNone/>
            </a:pPr>
            <a:endParaRPr/>
          </a:p>
        </p:txBody>
      </p:sp>
      <p:sp>
        <p:nvSpPr>
          <p:cNvPr id="52" name="Tier1Header">
            <a:extLst>
              <a:ext uri="{FF2B5EF4-FFF2-40B4-BE49-F238E27FC236}">
                <a16:creationId xmlns:a16="http://schemas.microsoft.com/office/drawing/2014/main" id="{85B46542-682A-929D-6A6C-392E96A75E0F}"/>
              </a:ext>
            </a:extLst>
          </p:cNvPr>
          <p:cNvSpPr/>
          <p:nvPr/>
        </p:nvSpPr>
        <p:spPr>
          <a:xfrm>
            <a:off x="762000" y="1610349"/>
            <a:ext cx="2541270" cy="355600"/>
          </a:xfrm>
          <a:prstGeom prst="rect">
            <a:avLst/>
          </a:prstGeom>
          <a:solidFill>
            <a:srgbClr val="2C5F7C"/>
          </a:solidFill>
          <a:ln w="12700">
            <a:solidFill>
              <a:srgbClr val="2C5F7C"/>
            </a:solidFill>
          </a:ln>
        </p:spPr>
        <p:txBody>
          <a:bodyPr wrap="square" lIns="45720" tIns="36576" rIns="45720" bIns="36576" anchor="ctr"/>
          <a:lstStyle/>
          <a:p>
            <a:pPr algn="ctr">
              <a:buNone/>
            </a:pPr>
            <a:r>
              <a:rPr lang="en-US" sz="1600" b="1" dirty="0">
                <a:solidFill>
                  <a:srgbClr val="FFFFFF"/>
                </a:solidFill>
                <a:latin typeface="Calibri"/>
              </a:rPr>
              <a:t>TIER 1: GUEST DEVICE</a:t>
            </a:r>
          </a:p>
        </p:txBody>
      </p:sp>
      <p:sp>
        <p:nvSpPr>
          <p:cNvPr id="53" name="Tier1Sub">
            <a:extLst>
              <a:ext uri="{FF2B5EF4-FFF2-40B4-BE49-F238E27FC236}">
                <a16:creationId xmlns:a16="http://schemas.microsoft.com/office/drawing/2014/main" id="{60778A32-9B79-770A-0FA8-692302F871C0}"/>
              </a:ext>
            </a:extLst>
          </p:cNvPr>
          <p:cNvSpPr/>
          <p:nvPr/>
        </p:nvSpPr>
        <p:spPr>
          <a:xfrm>
            <a:off x="472440" y="2089150"/>
            <a:ext cx="3175000" cy="228600"/>
          </a:xfrm>
          <a:prstGeom prst="rect">
            <a:avLst/>
          </a:prstGeom>
          <a:solidFill>
            <a:srgbClr val="F0EDE6"/>
          </a:solidFill>
          <a:ln w="12700">
            <a:solidFill>
              <a:srgbClr val="F0EDE6"/>
            </a:solidFill>
          </a:ln>
        </p:spPr>
        <p:txBody>
          <a:bodyPr wrap="square" lIns="45720" tIns="36576" rIns="45720" bIns="36576" anchor="ctr"/>
          <a:lstStyle/>
          <a:p>
            <a:pPr algn="ctr">
              <a:buNone/>
            </a:pPr>
            <a:r>
              <a:rPr lang="en-US" sz="1100" b="1" dirty="0">
                <a:solidFill>
                  <a:srgbClr val="1B2A4A"/>
                </a:solidFill>
                <a:latin typeface="Calibri"/>
              </a:rPr>
              <a:t>Android Tablet (per room)</a:t>
            </a:r>
          </a:p>
        </p:txBody>
      </p:sp>
      <p:sp>
        <p:nvSpPr>
          <p:cNvPr id="54" name="VoskBox">
            <a:extLst>
              <a:ext uri="{FF2B5EF4-FFF2-40B4-BE49-F238E27FC236}">
                <a16:creationId xmlns:a16="http://schemas.microsoft.com/office/drawing/2014/main" id="{C6AB5C6A-6132-7EF7-7032-EC38894E2C97}"/>
              </a:ext>
            </a:extLst>
          </p:cNvPr>
          <p:cNvSpPr/>
          <p:nvPr/>
        </p:nvSpPr>
        <p:spPr>
          <a:xfrm>
            <a:off x="650240" y="2489200"/>
            <a:ext cx="2857500" cy="635000"/>
          </a:xfrm>
          <a:prstGeom prst="roundRect">
            <a:avLst/>
          </a:prstGeom>
          <a:solidFill>
            <a:srgbClr val="E8F0F5"/>
          </a:solidFill>
          <a:ln w="12700">
            <a:solidFill>
              <a:srgbClr val="2C5F7C"/>
            </a:solidFill>
          </a:ln>
        </p:spPr>
        <p:txBody>
          <a:bodyPr wrap="square" lIns="45720" tIns="27432" rIns="45720" bIns="27432" anchor="ctr"/>
          <a:lstStyle/>
          <a:p>
            <a:pPr algn="ctr">
              <a:buNone/>
            </a:pPr>
            <a:r>
              <a:rPr lang="en-US" sz="1400" b="1" dirty="0" err="1">
                <a:solidFill>
                  <a:srgbClr val="1B2A4A"/>
                </a:solidFill>
                <a:latin typeface="Calibri"/>
              </a:rPr>
              <a:t>Vosk</a:t>
            </a:r>
            <a:r>
              <a:rPr lang="en-US" sz="1400" b="1" dirty="0">
                <a:solidFill>
                  <a:srgbClr val="1B2A4A"/>
                </a:solidFill>
                <a:latin typeface="Calibri"/>
              </a:rPr>
              <a:t> STT</a:t>
            </a:r>
          </a:p>
        </p:txBody>
      </p:sp>
      <p:sp>
        <p:nvSpPr>
          <p:cNvPr id="55" name="NLUBox">
            <a:extLst>
              <a:ext uri="{FF2B5EF4-FFF2-40B4-BE49-F238E27FC236}">
                <a16:creationId xmlns:a16="http://schemas.microsoft.com/office/drawing/2014/main" id="{93B32AA3-E8B1-3FBE-3EF5-DE58E765D26A}"/>
              </a:ext>
            </a:extLst>
          </p:cNvPr>
          <p:cNvSpPr/>
          <p:nvPr/>
        </p:nvSpPr>
        <p:spPr>
          <a:xfrm>
            <a:off x="650240" y="3251200"/>
            <a:ext cx="2857500" cy="635000"/>
          </a:xfrm>
          <a:prstGeom prst="roundRect">
            <a:avLst/>
          </a:prstGeom>
          <a:solidFill>
            <a:srgbClr val="E8F0F5"/>
          </a:solidFill>
          <a:ln w="12700">
            <a:solidFill>
              <a:srgbClr val="2C5F7C"/>
            </a:solidFill>
          </a:ln>
        </p:spPr>
        <p:txBody>
          <a:bodyPr wrap="square" lIns="45720" tIns="27432" rIns="45720" bIns="27432" anchor="ctr"/>
          <a:lstStyle/>
          <a:p>
            <a:pPr algn="ctr">
              <a:buNone/>
            </a:pPr>
            <a:r>
              <a:rPr lang="en-US" sz="1400" b="1" dirty="0" err="1">
                <a:solidFill>
                  <a:srgbClr val="1B2A4A"/>
                </a:solidFill>
                <a:latin typeface="Calibri"/>
              </a:rPr>
              <a:t>MobileBERT</a:t>
            </a:r>
            <a:r>
              <a:rPr lang="en-US" sz="1400" b="1" dirty="0">
                <a:solidFill>
                  <a:srgbClr val="1B2A4A"/>
                </a:solidFill>
                <a:latin typeface="Calibri"/>
              </a:rPr>
              <a:t> NLU</a:t>
            </a:r>
          </a:p>
        </p:txBody>
      </p:sp>
      <p:sp>
        <p:nvSpPr>
          <p:cNvPr id="56" name="HybridBox">
            <a:extLst>
              <a:ext uri="{FF2B5EF4-FFF2-40B4-BE49-F238E27FC236}">
                <a16:creationId xmlns:a16="http://schemas.microsoft.com/office/drawing/2014/main" id="{F54E98AC-7EA8-35C4-BFD6-767E0E30AAD9}"/>
              </a:ext>
            </a:extLst>
          </p:cNvPr>
          <p:cNvSpPr/>
          <p:nvPr/>
        </p:nvSpPr>
        <p:spPr>
          <a:xfrm>
            <a:off x="650240" y="4013200"/>
            <a:ext cx="2857500" cy="635000"/>
          </a:xfrm>
          <a:prstGeom prst="roundRect">
            <a:avLst/>
          </a:prstGeom>
          <a:solidFill>
            <a:srgbClr val="E8F0F5"/>
          </a:solidFill>
          <a:ln w="12700">
            <a:solidFill>
              <a:srgbClr val="2C5F7C"/>
            </a:solidFill>
          </a:ln>
        </p:spPr>
        <p:txBody>
          <a:bodyPr wrap="square" lIns="45720" tIns="27432" rIns="45720" bIns="27432" anchor="ctr"/>
          <a:lstStyle/>
          <a:p>
            <a:pPr algn="ctr">
              <a:buNone/>
            </a:pPr>
            <a:r>
              <a:rPr lang="en-US" sz="1400" b="1" dirty="0">
                <a:solidFill>
                  <a:srgbClr val="1B2A4A"/>
                </a:solidFill>
                <a:latin typeface="Calibri"/>
              </a:rPr>
              <a:t>Hybrid Pipeline</a:t>
            </a:r>
          </a:p>
          <a:p>
            <a:pPr algn="ctr">
              <a:buNone/>
            </a:pPr>
            <a:r>
              <a:rPr lang="en-US" sz="1400" dirty="0">
                <a:solidFill>
                  <a:srgbClr val="1B2A4A"/>
                </a:solidFill>
                <a:latin typeface="Calibri"/>
              </a:rPr>
              <a:t>Keyword rules + Neural model</a:t>
            </a:r>
          </a:p>
        </p:txBody>
      </p:sp>
      <p:sp>
        <p:nvSpPr>
          <p:cNvPr id="57" name="TTSBox">
            <a:extLst>
              <a:ext uri="{FF2B5EF4-FFF2-40B4-BE49-F238E27FC236}">
                <a16:creationId xmlns:a16="http://schemas.microsoft.com/office/drawing/2014/main" id="{D3067FC4-CAA7-E7F9-15CC-A359B36051F4}"/>
              </a:ext>
            </a:extLst>
          </p:cNvPr>
          <p:cNvSpPr/>
          <p:nvPr/>
        </p:nvSpPr>
        <p:spPr>
          <a:xfrm>
            <a:off x="650240" y="4775200"/>
            <a:ext cx="2857500" cy="381000"/>
          </a:xfrm>
          <a:prstGeom prst="roundRect">
            <a:avLst/>
          </a:prstGeom>
          <a:solidFill>
            <a:srgbClr val="E8F0F5"/>
          </a:solidFill>
          <a:ln w="12700">
            <a:solidFill>
              <a:srgbClr val="2C5F7C"/>
            </a:solidFill>
          </a:ln>
        </p:spPr>
        <p:txBody>
          <a:bodyPr wrap="square" lIns="45720" tIns="36576" rIns="45720" bIns="36576" anchor="ctr"/>
          <a:lstStyle/>
          <a:p>
            <a:pPr algn="ctr">
              <a:buNone/>
            </a:pPr>
            <a:r>
              <a:rPr lang="en-US" sz="1400" b="1" dirty="0">
                <a:solidFill>
                  <a:srgbClr val="1B2A4A"/>
                </a:solidFill>
                <a:latin typeface="Calibri"/>
              </a:rPr>
              <a:t>Android TTS (voice feedback)</a:t>
            </a:r>
          </a:p>
        </p:txBody>
      </p:sp>
      <p:sp>
        <p:nvSpPr>
          <p:cNvPr id="70" name="Arr1">
            <a:extLst>
              <a:ext uri="{FF2B5EF4-FFF2-40B4-BE49-F238E27FC236}">
                <a16:creationId xmlns:a16="http://schemas.microsoft.com/office/drawing/2014/main" id="{6C0FB1BC-945C-A9FC-8C1E-AEA5287BB3E6}"/>
              </a:ext>
            </a:extLst>
          </p:cNvPr>
          <p:cNvSpPr/>
          <p:nvPr/>
        </p:nvSpPr>
        <p:spPr>
          <a:xfrm>
            <a:off x="2085340" y="3124200"/>
            <a:ext cx="1" cy="127000"/>
          </a:xfrm>
          <a:prstGeom prst="line">
            <a:avLst/>
          </a:prstGeom>
          <a:ln w="19050">
            <a:solidFill>
              <a:srgbClr val="2C5F7C"/>
            </a:solidFill>
            <a:tailEnd type="triangle" w="med" len="med"/>
          </a:ln>
        </p:spPr>
        <p:txBody>
          <a:bodyPr/>
          <a:lstStyle/>
          <a:p>
            <a:endParaRPr lang="en-US"/>
          </a:p>
        </p:txBody>
      </p:sp>
      <p:sp>
        <p:nvSpPr>
          <p:cNvPr id="71" name="Arr2">
            <a:extLst>
              <a:ext uri="{FF2B5EF4-FFF2-40B4-BE49-F238E27FC236}">
                <a16:creationId xmlns:a16="http://schemas.microsoft.com/office/drawing/2014/main" id="{BDA1930E-27EB-576F-095F-82E911C65AFF}"/>
              </a:ext>
            </a:extLst>
          </p:cNvPr>
          <p:cNvSpPr/>
          <p:nvPr/>
        </p:nvSpPr>
        <p:spPr>
          <a:xfrm>
            <a:off x="2085340" y="3886200"/>
            <a:ext cx="1" cy="127000"/>
          </a:xfrm>
          <a:prstGeom prst="line">
            <a:avLst/>
          </a:prstGeom>
          <a:ln w="19050">
            <a:solidFill>
              <a:srgbClr val="2C5F7C"/>
            </a:solidFill>
            <a:tailEnd type="triangle" w="med" len="med"/>
          </a:ln>
        </p:spPr>
        <p:txBody>
          <a:bodyPr/>
          <a:lstStyle/>
          <a:p>
            <a:endParaRPr lang="en-US"/>
          </a:p>
        </p:txBody>
      </p:sp>
      <p:sp>
        <p:nvSpPr>
          <p:cNvPr id="72" name="Arr3">
            <a:extLst>
              <a:ext uri="{FF2B5EF4-FFF2-40B4-BE49-F238E27FC236}">
                <a16:creationId xmlns:a16="http://schemas.microsoft.com/office/drawing/2014/main" id="{928F0656-672D-9312-420C-C38281432B16}"/>
              </a:ext>
            </a:extLst>
          </p:cNvPr>
          <p:cNvSpPr/>
          <p:nvPr/>
        </p:nvSpPr>
        <p:spPr>
          <a:xfrm>
            <a:off x="2085340" y="4648200"/>
            <a:ext cx="1" cy="127000"/>
          </a:xfrm>
          <a:prstGeom prst="line">
            <a:avLst/>
          </a:prstGeom>
          <a:ln w="19050">
            <a:solidFill>
              <a:srgbClr val="2C5F7C"/>
            </a:solidFill>
            <a:tailEnd type="triangle" w="med" len="med"/>
          </a:ln>
        </p:spPr>
        <p:txBody>
          <a:bodyPr/>
          <a:lstStyle/>
          <a:p>
            <a:endParaRPr lang="en-US"/>
          </a:p>
        </p:txBody>
      </p:sp>
      <p:sp>
        <p:nvSpPr>
          <p:cNvPr id="58" name="Tier2BG">
            <a:extLst>
              <a:ext uri="{FF2B5EF4-FFF2-40B4-BE49-F238E27FC236}">
                <a16:creationId xmlns:a16="http://schemas.microsoft.com/office/drawing/2014/main" id="{B6C7101C-BFA9-EBB8-3B5A-785EF05292DD}"/>
              </a:ext>
            </a:extLst>
          </p:cNvPr>
          <p:cNvSpPr/>
          <p:nvPr/>
        </p:nvSpPr>
        <p:spPr>
          <a:xfrm>
            <a:off x="4491990" y="1701800"/>
            <a:ext cx="3191510" cy="3937000"/>
          </a:xfrm>
          <a:prstGeom prst="roundRect">
            <a:avLst/>
          </a:prstGeom>
          <a:solidFill>
            <a:srgbClr val="FFFFFF"/>
          </a:solidFill>
          <a:ln w="12700">
            <a:solidFill>
              <a:srgbClr val="6B8F71"/>
            </a:solidFill>
          </a:ln>
        </p:spPr>
        <p:txBody>
          <a:bodyPr wrap="square" lIns="45720" tIns="36576" rIns="45720" bIns="36576" anchor="ctr"/>
          <a:lstStyle/>
          <a:p>
            <a:pPr algn="ctr">
              <a:buNone/>
            </a:pPr>
            <a:endParaRPr/>
          </a:p>
        </p:txBody>
      </p:sp>
      <p:sp>
        <p:nvSpPr>
          <p:cNvPr id="59" name="Tier2Header">
            <a:extLst>
              <a:ext uri="{FF2B5EF4-FFF2-40B4-BE49-F238E27FC236}">
                <a16:creationId xmlns:a16="http://schemas.microsoft.com/office/drawing/2014/main" id="{A236FBAD-0C41-A808-525E-BC37257A8FCE}"/>
              </a:ext>
            </a:extLst>
          </p:cNvPr>
          <p:cNvSpPr/>
          <p:nvPr/>
        </p:nvSpPr>
        <p:spPr>
          <a:xfrm>
            <a:off x="4854575" y="1549401"/>
            <a:ext cx="2400300" cy="355600"/>
          </a:xfrm>
          <a:prstGeom prst="rect">
            <a:avLst/>
          </a:prstGeom>
          <a:solidFill>
            <a:srgbClr val="6B8F71"/>
          </a:solidFill>
          <a:ln w="12700">
            <a:solidFill>
              <a:srgbClr val="6B8F71"/>
            </a:solidFill>
          </a:ln>
        </p:spPr>
        <p:txBody>
          <a:bodyPr wrap="square" lIns="45720" tIns="36576" rIns="45720" bIns="36576" anchor="ctr"/>
          <a:lstStyle/>
          <a:p>
            <a:pPr algn="ctr">
              <a:buNone/>
            </a:pPr>
            <a:r>
              <a:rPr lang="en-US" sz="1600" b="1" dirty="0">
                <a:solidFill>
                  <a:srgbClr val="FFFFFF"/>
                </a:solidFill>
                <a:latin typeface="Calibri"/>
              </a:rPr>
              <a:t>TIER 2: HOTEL SERVER</a:t>
            </a:r>
          </a:p>
        </p:txBody>
      </p:sp>
      <p:sp>
        <p:nvSpPr>
          <p:cNvPr id="60" name="Tier2Sub">
            <a:extLst>
              <a:ext uri="{FF2B5EF4-FFF2-40B4-BE49-F238E27FC236}">
                <a16:creationId xmlns:a16="http://schemas.microsoft.com/office/drawing/2014/main" id="{92895403-56F2-8A14-97DD-5B80D22A2FB9}"/>
              </a:ext>
            </a:extLst>
          </p:cNvPr>
          <p:cNvSpPr/>
          <p:nvPr/>
        </p:nvSpPr>
        <p:spPr>
          <a:xfrm>
            <a:off x="4635500" y="2101836"/>
            <a:ext cx="2921000" cy="228601"/>
          </a:xfrm>
          <a:prstGeom prst="rect">
            <a:avLst/>
          </a:prstGeom>
          <a:solidFill>
            <a:srgbClr val="EEF2EE"/>
          </a:solidFill>
          <a:ln w="12700">
            <a:solidFill>
              <a:srgbClr val="EEF2EE"/>
            </a:solidFill>
          </a:ln>
        </p:spPr>
        <p:txBody>
          <a:bodyPr wrap="square" lIns="45720" tIns="36576" rIns="45720" bIns="36576" anchor="ctr"/>
          <a:lstStyle/>
          <a:p>
            <a:pPr algn="ctr">
              <a:buNone/>
            </a:pPr>
            <a:r>
              <a:rPr lang="en-US" sz="1100" b="1" dirty="0">
                <a:solidFill>
                  <a:srgbClr val="1B2A4A"/>
                </a:solidFill>
                <a:latin typeface="Calibri"/>
              </a:rPr>
              <a:t>Any low-cost PC / Laptop</a:t>
            </a:r>
          </a:p>
        </p:txBody>
      </p:sp>
      <p:sp>
        <p:nvSpPr>
          <p:cNvPr id="61" name="FastAPIBox">
            <a:extLst>
              <a:ext uri="{FF2B5EF4-FFF2-40B4-BE49-F238E27FC236}">
                <a16:creationId xmlns:a16="http://schemas.microsoft.com/office/drawing/2014/main" id="{6C571F2B-EF0E-FFA4-D1C1-0C4754F00171}"/>
              </a:ext>
            </a:extLst>
          </p:cNvPr>
          <p:cNvSpPr/>
          <p:nvPr/>
        </p:nvSpPr>
        <p:spPr>
          <a:xfrm>
            <a:off x="4635500" y="2489200"/>
            <a:ext cx="2921000" cy="635000"/>
          </a:xfrm>
          <a:prstGeom prst="roundRect">
            <a:avLst/>
          </a:prstGeom>
          <a:solidFill>
            <a:srgbClr val="EEF2EE"/>
          </a:solidFill>
          <a:ln w="12700">
            <a:solidFill>
              <a:srgbClr val="6B8F71"/>
            </a:solidFill>
          </a:ln>
        </p:spPr>
        <p:txBody>
          <a:bodyPr wrap="square" lIns="45720" tIns="27432" rIns="45720" bIns="27432" anchor="ctr"/>
          <a:lstStyle/>
          <a:p>
            <a:pPr algn="ctr">
              <a:buNone/>
            </a:pPr>
            <a:r>
              <a:rPr lang="en-US" sz="1400" b="1" dirty="0">
                <a:solidFill>
                  <a:srgbClr val="1B2A4A"/>
                </a:solidFill>
                <a:latin typeface="Calibri"/>
              </a:rPr>
              <a:t>FastAPI Backend</a:t>
            </a:r>
          </a:p>
          <a:p>
            <a:pPr algn="ctr">
              <a:buNone/>
            </a:pPr>
            <a:r>
              <a:rPr lang="en-US" sz="1400" dirty="0">
                <a:solidFill>
                  <a:srgbClr val="1B2A4A"/>
                </a:solidFill>
                <a:latin typeface="Calibri"/>
              </a:rPr>
              <a:t>REST API + WebSocket Hub</a:t>
            </a:r>
          </a:p>
        </p:txBody>
      </p:sp>
      <p:sp>
        <p:nvSpPr>
          <p:cNvPr id="62" name="SQLiteBox">
            <a:extLst>
              <a:ext uri="{FF2B5EF4-FFF2-40B4-BE49-F238E27FC236}">
                <a16:creationId xmlns:a16="http://schemas.microsoft.com/office/drawing/2014/main" id="{01F5C761-7ADD-8647-5162-A7B11197210C}"/>
              </a:ext>
            </a:extLst>
          </p:cNvPr>
          <p:cNvSpPr/>
          <p:nvPr/>
        </p:nvSpPr>
        <p:spPr>
          <a:xfrm>
            <a:off x="4635500" y="3251200"/>
            <a:ext cx="2921000" cy="635000"/>
          </a:xfrm>
          <a:prstGeom prst="roundRect">
            <a:avLst/>
          </a:prstGeom>
          <a:solidFill>
            <a:srgbClr val="EEF2EE"/>
          </a:solidFill>
          <a:ln w="12700">
            <a:solidFill>
              <a:srgbClr val="6B8F71"/>
            </a:solidFill>
          </a:ln>
        </p:spPr>
        <p:txBody>
          <a:bodyPr wrap="square" lIns="45720" tIns="27432" rIns="45720" bIns="27432" anchor="ctr"/>
          <a:lstStyle/>
          <a:p>
            <a:pPr algn="ctr">
              <a:buNone/>
            </a:pPr>
            <a:r>
              <a:rPr lang="en-US" sz="1400" b="1" dirty="0">
                <a:solidFill>
                  <a:srgbClr val="1B2A4A"/>
                </a:solidFill>
                <a:latin typeface="Calibri"/>
              </a:rPr>
              <a:t>SQLite Database</a:t>
            </a:r>
          </a:p>
          <a:p>
            <a:pPr algn="ctr">
              <a:buNone/>
            </a:pPr>
            <a:r>
              <a:rPr lang="en-US" sz="1400" dirty="0">
                <a:solidFill>
                  <a:srgbClr val="1B2A4A"/>
                </a:solidFill>
                <a:latin typeface="Calibri"/>
              </a:rPr>
              <a:t>5 tables • Request persistence</a:t>
            </a:r>
          </a:p>
        </p:txBody>
      </p:sp>
      <p:sp>
        <p:nvSpPr>
          <p:cNvPr id="63" name="RoutingBox">
            <a:extLst>
              <a:ext uri="{FF2B5EF4-FFF2-40B4-BE49-F238E27FC236}">
                <a16:creationId xmlns:a16="http://schemas.microsoft.com/office/drawing/2014/main" id="{0EE9F73E-7DBE-E294-8161-0023BEF793BE}"/>
              </a:ext>
            </a:extLst>
          </p:cNvPr>
          <p:cNvSpPr/>
          <p:nvPr/>
        </p:nvSpPr>
        <p:spPr>
          <a:xfrm>
            <a:off x="4635500" y="4013200"/>
            <a:ext cx="2921000" cy="635000"/>
          </a:xfrm>
          <a:prstGeom prst="roundRect">
            <a:avLst/>
          </a:prstGeom>
          <a:solidFill>
            <a:srgbClr val="EEF2EE"/>
          </a:solidFill>
          <a:ln w="12700">
            <a:solidFill>
              <a:srgbClr val="6B8F71"/>
            </a:solidFill>
          </a:ln>
        </p:spPr>
        <p:txBody>
          <a:bodyPr wrap="square" lIns="45720" tIns="27432" rIns="45720" bIns="27432" anchor="ctr"/>
          <a:lstStyle/>
          <a:p>
            <a:pPr algn="ctr">
              <a:buNone/>
            </a:pPr>
            <a:r>
              <a:rPr lang="en-US" sz="1400" b="1" dirty="0">
                <a:solidFill>
                  <a:srgbClr val="1B2A4A"/>
                </a:solidFill>
                <a:latin typeface="Calibri"/>
              </a:rPr>
              <a:t>Routing Engine</a:t>
            </a:r>
          </a:p>
          <a:p>
            <a:pPr algn="ctr">
              <a:buNone/>
            </a:pPr>
            <a:r>
              <a:rPr lang="en-US" sz="1400" dirty="0">
                <a:solidFill>
                  <a:srgbClr val="1B2A4A"/>
                </a:solidFill>
                <a:latin typeface="Calibri"/>
              </a:rPr>
              <a:t>DB-driven + keyword fallback</a:t>
            </a:r>
          </a:p>
        </p:txBody>
      </p:sp>
      <p:sp>
        <p:nvSpPr>
          <p:cNvPr id="64" name="WSBox">
            <a:extLst>
              <a:ext uri="{FF2B5EF4-FFF2-40B4-BE49-F238E27FC236}">
                <a16:creationId xmlns:a16="http://schemas.microsoft.com/office/drawing/2014/main" id="{824B6401-D5FB-070E-FBB1-633D1199713D}"/>
              </a:ext>
            </a:extLst>
          </p:cNvPr>
          <p:cNvSpPr/>
          <p:nvPr/>
        </p:nvSpPr>
        <p:spPr>
          <a:xfrm>
            <a:off x="4635500" y="4775200"/>
            <a:ext cx="2921000" cy="381000"/>
          </a:xfrm>
          <a:prstGeom prst="roundRect">
            <a:avLst/>
          </a:prstGeom>
          <a:solidFill>
            <a:srgbClr val="EEF2EE"/>
          </a:solidFill>
          <a:ln w="12700">
            <a:solidFill>
              <a:srgbClr val="6B8F71"/>
            </a:solidFill>
          </a:ln>
        </p:spPr>
        <p:txBody>
          <a:bodyPr wrap="square" lIns="45720" tIns="36576" rIns="45720" bIns="36576" anchor="ctr"/>
          <a:lstStyle/>
          <a:p>
            <a:pPr algn="ctr">
              <a:buNone/>
            </a:pPr>
            <a:r>
              <a:rPr lang="en-US" sz="1400" b="1" dirty="0">
                <a:solidFill>
                  <a:srgbClr val="1B2A4A"/>
                </a:solidFill>
                <a:latin typeface="Calibri"/>
              </a:rPr>
              <a:t>WebSocket Connection Manager</a:t>
            </a:r>
          </a:p>
        </p:txBody>
      </p:sp>
      <p:sp>
        <p:nvSpPr>
          <p:cNvPr id="65" name="Tier3BG">
            <a:extLst>
              <a:ext uri="{FF2B5EF4-FFF2-40B4-BE49-F238E27FC236}">
                <a16:creationId xmlns:a16="http://schemas.microsoft.com/office/drawing/2014/main" id="{ADF9E986-2688-FE5F-E33C-A3C80E301864}"/>
              </a:ext>
            </a:extLst>
          </p:cNvPr>
          <p:cNvSpPr/>
          <p:nvPr/>
        </p:nvSpPr>
        <p:spPr>
          <a:xfrm>
            <a:off x="8528050" y="1701800"/>
            <a:ext cx="3302000" cy="3937000"/>
          </a:xfrm>
          <a:prstGeom prst="roundRect">
            <a:avLst/>
          </a:prstGeom>
          <a:solidFill>
            <a:srgbClr val="FFFFFF"/>
          </a:solidFill>
          <a:ln w="12700">
            <a:solidFill>
              <a:srgbClr val="C4956A"/>
            </a:solidFill>
          </a:ln>
        </p:spPr>
        <p:txBody>
          <a:bodyPr wrap="square" lIns="45720" tIns="36576" rIns="45720" bIns="36576" anchor="ctr"/>
          <a:lstStyle/>
          <a:p>
            <a:pPr algn="ctr">
              <a:buNone/>
            </a:pPr>
            <a:endParaRPr/>
          </a:p>
        </p:txBody>
      </p:sp>
      <p:sp>
        <p:nvSpPr>
          <p:cNvPr id="66" name="Tier3Header">
            <a:extLst>
              <a:ext uri="{FF2B5EF4-FFF2-40B4-BE49-F238E27FC236}">
                <a16:creationId xmlns:a16="http://schemas.microsoft.com/office/drawing/2014/main" id="{0746C1A1-9ADF-8FBB-AA34-0D180BAA63B0}"/>
              </a:ext>
            </a:extLst>
          </p:cNvPr>
          <p:cNvSpPr/>
          <p:nvPr/>
        </p:nvSpPr>
        <p:spPr>
          <a:xfrm>
            <a:off x="8994140" y="1562100"/>
            <a:ext cx="2369820" cy="355600"/>
          </a:xfrm>
          <a:prstGeom prst="rect">
            <a:avLst/>
          </a:prstGeom>
          <a:solidFill>
            <a:srgbClr val="C4956A"/>
          </a:solidFill>
          <a:ln w="12700">
            <a:solidFill>
              <a:srgbClr val="C4956A"/>
            </a:solidFill>
          </a:ln>
        </p:spPr>
        <p:txBody>
          <a:bodyPr wrap="square" lIns="45720" tIns="36576" rIns="45720" bIns="36576" anchor="ctr"/>
          <a:lstStyle/>
          <a:p>
            <a:pPr algn="ctr">
              <a:buNone/>
            </a:pPr>
            <a:r>
              <a:rPr lang="en-US" sz="1600" b="1" dirty="0">
                <a:solidFill>
                  <a:srgbClr val="FFFFFF"/>
                </a:solidFill>
                <a:latin typeface="Calibri"/>
              </a:rPr>
              <a:t>TIER 3: STAFF DASHBOARD</a:t>
            </a:r>
          </a:p>
        </p:txBody>
      </p:sp>
      <p:sp>
        <p:nvSpPr>
          <p:cNvPr id="67" name="Tier3Sub">
            <a:extLst>
              <a:ext uri="{FF2B5EF4-FFF2-40B4-BE49-F238E27FC236}">
                <a16:creationId xmlns:a16="http://schemas.microsoft.com/office/drawing/2014/main" id="{1547B0AB-E65F-8B12-EA14-EA8E28DDC6BF}"/>
              </a:ext>
            </a:extLst>
          </p:cNvPr>
          <p:cNvSpPr/>
          <p:nvPr/>
        </p:nvSpPr>
        <p:spPr>
          <a:xfrm>
            <a:off x="8607425" y="2089150"/>
            <a:ext cx="3175000" cy="228600"/>
          </a:xfrm>
          <a:prstGeom prst="rect">
            <a:avLst/>
          </a:prstGeom>
          <a:solidFill>
            <a:srgbClr val="F5EDE8"/>
          </a:solidFill>
          <a:ln w="12700">
            <a:solidFill>
              <a:srgbClr val="F5EDE8"/>
            </a:solidFill>
          </a:ln>
        </p:spPr>
        <p:txBody>
          <a:bodyPr wrap="square" lIns="45720" tIns="36576" rIns="45720" bIns="36576" anchor="ctr"/>
          <a:lstStyle/>
          <a:p>
            <a:pPr algn="ctr">
              <a:buNone/>
            </a:pPr>
            <a:r>
              <a:rPr lang="en-US" sz="1100" b="1" dirty="0">
                <a:solidFill>
                  <a:srgbClr val="1B2A4A"/>
                </a:solidFill>
                <a:latin typeface="Calibri"/>
              </a:rPr>
              <a:t>Any Web Browser</a:t>
            </a:r>
          </a:p>
        </p:txBody>
      </p:sp>
      <p:sp>
        <p:nvSpPr>
          <p:cNvPr id="68" name="DashBoard">
            <a:extLst>
              <a:ext uri="{FF2B5EF4-FFF2-40B4-BE49-F238E27FC236}">
                <a16:creationId xmlns:a16="http://schemas.microsoft.com/office/drawing/2014/main" id="{5F1FEBB2-A77F-59B4-1D96-86EE0DF7FBC1}"/>
              </a:ext>
            </a:extLst>
          </p:cNvPr>
          <p:cNvSpPr/>
          <p:nvPr/>
        </p:nvSpPr>
        <p:spPr>
          <a:xfrm>
            <a:off x="8718550" y="2489200"/>
            <a:ext cx="2921000" cy="762000"/>
          </a:xfrm>
          <a:prstGeom prst="roundRect">
            <a:avLst/>
          </a:prstGeom>
          <a:solidFill>
            <a:srgbClr val="F5EDE8"/>
          </a:solidFill>
          <a:ln w="12700">
            <a:solidFill>
              <a:srgbClr val="C4956A"/>
            </a:solidFill>
          </a:ln>
        </p:spPr>
        <p:txBody>
          <a:bodyPr wrap="square" lIns="45720" tIns="27432" rIns="45720" bIns="27432" anchor="ctr"/>
          <a:lstStyle/>
          <a:p>
            <a:pPr algn="ctr">
              <a:buNone/>
            </a:pPr>
            <a:r>
              <a:rPr lang="en-US" sz="1400" b="1" dirty="0">
                <a:solidFill>
                  <a:srgbClr val="1B2A4A"/>
                </a:solidFill>
                <a:latin typeface="Calibri"/>
              </a:rPr>
              <a:t>Department Queues</a:t>
            </a:r>
          </a:p>
          <a:p>
            <a:pPr algn="ctr">
              <a:buNone/>
            </a:pPr>
            <a:r>
              <a:rPr lang="en-US" sz="1400" dirty="0">
                <a:solidFill>
                  <a:srgbClr val="1B2A4A"/>
                </a:solidFill>
                <a:latin typeface="Calibri"/>
              </a:rPr>
              <a:t>Filtered by: Housekeeping,</a:t>
            </a:r>
          </a:p>
          <a:p>
            <a:pPr algn="ctr">
              <a:buNone/>
            </a:pPr>
            <a:r>
              <a:rPr lang="en-US" sz="1400" dirty="0">
                <a:solidFill>
                  <a:srgbClr val="1B2A4A"/>
                </a:solidFill>
                <a:latin typeface="Calibri"/>
              </a:rPr>
              <a:t>Room Service, F&amp;B, Maintenance</a:t>
            </a:r>
          </a:p>
        </p:txBody>
      </p:sp>
      <p:sp>
        <p:nvSpPr>
          <p:cNvPr id="69" name="StatusBox">
            <a:extLst>
              <a:ext uri="{FF2B5EF4-FFF2-40B4-BE49-F238E27FC236}">
                <a16:creationId xmlns:a16="http://schemas.microsoft.com/office/drawing/2014/main" id="{794E9718-9E56-5D8D-793B-19EA96581400}"/>
              </a:ext>
            </a:extLst>
          </p:cNvPr>
          <p:cNvSpPr/>
          <p:nvPr/>
        </p:nvSpPr>
        <p:spPr>
          <a:xfrm>
            <a:off x="8718550" y="3378200"/>
            <a:ext cx="2921000" cy="635000"/>
          </a:xfrm>
          <a:prstGeom prst="roundRect">
            <a:avLst/>
          </a:prstGeom>
          <a:solidFill>
            <a:srgbClr val="F5EDE8"/>
          </a:solidFill>
          <a:ln w="12700">
            <a:solidFill>
              <a:srgbClr val="C4956A"/>
            </a:solidFill>
          </a:ln>
        </p:spPr>
        <p:txBody>
          <a:bodyPr wrap="square" lIns="45720" tIns="27432" rIns="45720" bIns="27432" anchor="ctr"/>
          <a:lstStyle/>
          <a:p>
            <a:pPr algn="ctr">
              <a:buNone/>
            </a:pPr>
            <a:r>
              <a:rPr lang="en-US" sz="1400" b="1" dirty="0">
                <a:solidFill>
                  <a:srgbClr val="1B2A4A"/>
                </a:solidFill>
                <a:latin typeface="Calibri"/>
              </a:rPr>
              <a:t>Status Management</a:t>
            </a:r>
          </a:p>
          <a:p>
            <a:pPr algn="ctr">
              <a:buNone/>
            </a:pPr>
            <a:r>
              <a:rPr lang="en-US" sz="1400" dirty="0">
                <a:solidFill>
                  <a:srgbClr val="1B2A4A"/>
                </a:solidFill>
                <a:latin typeface="Calibri"/>
              </a:rPr>
              <a:t>Pending → In Progress → Completed</a:t>
            </a:r>
          </a:p>
        </p:txBody>
      </p:sp>
      <p:sp>
        <p:nvSpPr>
          <p:cNvPr id="73" name="MsgBox">
            <a:extLst>
              <a:ext uri="{FF2B5EF4-FFF2-40B4-BE49-F238E27FC236}">
                <a16:creationId xmlns:a16="http://schemas.microsoft.com/office/drawing/2014/main" id="{AF3E7BB7-D0DE-E8FE-B94B-821FD08FDFE7}"/>
              </a:ext>
            </a:extLst>
          </p:cNvPr>
          <p:cNvSpPr/>
          <p:nvPr/>
        </p:nvSpPr>
        <p:spPr>
          <a:xfrm>
            <a:off x="8718550" y="4140200"/>
            <a:ext cx="2921000" cy="635000"/>
          </a:xfrm>
          <a:prstGeom prst="roundRect">
            <a:avLst/>
          </a:prstGeom>
          <a:solidFill>
            <a:srgbClr val="F5EDE8"/>
          </a:solidFill>
          <a:ln w="12700">
            <a:solidFill>
              <a:srgbClr val="C4956A"/>
            </a:solidFill>
          </a:ln>
        </p:spPr>
        <p:txBody>
          <a:bodyPr wrap="square" lIns="45720" tIns="27432" rIns="45720" bIns="27432" anchor="ctr"/>
          <a:lstStyle/>
          <a:p>
            <a:pPr algn="ctr">
              <a:buNone/>
            </a:pPr>
            <a:r>
              <a:rPr lang="en-US" sz="1400" b="1" dirty="0">
                <a:solidFill>
                  <a:srgbClr val="1B2A4A"/>
                </a:solidFill>
                <a:latin typeface="Calibri"/>
              </a:rPr>
              <a:t>Real-Time Messaging</a:t>
            </a:r>
          </a:p>
          <a:p>
            <a:pPr algn="ctr">
              <a:buNone/>
            </a:pPr>
            <a:r>
              <a:rPr lang="en-US" sz="1400" dirty="0">
                <a:solidFill>
                  <a:srgbClr val="1B2A4A"/>
                </a:solidFill>
                <a:latin typeface="Calibri"/>
              </a:rPr>
              <a:t>Bidirectional staff ↔ guest</a:t>
            </a:r>
          </a:p>
        </p:txBody>
      </p:sp>
      <p:sp>
        <p:nvSpPr>
          <p:cNvPr id="74" name="RatingBox">
            <a:extLst>
              <a:ext uri="{FF2B5EF4-FFF2-40B4-BE49-F238E27FC236}">
                <a16:creationId xmlns:a16="http://schemas.microsoft.com/office/drawing/2014/main" id="{54FF36C9-4737-2B4D-F6B0-EF855F28DA4E}"/>
              </a:ext>
            </a:extLst>
          </p:cNvPr>
          <p:cNvSpPr/>
          <p:nvPr/>
        </p:nvSpPr>
        <p:spPr>
          <a:xfrm>
            <a:off x="8718550" y="4902200"/>
            <a:ext cx="2921000" cy="355600"/>
          </a:xfrm>
          <a:prstGeom prst="roundRect">
            <a:avLst/>
          </a:prstGeom>
          <a:solidFill>
            <a:srgbClr val="F5EDE8"/>
          </a:solidFill>
          <a:ln w="12700">
            <a:solidFill>
              <a:srgbClr val="C4956A"/>
            </a:solidFill>
          </a:ln>
        </p:spPr>
        <p:txBody>
          <a:bodyPr wrap="square" lIns="45720" tIns="36576" rIns="45720" bIns="36576" anchor="ctr"/>
          <a:lstStyle/>
          <a:p>
            <a:pPr algn="ctr">
              <a:buNone/>
            </a:pPr>
            <a:r>
              <a:rPr lang="en-US" sz="1400" b="1" dirty="0">
                <a:solidFill>
                  <a:srgbClr val="1B2A4A"/>
                </a:solidFill>
                <a:latin typeface="Calibri"/>
              </a:rPr>
              <a:t>Guest satisfaction rating</a:t>
            </a:r>
          </a:p>
        </p:txBody>
      </p:sp>
      <p:sp>
        <p:nvSpPr>
          <p:cNvPr id="82" name="HTTPLabel">
            <a:extLst>
              <a:ext uri="{FF2B5EF4-FFF2-40B4-BE49-F238E27FC236}">
                <a16:creationId xmlns:a16="http://schemas.microsoft.com/office/drawing/2014/main" id="{C0289E6A-00A3-6730-31C5-79EAE6FB2A90}"/>
              </a:ext>
            </a:extLst>
          </p:cNvPr>
          <p:cNvSpPr/>
          <p:nvPr/>
        </p:nvSpPr>
        <p:spPr>
          <a:xfrm>
            <a:off x="7848600" y="3784600"/>
            <a:ext cx="533400" cy="228600"/>
          </a:xfrm>
          <a:prstGeom prst="rect">
            <a:avLst/>
          </a:prstGeom>
          <a:solidFill>
            <a:srgbClr val="F7F5F0"/>
          </a:solidFill>
          <a:ln w="12700">
            <a:solidFill>
              <a:srgbClr val="F7F5F0"/>
            </a:solidFill>
          </a:ln>
        </p:spPr>
        <p:txBody>
          <a:bodyPr wrap="square" lIns="45720" tIns="36576" rIns="45720" bIns="36576" anchor="ctr"/>
          <a:lstStyle/>
          <a:p>
            <a:pPr algn="ctr">
              <a:buNone/>
            </a:pPr>
            <a:r>
              <a:rPr lang="en-US" sz="1200" b="1" dirty="0">
                <a:solidFill>
                  <a:srgbClr val="1B2A4A"/>
                </a:solidFill>
                <a:latin typeface="Calibri"/>
              </a:rPr>
              <a:t>HTTP</a:t>
            </a:r>
          </a:p>
        </p:txBody>
      </p:sp>
      <p:sp>
        <p:nvSpPr>
          <p:cNvPr id="83" name="WSLabel">
            <a:extLst>
              <a:ext uri="{FF2B5EF4-FFF2-40B4-BE49-F238E27FC236}">
                <a16:creationId xmlns:a16="http://schemas.microsoft.com/office/drawing/2014/main" id="{1BAF4352-C890-F17E-7738-CFAB7C22838D}"/>
              </a:ext>
            </a:extLst>
          </p:cNvPr>
          <p:cNvSpPr/>
          <p:nvPr/>
        </p:nvSpPr>
        <p:spPr>
          <a:xfrm>
            <a:off x="7670800" y="3218176"/>
            <a:ext cx="908050" cy="228593"/>
          </a:xfrm>
          <a:prstGeom prst="rect">
            <a:avLst/>
          </a:prstGeom>
          <a:solidFill>
            <a:srgbClr val="F7F5F0"/>
          </a:solidFill>
          <a:ln w="12700">
            <a:solidFill>
              <a:srgbClr val="F7F5F0"/>
            </a:solidFill>
          </a:ln>
        </p:spPr>
        <p:txBody>
          <a:bodyPr wrap="square" lIns="45720" tIns="36576" rIns="45720" bIns="36576" anchor="ctr"/>
          <a:lstStyle/>
          <a:p>
            <a:pPr algn="ctr">
              <a:buNone/>
            </a:pPr>
            <a:r>
              <a:rPr lang="en-US" sz="1200" b="1" dirty="0">
                <a:solidFill>
                  <a:srgbClr val="1B2A4A"/>
                </a:solidFill>
                <a:latin typeface="Calibri"/>
              </a:rPr>
              <a:t>WebSocket</a:t>
            </a:r>
          </a:p>
        </p:txBody>
      </p:sp>
      <p:sp>
        <p:nvSpPr>
          <p:cNvPr id="90" name="PrivacyBadge">
            <a:extLst>
              <a:ext uri="{FF2B5EF4-FFF2-40B4-BE49-F238E27FC236}">
                <a16:creationId xmlns:a16="http://schemas.microsoft.com/office/drawing/2014/main" id="{8EEB8F32-F09F-55D5-7CEF-CEDE3EE66511}"/>
              </a:ext>
            </a:extLst>
          </p:cNvPr>
          <p:cNvSpPr/>
          <p:nvPr/>
        </p:nvSpPr>
        <p:spPr>
          <a:xfrm>
            <a:off x="650240" y="5384800"/>
            <a:ext cx="2794000" cy="406398"/>
          </a:xfrm>
          <a:prstGeom prst="roundRect">
            <a:avLst/>
          </a:prstGeom>
          <a:solidFill>
            <a:srgbClr val="2C5F7C"/>
          </a:solidFill>
          <a:ln w="12700">
            <a:solidFill>
              <a:srgbClr val="2C5F7C"/>
            </a:solidFill>
          </a:ln>
        </p:spPr>
        <p:txBody>
          <a:bodyPr wrap="square" lIns="45720" tIns="36576" rIns="45720" bIns="36576" anchor="ctr"/>
          <a:lstStyle/>
          <a:p>
            <a:pPr algn="ctr">
              <a:buNone/>
            </a:pPr>
            <a:r>
              <a:rPr lang="en-US" sz="1400" b="1" dirty="0">
                <a:solidFill>
                  <a:srgbClr val="FFFFFF"/>
                </a:solidFill>
                <a:latin typeface="Calibri"/>
              </a:rPr>
              <a:t>All voice data stays on-device</a:t>
            </a:r>
          </a:p>
        </p:txBody>
      </p:sp>
      <p:sp>
        <p:nvSpPr>
          <p:cNvPr id="91" name="CostBadge">
            <a:extLst>
              <a:ext uri="{FF2B5EF4-FFF2-40B4-BE49-F238E27FC236}">
                <a16:creationId xmlns:a16="http://schemas.microsoft.com/office/drawing/2014/main" id="{9CB00809-F0B5-B932-AC3F-466CEA6CE504}"/>
              </a:ext>
            </a:extLst>
          </p:cNvPr>
          <p:cNvSpPr/>
          <p:nvPr/>
        </p:nvSpPr>
        <p:spPr>
          <a:xfrm>
            <a:off x="4699000" y="5384800"/>
            <a:ext cx="2794000" cy="406399"/>
          </a:xfrm>
          <a:prstGeom prst="roundRect">
            <a:avLst/>
          </a:prstGeom>
          <a:solidFill>
            <a:srgbClr val="6B8F71"/>
          </a:solidFill>
          <a:ln w="12700">
            <a:solidFill>
              <a:srgbClr val="6B8F71"/>
            </a:solidFill>
          </a:ln>
        </p:spPr>
        <p:txBody>
          <a:bodyPr wrap="square" lIns="45720" tIns="36576" rIns="45720" bIns="36576" anchor="ctr"/>
          <a:lstStyle/>
          <a:p>
            <a:pPr algn="ctr">
              <a:buNone/>
            </a:pPr>
            <a:r>
              <a:rPr lang="en-US" sz="1400" b="1" dirty="0">
                <a:solidFill>
                  <a:srgbClr val="FFFFFF"/>
                </a:solidFill>
                <a:latin typeface="Calibri"/>
              </a:rPr>
              <a:t>Zero cloud costs </a:t>
            </a:r>
          </a:p>
          <a:p>
            <a:pPr algn="ctr">
              <a:buNone/>
            </a:pPr>
            <a:r>
              <a:rPr lang="en-US" sz="1400" b="1" dirty="0">
                <a:solidFill>
                  <a:srgbClr val="FFFFFF"/>
                </a:solidFill>
                <a:latin typeface="Calibri"/>
              </a:rPr>
              <a:t>Zero subscriptions</a:t>
            </a:r>
          </a:p>
        </p:txBody>
      </p:sp>
      <p:sp>
        <p:nvSpPr>
          <p:cNvPr id="3" name="Slide Number Placeholder 2">
            <a:extLst>
              <a:ext uri="{FF2B5EF4-FFF2-40B4-BE49-F238E27FC236}">
                <a16:creationId xmlns:a16="http://schemas.microsoft.com/office/drawing/2014/main" id="{84D5D073-15C3-14AA-CC38-9B56D8BF0E54}"/>
              </a:ext>
            </a:extLst>
          </p:cNvPr>
          <p:cNvSpPr>
            <a:spLocks noGrp="1"/>
          </p:cNvSpPr>
          <p:nvPr>
            <p:ph type="sldNum" sz="quarter" idx="12"/>
          </p:nvPr>
        </p:nvSpPr>
        <p:spPr/>
        <p:txBody>
          <a:bodyPr/>
          <a:lstStyle/>
          <a:p>
            <a:fld id="{9890CE2D-2882-48A4-88CB-3A003AF6C150}" type="slidenum">
              <a:rPr lang="en-US" smtClean="0"/>
              <a:t>9</a:t>
            </a:fld>
            <a:endParaRPr lang="en-US"/>
          </a:p>
        </p:txBody>
      </p:sp>
      <p:sp>
        <p:nvSpPr>
          <p:cNvPr id="4" name="Arrow: Left-Right 3">
            <a:extLst>
              <a:ext uri="{FF2B5EF4-FFF2-40B4-BE49-F238E27FC236}">
                <a16:creationId xmlns:a16="http://schemas.microsoft.com/office/drawing/2014/main" id="{07ECF4C8-D763-185C-C438-43A8B8D9176D}"/>
              </a:ext>
            </a:extLst>
          </p:cNvPr>
          <p:cNvSpPr/>
          <p:nvPr/>
        </p:nvSpPr>
        <p:spPr>
          <a:xfrm>
            <a:off x="7747000" y="3486150"/>
            <a:ext cx="781050" cy="228593"/>
          </a:xfrm>
          <a:prstGeom prst="leftRightArrow">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HTTPLabel">
            <a:extLst>
              <a:ext uri="{FF2B5EF4-FFF2-40B4-BE49-F238E27FC236}">
                <a16:creationId xmlns:a16="http://schemas.microsoft.com/office/drawing/2014/main" id="{63F8B40B-6144-BFED-17BB-17408CB8CF47}"/>
              </a:ext>
            </a:extLst>
          </p:cNvPr>
          <p:cNvSpPr/>
          <p:nvPr/>
        </p:nvSpPr>
        <p:spPr>
          <a:xfrm>
            <a:off x="3797300" y="3218169"/>
            <a:ext cx="533400" cy="228600"/>
          </a:xfrm>
          <a:prstGeom prst="rect">
            <a:avLst/>
          </a:prstGeom>
          <a:solidFill>
            <a:srgbClr val="F7F5F0"/>
          </a:solidFill>
          <a:ln w="12700">
            <a:solidFill>
              <a:srgbClr val="F7F5F0"/>
            </a:solidFill>
          </a:ln>
        </p:spPr>
        <p:txBody>
          <a:bodyPr wrap="square" lIns="45720" tIns="36576" rIns="45720" bIns="36576" anchor="ctr"/>
          <a:lstStyle/>
          <a:p>
            <a:pPr algn="ctr">
              <a:buNone/>
            </a:pPr>
            <a:r>
              <a:rPr lang="en-US" sz="1200" b="1" dirty="0">
                <a:solidFill>
                  <a:srgbClr val="1B2A4A"/>
                </a:solidFill>
                <a:latin typeface="Calibri"/>
              </a:rPr>
              <a:t>HTTP</a:t>
            </a:r>
          </a:p>
        </p:txBody>
      </p:sp>
      <p:sp>
        <p:nvSpPr>
          <p:cNvPr id="6" name="Arrow: Left-Right 5">
            <a:extLst>
              <a:ext uri="{FF2B5EF4-FFF2-40B4-BE49-F238E27FC236}">
                <a16:creationId xmlns:a16="http://schemas.microsoft.com/office/drawing/2014/main" id="{BE4A6215-EFB8-5AA9-8913-7A255CB5357E}"/>
              </a:ext>
            </a:extLst>
          </p:cNvPr>
          <p:cNvSpPr/>
          <p:nvPr/>
        </p:nvSpPr>
        <p:spPr>
          <a:xfrm>
            <a:off x="3681095" y="3454407"/>
            <a:ext cx="781050" cy="228593"/>
          </a:xfrm>
          <a:prstGeom prst="leftRightArrow">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WSLabel">
            <a:extLst>
              <a:ext uri="{FF2B5EF4-FFF2-40B4-BE49-F238E27FC236}">
                <a16:creationId xmlns:a16="http://schemas.microsoft.com/office/drawing/2014/main" id="{4D317DC4-081B-AB2F-B488-EA1E09C200C1}"/>
              </a:ext>
            </a:extLst>
          </p:cNvPr>
          <p:cNvSpPr/>
          <p:nvPr/>
        </p:nvSpPr>
        <p:spPr>
          <a:xfrm>
            <a:off x="3675379" y="3779528"/>
            <a:ext cx="817879" cy="226042"/>
          </a:xfrm>
          <a:prstGeom prst="rect">
            <a:avLst/>
          </a:prstGeom>
          <a:solidFill>
            <a:srgbClr val="F7F5F0"/>
          </a:solidFill>
          <a:ln w="12700">
            <a:solidFill>
              <a:srgbClr val="F7F5F0"/>
            </a:solidFill>
          </a:ln>
        </p:spPr>
        <p:txBody>
          <a:bodyPr wrap="square" lIns="45720" tIns="36576" rIns="45720" bIns="36576" anchor="ctr"/>
          <a:lstStyle/>
          <a:p>
            <a:pPr algn="ctr">
              <a:buNone/>
            </a:pPr>
            <a:r>
              <a:rPr lang="en-US" sz="1200" b="1" dirty="0">
                <a:solidFill>
                  <a:srgbClr val="1B2A4A"/>
                </a:solidFill>
                <a:latin typeface="Calibri"/>
              </a:rPr>
              <a:t>WebSocket</a:t>
            </a:r>
          </a:p>
        </p:txBody>
      </p:sp>
      <p:sp>
        <p:nvSpPr>
          <p:cNvPr id="8" name="TextBox 7">
            <a:extLst>
              <a:ext uri="{FF2B5EF4-FFF2-40B4-BE49-F238E27FC236}">
                <a16:creationId xmlns:a16="http://schemas.microsoft.com/office/drawing/2014/main" id="{2D816A18-4FE4-3FFC-512D-C63570F21E87}"/>
              </a:ext>
            </a:extLst>
          </p:cNvPr>
          <p:cNvSpPr txBox="1"/>
          <p:nvPr/>
        </p:nvSpPr>
        <p:spPr>
          <a:xfrm>
            <a:off x="762000" y="956311"/>
            <a:ext cx="3375660" cy="523220"/>
          </a:xfrm>
          <a:prstGeom prst="rect">
            <a:avLst/>
          </a:prstGeom>
          <a:noFill/>
        </p:spPr>
        <p:txBody>
          <a:bodyPr wrap="square">
            <a:spAutoFit/>
          </a:bodyPr>
          <a:lstStyle/>
          <a:p>
            <a:r>
              <a:rPr lang="en-GB" sz="2800" dirty="0">
                <a:ln w="0"/>
                <a:solidFill>
                  <a:schemeClr val="accent1"/>
                </a:solidFill>
                <a:effectLst>
                  <a:outerShdw blurRad="38100" dist="25400" dir="5400000" algn="ctr" rotWithShape="0">
                    <a:srgbClr val="6E747A">
                      <a:alpha val="43000"/>
                    </a:srgbClr>
                  </a:outerShdw>
                </a:effectLst>
              </a:rPr>
              <a:t>3-Tier Architecture</a:t>
            </a:r>
            <a:endParaRPr lang="en-US" sz="2800" dirty="0">
              <a:ln w="0"/>
              <a:solidFill>
                <a:schemeClr val="accent1"/>
              </a:solidFill>
              <a:effectLst>
                <a:outerShdw blurRad="38100" dist="25400" dir="5400000" algn="ctr" rotWithShape="0">
                  <a:srgbClr val="6E747A">
                    <a:alpha val="43000"/>
                  </a:srgbClr>
                </a:outerShdw>
              </a:effectLst>
            </a:endParaRPr>
          </a:p>
        </p:txBody>
      </p:sp>
      <p:pic>
        <p:nvPicPr>
          <p:cNvPr id="9" name="Picture 8">
            <a:extLst>
              <a:ext uri="{FF2B5EF4-FFF2-40B4-BE49-F238E27FC236}">
                <a16:creationId xmlns:a16="http://schemas.microsoft.com/office/drawing/2014/main" id="{6CBFD836-F578-9F38-C821-28C49F7B0668}"/>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17362382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56AE53-B6A5-B2E2-47FC-C56622665DFD}"/>
            </a:ext>
          </a:extLst>
        </p:cNvPr>
        <p:cNvGrpSpPr/>
        <p:nvPr/>
      </p:nvGrpSpPr>
      <p:grpSpPr>
        <a:xfrm>
          <a:off x="0" y="0"/>
          <a:ext cx="0" cy="0"/>
          <a:chOff x="0" y="0"/>
          <a:chExt cx="0" cy="0"/>
        </a:xfrm>
      </p:grpSpPr>
      <p:pic>
        <p:nvPicPr>
          <p:cNvPr id="21" name="Picture 20">
            <a:extLst>
              <a:ext uri="{FF2B5EF4-FFF2-40B4-BE49-F238E27FC236}">
                <a16:creationId xmlns:a16="http://schemas.microsoft.com/office/drawing/2014/main" id="{518F830E-9BDF-B4DD-4359-468322BC6F7F}"/>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2CFDB988-9FD1-8A1F-6F36-AE53EB5060F4}"/>
              </a:ext>
            </a:extLst>
          </p:cNvPr>
          <p:cNvSpPr>
            <a:spLocks noGrp="1"/>
          </p:cNvSpPr>
          <p:nvPr>
            <p:ph type="title"/>
          </p:nvPr>
        </p:nvSpPr>
        <p:spPr>
          <a:xfrm>
            <a:off x="658494" y="158844"/>
            <a:ext cx="10515600" cy="812165"/>
          </a:xfrm>
        </p:spPr>
        <p:txBody>
          <a:bodyPr/>
          <a:lstStyle/>
          <a:p>
            <a:r>
              <a:rPr lang="en-US" dirty="0"/>
              <a:t>Technology Stack</a:t>
            </a:r>
          </a:p>
        </p:txBody>
      </p:sp>
      <p:sp>
        <p:nvSpPr>
          <p:cNvPr id="4" name="Slide Number Placeholder 3">
            <a:extLst>
              <a:ext uri="{FF2B5EF4-FFF2-40B4-BE49-F238E27FC236}">
                <a16:creationId xmlns:a16="http://schemas.microsoft.com/office/drawing/2014/main" id="{9FB9C043-19F4-0A18-B504-E6339761D2C6}"/>
              </a:ext>
            </a:extLst>
          </p:cNvPr>
          <p:cNvSpPr>
            <a:spLocks noGrp="1"/>
          </p:cNvSpPr>
          <p:nvPr>
            <p:ph type="sldNum" sz="quarter" idx="12"/>
          </p:nvPr>
        </p:nvSpPr>
        <p:spPr/>
        <p:txBody>
          <a:bodyPr/>
          <a:lstStyle/>
          <a:p>
            <a:fld id="{9890CE2D-2882-48A4-88CB-3A003AF6C150}" type="slidenum">
              <a:rPr lang="en-US" smtClean="0"/>
              <a:t>10</a:t>
            </a:fld>
            <a:endParaRPr lang="en-US"/>
          </a:p>
        </p:txBody>
      </p:sp>
      <p:sp>
        <p:nvSpPr>
          <p:cNvPr id="3" name="Shape 3">
            <a:extLst>
              <a:ext uri="{FF2B5EF4-FFF2-40B4-BE49-F238E27FC236}">
                <a16:creationId xmlns:a16="http://schemas.microsoft.com/office/drawing/2014/main" id="{C29634DA-0A03-6077-2205-98DF73F7B307}"/>
              </a:ext>
            </a:extLst>
          </p:cNvPr>
          <p:cNvSpPr/>
          <p:nvPr/>
        </p:nvSpPr>
        <p:spPr>
          <a:xfrm>
            <a:off x="892711" y="1258874"/>
            <a:ext cx="5140691" cy="1849309"/>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5" name="Shape 4">
            <a:extLst>
              <a:ext uri="{FF2B5EF4-FFF2-40B4-BE49-F238E27FC236}">
                <a16:creationId xmlns:a16="http://schemas.microsoft.com/office/drawing/2014/main" id="{37120439-C676-E50F-4EB0-A4B90D239AE1}"/>
              </a:ext>
            </a:extLst>
          </p:cNvPr>
          <p:cNvSpPr/>
          <p:nvPr/>
        </p:nvSpPr>
        <p:spPr>
          <a:xfrm>
            <a:off x="892711" y="1278897"/>
            <a:ext cx="5140691" cy="621792"/>
          </a:xfrm>
          <a:prstGeom prst="rect">
            <a:avLst/>
          </a:prstGeom>
          <a:solidFill>
            <a:srgbClr val="0E7490"/>
          </a:solidFill>
          <a:ln w="12700">
            <a:solidFill>
              <a:srgbClr val="FFFFFF"/>
            </a:solidFill>
            <a:prstDash val="solid"/>
          </a:ln>
        </p:spPr>
        <p:txBody>
          <a:bodyPr/>
          <a:lstStyle/>
          <a:p>
            <a:endParaRPr lang="en-US" sz="1600"/>
          </a:p>
        </p:txBody>
      </p:sp>
      <p:sp>
        <p:nvSpPr>
          <p:cNvPr id="7" name="Text 5">
            <a:extLst>
              <a:ext uri="{FF2B5EF4-FFF2-40B4-BE49-F238E27FC236}">
                <a16:creationId xmlns:a16="http://schemas.microsoft.com/office/drawing/2014/main" id="{8C9F3B14-277B-1C21-43F6-B767AEE473F3}"/>
              </a:ext>
            </a:extLst>
          </p:cNvPr>
          <p:cNvSpPr/>
          <p:nvPr/>
        </p:nvSpPr>
        <p:spPr>
          <a:xfrm>
            <a:off x="1836772" y="1310238"/>
            <a:ext cx="3516926" cy="490889"/>
          </a:xfrm>
          <a:prstGeom prst="rect">
            <a:avLst/>
          </a:prstGeom>
          <a:noFill/>
          <a:ln/>
        </p:spPr>
        <p:txBody>
          <a:bodyPr wrap="square" rtlCol="0" anchor="ctr"/>
          <a:lstStyle/>
          <a:p>
            <a:r>
              <a:rPr lang="en-US" sz="1600" b="1" dirty="0">
                <a:solidFill>
                  <a:srgbClr val="FFFFFF"/>
                </a:solidFill>
              </a:rPr>
              <a:t>Speech Recognition (On-Device)</a:t>
            </a:r>
            <a:endParaRPr lang="en-US" sz="1600" dirty="0"/>
          </a:p>
        </p:txBody>
      </p:sp>
      <p:sp>
        <p:nvSpPr>
          <p:cNvPr id="8" name="Text 6">
            <a:extLst>
              <a:ext uri="{FF2B5EF4-FFF2-40B4-BE49-F238E27FC236}">
                <a16:creationId xmlns:a16="http://schemas.microsoft.com/office/drawing/2014/main" id="{473FE817-7107-E7AE-0009-97A5A963604F}"/>
              </a:ext>
            </a:extLst>
          </p:cNvPr>
          <p:cNvSpPr/>
          <p:nvPr/>
        </p:nvSpPr>
        <p:spPr>
          <a:xfrm>
            <a:off x="892711" y="1995880"/>
            <a:ext cx="5140691" cy="1001583"/>
          </a:xfrm>
          <a:prstGeom prst="rect">
            <a:avLst/>
          </a:prstGeom>
          <a:noFill/>
          <a:ln/>
        </p:spPr>
        <p:txBody>
          <a:bodyPr wrap="square" rtlCol="0" anchor="ctr"/>
          <a:lstStyle/>
          <a:p>
            <a:pPr marL="285750" indent="-285750">
              <a:buFont typeface="Arial" panose="020B0604020202020204" pitchFamily="34" charset="0"/>
              <a:buChar char="•"/>
            </a:pPr>
            <a:r>
              <a:rPr lang="en-US" sz="1600" dirty="0" err="1">
                <a:solidFill>
                  <a:srgbClr val="475569"/>
                </a:solidFill>
                <a:latin typeface="Calibri" pitchFamily="34" charset="0"/>
                <a:ea typeface="Calibri" pitchFamily="34" charset="-122"/>
                <a:cs typeface="Calibri" pitchFamily="34" charset="-120"/>
              </a:rPr>
              <a:t>Vosk</a:t>
            </a:r>
            <a:r>
              <a:rPr lang="en-US" sz="1600" dirty="0">
                <a:solidFill>
                  <a:srgbClr val="475569"/>
                </a:solidFill>
                <a:latin typeface="Calibri" pitchFamily="34" charset="0"/>
                <a:ea typeface="Calibri" pitchFamily="34" charset="-122"/>
                <a:cs typeface="Calibri" pitchFamily="34" charset="-120"/>
              </a:rPr>
              <a:t> vosk-model-small-en-in-0.4 (Indian English, ~36 MB)</a:t>
            </a:r>
          </a:p>
          <a:p>
            <a:pPr marL="285750" indent="-285750">
              <a:buFont typeface="Arial" panose="020B0604020202020204" pitchFamily="34" charset="0"/>
              <a:buChar char="•"/>
            </a:pPr>
            <a:r>
              <a:rPr lang="en-US" sz="1600" dirty="0">
                <a:solidFill>
                  <a:srgbClr val="475569"/>
                </a:solidFill>
                <a:latin typeface="Calibri" pitchFamily="34" charset="0"/>
                <a:ea typeface="Calibri" pitchFamily="34" charset="-122"/>
                <a:cs typeface="Calibri" pitchFamily="34" charset="-120"/>
              </a:rPr>
              <a:t>Optimized for South Asian accents</a:t>
            </a:r>
          </a:p>
          <a:p>
            <a:pPr marL="285750" indent="-285750">
              <a:buFont typeface="Arial" panose="020B0604020202020204" pitchFamily="34" charset="0"/>
              <a:buChar char="•"/>
            </a:pPr>
            <a:r>
              <a:rPr lang="en-US" sz="1600" dirty="0">
                <a:solidFill>
                  <a:srgbClr val="475569"/>
                </a:solidFill>
                <a:latin typeface="Calibri" pitchFamily="34" charset="0"/>
                <a:ea typeface="Calibri" pitchFamily="34" charset="-122"/>
                <a:cs typeface="Calibri" pitchFamily="34" charset="-120"/>
              </a:rPr>
              <a:t>16 kHz, 16-bit PCM mono; real-time streaming with VAD</a:t>
            </a:r>
            <a:endParaRPr lang="en-US" sz="1600" dirty="0"/>
          </a:p>
        </p:txBody>
      </p:sp>
      <p:sp>
        <p:nvSpPr>
          <p:cNvPr id="9" name="Shape 7">
            <a:extLst>
              <a:ext uri="{FF2B5EF4-FFF2-40B4-BE49-F238E27FC236}">
                <a16:creationId xmlns:a16="http://schemas.microsoft.com/office/drawing/2014/main" id="{079C9D5E-7077-B975-858F-1B5167E49CAC}"/>
              </a:ext>
            </a:extLst>
          </p:cNvPr>
          <p:cNvSpPr/>
          <p:nvPr/>
        </p:nvSpPr>
        <p:spPr>
          <a:xfrm>
            <a:off x="6213109" y="1278897"/>
            <a:ext cx="5140691" cy="1829285"/>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10" name="Shape 8">
            <a:extLst>
              <a:ext uri="{FF2B5EF4-FFF2-40B4-BE49-F238E27FC236}">
                <a16:creationId xmlns:a16="http://schemas.microsoft.com/office/drawing/2014/main" id="{2669C866-DE76-0BB2-6E0E-EB03233AF1C3}"/>
              </a:ext>
            </a:extLst>
          </p:cNvPr>
          <p:cNvSpPr/>
          <p:nvPr/>
        </p:nvSpPr>
        <p:spPr>
          <a:xfrm>
            <a:off x="6213109" y="1278898"/>
            <a:ext cx="5140691" cy="621792"/>
          </a:xfrm>
          <a:prstGeom prst="rect">
            <a:avLst/>
          </a:prstGeom>
          <a:solidFill>
            <a:srgbClr val="D97706"/>
          </a:solidFill>
          <a:ln w="12700">
            <a:solidFill>
              <a:srgbClr val="FFFFFF"/>
            </a:solidFill>
            <a:prstDash val="solid"/>
          </a:ln>
        </p:spPr>
        <p:txBody>
          <a:bodyPr/>
          <a:lstStyle/>
          <a:p>
            <a:endParaRPr lang="en-US" sz="1600"/>
          </a:p>
        </p:txBody>
      </p:sp>
      <p:sp>
        <p:nvSpPr>
          <p:cNvPr id="11" name="Text 9">
            <a:extLst>
              <a:ext uri="{FF2B5EF4-FFF2-40B4-BE49-F238E27FC236}">
                <a16:creationId xmlns:a16="http://schemas.microsoft.com/office/drawing/2014/main" id="{DD934BA6-5BF8-D6AC-E738-C3355359AED0}"/>
              </a:ext>
            </a:extLst>
          </p:cNvPr>
          <p:cNvSpPr/>
          <p:nvPr/>
        </p:nvSpPr>
        <p:spPr>
          <a:xfrm>
            <a:off x="7239288" y="1324017"/>
            <a:ext cx="3255101" cy="490889"/>
          </a:xfrm>
          <a:prstGeom prst="rect">
            <a:avLst/>
          </a:prstGeom>
          <a:noFill/>
          <a:ln/>
        </p:spPr>
        <p:txBody>
          <a:bodyPr wrap="square" rtlCol="0" anchor="ctr"/>
          <a:lstStyle/>
          <a:p>
            <a:r>
              <a:rPr lang="en-US" sz="1600" b="1" dirty="0">
                <a:solidFill>
                  <a:srgbClr val="FFFFFF"/>
                </a:solidFill>
              </a:rPr>
              <a:t>Intent Classification (On-Device)</a:t>
            </a:r>
            <a:endParaRPr lang="en-US" sz="1600" dirty="0"/>
          </a:p>
        </p:txBody>
      </p:sp>
      <p:sp>
        <p:nvSpPr>
          <p:cNvPr id="12" name="Text 10">
            <a:extLst>
              <a:ext uri="{FF2B5EF4-FFF2-40B4-BE49-F238E27FC236}">
                <a16:creationId xmlns:a16="http://schemas.microsoft.com/office/drawing/2014/main" id="{8BBFF7CA-52E9-8623-F521-E810B69F1C9D}"/>
              </a:ext>
            </a:extLst>
          </p:cNvPr>
          <p:cNvSpPr/>
          <p:nvPr/>
        </p:nvSpPr>
        <p:spPr>
          <a:xfrm>
            <a:off x="6701589" y="2064817"/>
            <a:ext cx="3865825" cy="785422"/>
          </a:xfrm>
          <a:prstGeom prst="rect">
            <a:avLst/>
          </a:prstGeom>
          <a:noFill/>
          <a:ln/>
        </p:spPr>
        <p:txBody>
          <a:bodyPr wrap="square" rtlCol="0" anchor="ctr"/>
          <a:lstStyle/>
          <a:p>
            <a:pPr marL="285750" indent="-285750">
              <a:buFont typeface="Arial" panose="020B0604020202020204" pitchFamily="34" charset="0"/>
              <a:buChar char="•"/>
            </a:pPr>
            <a:r>
              <a:rPr lang="en-US" sz="1600" dirty="0" err="1">
                <a:solidFill>
                  <a:srgbClr val="475569"/>
                </a:solidFill>
                <a:latin typeface="Calibri" pitchFamily="34" charset="0"/>
                <a:ea typeface="Calibri" pitchFamily="34" charset="-122"/>
                <a:cs typeface="Calibri" pitchFamily="34" charset="-120"/>
              </a:rPr>
              <a:t>MobileBERT</a:t>
            </a:r>
            <a:r>
              <a:rPr lang="en-US" sz="1600" dirty="0">
                <a:solidFill>
                  <a:srgbClr val="475569"/>
                </a:solidFill>
                <a:latin typeface="Calibri" pitchFamily="34" charset="0"/>
                <a:ea typeface="Calibri" pitchFamily="34" charset="-122"/>
                <a:cs typeface="Calibri" pitchFamily="34" charset="-120"/>
              </a:rPr>
              <a:t> fine-tuned </a:t>
            </a:r>
            <a:r>
              <a:rPr lang="en-US" sz="1600" dirty="0" err="1">
                <a:solidFill>
                  <a:srgbClr val="475569"/>
                </a:solidFill>
                <a:latin typeface="Calibri" pitchFamily="34" charset="0"/>
                <a:ea typeface="Calibri" pitchFamily="34" charset="-122"/>
                <a:cs typeface="Calibri" pitchFamily="34" charset="-120"/>
              </a:rPr>
              <a:t>TFLite</a:t>
            </a:r>
            <a:r>
              <a:rPr lang="en-US" sz="1600" dirty="0">
                <a:solidFill>
                  <a:srgbClr val="475569"/>
                </a:solidFill>
                <a:latin typeface="Calibri" pitchFamily="34" charset="0"/>
                <a:ea typeface="Calibri" pitchFamily="34" charset="-122"/>
                <a:cs typeface="Calibri" pitchFamily="34" charset="-120"/>
              </a:rPr>
              <a:t> (26 MB)</a:t>
            </a:r>
          </a:p>
          <a:p>
            <a:pPr marL="285750" indent="-285750">
              <a:buFont typeface="Arial" panose="020B0604020202020204" pitchFamily="34" charset="0"/>
              <a:buChar char="•"/>
            </a:pPr>
            <a:r>
              <a:rPr lang="en-US" sz="1600" dirty="0">
                <a:solidFill>
                  <a:srgbClr val="475569"/>
                </a:solidFill>
                <a:latin typeface="Calibri" pitchFamily="34" charset="0"/>
                <a:ea typeface="Calibri" pitchFamily="34" charset="-122"/>
                <a:cs typeface="Calibri" pitchFamily="34" charset="-120"/>
              </a:rPr>
              <a:t>Hybrid pipeline: </a:t>
            </a:r>
          </a:p>
          <a:p>
            <a:r>
              <a:rPr lang="en-US" sz="1600" dirty="0">
                <a:solidFill>
                  <a:srgbClr val="475569"/>
                </a:solidFill>
                <a:latin typeface="Calibri" pitchFamily="34" charset="0"/>
                <a:ea typeface="Calibri" pitchFamily="34" charset="-122"/>
                <a:cs typeface="Calibri" pitchFamily="34" charset="-120"/>
              </a:rPr>
              <a:t>	Step 1 - Keyword regex</a:t>
            </a:r>
          </a:p>
          <a:p>
            <a:r>
              <a:rPr lang="en-US" sz="1600" dirty="0">
                <a:solidFill>
                  <a:srgbClr val="475569"/>
                </a:solidFill>
                <a:latin typeface="Calibri" pitchFamily="34" charset="0"/>
                <a:ea typeface="Calibri" pitchFamily="34" charset="-122"/>
                <a:cs typeface="Calibri" pitchFamily="34" charset="-120"/>
              </a:rPr>
              <a:t>	Step 2 - Neural inference</a:t>
            </a:r>
            <a:endParaRPr lang="en-US" sz="1600" dirty="0"/>
          </a:p>
        </p:txBody>
      </p:sp>
      <p:sp>
        <p:nvSpPr>
          <p:cNvPr id="13" name="Shape 11">
            <a:extLst>
              <a:ext uri="{FF2B5EF4-FFF2-40B4-BE49-F238E27FC236}">
                <a16:creationId xmlns:a16="http://schemas.microsoft.com/office/drawing/2014/main" id="{632751D8-0166-5D0D-95BC-162771C3E5A5}"/>
              </a:ext>
            </a:extLst>
          </p:cNvPr>
          <p:cNvSpPr/>
          <p:nvPr/>
        </p:nvSpPr>
        <p:spPr>
          <a:xfrm>
            <a:off x="3368844" y="3249195"/>
            <a:ext cx="5594684" cy="2012883"/>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14" name="Shape 12">
            <a:extLst>
              <a:ext uri="{FF2B5EF4-FFF2-40B4-BE49-F238E27FC236}">
                <a16:creationId xmlns:a16="http://schemas.microsoft.com/office/drawing/2014/main" id="{D91F4F23-D877-9F2C-FD8C-14E623C32512}"/>
              </a:ext>
            </a:extLst>
          </p:cNvPr>
          <p:cNvSpPr/>
          <p:nvPr/>
        </p:nvSpPr>
        <p:spPr>
          <a:xfrm>
            <a:off x="3368843" y="3249196"/>
            <a:ext cx="5594684" cy="621792"/>
          </a:xfrm>
          <a:prstGeom prst="rect">
            <a:avLst/>
          </a:prstGeom>
          <a:solidFill>
            <a:srgbClr val="0D2340"/>
          </a:solidFill>
          <a:ln w="12700">
            <a:solidFill>
              <a:srgbClr val="FFFFFF"/>
            </a:solidFill>
            <a:prstDash val="solid"/>
          </a:ln>
        </p:spPr>
        <p:txBody>
          <a:bodyPr/>
          <a:lstStyle/>
          <a:p>
            <a:endParaRPr lang="en-US" sz="1600"/>
          </a:p>
        </p:txBody>
      </p:sp>
      <p:sp>
        <p:nvSpPr>
          <p:cNvPr id="15" name="Text 13">
            <a:extLst>
              <a:ext uri="{FF2B5EF4-FFF2-40B4-BE49-F238E27FC236}">
                <a16:creationId xmlns:a16="http://schemas.microsoft.com/office/drawing/2014/main" id="{623CB45F-EC30-660D-0A08-7AA27779406F}"/>
              </a:ext>
            </a:extLst>
          </p:cNvPr>
          <p:cNvSpPr/>
          <p:nvPr/>
        </p:nvSpPr>
        <p:spPr>
          <a:xfrm>
            <a:off x="4282806" y="3330780"/>
            <a:ext cx="3501191" cy="490889"/>
          </a:xfrm>
          <a:prstGeom prst="rect">
            <a:avLst/>
          </a:prstGeom>
          <a:noFill/>
          <a:ln/>
        </p:spPr>
        <p:txBody>
          <a:bodyPr wrap="square" rtlCol="0" anchor="ctr"/>
          <a:lstStyle/>
          <a:p>
            <a:r>
              <a:rPr lang="en-US" sz="1600" b="1" dirty="0">
                <a:solidFill>
                  <a:srgbClr val="FFFFFF"/>
                </a:solidFill>
              </a:rPr>
              <a:t>Frontend + Backend + Staff Dashboard</a:t>
            </a:r>
            <a:endParaRPr lang="en-US" sz="1600" dirty="0"/>
          </a:p>
        </p:txBody>
      </p:sp>
      <p:sp>
        <p:nvSpPr>
          <p:cNvPr id="16" name="Text 14">
            <a:extLst>
              <a:ext uri="{FF2B5EF4-FFF2-40B4-BE49-F238E27FC236}">
                <a16:creationId xmlns:a16="http://schemas.microsoft.com/office/drawing/2014/main" id="{45B7720D-2053-BE89-C4D2-AAB57981F9C9}"/>
              </a:ext>
            </a:extLst>
          </p:cNvPr>
          <p:cNvSpPr/>
          <p:nvPr/>
        </p:nvSpPr>
        <p:spPr>
          <a:xfrm>
            <a:off x="4282806" y="4162753"/>
            <a:ext cx="4584033" cy="791437"/>
          </a:xfrm>
          <a:prstGeom prst="rect">
            <a:avLst/>
          </a:prstGeom>
          <a:noFill/>
          <a:ln/>
        </p:spPr>
        <p:txBody>
          <a:bodyPr wrap="square" rtlCol="0" anchor="ctr"/>
          <a:lstStyle/>
          <a:p>
            <a:pPr marL="285750" indent="-285750">
              <a:buFont typeface="Arial" panose="020B0604020202020204" pitchFamily="34" charset="0"/>
              <a:buChar char="•"/>
            </a:pPr>
            <a:r>
              <a:rPr lang="en-US" sz="1600" dirty="0">
                <a:solidFill>
                  <a:srgbClr val="475569"/>
                </a:solidFill>
                <a:latin typeface="Calibri" pitchFamily="34" charset="0"/>
                <a:ea typeface="Calibri" pitchFamily="34" charset="-122"/>
                <a:cs typeface="Calibri" pitchFamily="34" charset="-120"/>
              </a:rPr>
              <a:t>Android: Kotlin + Jetpack Compose</a:t>
            </a:r>
          </a:p>
          <a:p>
            <a:pPr marL="285750" indent="-285750">
              <a:buFont typeface="Arial" panose="020B0604020202020204" pitchFamily="34" charset="0"/>
              <a:buChar char="•"/>
            </a:pPr>
            <a:r>
              <a:rPr lang="en-US" sz="1600" dirty="0" err="1">
                <a:solidFill>
                  <a:srgbClr val="475569"/>
                </a:solidFill>
                <a:latin typeface="Calibri" pitchFamily="34" charset="0"/>
                <a:ea typeface="Calibri" pitchFamily="34" charset="-122"/>
                <a:cs typeface="Calibri" pitchFamily="34" charset="-120"/>
              </a:rPr>
              <a:t>FastAPI</a:t>
            </a:r>
            <a:r>
              <a:rPr lang="en-US" sz="1600" dirty="0">
                <a:solidFill>
                  <a:srgbClr val="475569"/>
                </a:solidFill>
                <a:latin typeface="Calibri" pitchFamily="34" charset="0"/>
                <a:ea typeface="Calibri" pitchFamily="34" charset="-122"/>
                <a:cs typeface="Calibri" pitchFamily="34" charset="-120"/>
              </a:rPr>
              <a:t> - REST endpoints</a:t>
            </a:r>
          </a:p>
          <a:p>
            <a:pPr marL="285750" indent="-285750">
              <a:buFont typeface="Arial" panose="020B0604020202020204" pitchFamily="34" charset="0"/>
              <a:buChar char="•"/>
            </a:pPr>
            <a:r>
              <a:rPr lang="en-US" sz="1600" dirty="0">
                <a:solidFill>
                  <a:srgbClr val="475569"/>
                </a:solidFill>
                <a:latin typeface="Calibri" pitchFamily="34" charset="0"/>
                <a:ea typeface="Calibri" pitchFamily="34" charset="-122"/>
                <a:cs typeface="Calibri" pitchFamily="34" charset="-120"/>
              </a:rPr>
              <a:t>WebSocket for real-time push notifications</a:t>
            </a:r>
          </a:p>
          <a:p>
            <a:pPr marL="285750" indent="-285750">
              <a:buFont typeface="Arial" panose="020B0604020202020204" pitchFamily="34" charset="0"/>
              <a:buChar char="•"/>
            </a:pPr>
            <a:r>
              <a:rPr lang="en-US" sz="1600" dirty="0">
                <a:solidFill>
                  <a:srgbClr val="475569"/>
                </a:solidFill>
                <a:latin typeface="Calibri" pitchFamily="34" charset="0"/>
                <a:ea typeface="Calibri" pitchFamily="34" charset="-122"/>
                <a:cs typeface="Calibri" pitchFamily="34" charset="-120"/>
              </a:rPr>
              <a:t>SQLite</a:t>
            </a:r>
          </a:p>
          <a:p>
            <a:pPr marL="285750" indent="-285750">
              <a:buFont typeface="Arial" panose="020B0604020202020204" pitchFamily="34" charset="0"/>
              <a:buChar char="•"/>
            </a:pPr>
            <a:r>
              <a:rPr lang="en-US" sz="1600" dirty="0">
                <a:solidFill>
                  <a:srgbClr val="475569"/>
                </a:solidFill>
                <a:latin typeface="Calibri" pitchFamily="34" charset="0"/>
                <a:ea typeface="Calibri" pitchFamily="34" charset="-122"/>
                <a:cs typeface="Calibri" pitchFamily="34" charset="-120"/>
              </a:rPr>
              <a:t>Staff Dashboard: Vanilla HTML/CSS/JS</a:t>
            </a:r>
            <a:endParaRPr lang="en-US" sz="1600" dirty="0"/>
          </a:p>
        </p:txBody>
      </p:sp>
      <p:sp>
        <p:nvSpPr>
          <p:cNvPr id="18" name="Shape 16">
            <a:extLst>
              <a:ext uri="{FF2B5EF4-FFF2-40B4-BE49-F238E27FC236}">
                <a16:creationId xmlns:a16="http://schemas.microsoft.com/office/drawing/2014/main" id="{FE07AE8B-4972-441E-2B01-4F45D7125AC2}"/>
              </a:ext>
            </a:extLst>
          </p:cNvPr>
          <p:cNvSpPr/>
          <p:nvPr/>
        </p:nvSpPr>
        <p:spPr>
          <a:xfrm>
            <a:off x="862693" y="5558897"/>
            <a:ext cx="10515600" cy="621792"/>
          </a:xfrm>
          <a:prstGeom prst="rect">
            <a:avLst/>
          </a:prstGeom>
          <a:solidFill>
            <a:srgbClr val="B2F4CA"/>
          </a:solidFill>
          <a:ln w="12700">
            <a:solidFill>
              <a:srgbClr val="FFFFFF"/>
            </a:solidFill>
            <a:prstDash val="solid"/>
          </a:ln>
        </p:spPr>
        <p:txBody>
          <a:bodyPr/>
          <a:lstStyle/>
          <a:p>
            <a:endParaRPr lang="en-US" sz="1600"/>
          </a:p>
        </p:txBody>
      </p:sp>
      <p:sp>
        <p:nvSpPr>
          <p:cNvPr id="19" name="Text 17">
            <a:extLst>
              <a:ext uri="{FF2B5EF4-FFF2-40B4-BE49-F238E27FC236}">
                <a16:creationId xmlns:a16="http://schemas.microsoft.com/office/drawing/2014/main" id="{09B41B07-388E-99A7-09E1-9473B0D4487D}"/>
              </a:ext>
            </a:extLst>
          </p:cNvPr>
          <p:cNvSpPr/>
          <p:nvPr/>
        </p:nvSpPr>
        <p:spPr>
          <a:xfrm>
            <a:off x="954133" y="5624348"/>
            <a:ext cx="10219961" cy="490889"/>
          </a:xfrm>
          <a:prstGeom prst="rect">
            <a:avLst/>
          </a:prstGeom>
          <a:noFill/>
          <a:ln/>
        </p:spPr>
        <p:txBody>
          <a:bodyPr wrap="square" rtlCol="0" anchor="ctr"/>
          <a:lstStyle/>
          <a:p>
            <a:pPr algn="ctr">
              <a:spcAft>
                <a:spcPts val="150"/>
              </a:spcAft>
            </a:pPr>
            <a:r>
              <a:rPr lang="en-US" sz="2000" b="1" i="1" dirty="0">
                <a:solidFill>
                  <a:schemeClr val="bg1">
                    <a:lumMod val="10000"/>
                  </a:schemeClr>
                </a:solidFill>
              </a:rPr>
              <a:t>100% open-source stack - zero licensing costs, minimal external dependencies</a:t>
            </a:r>
          </a:p>
        </p:txBody>
      </p:sp>
    </p:spTree>
    <p:extLst>
      <p:ext uri="{BB962C8B-B14F-4D97-AF65-F5344CB8AC3E}">
        <p14:creationId xmlns:p14="http://schemas.microsoft.com/office/powerpoint/2010/main" val="12644647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 name="Picture 22">
            <a:extLst>
              <a:ext uri="{FF2B5EF4-FFF2-40B4-BE49-F238E27FC236}">
                <a16:creationId xmlns:a16="http://schemas.microsoft.com/office/drawing/2014/main" id="{6A7D2267-BDE4-5FA1-E59C-9866438B9CB1}"/>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CB2DB582-925B-4496-7563-1651AFE4BB2D}"/>
              </a:ext>
            </a:extLst>
          </p:cNvPr>
          <p:cNvSpPr>
            <a:spLocks noGrp="1"/>
          </p:cNvSpPr>
          <p:nvPr>
            <p:ph type="title"/>
          </p:nvPr>
        </p:nvSpPr>
        <p:spPr>
          <a:xfrm>
            <a:off x="666750" y="239395"/>
            <a:ext cx="10515600" cy="683844"/>
          </a:xfrm>
        </p:spPr>
        <p:txBody>
          <a:bodyPr>
            <a:normAutofit fontScale="90000"/>
          </a:bodyPr>
          <a:lstStyle/>
          <a:p>
            <a:r>
              <a:rPr lang="en-US" dirty="0"/>
              <a:t>Implementation</a:t>
            </a:r>
          </a:p>
        </p:txBody>
      </p:sp>
      <p:sp>
        <p:nvSpPr>
          <p:cNvPr id="4" name="Slide Number Placeholder 3">
            <a:extLst>
              <a:ext uri="{FF2B5EF4-FFF2-40B4-BE49-F238E27FC236}">
                <a16:creationId xmlns:a16="http://schemas.microsoft.com/office/drawing/2014/main" id="{8B615749-9DEC-9863-4F19-9B25E84B10B7}"/>
              </a:ext>
            </a:extLst>
          </p:cNvPr>
          <p:cNvSpPr>
            <a:spLocks noGrp="1"/>
          </p:cNvSpPr>
          <p:nvPr>
            <p:ph type="sldNum" sz="quarter" idx="12"/>
          </p:nvPr>
        </p:nvSpPr>
        <p:spPr>
          <a:xfrm>
            <a:off x="5892932" y="5644433"/>
            <a:ext cx="5514806" cy="365125"/>
          </a:xfrm>
        </p:spPr>
        <p:txBody>
          <a:bodyPr/>
          <a:lstStyle/>
          <a:p>
            <a:fld id="{9890CE2D-2882-48A4-88CB-3A003AF6C150}" type="slidenum">
              <a:rPr lang="en-US" smtClean="0"/>
              <a:t>11</a:t>
            </a:fld>
            <a:endParaRPr lang="en-US"/>
          </a:p>
        </p:txBody>
      </p:sp>
      <p:sp>
        <p:nvSpPr>
          <p:cNvPr id="5" name="Shape 7">
            <a:extLst>
              <a:ext uri="{FF2B5EF4-FFF2-40B4-BE49-F238E27FC236}">
                <a16:creationId xmlns:a16="http://schemas.microsoft.com/office/drawing/2014/main" id="{633D978A-918D-BDB8-48A4-E7A6C9A4135E}"/>
              </a:ext>
            </a:extLst>
          </p:cNvPr>
          <p:cNvSpPr/>
          <p:nvPr/>
        </p:nvSpPr>
        <p:spPr>
          <a:xfrm>
            <a:off x="376774" y="4484161"/>
            <a:ext cx="11399522" cy="1701912"/>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2400"/>
          </a:p>
        </p:txBody>
      </p:sp>
      <p:sp>
        <p:nvSpPr>
          <p:cNvPr id="6" name="Shape 8">
            <a:extLst>
              <a:ext uri="{FF2B5EF4-FFF2-40B4-BE49-F238E27FC236}">
                <a16:creationId xmlns:a16="http://schemas.microsoft.com/office/drawing/2014/main" id="{BAC0BBBF-FF4E-D684-8C91-3F04431073BB}"/>
              </a:ext>
            </a:extLst>
          </p:cNvPr>
          <p:cNvSpPr/>
          <p:nvPr/>
        </p:nvSpPr>
        <p:spPr>
          <a:xfrm>
            <a:off x="376774" y="4484161"/>
            <a:ext cx="11399522" cy="438912"/>
          </a:xfrm>
          <a:prstGeom prst="rect">
            <a:avLst/>
          </a:prstGeom>
          <a:solidFill>
            <a:srgbClr val="0D2340"/>
          </a:solidFill>
          <a:ln w="12700">
            <a:solidFill>
              <a:srgbClr val="FFFFFF"/>
            </a:solidFill>
            <a:prstDash val="solid"/>
          </a:ln>
        </p:spPr>
        <p:txBody>
          <a:bodyPr/>
          <a:lstStyle/>
          <a:p>
            <a:endParaRPr lang="en-US" sz="2400"/>
          </a:p>
        </p:txBody>
      </p:sp>
      <p:sp>
        <p:nvSpPr>
          <p:cNvPr id="7" name="Text 9">
            <a:extLst>
              <a:ext uri="{FF2B5EF4-FFF2-40B4-BE49-F238E27FC236}">
                <a16:creationId xmlns:a16="http://schemas.microsoft.com/office/drawing/2014/main" id="{CE6A452D-0851-C476-13BA-E3E7D313F6E0}"/>
              </a:ext>
            </a:extLst>
          </p:cNvPr>
          <p:cNvSpPr/>
          <p:nvPr/>
        </p:nvSpPr>
        <p:spPr>
          <a:xfrm>
            <a:off x="376774" y="4508545"/>
            <a:ext cx="11336885" cy="390144"/>
          </a:xfrm>
          <a:prstGeom prst="rect">
            <a:avLst/>
          </a:prstGeom>
          <a:noFill/>
          <a:ln/>
        </p:spPr>
        <p:txBody>
          <a:bodyPr wrap="square" rtlCol="0" anchor="ctr"/>
          <a:lstStyle/>
          <a:p>
            <a:r>
              <a:rPr lang="en-US" b="1" dirty="0">
                <a:solidFill>
                  <a:srgbClr val="FFFFFF"/>
                </a:solidFill>
              </a:rPr>
              <a:t>Key Implementation Challenges</a:t>
            </a:r>
            <a:endParaRPr lang="en-US" dirty="0"/>
          </a:p>
        </p:txBody>
      </p:sp>
      <p:sp>
        <p:nvSpPr>
          <p:cNvPr id="9" name="Text 11">
            <a:extLst>
              <a:ext uri="{FF2B5EF4-FFF2-40B4-BE49-F238E27FC236}">
                <a16:creationId xmlns:a16="http://schemas.microsoft.com/office/drawing/2014/main" id="{1935C9A1-A96B-3091-B7F7-CF45C6D67130}"/>
              </a:ext>
            </a:extLst>
          </p:cNvPr>
          <p:cNvSpPr/>
          <p:nvPr/>
        </p:nvSpPr>
        <p:spPr>
          <a:xfrm>
            <a:off x="0" y="4947457"/>
            <a:ext cx="11749761" cy="1094665"/>
          </a:xfrm>
          <a:prstGeom prst="rect">
            <a:avLst/>
          </a:prstGeom>
          <a:noFill/>
          <a:ln/>
        </p:spPr>
        <p:txBody>
          <a:bodyPr wrap="square" rtlCol="0" anchor="ctr"/>
          <a:lstStyle/>
          <a:p>
            <a:pPr marL="800100" lvl="1" indent="-342900">
              <a:spcAft>
                <a:spcPts val="200"/>
              </a:spcAft>
              <a:buFont typeface="Wingdings" panose="05000000000000000000" pitchFamily="2" charset="2"/>
              <a:buChar char="q"/>
            </a:pPr>
            <a:r>
              <a:rPr lang="en-US" dirty="0"/>
              <a:t>Large </a:t>
            </a:r>
            <a:r>
              <a:rPr lang="en-US" dirty="0" err="1"/>
              <a:t>Vosk</a:t>
            </a:r>
            <a:r>
              <a:rPr lang="en-US" dirty="0"/>
              <a:t> model caused Memory issues on budget tablet → switched to small Indian English model</a:t>
            </a:r>
          </a:p>
          <a:p>
            <a:pPr marL="800100" lvl="1" indent="-342900">
              <a:buFont typeface="Wingdings" panose="05000000000000000000" pitchFamily="2" charset="2"/>
              <a:buChar char="q"/>
            </a:pPr>
            <a:r>
              <a:rPr lang="en-US" dirty="0" err="1"/>
              <a:t>TFLite</a:t>
            </a:r>
            <a:r>
              <a:rPr lang="en-US" dirty="0"/>
              <a:t> label ordering mismatch; simplified word-level </a:t>
            </a:r>
            <a:r>
              <a:rPr lang="en-US" dirty="0" err="1"/>
              <a:t>tokeniser</a:t>
            </a:r>
            <a:r>
              <a:rPr lang="en-US" dirty="0"/>
              <a:t> (whole-word vocabulary lookup; no </a:t>
            </a:r>
            <a:r>
              <a:rPr lang="en-US" dirty="0" err="1"/>
              <a:t>subword</a:t>
            </a:r>
            <a:r>
              <a:rPr lang="en-US" dirty="0"/>
              <a:t> splitting)</a:t>
            </a:r>
          </a:p>
        </p:txBody>
      </p:sp>
      <p:sp>
        <p:nvSpPr>
          <p:cNvPr id="10" name="Shape 17">
            <a:extLst>
              <a:ext uri="{FF2B5EF4-FFF2-40B4-BE49-F238E27FC236}">
                <a16:creationId xmlns:a16="http://schemas.microsoft.com/office/drawing/2014/main" id="{08B5298E-D266-75FE-21C2-B2A45258A0B6}"/>
              </a:ext>
            </a:extLst>
          </p:cNvPr>
          <p:cNvSpPr/>
          <p:nvPr/>
        </p:nvSpPr>
        <p:spPr>
          <a:xfrm>
            <a:off x="376774" y="2613914"/>
            <a:ext cx="11399522" cy="1701912"/>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2400"/>
          </a:p>
        </p:txBody>
      </p:sp>
      <p:sp>
        <p:nvSpPr>
          <p:cNvPr id="11" name="Shape 18">
            <a:extLst>
              <a:ext uri="{FF2B5EF4-FFF2-40B4-BE49-F238E27FC236}">
                <a16:creationId xmlns:a16="http://schemas.microsoft.com/office/drawing/2014/main" id="{CE5865E3-F029-1407-C682-A4B759CDE559}"/>
              </a:ext>
            </a:extLst>
          </p:cNvPr>
          <p:cNvSpPr/>
          <p:nvPr/>
        </p:nvSpPr>
        <p:spPr>
          <a:xfrm>
            <a:off x="376774" y="2613914"/>
            <a:ext cx="11399522" cy="438912"/>
          </a:xfrm>
          <a:prstGeom prst="rect">
            <a:avLst/>
          </a:prstGeom>
          <a:solidFill>
            <a:srgbClr val="0D2340"/>
          </a:solidFill>
          <a:ln w="12700">
            <a:solidFill>
              <a:srgbClr val="FFFFFF"/>
            </a:solidFill>
            <a:prstDash val="solid"/>
          </a:ln>
        </p:spPr>
        <p:txBody>
          <a:bodyPr/>
          <a:lstStyle/>
          <a:p>
            <a:endParaRPr lang="en-US" sz="2400"/>
          </a:p>
        </p:txBody>
      </p:sp>
      <p:sp>
        <p:nvSpPr>
          <p:cNvPr id="12" name="Text 19">
            <a:extLst>
              <a:ext uri="{FF2B5EF4-FFF2-40B4-BE49-F238E27FC236}">
                <a16:creationId xmlns:a16="http://schemas.microsoft.com/office/drawing/2014/main" id="{3BE4ACAC-9010-3253-FB04-905A9F571C19}"/>
              </a:ext>
            </a:extLst>
          </p:cNvPr>
          <p:cNvSpPr/>
          <p:nvPr/>
        </p:nvSpPr>
        <p:spPr>
          <a:xfrm>
            <a:off x="376774" y="2638298"/>
            <a:ext cx="11267349" cy="390144"/>
          </a:xfrm>
          <a:prstGeom prst="rect">
            <a:avLst/>
          </a:prstGeom>
          <a:noFill/>
          <a:ln/>
        </p:spPr>
        <p:txBody>
          <a:bodyPr wrap="square" rtlCol="0" anchor="ctr"/>
          <a:lstStyle/>
          <a:p>
            <a:r>
              <a:rPr lang="en-US" b="1" dirty="0">
                <a:solidFill>
                  <a:srgbClr val="FFFFFF"/>
                </a:solidFill>
              </a:rPr>
              <a:t>Three-Model Training Strategy</a:t>
            </a:r>
            <a:endParaRPr lang="en-US" dirty="0"/>
          </a:p>
        </p:txBody>
      </p:sp>
      <p:sp>
        <p:nvSpPr>
          <p:cNvPr id="14" name="Text 21">
            <a:extLst>
              <a:ext uri="{FF2B5EF4-FFF2-40B4-BE49-F238E27FC236}">
                <a16:creationId xmlns:a16="http://schemas.microsoft.com/office/drawing/2014/main" id="{2F610924-0584-B263-40A3-7B1101EBADC0}"/>
              </a:ext>
            </a:extLst>
          </p:cNvPr>
          <p:cNvSpPr/>
          <p:nvPr/>
        </p:nvSpPr>
        <p:spPr>
          <a:xfrm>
            <a:off x="0" y="3012512"/>
            <a:ext cx="9052060" cy="1201714"/>
          </a:xfrm>
          <a:prstGeom prst="rect">
            <a:avLst/>
          </a:prstGeom>
          <a:noFill/>
          <a:ln/>
        </p:spPr>
        <p:txBody>
          <a:bodyPr wrap="square" rtlCol="0" anchor="ctr"/>
          <a:lstStyle/>
          <a:p>
            <a:pPr marL="800100" lvl="1" indent="-342900">
              <a:spcAft>
                <a:spcPts val="200"/>
              </a:spcAft>
              <a:buFont typeface="Wingdings" panose="05000000000000000000" pitchFamily="2" charset="2"/>
              <a:buChar char="q"/>
            </a:pPr>
            <a:r>
              <a:rPr lang="en-US" b="1" dirty="0"/>
              <a:t>Model A</a:t>
            </a:r>
            <a:r>
              <a:rPr lang="en-US" dirty="0"/>
              <a:t> : trained on </a:t>
            </a:r>
            <a:r>
              <a:rPr lang="en-US" i="1" u="sng" dirty="0"/>
              <a:t>clean text only</a:t>
            </a:r>
            <a:r>
              <a:rPr lang="en-US" dirty="0"/>
              <a:t> (10,080 samples, baseline)</a:t>
            </a:r>
          </a:p>
          <a:p>
            <a:pPr marL="800100" lvl="1" indent="-342900">
              <a:spcAft>
                <a:spcPts val="200"/>
              </a:spcAft>
              <a:buFont typeface="Wingdings" panose="05000000000000000000" pitchFamily="2" charset="2"/>
              <a:buChar char="q"/>
            </a:pPr>
            <a:r>
              <a:rPr lang="en-US" b="1" dirty="0"/>
              <a:t>Model B</a:t>
            </a:r>
            <a:r>
              <a:rPr lang="en-US" dirty="0"/>
              <a:t> : trained on </a:t>
            </a:r>
            <a:r>
              <a:rPr lang="en-US" i="1" u="sng" dirty="0" err="1"/>
              <a:t>Vosk</a:t>
            </a:r>
            <a:r>
              <a:rPr lang="en-US" i="1" u="sng" dirty="0"/>
              <a:t>-transcribed text only</a:t>
            </a:r>
            <a:r>
              <a:rPr lang="en-US" dirty="0"/>
              <a:t> (10,080 samples)</a:t>
            </a:r>
          </a:p>
          <a:p>
            <a:pPr marL="800100" lvl="1" indent="-342900">
              <a:spcAft>
                <a:spcPts val="200"/>
              </a:spcAft>
              <a:buFont typeface="Wingdings" panose="05000000000000000000" pitchFamily="2" charset="2"/>
              <a:buChar char="q"/>
            </a:pPr>
            <a:r>
              <a:rPr lang="en-US" b="1" dirty="0"/>
              <a:t>Model C</a:t>
            </a:r>
            <a:r>
              <a:rPr lang="en-US" dirty="0"/>
              <a:t> : trained on </a:t>
            </a:r>
            <a:r>
              <a:rPr lang="en-US" i="1" u="sng" dirty="0"/>
              <a:t>mixed clean + </a:t>
            </a:r>
            <a:r>
              <a:rPr lang="en-US" i="1" u="sng" dirty="0" err="1"/>
              <a:t>Vosk</a:t>
            </a:r>
            <a:r>
              <a:rPr lang="en-US" i="1" u="sng" dirty="0"/>
              <a:t> </a:t>
            </a:r>
            <a:r>
              <a:rPr lang="en-US" dirty="0"/>
              <a:t>(14,864 deduplicated, noise-aware)</a:t>
            </a:r>
          </a:p>
        </p:txBody>
      </p:sp>
      <p:sp>
        <p:nvSpPr>
          <p:cNvPr id="15" name="Shape 17">
            <a:extLst>
              <a:ext uri="{FF2B5EF4-FFF2-40B4-BE49-F238E27FC236}">
                <a16:creationId xmlns:a16="http://schemas.microsoft.com/office/drawing/2014/main" id="{F0CA8659-96C3-F967-9538-243986689800}"/>
              </a:ext>
            </a:extLst>
          </p:cNvPr>
          <p:cNvSpPr/>
          <p:nvPr/>
        </p:nvSpPr>
        <p:spPr>
          <a:xfrm>
            <a:off x="376774" y="1095666"/>
            <a:ext cx="11399522" cy="1338024"/>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2400"/>
          </a:p>
        </p:txBody>
      </p:sp>
      <p:sp>
        <p:nvSpPr>
          <p:cNvPr id="16" name="Shape 18">
            <a:extLst>
              <a:ext uri="{FF2B5EF4-FFF2-40B4-BE49-F238E27FC236}">
                <a16:creationId xmlns:a16="http://schemas.microsoft.com/office/drawing/2014/main" id="{E5F38387-5A37-48D2-2E97-FB1CCF53A90D}"/>
              </a:ext>
            </a:extLst>
          </p:cNvPr>
          <p:cNvSpPr/>
          <p:nvPr/>
        </p:nvSpPr>
        <p:spPr>
          <a:xfrm>
            <a:off x="376774" y="1095665"/>
            <a:ext cx="11399522" cy="438912"/>
          </a:xfrm>
          <a:prstGeom prst="rect">
            <a:avLst/>
          </a:prstGeom>
          <a:solidFill>
            <a:srgbClr val="0D2340"/>
          </a:solidFill>
          <a:ln w="12700">
            <a:solidFill>
              <a:srgbClr val="FFFFFF"/>
            </a:solidFill>
            <a:prstDash val="solid"/>
          </a:ln>
        </p:spPr>
        <p:txBody>
          <a:bodyPr/>
          <a:lstStyle/>
          <a:p>
            <a:endParaRPr lang="en-US" sz="2400"/>
          </a:p>
        </p:txBody>
      </p:sp>
      <p:sp>
        <p:nvSpPr>
          <p:cNvPr id="17" name="Text 19">
            <a:extLst>
              <a:ext uri="{FF2B5EF4-FFF2-40B4-BE49-F238E27FC236}">
                <a16:creationId xmlns:a16="http://schemas.microsoft.com/office/drawing/2014/main" id="{A8AF3C00-37EB-08A0-C69E-C5BCA63A1F0D}"/>
              </a:ext>
            </a:extLst>
          </p:cNvPr>
          <p:cNvSpPr/>
          <p:nvPr/>
        </p:nvSpPr>
        <p:spPr>
          <a:xfrm>
            <a:off x="376774" y="1120049"/>
            <a:ext cx="11362463" cy="390144"/>
          </a:xfrm>
          <a:prstGeom prst="rect">
            <a:avLst/>
          </a:prstGeom>
          <a:noFill/>
          <a:ln/>
        </p:spPr>
        <p:txBody>
          <a:bodyPr wrap="square" rtlCol="0" anchor="ctr"/>
          <a:lstStyle/>
          <a:p>
            <a:r>
              <a:rPr lang="en-US" b="1" dirty="0">
                <a:solidFill>
                  <a:srgbClr val="FFFFFF"/>
                </a:solidFill>
              </a:rPr>
              <a:t>Dataset Creation (10,080 Phrases)</a:t>
            </a:r>
            <a:endParaRPr lang="en-US" dirty="0"/>
          </a:p>
        </p:txBody>
      </p:sp>
      <p:sp>
        <p:nvSpPr>
          <p:cNvPr id="19" name="Text 21">
            <a:extLst>
              <a:ext uri="{FF2B5EF4-FFF2-40B4-BE49-F238E27FC236}">
                <a16:creationId xmlns:a16="http://schemas.microsoft.com/office/drawing/2014/main" id="{1C878116-B036-7651-CF71-641F541D35EE}"/>
              </a:ext>
            </a:extLst>
          </p:cNvPr>
          <p:cNvSpPr/>
          <p:nvPr/>
        </p:nvSpPr>
        <p:spPr>
          <a:xfrm>
            <a:off x="-15490" y="1464521"/>
            <a:ext cx="11399520" cy="969168"/>
          </a:xfrm>
          <a:prstGeom prst="rect">
            <a:avLst/>
          </a:prstGeom>
          <a:noFill/>
          <a:ln/>
        </p:spPr>
        <p:txBody>
          <a:bodyPr wrap="square" rtlCol="0" anchor="ctr"/>
          <a:lstStyle/>
          <a:p>
            <a:pPr marL="800100" lvl="1" indent="-342900">
              <a:spcAft>
                <a:spcPts val="200"/>
              </a:spcAft>
              <a:buFont typeface="Wingdings" panose="05000000000000000000" pitchFamily="2" charset="2"/>
              <a:buChar char="q"/>
            </a:pPr>
            <a:r>
              <a:rPr lang="en-US" dirty="0"/>
              <a:t>18 intent categories × 560 phrases : Exact class balance across 5 different departments</a:t>
            </a:r>
          </a:p>
          <a:p>
            <a:pPr marL="800100" lvl="1" indent="-342900">
              <a:spcAft>
                <a:spcPts val="200"/>
              </a:spcAft>
              <a:buFont typeface="Wingdings" panose="05000000000000000000" pitchFamily="2" charset="2"/>
              <a:buChar char="q"/>
            </a:pPr>
            <a:r>
              <a:rPr lang="en-US" dirty="0"/>
              <a:t>Paired dataset : Each phrase has clean text + </a:t>
            </a:r>
            <a:r>
              <a:rPr lang="en-US" dirty="0" err="1"/>
              <a:t>Vosk</a:t>
            </a:r>
            <a:r>
              <a:rPr lang="en-US" dirty="0"/>
              <a:t>-transcribed version (via </a:t>
            </a:r>
            <a:r>
              <a:rPr lang="en-US" dirty="0" err="1"/>
              <a:t>gTTS</a:t>
            </a:r>
            <a:r>
              <a:rPr lang="en-US" dirty="0"/>
              <a:t> → </a:t>
            </a:r>
            <a:r>
              <a:rPr lang="en-US" dirty="0" err="1"/>
              <a:t>Vosk</a:t>
            </a:r>
            <a:r>
              <a:rPr lang="en-US" dirty="0"/>
              <a:t> pipeline)</a:t>
            </a:r>
          </a:p>
        </p:txBody>
      </p:sp>
    </p:spTree>
    <p:extLst>
      <p:ext uri="{BB962C8B-B14F-4D97-AF65-F5344CB8AC3E}">
        <p14:creationId xmlns:p14="http://schemas.microsoft.com/office/powerpoint/2010/main" val="81190979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 name="Picture 19">
            <a:extLst>
              <a:ext uri="{FF2B5EF4-FFF2-40B4-BE49-F238E27FC236}">
                <a16:creationId xmlns:a16="http://schemas.microsoft.com/office/drawing/2014/main" id="{2F4CAE65-F13D-0FBE-7B2C-430DDF1A5992}"/>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2D48B7EB-AF0B-9BF5-43F9-FAD2595B213E}"/>
              </a:ext>
            </a:extLst>
          </p:cNvPr>
          <p:cNvSpPr>
            <a:spLocks noGrp="1"/>
          </p:cNvSpPr>
          <p:nvPr>
            <p:ph type="title"/>
          </p:nvPr>
        </p:nvSpPr>
        <p:spPr>
          <a:xfrm>
            <a:off x="615778" y="225545"/>
            <a:ext cx="10515600" cy="715530"/>
          </a:xfrm>
        </p:spPr>
        <p:txBody>
          <a:bodyPr/>
          <a:lstStyle/>
          <a:p>
            <a:r>
              <a:rPr lang="en-US" dirty="0"/>
              <a:t>Analysis - Speech Recognition</a:t>
            </a:r>
          </a:p>
        </p:txBody>
      </p:sp>
      <p:sp>
        <p:nvSpPr>
          <p:cNvPr id="3" name="Content Placeholder 2">
            <a:extLst>
              <a:ext uri="{FF2B5EF4-FFF2-40B4-BE49-F238E27FC236}">
                <a16:creationId xmlns:a16="http://schemas.microsoft.com/office/drawing/2014/main" id="{7A6572D5-2B06-4185-936B-5B863922EF59}"/>
              </a:ext>
            </a:extLst>
          </p:cNvPr>
          <p:cNvSpPr>
            <a:spLocks noGrp="1"/>
          </p:cNvSpPr>
          <p:nvPr>
            <p:ph idx="1"/>
          </p:nvPr>
        </p:nvSpPr>
        <p:spPr>
          <a:xfrm>
            <a:off x="838200" y="1487055"/>
            <a:ext cx="10515600" cy="4849090"/>
          </a:xfrm>
        </p:spPr>
        <p:txBody>
          <a:bodyPr>
            <a:normAutofit/>
          </a:bodyPr>
          <a:lstStyle/>
          <a:p>
            <a:pPr marL="0" indent="0">
              <a:buNone/>
            </a:pPr>
            <a:r>
              <a:rPr lang="en-US" dirty="0">
                <a:ln w="0"/>
                <a:solidFill>
                  <a:schemeClr val="accent1"/>
                </a:solidFill>
                <a:effectLst>
                  <a:outerShdw blurRad="38100" dist="25400" dir="5400000" algn="ctr" rotWithShape="0">
                    <a:srgbClr val="6E747A">
                      <a:alpha val="43000"/>
                    </a:srgbClr>
                  </a:outerShdw>
                </a:effectLst>
              </a:rPr>
              <a:t>Word Error Rate (WER)</a:t>
            </a:r>
          </a:p>
          <a:p>
            <a:pPr marL="0" indent="0">
              <a:spcAft>
                <a:spcPts val="200"/>
              </a:spcAft>
              <a:buNone/>
            </a:pPr>
            <a:endParaRPr lang="en-US" sz="1600" dirty="0"/>
          </a:p>
          <a:p>
            <a:pPr marL="0" indent="0">
              <a:spcAft>
                <a:spcPts val="200"/>
              </a:spcAft>
              <a:buNone/>
            </a:pPr>
            <a:endParaRPr lang="en-US" sz="1600" dirty="0"/>
          </a:p>
          <a:p>
            <a:pPr marL="228600" indent="-228600">
              <a:spcAft>
                <a:spcPts val="200"/>
              </a:spcAft>
              <a:buFont typeface="Arial"/>
              <a:buChar char="•"/>
            </a:pPr>
            <a:endParaRPr lang="en-US" sz="1600" dirty="0"/>
          </a:p>
          <a:p>
            <a:pPr marL="228600" indent="-228600">
              <a:spcAft>
                <a:spcPts val="200"/>
              </a:spcAft>
              <a:buFont typeface="Arial"/>
              <a:buChar char="•"/>
            </a:pPr>
            <a:endParaRPr lang="en-US" sz="1600" dirty="0"/>
          </a:p>
          <a:p>
            <a:pPr marL="228600" indent="-228600">
              <a:spcAft>
                <a:spcPts val="200"/>
              </a:spcAft>
              <a:buFont typeface="Arial"/>
              <a:buChar char="•"/>
            </a:pPr>
            <a:endParaRPr lang="en-US" sz="1600" dirty="0"/>
          </a:p>
          <a:p>
            <a:pPr marL="0" indent="0">
              <a:spcAft>
                <a:spcPts val="200"/>
              </a:spcAft>
              <a:buNone/>
            </a:pPr>
            <a:endParaRPr lang="en-US" sz="2000" dirty="0"/>
          </a:p>
          <a:p>
            <a:pPr marL="228600" indent="-228600">
              <a:spcAft>
                <a:spcPts val="200"/>
              </a:spcAft>
              <a:buFont typeface="Arial"/>
              <a:buChar char="•"/>
            </a:pPr>
            <a:r>
              <a:rPr lang="en-US" sz="2000" dirty="0"/>
              <a:t>Highest WER: temperature_control (16.83%), towel_request (16.33%)</a:t>
            </a:r>
          </a:p>
          <a:p>
            <a:pPr>
              <a:spcAft>
                <a:spcPts val="200"/>
              </a:spcAft>
              <a:buFont typeface="Arial"/>
              <a:buChar char="•"/>
            </a:pPr>
            <a:r>
              <a:rPr lang="en-US" sz="2000" dirty="0"/>
              <a:t>Lowest WER: emergency (6.78%)</a:t>
            </a:r>
          </a:p>
          <a:p>
            <a:pPr>
              <a:spcAft>
                <a:spcPts val="200"/>
              </a:spcAft>
              <a:buFont typeface="Arial"/>
              <a:buChar char="•"/>
            </a:pPr>
            <a:endParaRPr lang="en-US" sz="2000" i="1" dirty="0"/>
          </a:p>
          <a:p>
            <a:pPr marL="0" indent="0">
              <a:spcAft>
                <a:spcPts val="200"/>
              </a:spcAft>
              <a:buNone/>
            </a:pPr>
            <a:r>
              <a:rPr lang="en-US" sz="2000" i="1" dirty="0">
                <a:solidFill>
                  <a:schemeClr val="accent3">
                    <a:lumMod val="75000"/>
                  </a:schemeClr>
                </a:solidFill>
              </a:rPr>
              <a:t>Note: WER measured on TTS-synthesised audio, not real human speech (acknowledged limitation)</a:t>
            </a:r>
          </a:p>
        </p:txBody>
      </p:sp>
      <p:sp>
        <p:nvSpPr>
          <p:cNvPr id="4" name="Slide Number Placeholder 3">
            <a:extLst>
              <a:ext uri="{FF2B5EF4-FFF2-40B4-BE49-F238E27FC236}">
                <a16:creationId xmlns:a16="http://schemas.microsoft.com/office/drawing/2014/main" id="{540D7AF0-60ED-B294-A48A-76FE46C71384}"/>
              </a:ext>
            </a:extLst>
          </p:cNvPr>
          <p:cNvSpPr>
            <a:spLocks noGrp="1"/>
          </p:cNvSpPr>
          <p:nvPr>
            <p:ph type="sldNum" sz="quarter" idx="12"/>
          </p:nvPr>
        </p:nvSpPr>
        <p:spPr>
          <a:xfrm>
            <a:off x="11711709" y="6199332"/>
            <a:ext cx="381000" cy="365125"/>
          </a:xfrm>
        </p:spPr>
        <p:txBody>
          <a:bodyPr/>
          <a:lstStyle/>
          <a:p>
            <a:fld id="{9890CE2D-2882-48A4-88CB-3A003AF6C150}" type="slidenum">
              <a:rPr lang="en-US" smtClean="0"/>
              <a:t>12</a:t>
            </a:fld>
            <a:endParaRPr lang="en-US" dirty="0"/>
          </a:p>
        </p:txBody>
      </p:sp>
      <p:sp>
        <p:nvSpPr>
          <p:cNvPr id="5" name="Shape 3">
            <a:extLst>
              <a:ext uri="{FF2B5EF4-FFF2-40B4-BE49-F238E27FC236}">
                <a16:creationId xmlns:a16="http://schemas.microsoft.com/office/drawing/2014/main" id="{855BB60D-A875-7A0F-BF20-5671EED99E1F}"/>
              </a:ext>
            </a:extLst>
          </p:cNvPr>
          <p:cNvSpPr/>
          <p:nvPr/>
        </p:nvSpPr>
        <p:spPr>
          <a:xfrm>
            <a:off x="2163709" y="2256458"/>
            <a:ext cx="1874796" cy="1695782"/>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6" name="Text 4">
            <a:extLst>
              <a:ext uri="{FF2B5EF4-FFF2-40B4-BE49-F238E27FC236}">
                <a16:creationId xmlns:a16="http://schemas.microsoft.com/office/drawing/2014/main" id="{1FDD64E9-EE90-3372-AF56-9D69E776A7E2}"/>
              </a:ext>
            </a:extLst>
          </p:cNvPr>
          <p:cNvSpPr/>
          <p:nvPr/>
        </p:nvSpPr>
        <p:spPr>
          <a:xfrm>
            <a:off x="2223557" y="2302177"/>
            <a:ext cx="1759068" cy="790431"/>
          </a:xfrm>
          <a:prstGeom prst="rect">
            <a:avLst/>
          </a:prstGeom>
          <a:solidFill>
            <a:schemeClr val="tx2">
              <a:lumMod val="60000"/>
              <a:lumOff val="40000"/>
            </a:schemeClr>
          </a:solidFill>
          <a:ln/>
        </p:spPr>
        <p:txBody>
          <a:bodyPr wrap="square" rtlCol="0" anchor="ctr"/>
          <a:lstStyle/>
          <a:p>
            <a:pPr marL="0" indent="0" algn="ctr">
              <a:buNone/>
            </a:pPr>
            <a:r>
              <a:rPr lang="en-US" sz="2200" b="1" dirty="0">
                <a:solidFill>
                  <a:schemeClr val="bg1"/>
                </a:solidFill>
                <a:latin typeface="Calibri" pitchFamily="34" charset="0"/>
                <a:ea typeface="Calibri" pitchFamily="34" charset="-122"/>
                <a:cs typeface="Calibri" pitchFamily="34" charset="-120"/>
              </a:rPr>
              <a:t>10,080</a:t>
            </a:r>
            <a:endParaRPr lang="en-US" sz="2200" dirty="0">
              <a:solidFill>
                <a:schemeClr val="bg1"/>
              </a:solidFill>
            </a:endParaRPr>
          </a:p>
        </p:txBody>
      </p:sp>
      <p:sp>
        <p:nvSpPr>
          <p:cNvPr id="7" name="Text 5">
            <a:extLst>
              <a:ext uri="{FF2B5EF4-FFF2-40B4-BE49-F238E27FC236}">
                <a16:creationId xmlns:a16="http://schemas.microsoft.com/office/drawing/2014/main" id="{A62F8546-970E-6BD1-3806-B8760E249B1A}"/>
              </a:ext>
            </a:extLst>
          </p:cNvPr>
          <p:cNvSpPr/>
          <p:nvPr/>
        </p:nvSpPr>
        <p:spPr>
          <a:xfrm>
            <a:off x="2233717" y="3273158"/>
            <a:ext cx="1759068" cy="474258"/>
          </a:xfrm>
          <a:prstGeom prst="rect">
            <a:avLst/>
          </a:prstGeom>
          <a:noFill/>
          <a:ln/>
        </p:spPr>
        <p:txBody>
          <a:bodyPr wrap="square" rtlCol="0" anchor="ctr"/>
          <a:lstStyle/>
          <a:p>
            <a:pPr marL="0" indent="0" algn="ctr">
              <a:buNone/>
            </a:pPr>
            <a:r>
              <a:rPr lang="en-US" sz="1400" dirty="0">
                <a:solidFill>
                  <a:srgbClr val="475569"/>
                </a:solidFill>
                <a:latin typeface="Calibri" pitchFamily="34" charset="0"/>
                <a:ea typeface="Calibri" pitchFamily="34" charset="-122"/>
                <a:cs typeface="Calibri" pitchFamily="34" charset="-120"/>
              </a:rPr>
              <a:t>Total phrases</a:t>
            </a:r>
            <a:endParaRPr lang="en-US" sz="1400" dirty="0"/>
          </a:p>
        </p:txBody>
      </p:sp>
      <p:sp>
        <p:nvSpPr>
          <p:cNvPr id="8" name="Shape 6">
            <a:extLst>
              <a:ext uri="{FF2B5EF4-FFF2-40B4-BE49-F238E27FC236}">
                <a16:creationId xmlns:a16="http://schemas.microsoft.com/office/drawing/2014/main" id="{9E0DF495-B8F9-3E4E-1013-194DE79281E8}"/>
              </a:ext>
            </a:extLst>
          </p:cNvPr>
          <p:cNvSpPr/>
          <p:nvPr/>
        </p:nvSpPr>
        <p:spPr>
          <a:xfrm>
            <a:off x="4198480" y="2256458"/>
            <a:ext cx="1874796" cy="1695782"/>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9" name="Text 7">
            <a:extLst>
              <a:ext uri="{FF2B5EF4-FFF2-40B4-BE49-F238E27FC236}">
                <a16:creationId xmlns:a16="http://schemas.microsoft.com/office/drawing/2014/main" id="{18AF20E0-C999-946D-08EE-9A0BA69189E2}"/>
              </a:ext>
            </a:extLst>
          </p:cNvPr>
          <p:cNvSpPr/>
          <p:nvPr/>
        </p:nvSpPr>
        <p:spPr>
          <a:xfrm>
            <a:off x="4258328" y="2302177"/>
            <a:ext cx="1759068" cy="790431"/>
          </a:xfrm>
          <a:prstGeom prst="rect">
            <a:avLst/>
          </a:prstGeom>
          <a:solidFill>
            <a:schemeClr val="tx2">
              <a:lumMod val="60000"/>
              <a:lumOff val="40000"/>
            </a:schemeClr>
          </a:solidFill>
          <a:ln/>
        </p:spPr>
        <p:txBody>
          <a:bodyPr wrap="square" rtlCol="0" anchor="ctr"/>
          <a:lstStyle/>
          <a:p>
            <a:pPr algn="ctr"/>
            <a:r>
              <a:rPr lang="en-US" sz="2200" b="1" dirty="0">
                <a:solidFill>
                  <a:schemeClr val="bg1"/>
                </a:solidFill>
                <a:latin typeface="Calibri" pitchFamily="34" charset="0"/>
                <a:ea typeface="Calibri" pitchFamily="34" charset="-122"/>
                <a:cs typeface="Calibri" pitchFamily="34" charset="-120"/>
              </a:rPr>
              <a:t>11.43%</a:t>
            </a:r>
          </a:p>
        </p:txBody>
      </p:sp>
      <p:sp>
        <p:nvSpPr>
          <p:cNvPr id="10" name="Text 8">
            <a:extLst>
              <a:ext uri="{FF2B5EF4-FFF2-40B4-BE49-F238E27FC236}">
                <a16:creationId xmlns:a16="http://schemas.microsoft.com/office/drawing/2014/main" id="{56CC48FB-800E-7A54-9F20-EA9A2D0DABD2}"/>
              </a:ext>
            </a:extLst>
          </p:cNvPr>
          <p:cNvSpPr/>
          <p:nvPr/>
        </p:nvSpPr>
        <p:spPr>
          <a:xfrm>
            <a:off x="4278783" y="3261598"/>
            <a:ext cx="1759068" cy="474258"/>
          </a:xfrm>
          <a:prstGeom prst="rect">
            <a:avLst/>
          </a:prstGeom>
          <a:noFill/>
          <a:ln/>
        </p:spPr>
        <p:txBody>
          <a:bodyPr wrap="square" rtlCol="0" anchor="ctr"/>
          <a:lstStyle/>
          <a:p>
            <a:pPr marL="0" indent="0" algn="ctr">
              <a:buNone/>
            </a:pPr>
            <a:r>
              <a:rPr lang="en-US" sz="1400" dirty="0"/>
              <a:t>Overall WER</a:t>
            </a:r>
          </a:p>
        </p:txBody>
      </p:sp>
      <p:sp>
        <p:nvSpPr>
          <p:cNvPr id="11" name="Shape 9">
            <a:extLst>
              <a:ext uri="{FF2B5EF4-FFF2-40B4-BE49-F238E27FC236}">
                <a16:creationId xmlns:a16="http://schemas.microsoft.com/office/drawing/2014/main" id="{EF6C4307-29BB-598C-3BBD-2434C5A42427}"/>
              </a:ext>
            </a:extLst>
          </p:cNvPr>
          <p:cNvSpPr/>
          <p:nvPr/>
        </p:nvSpPr>
        <p:spPr>
          <a:xfrm>
            <a:off x="6233251" y="2245598"/>
            <a:ext cx="1874796" cy="1706642"/>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12" name="Text 10">
            <a:extLst>
              <a:ext uri="{FF2B5EF4-FFF2-40B4-BE49-F238E27FC236}">
                <a16:creationId xmlns:a16="http://schemas.microsoft.com/office/drawing/2014/main" id="{BDAC8FFE-D669-077B-4458-BCBB39EB763A}"/>
              </a:ext>
            </a:extLst>
          </p:cNvPr>
          <p:cNvSpPr/>
          <p:nvPr/>
        </p:nvSpPr>
        <p:spPr>
          <a:xfrm>
            <a:off x="6298179" y="2302177"/>
            <a:ext cx="1759068" cy="790431"/>
          </a:xfrm>
          <a:prstGeom prst="rect">
            <a:avLst/>
          </a:prstGeom>
          <a:solidFill>
            <a:schemeClr val="tx2">
              <a:lumMod val="60000"/>
              <a:lumOff val="40000"/>
            </a:schemeClr>
          </a:solidFill>
          <a:ln/>
        </p:spPr>
        <p:txBody>
          <a:bodyPr wrap="square" rtlCol="0" anchor="ctr"/>
          <a:lstStyle/>
          <a:p>
            <a:pPr algn="ctr"/>
            <a:r>
              <a:rPr lang="en-US" sz="2200" b="1" dirty="0">
                <a:solidFill>
                  <a:schemeClr val="bg1"/>
                </a:solidFill>
                <a:latin typeface="Calibri" pitchFamily="34" charset="0"/>
                <a:ea typeface="Calibri" pitchFamily="34" charset="-122"/>
                <a:cs typeface="Calibri" pitchFamily="34" charset="-120"/>
              </a:rPr>
              <a:t>23.84%</a:t>
            </a:r>
          </a:p>
        </p:txBody>
      </p:sp>
      <p:sp>
        <p:nvSpPr>
          <p:cNvPr id="13" name="Text 11">
            <a:extLst>
              <a:ext uri="{FF2B5EF4-FFF2-40B4-BE49-F238E27FC236}">
                <a16:creationId xmlns:a16="http://schemas.microsoft.com/office/drawing/2014/main" id="{D8FFC9BC-3BB3-110D-00BC-2E59590B76FA}"/>
              </a:ext>
            </a:extLst>
          </p:cNvPr>
          <p:cNvSpPr/>
          <p:nvPr/>
        </p:nvSpPr>
        <p:spPr>
          <a:xfrm>
            <a:off x="6348979" y="3337559"/>
            <a:ext cx="1759068" cy="409857"/>
          </a:xfrm>
          <a:prstGeom prst="rect">
            <a:avLst/>
          </a:prstGeom>
          <a:noFill/>
          <a:ln/>
        </p:spPr>
        <p:txBody>
          <a:bodyPr wrap="square" rtlCol="0" anchor="ctr"/>
          <a:lstStyle/>
          <a:p>
            <a:pPr algn="ctr"/>
            <a:r>
              <a:rPr lang="en-US" sz="1400" dirty="0"/>
              <a:t>WER on changed sentences</a:t>
            </a:r>
          </a:p>
        </p:txBody>
      </p:sp>
      <p:sp>
        <p:nvSpPr>
          <p:cNvPr id="17" name="Shape 15">
            <a:extLst>
              <a:ext uri="{FF2B5EF4-FFF2-40B4-BE49-F238E27FC236}">
                <a16:creationId xmlns:a16="http://schemas.microsoft.com/office/drawing/2014/main" id="{72AA22FE-28AE-ADEA-BFC2-4048CE4B3862}"/>
              </a:ext>
            </a:extLst>
          </p:cNvPr>
          <p:cNvSpPr/>
          <p:nvPr/>
        </p:nvSpPr>
        <p:spPr>
          <a:xfrm>
            <a:off x="8268022" y="2256458"/>
            <a:ext cx="1874796" cy="1706642"/>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18" name="Text 16">
            <a:extLst>
              <a:ext uri="{FF2B5EF4-FFF2-40B4-BE49-F238E27FC236}">
                <a16:creationId xmlns:a16="http://schemas.microsoft.com/office/drawing/2014/main" id="{6918DD83-DB04-DFC2-AD68-AC9035E7D2B5}"/>
              </a:ext>
            </a:extLst>
          </p:cNvPr>
          <p:cNvSpPr/>
          <p:nvPr/>
        </p:nvSpPr>
        <p:spPr>
          <a:xfrm>
            <a:off x="8317710" y="2302177"/>
            <a:ext cx="1759068" cy="790431"/>
          </a:xfrm>
          <a:prstGeom prst="rect">
            <a:avLst/>
          </a:prstGeom>
          <a:solidFill>
            <a:schemeClr val="tx2">
              <a:lumMod val="60000"/>
              <a:lumOff val="40000"/>
            </a:schemeClr>
          </a:solidFill>
          <a:ln/>
        </p:spPr>
        <p:txBody>
          <a:bodyPr wrap="square" rtlCol="0" anchor="ctr"/>
          <a:lstStyle/>
          <a:p>
            <a:pPr algn="ctr"/>
            <a:r>
              <a:rPr lang="en-US" sz="2200" b="1" dirty="0">
                <a:solidFill>
                  <a:schemeClr val="bg1"/>
                </a:solidFill>
                <a:latin typeface="Calibri" pitchFamily="34" charset="0"/>
                <a:ea typeface="Calibri" pitchFamily="34" charset="-122"/>
                <a:cs typeface="Calibri" pitchFamily="34" charset="-120"/>
              </a:rPr>
              <a:t>47.8%</a:t>
            </a:r>
          </a:p>
        </p:txBody>
      </p:sp>
      <p:sp>
        <p:nvSpPr>
          <p:cNvPr id="19" name="Text 17">
            <a:extLst>
              <a:ext uri="{FF2B5EF4-FFF2-40B4-BE49-F238E27FC236}">
                <a16:creationId xmlns:a16="http://schemas.microsoft.com/office/drawing/2014/main" id="{D60D83ED-B698-CE55-06BD-43C98B3E2691}"/>
              </a:ext>
            </a:extLst>
          </p:cNvPr>
          <p:cNvSpPr/>
          <p:nvPr/>
        </p:nvSpPr>
        <p:spPr>
          <a:xfrm>
            <a:off x="8325886" y="3161808"/>
            <a:ext cx="1759068" cy="790431"/>
          </a:xfrm>
          <a:prstGeom prst="rect">
            <a:avLst/>
          </a:prstGeom>
          <a:noFill/>
          <a:ln/>
        </p:spPr>
        <p:txBody>
          <a:bodyPr wrap="square" rtlCol="0" anchor="ctr"/>
          <a:lstStyle/>
          <a:p>
            <a:pPr marL="0" indent="0" algn="ctr">
              <a:buNone/>
            </a:pPr>
            <a:r>
              <a:rPr lang="en-US" sz="1400" dirty="0">
                <a:solidFill>
                  <a:srgbClr val="475569"/>
                </a:solidFill>
                <a:latin typeface="Calibri" pitchFamily="34" charset="0"/>
                <a:ea typeface="Calibri" pitchFamily="34" charset="-122"/>
                <a:cs typeface="Calibri" pitchFamily="34" charset="-120"/>
              </a:rPr>
              <a:t>Phrases altered by Vosk</a:t>
            </a:r>
            <a:endParaRPr lang="en-US" sz="1400" dirty="0"/>
          </a:p>
        </p:txBody>
      </p:sp>
    </p:spTree>
    <p:extLst>
      <p:ext uri="{BB962C8B-B14F-4D97-AF65-F5344CB8AC3E}">
        <p14:creationId xmlns:p14="http://schemas.microsoft.com/office/powerpoint/2010/main" val="13315506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Picture 27">
            <a:extLst>
              <a:ext uri="{FF2B5EF4-FFF2-40B4-BE49-F238E27FC236}">
                <a16:creationId xmlns:a16="http://schemas.microsoft.com/office/drawing/2014/main" id="{E4D0465B-B34E-A423-E7E4-7E65AFB06C9B}"/>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69687F50-3403-105C-5BBC-4987AA631505}"/>
              </a:ext>
            </a:extLst>
          </p:cNvPr>
          <p:cNvSpPr>
            <a:spLocks noGrp="1"/>
          </p:cNvSpPr>
          <p:nvPr>
            <p:ph type="title"/>
          </p:nvPr>
        </p:nvSpPr>
        <p:spPr>
          <a:xfrm>
            <a:off x="591065" y="242803"/>
            <a:ext cx="10515600" cy="743585"/>
          </a:xfrm>
        </p:spPr>
        <p:txBody>
          <a:bodyPr/>
          <a:lstStyle/>
          <a:p>
            <a:r>
              <a:rPr lang="en-US" dirty="0"/>
              <a:t>Analysis - Models Evaluation Results</a:t>
            </a:r>
          </a:p>
        </p:txBody>
      </p:sp>
      <p:graphicFrame>
        <p:nvGraphicFramePr>
          <p:cNvPr id="101" name="Chart 1"/>
          <p:cNvGraphicFramePr/>
          <p:nvPr>
            <p:extLst>
              <p:ext uri="{D42A27DB-BD31-4B8C-83A1-F6EECF244321}">
                <p14:modId xmlns:p14="http://schemas.microsoft.com/office/powerpoint/2010/main" val="3034782901"/>
              </p:ext>
            </p:extLst>
          </p:nvPr>
        </p:nvGraphicFramePr>
        <p:xfrm>
          <a:off x="891353" y="1594381"/>
          <a:ext cx="5717863" cy="4401128"/>
        </p:xfrm>
        <a:graphic>
          <a:graphicData uri="http://schemas.openxmlformats.org/drawingml/2006/chart">
            <c:chart xmlns:c="http://schemas.openxmlformats.org/drawingml/2006/chart" xmlns:r="http://schemas.openxmlformats.org/officeDocument/2006/relationships" r:id="rId4"/>
          </a:graphicData>
        </a:graphic>
      </p:graphicFrame>
      <p:sp>
        <p:nvSpPr>
          <p:cNvPr id="4" name="Arrow: Down 3">
            <a:extLst>
              <a:ext uri="{FF2B5EF4-FFF2-40B4-BE49-F238E27FC236}">
                <a16:creationId xmlns:a16="http://schemas.microsoft.com/office/drawing/2014/main" id="{D50815A5-9D90-B191-1572-24B9D74C3CF4}"/>
              </a:ext>
            </a:extLst>
          </p:cNvPr>
          <p:cNvSpPr/>
          <p:nvPr/>
        </p:nvSpPr>
        <p:spPr>
          <a:xfrm>
            <a:off x="2767928" y="2790833"/>
            <a:ext cx="147782" cy="1255830"/>
          </a:xfrm>
          <a:prstGeom prst="downArrow">
            <a:avLst/>
          </a:prstGeom>
          <a:solidFill>
            <a:srgbClr val="C0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Shape 7">
            <a:extLst>
              <a:ext uri="{FF2B5EF4-FFF2-40B4-BE49-F238E27FC236}">
                <a16:creationId xmlns:a16="http://schemas.microsoft.com/office/drawing/2014/main" id="{89E0FBF4-F9DE-A5A0-3BE0-DA79881889AB}"/>
              </a:ext>
            </a:extLst>
          </p:cNvPr>
          <p:cNvSpPr/>
          <p:nvPr/>
        </p:nvSpPr>
        <p:spPr>
          <a:xfrm>
            <a:off x="6928658" y="1453110"/>
            <a:ext cx="4773814" cy="745334"/>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6" name="Text 8">
            <a:extLst>
              <a:ext uri="{FF2B5EF4-FFF2-40B4-BE49-F238E27FC236}">
                <a16:creationId xmlns:a16="http://schemas.microsoft.com/office/drawing/2014/main" id="{9C878854-8CFC-D40D-74CB-3B5432785A1C}"/>
              </a:ext>
            </a:extLst>
          </p:cNvPr>
          <p:cNvSpPr/>
          <p:nvPr/>
        </p:nvSpPr>
        <p:spPr>
          <a:xfrm>
            <a:off x="7061846" y="1537302"/>
            <a:ext cx="1280160" cy="566928"/>
          </a:xfrm>
          <a:prstGeom prst="rect">
            <a:avLst/>
          </a:prstGeom>
          <a:noFill/>
          <a:ln/>
        </p:spPr>
        <p:txBody>
          <a:bodyPr wrap="square" rtlCol="0" anchor="ctr"/>
          <a:lstStyle/>
          <a:p>
            <a:pPr marL="0" indent="0">
              <a:buNone/>
            </a:pPr>
            <a:r>
              <a:rPr lang="en-US" sz="2000" b="1" dirty="0">
                <a:solidFill>
                  <a:schemeClr val="accent4">
                    <a:lumMod val="75000"/>
                  </a:schemeClr>
                </a:solidFill>
                <a:latin typeface="Calibri" pitchFamily="34" charset="0"/>
                <a:ea typeface="Calibri" pitchFamily="34" charset="-122"/>
                <a:cs typeface="Calibri" pitchFamily="34" charset="-120"/>
              </a:rPr>
              <a:t>98.07%</a:t>
            </a:r>
            <a:endParaRPr lang="en-US" sz="2000" dirty="0">
              <a:solidFill>
                <a:schemeClr val="accent4">
                  <a:lumMod val="75000"/>
                </a:schemeClr>
              </a:solidFill>
            </a:endParaRPr>
          </a:p>
        </p:txBody>
      </p:sp>
      <p:sp>
        <p:nvSpPr>
          <p:cNvPr id="7" name="Text 9">
            <a:extLst>
              <a:ext uri="{FF2B5EF4-FFF2-40B4-BE49-F238E27FC236}">
                <a16:creationId xmlns:a16="http://schemas.microsoft.com/office/drawing/2014/main" id="{9FD7A590-3221-134F-7C84-DCFF3EA59A4A}"/>
              </a:ext>
            </a:extLst>
          </p:cNvPr>
          <p:cNvSpPr/>
          <p:nvPr/>
        </p:nvSpPr>
        <p:spPr>
          <a:xfrm>
            <a:off x="8345978" y="1551992"/>
            <a:ext cx="3097415" cy="566928"/>
          </a:xfrm>
          <a:prstGeom prst="rect">
            <a:avLst/>
          </a:prstGeom>
          <a:noFill/>
          <a:ln/>
        </p:spPr>
        <p:txBody>
          <a:bodyPr wrap="square" rtlCol="0" anchor="ctr"/>
          <a:lstStyle/>
          <a:p>
            <a:r>
              <a:rPr lang="en-US" dirty="0"/>
              <a:t>Model A scores on clean text </a:t>
            </a:r>
            <a:endParaRPr lang="en-US" sz="1400" dirty="0"/>
          </a:p>
        </p:txBody>
      </p:sp>
      <p:sp>
        <p:nvSpPr>
          <p:cNvPr id="8" name="Shape 10">
            <a:extLst>
              <a:ext uri="{FF2B5EF4-FFF2-40B4-BE49-F238E27FC236}">
                <a16:creationId xmlns:a16="http://schemas.microsoft.com/office/drawing/2014/main" id="{00055164-E5C5-7FD7-95D5-7AD6596B181F}"/>
              </a:ext>
            </a:extLst>
          </p:cNvPr>
          <p:cNvSpPr/>
          <p:nvPr/>
        </p:nvSpPr>
        <p:spPr>
          <a:xfrm>
            <a:off x="6928657" y="2330524"/>
            <a:ext cx="4773815" cy="704088"/>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9" name="Text 11">
            <a:extLst>
              <a:ext uri="{FF2B5EF4-FFF2-40B4-BE49-F238E27FC236}">
                <a16:creationId xmlns:a16="http://schemas.microsoft.com/office/drawing/2014/main" id="{37CD5423-ADB6-AC49-286B-6B09E00B9F1A}"/>
              </a:ext>
            </a:extLst>
          </p:cNvPr>
          <p:cNvSpPr/>
          <p:nvPr/>
        </p:nvSpPr>
        <p:spPr>
          <a:xfrm>
            <a:off x="7061846" y="2393332"/>
            <a:ext cx="1280160" cy="566928"/>
          </a:xfrm>
          <a:prstGeom prst="rect">
            <a:avLst/>
          </a:prstGeom>
          <a:noFill/>
          <a:ln/>
        </p:spPr>
        <p:txBody>
          <a:bodyPr wrap="square" rtlCol="0" anchor="ctr"/>
          <a:lstStyle/>
          <a:p>
            <a:pPr marL="0" indent="0">
              <a:buNone/>
            </a:pPr>
            <a:r>
              <a:rPr lang="en-US" sz="2000" b="1" dirty="0">
                <a:solidFill>
                  <a:srgbClr val="C00000"/>
                </a:solidFill>
                <a:latin typeface="Calibri" pitchFamily="34" charset="0"/>
                <a:ea typeface="Calibri" pitchFamily="34" charset="-122"/>
                <a:cs typeface="Calibri" pitchFamily="34" charset="-120"/>
              </a:rPr>
              <a:t>8.73 PP</a:t>
            </a:r>
            <a:endParaRPr lang="en-US" sz="2000" dirty="0">
              <a:solidFill>
                <a:srgbClr val="C00000"/>
              </a:solidFill>
            </a:endParaRPr>
          </a:p>
        </p:txBody>
      </p:sp>
      <p:sp>
        <p:nvSpPr>
          <p:cNvPr id="10" name="Text 12">
            <a:extLst>
              <a:ext uri="{FF2B5EF4-FFF2-40B4-BE49-F238E27FC236}">
                <a16:creationId xmlns:a16="http://schemas.microsoft.com/office/drawing/2014/main" id="{88CDAA30-B1C7-DCCE-E4B7-D9B72FE8E4EB}"/>
              </a:ext>
            </a:extLst>
          </p:cNvPr>
          <p:cNvSpPr/>
          <p:nvPr/>
        </p:nvSpPr>
        <p:spPr>
          <a:xfrm>
            <a:off x="8300258" y="2489580"/>
            <a:ext cx="3097414" cy="703087"/>
          </a:xfrm>
          <a:prstGeom prst="rect">
            <a:avLst/>
          </a:prstGeom>
          <a:noFill/>
          <a:ln/>
        </p:spPr>
        <p:txBody>
          <a:bodyPr wrap="square" rtlCol="0" anchor="ctr"/>
          <a:lstStyle/>
          <a:p>
            <a:pPr>
              <a:spcAft>
                <a:spcPts val="300"/>
              </a:spcAft>
            </a:pPr>
            <a:r>
              <a:rPr lang="en-US" dirty="0">
                <a:ln w="0"/>
                <a:solidFill>
                  <a:schemeClr val="bg2">
                    <a:lumMod val="10000"/>
                  </a:schemeClr>
                </a:solidFill>
              </a:rPr>
              <a:t>Model A drops on </a:t>
            </a:r>
            <a:r>
              <a:rPr lang="en-US" dirty="0" err="1">
                <a:ln w="0"/>
                <a:solidFill>
                  <a:schemeClr val="bg2">
                    <a:lumMod val="10000"/>
                  </a:schemeClr>
                </a:solidFill>
              </a:rPr>
              <a:t>Vosk</a:t>
            </a:r>
            <a:r>
              <a:rPr lang="en-US" dirty="0">
                <a:ln w="0"/>
                <a:solidFill>
                  <a:schemeClr val="bg2">
                    <a:lumMod val="10000"/>
                  </a:schemeClr>
                </a:solidFill>
              </a:rPr>
              <a:t> output instead of clean text</a:t>
            </a:r>
          </a:p>
          <a:p>
            <a:pPr marL="0" indent="0">
              <a:buNone/>
            </a:pPr>
            <a:endParaRPr lang="en-US" dirty="0"/>
          </a:p>
        </p:txBody>
      </p:sp>
      <p:sp>
        <p:nvSpPr>
          <p:cNvPr id="11" name="Shape 13">
            <a:extLst>
              <a:ext uri="{FF2B5EF4-FFF2-40B4-BE49-F238E27FC236}">
                <a16:creationId xmlns:a16="http://schemas.microsoft.com/office/drawing/2014/main" id="{819100FF-471B-0F5E-70D9-897A350CACDD}"/>
              </a:ext>
            </a:extLst>
          </p:cNvPr>
          <p:cNvSpPr/>
          <p:nvPr/>
        </p:nvSpPr>
        <p:spPr>
          <a:xfrm>
            <a:off x="6928657" y="3190710"/>
            <a:ext cx="4773816" cy="704088"/>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12" name="Text 14">
            <a:extLst>
              <a:ext uri="{FF2B5EF4-FFF2-40B4-BE49-F238E27FC236}">
                <a16:creationId xmlns:a16="http://schemas.microsoft.com/office/drawing/2014/main" id="{EA599AE1-F31C-56DF-9A7E-678938B24403}"/>
              </a:ext>
            </a:extLst>
          </p:cNvPr>
          <p:cNvSpPr/>
          <p:nvPr/>
        </p:nvSpPr>
        <p:spPr>
          <a:xfrm>
            <a:off x="7091495" y="3264600"/>
            <a:ext cx="1100790" cy="566928"/>
          </a:xfrm>
          <a:prstGeom prst="rect">
            <a:avLst/>
          </a:prstGeom>
          <a:noFill/>
          <a:ln/>
        </p:spPr>
        <p:txBody>
          <a:bodyPr wrap="square" rtlCol="0" anchor="ctr"/>
          <a:lstStyle/>
          <a:p>
            <a:pPr marL="0" indent="0">
              <a:buNone/>
            </a:pPr>
            <a:r>
              <a:rPr lang="en-US" sz="2000" b="1" dirty="0">
                <a:solidFill>
                  <a:srgbClr val="00B050"/>
                </a:solidFill>
                <a:latin typeface="Calibri" pitchFamily="34" charset="0"/>
                <a:ea typeface="Calibri" pitchFamily="34" charset="-122"/>
                <a:cs typeface="Calibri" pitchFamily="34" charset="-120"/>
              </a:rPr>
              <a:t>9.72 PP</a:t>
            </a:r>
            <a:endParaRPr lang="en-US" sz="2000" dirty="0">
              <a:solidFill>
                <a:srgbClr val="00B050"/>
              </a:solidFill>
            </a:endParaRPr>
          </a:p>
        </p:txBody>
      </p:sp>
      <p:sp>
        <p:nvSpPr>
          <p:cNvPr id="13" name="Text 15">
            <a:extLst>
              <a:ext uri="{FF2B5EF4-FFF2-40B4-BE49-F238E27FC236}">
                <a16:creationId xmlns:a16="http://schemas.microsoft.com/office/drawing/2014/main" id="{4953A449-7E6E-5790-1D1A-3F885E38F3DE}"/>
              </a:ext>
            </a:extLst>
          </p:cNvPr>
          <p:cNvSpPr/>
          <p:nvPr/>
        </p:nvSpPr>
        <p:spPr>
          <a:xfrm>
            <a:off x="8300257" y="3254902"/>
            <a:ext cx="3143135" cy="566928"/>
          </a:xfrm>
          <a:prstGeom prst="rect">
            <a:avLst/>
          </a:prstGeom>
          <a:noFill/>
          <a:ln/>
        </p:spPr>
        <p:txBody>
          <a:bodyPr wrap="square" rtlCol="0" anchor="ctr"/>
          <a:lstStyle/>
          <a:p>
            <a:r>
              <a:rPr lang="en-US" dirty="0">
                <a:ln w="0"/>
                <a:solidFill>
                  <a:schemeClr val="bg2">
                    <a:lumMod val="10000"/>
                  </a:schemeClr>
                </a:solidFill>
              </a:rPr>
              <a:t>Noise-aware training recovered</a:t>
            </a:r>
            <a:endParaRPr lang="en-US" dirty="0"/>
          </a:p>
        </p:txBody>
      </p:sp>
      <p:sp>
        <p:nvSpPr>
          <p:cNvPr id="14" name="Shape 16">
            <a:extLst>
              <a:ext uri="{FF2B5EF4-FFF2-40B4-BE49-F238E27FC236}">
                <a16:creationId xmlns:a16="http://schemas.microsoft.com/office/drawing/2014/main" id="{6512EFE8-07ED-61B5-D1D5-98C2DAB2B43F}"/>
              </a:ext>
            </a:extLst>
          </p:cNvPr>
          <p:cNvSpPr/>
          <p:nvPr/>
        </p:nvSpPr>
        <p:spPr>
          <a:xfrm>
            <a:off x="6928655" y="4084658"/>
            <a:ext cx="4773818" cy="704088"/>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2000" b="1" dirty="0"/>
          </a:p>
        </p:txBody>
      </p:sp>
      <p:sp>
        <p:nvSpPr>
          <p:cNvPr id="15" name="Text 17">
            <a:extLst>
              <a:ext uri="{FF2B5EF4-FFF2-40B4-BE49-F238E27FC236}">
                <a16:creationId xmlns:a16="http://schemas.microsoft.com/office/drawing/2014/main" id="{029FE5F4-9B4D-CDF9-9D79-A72D661ED42C}"/>
              </a:ext>
            </a:extLst>
          </p:cNvPr>
          <p:cNvSpPr/>
          <p:nvPr/>
        </p:nvSpPr>
        <p:spPr>
          <a:xfrm>
            <a:off x="7001810" y="4115082"/>
            <a:ext cx="1280160" cy="566928"/>
          </a:xfrm>
          <a:prstGeom prst="rect">
            <a:avLst/>
          </a:prstGeom>
          <a:noFill/>
          <a:ln/>
        </p:spPr>
        <p:txBody>
          <a:bodyPr wrap="square" rtlCol="0" anchor="ctr"/>
          <a:lstStyle/>
          <a:p>
            <a:r>
              <a:rPr lang="en-US" sz="2000" b="1" dirty="0">
                <a:ln w="0"/>
                <a:solidFill>
                  <a:srgbClr val="0070C0"/>
                </a:solidFill>
              </a:rPr>
              <a:t>F1 &gt; 0.97</a:t>
            </a:r>
            <a:endParaRPr lang="en-US" sz="2000" b="1" dirty="0">
              <a:solidFill>
                <a:srgbClr val="0070C0"/>
              </a:solidFill>
            </a:endParaRPr>
          </a:p>
        </p:txBody>
      </p:sp>
      <p:sp>
        <p:nvSpPr>
          <p:cNvPr id="16" name="Text 18">
            <a:extLst>
              <a:ext uri="{FF2B5EF4-FFF2-40B4-BE49-F238E27FC236}">
                <a16:creationId xmlns:a16="http://schemas.microsoft.com/office/drawing/2014/main" id="{277ABDDC-CEB6-5E61-4814-81187B859F72}"/>
              </a:ext>
            </a:extLst>
          </p:cNvPr>
          <p:cNvSpPr/>
          <p:nvPr/>
        </p:nvSpPr>
        <p:spPr>
          <a:xfrm>
            <a:off x="8192285" y="4115082"/>
            <a:ext cx="3510188" cy="566928"/>
          </a:xfrm>
          <a:prstGeom prst="rect">
            <a:avLst/>
          </a:prstGeom>
          <a:noFill/>
          <a:ln/>
        </p:spPr>
        <p:txBody>
          <a:bodyPr wrap="square" rtlCol="0" anchor="ctr"/>
          <a:lstStyle/>
          <a:p>
            <a:pPr>
              <a:spcAft>
                <a:spcPts val="300"/>
              </a:spcAft>
            </a:pPr>
            <a:r>
              <a:rPr lang="en-US" dirty="0">
                <a:ln w="0"/>
                <a:solidFill>
                  <a:schemeClr val="bg2">
                    <a:lumMod val="10000"/>
                  </a:schemeClr>
                </a:solidFill>
              </a:rPr>
              <a:t>All 18 intents achieve with Model C</a:t>
            </a:r>
          </a:p>
        </p:txBody>
      </p:sp>
      <p:sp>
        <p:nvSpPr>
          <p:cNvPr id="19" name="TextBox 18">
            <a:extLst>
              <a:ext uri="{FF2B5EF4-FFF2-40B4-BE49-F238E27FC236}">
                <a16:creationId xmlns:a16="http://schemas.microsoft.com/office/drawing/2014/main" id="{FFFE98BF-7B1D-0E19-08D2-6A9A52C270A2}"/>
              </a:ext>
            </a:extLst>
          </p:cNvPr>
          <p:cNvSpPr txBox="1"/>
          <p:nvPr/>
        </p:nvSpPr>
        <p:spPr>
          <a:xfrm>
            <a:off x="183467" y="3431309"/>
            <a:ext cx="1040475" cy="261610"/>
          </a:xfrm>
          <a:prstGeom prst="rect">
            <a:avLst/>
          </a:prstGeom>
          <a:noFill/>
        </p:spPr>
        <p:txBody>
          <a:bodyPr wrap="square" rtlCol="0">
            <a:spAutoFit/>
          </a:bodyPr>
          <a:lstStyle/>
          <a:p>
            <a:r>
              <a:rPr lang="en-US" sz="1100" dirty="0"/>
              <a:t>Test Accuracy</a:t>
            </a:r>
          </a:p>
        </p:txBody>
      </p:sp>
      <p:sp>
        <p:nvSpPr>
          <p:cNvPr id="20" name="Arrow: Down 19">
            <a:extLst>
              <a:ext uri="{FF2B5EF4-FFF2-40B4-BE49-F238E27FC236}">
                <a16:creationId xmlns:a16="http://schemas.microsoft.com/office/drawing/2014/main" id="{B8A0484F-8FA4-5C93-1E0B-099A6E9FA320}"/>
              </a:ext>
            </a:extLst>
          </p:cNvPr>
          <p:cNvSpPr/>
          <p:nvPr/>
        </p:nvSpPr>
        <p:spPr>
          <a:xfrm rot="10800000">
            <a:off x="5280935" y="2657670"/>
            <a:ext cx="147781" cy="1427073"/>
          </a:xfrm>
          <a:prstGeom prst="downArrow">
            <a:avLst/>
          </a:prstGeom>
          <a:solidFill>
            <a:srgbClr val="00B050"/>
          </a:solid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 name="Straight Connector 21">
            <a:extLst>
              <a:ext uri="{FF2B5EF4-FFF2-40B4-BE49-F238E27FC236}">
                <a16:creationId xmlns:a16="http://schemas.microsoft.com/office/drawing/2014/main" id="{4CF73D95-4715-17AB-7552-B1BC7572FCD2}"/>
              </a:ext>
            </a:extLst>
          </p:cNvPr>
          <p:cNvCxnSpPr>
            <a:cxnSpLocks/>
          </p:cNvCxnSpPr>
          <p:nvPr/>
        </p:nvCxnSpPr>
        <p:spPr>
          <a:xfrm>
            <a:off x="2334203" y="2790833"/>
            <a:ext cx="3244561" cy="0"/>
          </a:xfrm>
          <a:prstGeom prst="line">
            <a:avLst/>
          </a:prstGeom>
          <a:ln>
            <a:solidFill>
              <a:schemeClr val="accent1">
                <a:alpha val="46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BABB0BB4-2467-FB8F-89E4-52C8B68600AA}"/>
              </a:ext>
            </a:extLst>
          </p:cNvPr>
          <p:cNvCxnSpPr>
            <a:cxnSpLocks/>
          </p:cNvCxnSpPr>
          <p:nvPr/>
        </p:nvCxnSpPr>
        <p:spPr>
          <a:xfrm>
            <a:off x="2352675" y="4084743"/>
            <a:ext cx="3244561" cy="0"/>
          </a:xfrm>
          <a:prstGeom prst="line">
            <a:avLst/>
          </a:prstGeom>
          <a:ln>
            <a:solidFill>
              <a:schemeClr val="accent1">
                <a:alpha val="46000"/>
              </a:schemeClr>
            </a:solidFill>
            <a:prstDash val="dash"/>
          </a:ln>
        </p:spPr>
        <p:style>
          <a:lnRef idx="2">
            <a:schemeClr val="accent1"/>
          </a:lnRef>
          <a:fillRef idx="0">
            <a:schemeClr val="accent1"/>
          </a:fillRef>
          <a:effectRef idx="1">
            <a:schemeClr val="accent1"/>
          </a:effectRef>
          <a:fontRef idx="minor">
            <a:schemeClr val="tx1"/>
          </a:fontRef>
        </p:style>
      </p:cxnSp>
      <p:sp>
        <p:nvSpPr>
          <p:cNvPr id="25" name="Text 6">
            <a:extLst>
              <a:ext uri="{FF2B5EF4-FFF2-40B4-BE49-F238E27FC236}">
                <a16:creationId xmlns:a16="http://schemas.microsoft.com/office/drawing/2014/main" id="{A6A8D8EC-046C-ED57-3D4D-006160D2ECC3}"/>
              </a:ext>
            </a:extLst>
          </p:cNvPr>
          <p:cNvSpPr/>
          <p:nvPr/>
        </p:nvSpPr>
        <p:spPr>
          <a:xfrm>
            <a:off x="6926076" y="5033912"/>
            <a:ext cx="4773814" cy="800700"/>
          </a:xfrm>
          <a:prstGeom prst="rect">
            <a:avLst/>
          </a:prstGeom>
          <a:solidFill>
            <a:srgbClr val="00B050"/>
          </a:solidFill>
          <a:ln/>
        </p:spPr>
        <p:txBody>
          <a:bodyPr wrap="square" rtlCol="0" anchor="ctr"/>
          <a:lstStyle/>
          <a:p>
            <a:pPr algn="ctr"/>
            <a:endParaRPr lang="en-US" sz="1500" b="1" dirty="0">
              <a:solidFill>
                <a:schemeClr val="bg1"/>
              </a:solidFill>
            </a:endParaRPr>
          </a:p>
          <a:p>
            <a:pPr algn="ctr"/>
            <a:r>
              <a:rPr lang="en-US" sz="1500" b="1" dirty="0">
                <a:solidFill>
                  <a:schemeClr val="bg1"/>
                </a:solidFill>
              </a:rPr>
              <a:t>✓  Accuracy Target</a:t>
            </a:r>
            <a:r>
              <a:rPr lang="en-US" sz="1600" dirty="0">
                <a:ln w="0"/>
                <a:solidFill>
                  <a:schemeClr val="bg1"/>
                </a:solidFill>
              </a:rPr>
              <a:t> </a:t>
            </a:r>
            <a:r>
              <a:rPr lang="en-US" sz="1600" b="1" dirty="0">
                <a:ln w="0"/>
                <a:solidFill>
                  <a:schemeClr val="bg1"/>
                </a:solidFill>
              </a:rPr>
              <a:t>(≥90%) Achieved</a:t>
            </a:r>
          </a:p>
          <a:p>
            <a:pPr algn="ctr"/>
            <a:r>
              <a:rPr lang="en-US" sz="1600" b="1" dirty="0">
                <a:ln w="0"/>
                <a:solidFill>
                  <a:schemeClr val="bg1"/>
                </a:solidFill>
              </a:rPr>
              <a:t>Exceeded by 9+ percentage points</a:t>
            </a:r>
          </a:p>
          <a:p>
            <a:pPr marL="0" indent="0" algn="ctr">
              <a:buNone/>
            </a:pPr>
            <a:endParaRPr lang="en-US" sz="1500" dirty="0">
              <a:solidFill>
                <a:schemeClr val="bg1"/>
              </a:solidFill>
            </a:endParaRPr>
          </a:p>
        </p:txBody>
      </p:sp>
    </p:spTree>
    <p:extLst>
      <p:ext uri="{BB962C8B-B14F-4D97-AF65-F5344CB8AC3E}">
        <p14:creationId xmlns:p14="http://schemas.microsoft.com/office/powerpoint/2010/main" val="27546532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8D1F65-7DD3-3996-1B80-E2AC86FBD3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EDA60D-D925-5A1D-1DA7-BCB626E14B3C}"/>
              </a:ext>
            </a:extLst>
          </p:cNvPr>
          <p:cNvSpPr>
            <a:spLocks noGrp="1"/>
          </p:cNvSpPr>
          <p:nvPr>
            <p:ph type="title"/>
          </p:nvPr>
        </p:nvSpPr>
        <p:spPr>
          <a:xfrm>
            <a:off x="566351" y="245101"/>
            <a:ext cx="10515600" cy="724766"/>
          </a:xfrm>
        </p:spPr>
        <p:txBody>
          <a:bodyPr/>
          <a:lstStyle/>
          <a:p>
            <a:r>
              <a:rPr lang="en-US" dirty="0"/>
              <a:t>Analysis - System Testing</a:t>
            </a:r>
          </a:p>
        </p:txBody>
      </p:sp>
      <p:sp>
        <p:nvSpPr>
          <p:cNvPr id="3" name="Content Placeholder 2">
            <a:extLst>
              <a:ext uri="{FF2B5EF4-FFF2-40B4-BE49-F238E27FC236}">
                <a16:creationId xmlns:a16="http://schemas.microsoft.com/office/drawing/2014/main" id="{B2A1DBAE-489B-E6EB-A159-49C1F07A3B13}"/>
              </a:ext>
            </a:extLst>
          </p:cNvPr>
          <p:cNvSpPr>
            <a:spLocks noGrp="1"/>
          </p:cNvSpPr>
          <p:nvPr>
            <p:ph idx="1"/>
          </p:nvPr>
        </p:nvSpPr>
        <p:spPr>
          <a:xfrm>
            <a:off x="838200" y="1253331"/>
            <a:ext cx="10515600" cy="4351338"/>
          </a:xfrm>
        </p:spPr>
        <p:txBody>
          <a:bodyPr/>
          <a:lstStyle/>
          <a:p>
            <a:pPr marL="0" indent="0">
              <a:buNone/>
            </a:pPr>
            <a:r>
              <a:rPr lang="en-US" dirty="0">
                <a:ln w="0"/>
                <a:solidFill>
                  <a:schemeClr val="accent1"/>
                </a:solidFill>
                <a:effectLst>
                  <a:outerShdw blurRad="38100" dist="25400" dir="5400000" algn="ctr" rotWithShape="0">
                    <a:srgbClr val="6E747A">
                      <a:alpha val="43000"/>
                    </a:srgbClr>
                  </a:outerShdw>
                </a:effectLst>
              </a:rPr>
              <a:t>End-to-End Latency (20 Test Requests)</a:t>
            </a:r>
          </a:p>
          <a:p>
            <a:pPr marL="0" indent="0">
              <a:buNone/>
            </a:pPr>
            <a:endParaRPr lang="en-US" dirty="0">
              <a:ln w="0"/>
              <a:solidFill>
                <a:schemeClr val="accent1"/>
              </a:solidFill>
              <a:effectLst>
                <a:outerShdw blurRad="38100" dist="25400" dir="5400000" algn="ctr" rotWithShape="0">
                  <a:srgbClr val="6E747A">
                    <a:alpha val="43000"/>
                  </a:srgbClr>
                </a:outerShdw>
              </a:effectLst>
            </a:endParaRPr>
          </a:p>
        </p:txBody>
      </p:sp>
      <p:sp>
        <p:nvSpPr>
          <p:cNvPr id="4" name="Slide Number Placeholder 3">
            <a:extLst>
              <a:ext uri="{FF2B5EF4-FFF2-40B4-BE49-F238E27FC236}">
                <a16:creationId xmlns:a16="http://schemas.microsoft.com/office/drawing/2014/main" id="{D925BE5B-05A7-6DAF-8FAB-E25069A36866}"/>
              </a:ext>
            </a:extLst>
          </p:cNvPr>
          <p:cNvSpPr>
            <a:spLocks noGrp="1"/>
          </p:cNvSpPr>
          <p:nvPr>
            <p:ph type="sldNum" sz="quarter" idx="12"/>
          </p:nvPr>
        </p:nvSpPr>
        <p:spPr>
          <a:xfrm>
            <a:off x="11728818" y="6236103"/>
            <a:ext cx="376821" cy="365125"/>
          </a:xfrm>
        </p:spPr>
        <p:txBody>
          <a:bodyPr/>
          <a:lstStyle/>
          <a:p>
            <a:fld id="{9890CE2D-2882-48A4-88CB-3A003AF6C150}" type="slidenum">
              <a:rPr lang="en-US" smtClean="0"/>
              <a:t>14</a:t>
            </a:fld>
            <a:endParaRPr lang="en-US" dirty="0"/>
          </a:p>
        </p:txBody>
      </p:sp>
      <p:sp>
        <p:nvSpPr>
          <p:cNvPr id="5" name="Shape 7">
            <a:extLst>
              <a:ext uri="{FF2B5EF4-FFF2-40B4-BE49-F238E27FC236}">
                <a16:creationId xmlns:a16="http://schemas.microsoft.com/office/drawing/2014/main" id="{5E32F869-CF64-6126-D09E-D0A29F43176F}"/>
              </a:ext>
            </a:extLst>
          </p:cNvPr>
          <p:cNvSpPr/>
          <p:nvPr/>
        </p:nvSpPr>
        <p:spPr>
          <a:xfrm>
            <a:off x="2133600" y="2822442"/>
            <a:ext cx="3541176" cy="2271216"/>
          </a:xfrm>
          <a:prstGeom prst="rect">
            <a:avLst/>
          </a:prstGeom>
          <a:solidFill>
            <a:srgbClr val="F9C3C8"/>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3600">
              <a:solidFill>
                <a:srgbClr val="F38993"/>
              </a:solidFill>
            </a:endParaRPr>
          </a:p>
        </p:txBody>
      </p:sp>
      <p:sp>
        <p:nvSpPr>
          <p:cNvPr id="6" name="Text 8">
            <a:extLst>
              <a:ext uri="{FF2B5EF4-FFF2-40B4-BE49-F238E27FC236}">
                <a16:creationId xmlns:a16="http://schemas.microsoft.com/office/drawing/2014/main" id="{B03F6321-E9C1-B7C6-54AF-2C6CCF057045}"/>
              </a:ext>
            </a:extLst>
          </p:cNvPr>
          <p:cNvSpPr/>
          <p:nvPr/>
        </p:nvSpPr>
        <p:spPr>
          <a:xfrm>
            <a:off x="3436504" y="4163741"/>
            <a:ext cx="1280160" cy="566928"/>
          </a:xfrm>
          <a:prstGeom prst="rect">
            <a:avLst/>
          </a:prstGeom>
          <a:noFill/>
          <a:ln/>
        </p:spPr>
        <p:txBody>
          <a:bodyPr wrap="square" rtlCol="0" anchor="ctr"/>
          <a:lstStyle/>
          <a:p>
            <a:pPr marL="0" indent="0">
              <a:buNone/>
            </a:pPr>
            <a:r>
              <a:rPr lang="en-US" sz="3600" b="1" dirty="0">
                <a:solidFill>
                  <a:schemeClr val="accent4">
                    <a:lumMod val="75000"/>
                  </a:schemeClr>
                </a:solidFill>
                <a:latin typeface="Calibri" pitchFamily="34" charset="0"/>
                <a:ea typeface="Calibri" pitchFamily="34" charset="-122"/>
                <a:cs typeface="Calibri" pitchFamily="34" charset="-120"/>
              </a:rPr>
              <a:t>P95</a:t>
            </a:r>
            <a:endParaRPr lang="en-US" sz="3600" dirty="0">
              <a:solidFill>
                <a:schemeClr val="accent4">
                  <a:lumMod val="75000"/>
                </a:schemeClr>
              </a:solidFill>
            </a:endParaRPr>
          </a:p>
        </p:txBody>
      </p:sp>
      <p:sp>
        <p:nvSpPr>
          <p:cNvPr id="7" name="Text 9">
            <a:extLst>
              <a:ext uri="{FF2B5EF4-FFF2-40B4-BE49-F238E27FC236}">
                <a16:creationId xmlns:a16="http://schemas.microsoft.com/office/drawing/2014/main" id="{250048E2-0F6E-BADC-8C18-3213F73398DA}"/>
              </a:ext>
            </a:extLst>
          </p:cNvPr>
          <p:cNvSpPr/>
          <p:nvPr/>
        </p:nvSpPr>
        <p:spPr>
          <a:xfrm>
            <a:off x="3093697" y="3370386"/>
            <a:ext cx="2009555" cy="802659"/>
          </a:xfrm>
          <a:prstGeom prst="rect">
            <a:avLst/>
          </a:prstGeom>
          <a:noFill/>
          <a:ln/>
        </p:spPr>
        <p:txBody>
          <a:bodyPr wrap="square" rtlCol="0" anchor="ctr"/>
          <a:lstStyle/>
          <a:p>
            <a:r>
              <a:rPr lang="en-US" sz="3600" b="1" i="1" dirty="0"/>
              <a:t>2,801 </a:t>
            </a:r>
            <a:r>
              <a:rPr lang="en-US" sz="3600" b="1" i="1" dirty="0" err="1"/>
              <a:t>ms</a:t>
            </a:r>
            <a:endParaRPr lang="en-US" sz="3600" b="1" i="1" dirty="0"/>
          </a:p>
        </p:txBody>
      </p:sp>
      <p:sp>
        <p:nvSpPr>
          <p:cNvPr id="8" name="Shape 7">
            <a:extLst>
              <a:ext uri="{FF2B5EF4-FFF2-40B4-BE49-F238E27FC236}">
                <a16:creationId xmlns:a16="http://schemas.microsoft.com/office/drawing/2014/main" id="{46A3396E-A923-F6A7-8155-4493E538CD69}"/>
              </a:ext>
            </a:extLst>
          </p:cNvPr>
          <p:cNvSpPr/>
          <p:nvPr/>
        </p:nvSpPr>
        <p:spPr>
          <a:xfrm>
            <a:off x="6706939" y="2077108"/>
            <a:ext cx="3541176" cy="745334"/>
          </a:xfrm>
          <a:prstGeom prst="rect">
            <a:avLst/>
          </a:prstGeom>
          <a:solidFill>
            <a:schemeClr val="accent1">
              <a:lumMod val="20000"/>
              <a:lumOff val="80000"/>
            </a:schemeClr>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9" name="Text 8">
            <a:extLst>
              <a:ext uri="{FF2B5EF4-FFF2-40B4-BE49-F238E27FC236}">
                <a16:creationId xmlns:a16="http://schemas.microsoft.com/office/drawing/2014/main" id="{D88BF423-19B2-E22A-9ACD-1A39A87082C6}"/>
              </a:ext>
            </a:extLst>
          </p:cNvPr>
          <p:cNvSpPr/>
          <p:nvPr/>
        </p:nvSpPr>
        <p:spPr>
          <a:xfrm>
            <a:off x="6840127" y="2161300"/>
            <a:ext cx="1280160" cy="566928"/>
          </a:xfrm>
          <a:prstGeom prst="rect">
            <a:avLst/>
          </a:prstGeom>
          <a:noFill/>
          <a:ln/>
        </p:spPr>
        <p:txBody>
          <a:bodyPr wrap="square" rtlCol="0" anchor="ctr"/>
          <a:lstStyle/>
          <a:p>
            <a:pPr marL="0" indent="0">
              <a:buNone/>
            </a:pPr>
            <a:r>
              <a:rPr lang="en-US" sz="2000" b="1" dirty="0">
                <a:solidFill>
                  <a:schemeClr val="accent4">
                    <a:lumMod val="75000"/>
                  </a:schemeClr>
                </a:solidFill>
                <a:latin typeface="Calibri" pitchFamily="34" charset="0"/>
                <a:ea typeface="Calibri" pitchFamily="34" charset="-122"/>
                <a:cs typeface="Calibri" pitchFamily="34" charset="-120"/>
              </a:rPr>
              <a:t>~302 </a:t>
            </a:r>
            <a:r>
              <a:rPr lang="en-US" sz="2000" b="1" dirty="0" err="1">
                <a:solidFill>
                  <a:schemeClr val="accent4">
                    <a:lumMod val="75000"/>
                  </a:schemeClr>
                </a:solidFill>
                <a:latin typeface="Calibri" pitchFamily="34" charset="0"/>
                <a:ea typeface="Calibri" pitchFamily="34" charset="-122"/>
                <a:cs typeface="Calibri" pitchFamily="34" charset="-120"/>
              </a:rPr>
              <a:t>ms</a:t>
            </a:r>
            <a:endParaRPr lang="en-US" sz="2000" dirty="0">
              <a:solidFill>
                <a:schemeClr val="accent4">
                  <a:lumMod val="75000"/>
                </a:schemeClr>
              </a:solidFill>
            </a:endParaRPr>
          </a:p>
        </p:txBody>
      </p:sp>
      <p:sp>
        <p:nvSpPr>
          <p:cNvPr id="10" name="Text 9">
            <a:extLst>
              <a:ext uri="{FF2B5EF4-FFF2-40B4-BE49-F238E27FC236}">
                <a16:creationId xmlns:a16="http://schemas.microsoft.com/office/drawing/2014/main" id="{D54D1C2F-0442-24AB-2E71-31278F98BD95}"/>
              </a:ext>
            </a:extLst>
          </p:cNvPr>
          <p:cNvSpPr/>
          <p:nvPr/>
        </p:nvSpPr>
        <p:spPr>
          <a:xfrm>
            <a:off x="8124259" y="2175990"/>
            <a:ext cx="1934141" cy="566928"/>
          </a:xfrm>
          <a:prstGeom prst="rect">
            <a:avLst/>
          </a:prstGeom>
          <a:noFill/>
          <a:ln/>
        </p:spPr>
        <p:txBody>
          <a:bodyPr wrap="square" rtlCol="0" anchor="ctr"/>
          <a:lstStyle/>
          <a:p>
            <a:r>
              <a:rPr lang="en-US" b="1" i="1" dirty="0" err="1">
                <a:solidFill>
                  <a:schemeClr val="accent5">
                    <a:lumMod val="50000"/>
                  </a:schemeClr>
                </a:solidFill>
              </a:rPr>
              <a:t>Vosk</a:t>
            </a:r>
            <a:r>
              <a:rPr lang="en-US" b="1" i="1" dirty="0">
                <a:solidFill>
                  <a:schemeClr val="accent5">
                    <a:lumMod val="50000"/>
                  </a:schemeClr>
                </a:solidFill>
              </a:rPr>
              <a:t> STT</a:t>
            </a:r>
            <a:endParaRPr lang="en-US" sz="1400" b="1" i="1" dirty="0">
              <a:solidFill>
                <a:schemeClr val="accent5">
                  <a:lumMod val="50000"/>
                </a:schemeClr>
              </a:solidFill>
            </a:endParaRPr>
          </a:p>
        </p:txBody>
      </p:sp>
      <p:sp>
        <p:nvSpPr>
          <p:cNvPr id="11" name="Shape 7">
            <a:extLst>
              <a:ext uri="{FF2B5EF4-FFF2-40B4-BE49-F238E27FC236}">
                <a16:creationId xmlns:a16="http://schemas.microsoft.com/office/drawing/2014/main" id="{079DD181-3E2B-FBAD-AB40-DB425D54516D}"/>
              </a:ext>
            </a:extLst>
          </p:cNvPr>
          <p:cNvSpPr/>
          <p:nvPr/>
        </p:nvSpPr>
        <p:spPr>
          <a:xfrm>
            <a:off x="6706939" y="2919430"/>
            <a:ext cx="3541176" cy="1385552"/>
          </a:xfrm>
          <a:prstGeom prst="rect">
            <a:avLst/>
          </a:prstGeom>
          <a:solidFill>
            <a:schemeClr val="accent3">
              <a:lumMod val="40000"/>
              <a:lumOff val="60000"/>
            </a:schemeClr>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12" name="Text 8">
            <a:extLst>
              <a:ext uri="{FF2B5EF4-FFF2-40B4-BE49-F238E27FC236}">
                <a16:creationId xmlns:a16="http://schemas.microsoft.com/office/drawing/2014/main" id="{941F0662-9AB1-3ECF-4F4B-B39943CF8AB9}"/>
              </a:ext>
            </a:extLst>
          </p:cNvPr>
          <p:cNvSpPr/>
          <p:nvPr/>
        </p:nvSpPr>
        <p:spPr>
          <a:xfrm>
            <a:off x="6840127" y="3003622"/>
            <a:ext cx="1280160" cy="566928"/>
          </a:xfrm>
          <a:prstGeom prst="rect">
            <a:avLst/>
          </a:prstGeom>
          <a:noFill/>
          <a:ln/>
        </p:spPr>
        <p:txBody>
          <a:bodyPr wrap="square" rtlCol="0" anchor="ctr"/>
          <a:lstStyle/>
          <a:p>
            <a:pPr marL="0" indent="0">
              <a:buNone/>
            </a:pPr>
            <a:r>
              <a:rPr lang="en-US" sz="2000" b="1" dirty="0">
                <a:solidFill>
                  <a:schemeClr val="accent4">
                    <a:lumMod val="75000"/>
                  </a:schemeClr>
                </a:solidFill>
                <a:latin typeface="Calibri" pitchFamily="34" charset="0"/>
                <a:ea typeface="Calibri" pitchFamily="34" charset="-122"/>
                <a:cs typeface="Calibri" pitchFamily="34" charset="-120"/>
              </a:rPr>
              <a:t>~4 </a:t>
            </a:r>
            <a:r>
              <a:rPr lang="en-US" sz="2000" b="1" dirty="0" err="1">
                <a:solidFill>
                  <a:schemeClr val="accent4">
                    <a:lumMod val="75000"/>
                  </a:schemeClr>
                </a:solidFill>
                <a:latin typeface="Calibri" pitchFamily="34" charset="0"/>
                <a:ea typeface="Calibri" pitchFamily="34" charset="-122"/>
                <a:cs typeface="Calibri" pitchFamily="34" charset="-120"/>
              </a:rPr>
              <a:t>ms</a:t>
            </a:r>
            <a:endParaRPr lang="en-US" sz="2000" dirty="0">
              <a:solidFill>
                <a:schemeClr val="accent4">
                  <a:lumMod val="75000"/>
                </a:schemeClr>
              </a:solidFill>
            </a:endParaRPr>
          </a:p>
        </p:txBody>
      </p:sp>
      <p:sp>
        <p:nvSpPr>
          <p:cNvPr id="13" name="Text 9">
            <a:extLst>
              <a:ext uri="{FF2B5EF4-FFF2-40B4-BE49-F238E27FC236}">
                <a16:creationId xmlns:a16="http://schemas.microsoft.com/office/drawing/2014/main" id="{6DB74013-9A32-9B66-80B7-BC793710F47A}"/>
              </a:ext>
            </a:extLst>
          </p:cNvPr>
          <p:cNvSpPr/>
          <p:nvPr/>
        </p:nvSpPr>
        <p:spPr>
          <a:xfrm>
            <a:off x="8124259" y="3018312"/>
            <a:ext cx="1934141" cy="566928"/>
          </a:xfrm>
          <a:prstGeom prst="rect">
            <a:avLst/>
          </a:prstGeom>
          <a:noFill/>
          <a:ln/>
        </p:spPr>
        <p:txBody>
          <a:bodyPr wrap="square" rtlCol="0" anchor="ctr"/>
          <a:lstStyle/>
          <a:p>
            <a:r>
              <a:rPr lang="en-US" b="1" i="1" dirty="0">
                <a:solidFill>
                  <a:schemeClr val="accent5">
                    <a:lumMod val="50000"/>
                  </a:schemeClr>
                </a:solidFill>
              </a:rPr>
              <a:t>NLU (keywords) </a:t>
            </a:r>
            <a:endParaRPr lang="en-US" sz="1400" b="1" i="1" dirty="0">
              <a:solidFill>
                <a:schemeClr val="accent5">
                  <a:lumMod val="50000"/>
                </a:schemeClr>
              </a:solidFill>
            </a:endParaRPr>
          </a:p>
        </p:txBody>
      </p:sp>
      <p:sp>
        <p:nvSpPr>
          <p:cNvPr id="14" name="Shape 7">
            <a:extLst>
              <a:ext uri="{FF2B5EF4-FFF2-40B4-BE49-F238E27FC236}">
                <a16:creationId xmlns:a16="http://schemas.microsoft.com/office/drawing/2014/main" id="{97085758-5190-FD9A-03C8-D961FC4E6224}"/>
              </a:ext>
            </a:extLst>
          </p:cNvPr>
          <p:cNvSpPr/>
          <p:nvPr/>
        </p:nvSpPr>
        <p:spPr>
          <a:xfrm>
            <a:off x="6706939" y="4445311"/>
            <a:ext cx="3541176" cy="745334"/>
          </a:xfrm>
          <a:prstGeom prst="rect">
            <a:avLst/>
          </a:prstGeom>
          <a:solidFill>
            <a:schemeClr val="accent4">
              <a:lumMod val="40000"/>
              <a:lumOff val="60000"/>
            </a:schemeClr>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15" name="Text 8">
            <a:extLst>
              <a:ext uri="{FF2B5EF4-FFF2-40B4-BE49-F238E27FC236}">
                <a16:creationId xmlns:a16="http://schemas.microsoft.com/office/drawing/2014/main" id="{8CE002FD-2F7A-6F71-2426-141D124EEC4F}"/>
              </a:ext>
            </a:extLst>
          </p:cNvPr>
          <p:cNvSpPr/>
          <p:nvPr/>
        </p:nvSpPr>
        <p:spPr>
          <a:xfrm>
            <a:off x="6840127" y="4529503"/>
            <a:ext cx="1280160" cy="566928"/>
          </a:xfrm>
          <a:prstGeom prst="rect">
            <a:avLst/>
          </a:prstGeom>
          <a:noFill/>
          <a:ln/>
        </p:spPr>
        <p:txBody>
          <a:bodyPr wrap="square" rtlCol="0" anchor="ctr"/>
          <a:lstStyle/>
          <a:p>
            <a:pPr marL="0" indent="0">
              <a:buNone/>
            </a:pPr>
            <a:r>
              <a:rPr lang="en-US" sz="2000" b="1" dirty="0">
                <a:solidFill>
                  <a:schemeClr val="accent4">
                    <a:lumMod val="75000"/>
                  </a:schemeClr>
                </a:solidFill>
              </a:rPr>
              <a:t>~2,060 </a:t>
            </a:r>
            <a:r>
              <a:rPr lang="en-US" sz="2000" b="1" dirty="0" err="1">
                <a:solidFill>
                  <a:schemeClr val="accent4">
                    <a:lumMod val="75000"/>
                  </a:schemeClr>
                </a:solidFill>
              </a:rPr>
              <a:t>ms</a:t>
            </a:r>
            <a:endParaRPr lang="en-US" sz="2000" b="1" dirty="0">
              <a:solidFill>
                <a:schemeClr val="accent4">
                  <a:lumMod val="75000"/>
                </a:schemeClr>
              </a:solidFill>
            </a:endParaRPr>
          </a:p>
        </p:txBody>
      </p:sp>
      <p:sp>
        <p:nvSpPr>
          <p:cNvPr id="16" name="Text 9">
            <a:extLst>
              <a:ext uri="{FF2B5EF4-FFF2-40B4-BE49-F238E27FC236}">
                <a16:creationId xmlns:a16="http://schemas.microsoft.com/office/drawing/2014/main" id="{79FA8351-2EAB-EDA7-90D2-065D3469840B}"/>
              </a:ext>
            </a:extLst>
          </p:cNvPr>
          <p:cNvSpPr/>
          <p:nvPr/>
        </p:nvSpPr>
        <p:spPr>
          <a:xfrm>
            <a:off x="8124259" y="4544193"/>
            <a:ext cx="1934141" cy="566928"/>
          </a:xfrm>
          <a:prstGeom prst="rect">
            <a:avLst/>
          </a:prstGeom>
          <a:noFill/>
          <a:ln/>
        </p:spPr>
        <p:txBody>
          <a:bodyPr wrap="square" rtlCol="0" anchor="ctr"/>
          <a:lstStyle/>
          <a:p>
            <a:r>
              <a:rPr lang="en-US" b="1" i="1" dirty="0">
                <a:solidFill>
                  <a:schemeClr val="accent5">
                    <a:lumMod val="50000"/>
                  </a:schemeClr>
                </a:solidFill>
              </a:rPr>
              <a:t>Backend</a:t>
            </a:r>
          </a:p>
        </p:txBody>
      </p:sp>
      <p:sp>
        <p:nvSpPr>
          <p:cNvPr id="17" name="Text 8">
            <a:extLst>
              <a:ext uri="{FF2B5EF4-FFF2-40B4-BE49-F238E27FC236}">
                <a16:creationId xmlns:a16="http://schemas.microsoft.com/office/drawing/2014/main" id="{721FC44F-C872-7018-976E-7D4D9D1C1E00}"/>
              </a:ext>
            </a:extLst>
          </p:cNvPr>
          <p:cNvSpPr/>
          <p:nvPr/>
        </p:nvSpPr>
        <p:spPr>
          <a:xfrm>
            <a:off x="6840127" y="3570550"/>
            <a:ext cx="1280160" cy="566928"/>
          </a:xfrm>
          <a:prstGeom prst="rect">
            <a:avLst/>
          </a:prstGeom>
          <a:noFill/>
          <a:ln/>
        </p:spPr>
        <p:txBody>
          <a:bodyPr wrap="square" rtlCol="0" anchor="ctr"/>
          <a:lstStyle/>
          <a:p>
            <a:pPr marL="0" indent="0">
              <a:buNone/>
            </a:pPr>
            <a:r>
              <a:rPr lang="en-US" sz="2000" b="1" dirty="0">
                <a:solidFill>
                  <a:schemeClr val="accent4">
                    <a:lumMod val="75000"/>
                  </a:schemeClr>
                </a:solidFill>
                <a:latin typeface="Calibri" pitchFamily="34" charset="0"/>
                <a:ea typeface="Calibri" pitchFamily="34" charset="-122"/>
                <a:cs typeface="Calibri" pitchFamily="34" charset="-120"/>
              </a:rPr>
              <a:t>~60 </a:t>
            </a:r>
            <a:r>
              <a:rPr lang="en-US" sz="2000" b="1" dirty="0" err="1">
                <a:solidFill>
                  <a:schemeClr val="accent4">
                    <a:lumMod val="75000"/>
                  </a:schemeClr>
                </a:solidFill>
                <a:latin typeface="Calibri" pitchFamily="34" charset="0"/>
                <a:ea typeface="Calibri" pitchFamily="34" charset="-122"/>
                <a:cs typeface="Calibri" pitchFamily="34" charset="-120"/>
              </a:rPr>
              <a:t>ms</a:t>
            </a:r>
            <a:endParaRPr lang="en-US" sz="2000" dirty="0">
              <a:solidFill>
                <a:schemeClr val="accent4">
                  <a:lumMod val="75000"/>
                </a:schemeClr>
              </a:solidFill>
            </a:endParaRPr>
          </a:p>
        </p:txBody>
      </p:sp>
      <p:sp>
        <p:nvSpPr>
          <p:cNvPr id="18" name="Text 9">
            <a:extLst>
              <a:ext uri="{FF2B5EF4-FFF2-40B4-BE49-F238E27FC236}">
                <a16:creationId xmlns:a16="http://schemas.microsoft.com/office/drawing/2014/main" id="{A6794C6A-160B-FD60-1CE1-570E6EC518D1}"/>
              </a:ext>
            </a:extLst>
          </p:cNvPr>
          <p:cNvSpPr/>
          <p:nvPr/>
        </p:nvSpPr>
        <p:spPr>
          <a:xfrm>
            <a:off x="8124259" y="3585240"/>
            <a:ext cx="1934141" cy="566928"/>
          </a:xfrm>
          <a:prstGeom prst="rect">
            <a:avLst/>
          </a:prstGeom>
          <a:noFill/>
          <a:ln/>
        </p:spPr>
        <p:txBody>
          <a:bodyPr wrap="square" rtlCol="0" anchor="ctr"/>
          <a:lstStyle/>
          <a:p>
            <a:r>
              <a:rPr lang="en-US" b="1" i="1" dirty="0">
                <a:solidFill>
                  <a:schemeClr val="accent5">
                    <a:lumMod val="50000"/>
                  </a:schemeClr>
                </a:solidFill>
              </a:rPr>
              <a:t>NLU (</a:t>
            </a:r>
            <a:r>
              <a:rPr lang="en-US" b="1" i="1" dirty="0" err="1">
                <a:solidFill>
                  <a:schemeClr val="accent5">
                    <a:lumMod val="50000"/>
                  </a:schemeClr>
                </a:solidFill>
              </a:rPr>
              <a:t>MobileBERT</a:t>
            </a:r>
            <a:r>
              <a:rPr lang="en-US" b="1" i="1" dirty="0">
                <a:solidFill>
                  <a:schemeClr val="accent5">
                    <a:lumMod val="50000"/>
                  </a:schemeClr>
                </a:solidFill>
              </a:rPr>
              <a:t>) </a:t>
            </a:r>
            <a:endParaRPr lang="en-US" sz="1400" b="1" i="1" dirty="0">
              <a:solidFill>
                <a:schemeClr val="accent5">
                  <a:lumMod val="50000"/>
                </a:schemeClr>
              </a:solidFill>
            </a:endParaRPr>
          </a:p>
        </p:txBody>
      </p:sp>
      <p:sp>
        <p:nvSpPr>
          <p:cNvPr id="19" name="Shape 7">
            <a:extLst>
              <a:ext uri="{FF2B5EF4-FFF2-40B4-BE49-F238E27FC236}">
                <a16:creationId xmlns:a16="http://schemas.microsoft.com/office/drawing/2014/main" id="{65F1DB93-4278-B481-B128-D7E5073428B2}"/>
              </a:ext>
            </a:extLst>
          </p:cNvPr>
          <p:cNvSpPr/>
          <p:nvPr/>
        </p:nvSpPr>
        <p:spPr>
          <a:xfrm>
            <a:off x="6706939" y="5274837"/>
            <a:ext cx="3541176" cy="745334"/>
          </a:xfrm>
          <a:prstGeom prst="rect">
            <a:avLst/>
          </a:prstGeom>
          <a:solidFill>
            <a:schemeClr val="accent2">
              <a:lumMod val="60000"/>
              <a:lumOff val="40000"/>
            </a:schemeClr>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20" name="Text 8">
            <a:extLst>
              <a:ext uri="{FF2B5EF4-FFF2-40B4-BE49-F238E27FC236}">
                <a16:creationId xmlns:a16="http://schemas.microsoft.com/office/drawing/2014/main" id="{1B387FF0-53D1-9640-F9B7-768B5310B258}"/>
              </a:ext>
            </a:extLst>
          </p:cNvPr>
          <p:cNvSpPr/>
          <p:nvPr/>
        </p:nvSpPr>
        <p:spPr>
          <a:xfrm>
            <a:off x="6836155" y="5360708"/>
            <a:ext cx="1280160" cy="566928"/>
          </a:xfrm>
          <a:prstGeom prst="rect">
            <a:avLst/>
          </a:prstGeom>
          <a:noFill/>
          <a:ln/>
        </p:spPr>
        <p:txBody>
          <a:bodyPr wrap="square" rtlCol="0" anchor="ctr"/>
          <a:lstStyle/>
          <a:p>
            <a:pPr marL="0" indent="0">
              <a:buNone/>
            </a:pPr>
            <a:r>
              <a:rPr lang="en-US" sz="2000" b="1" dirty="0">
                <a:solidFill>
                  <a:schemeClr val="accent4">
                    <a:lumMod val="75000"/>
                  </a:schemeClr>
                </a:solidFill>
              </a:rPr>
              <a:t>~316 </a:t>
            </a:r>
            <a:r>
              <a:rPr lang="en-US" sz="2000" b="1" dirty="0" err="1">
                <a:solidFill>
                  <a:schemeClr val="accent4">
                    <a:lumMod val="75000"/>
                  </a:schemeClr>
                </a:solidFill>
              </a:rPr>
              <a:t>ms</a:t>
            </a:r>
            <a:endParaRPr lang="en-US" sz="2000" b="1" dirty="0">
              <a:solidFill>
                <a:schemeClr val="accent4">
                  <a:lumMod val="75000"/>
                </a:schemeClr>
              </a:solidFill>
            </a:endParaRPr>
          </a:p>
        </p:txBody>
      </p:sp>
      <p:sp>
        <p:nvSpPr>
          <p:cNvPr id="21" name="Text 9">
            <a:extLst>
              <a:ext uri="{FF2B5EF4-FFF2-40B4-BE49-F238E27FC236}">
                <a16:creationId xmlns:a16="http://schemas.microsoft.com/office/drawing/2014/main" id="{C4C2FFC1-5BFC-5DA0-A367-B269BF738089}"/>
              </a:ext>
            </a:extLst>
          </p:cNvPr>
          <p:cNvSpPr/>
          <p:nvPr/>
        </p:nvSpPr>
        <p:spPr>
          <a:xfrm>
            <a:off x="8120287" y="5375398"/>
            <a:ext cx="1934141" cy="566928"/>
          </a:xfrm>
          <a:prstGeom prst="rect">
            <a:avLst/>
          </a:prstGeom>
          <a:noFill/>
          <a:ln/>
        </p:spPr>
        <p:txBody>
          <a:bodyPr wrap="square" rtlCol="0" anchor="ctr"/>
          <a:lstStyle/>
          <a:p>
            <a:r>
              <a:rPr lang="en-US" b="1" i="1" dirty="0">
                <a:solidFill>
                  <a:schemeClr val="accent5">
                    <a:lumMod val="50000"/>
                  </a:schemeClr>
                </a:solidFill>
              </a:rPr>
              <a:t>TTS</a:t>
            </a:r>
          </a:p>
        </p:txBody>
      </p:sp>
      <p:pic>
        <p:nvPicPr>
          <p:cNvPr id="22" name="Picture 21">
            <a:extLst>
              <a:ext uri="{FF2B5EF4-FFF2-40B4-BE49-F238E27FC236}">
                <a16:creationId xmlns:a16="http://schemas.microsoft.com/office/drawing/2014/main" id="{3FDBCE8D-4480-30AA-E897-99F8FD1EC8AB}"/>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4115605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D930B8AA-CD96-9C7C-073E-187661D9821E}"/>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129DAB1B-A93C-5675-0A13-BA4774F0C5D7}"/>
              </a:ext>
            </a:extLst>
          </p:cNvPr>
          <p:cNvSpPr>
            <a:spLocks noGrp="1"/>
          </p:cNvSpPr>
          <p:nvPr>
            <p:ph type="title"/>
          </p:nvPr>
        </p:nvSpPr>
        <p:spPr>
          <a:xfrm>
            <a:off x="516924" y="241557"/>
            <a:ext cx="10515600" cy="697865"/>
          </a:xfrm>
        </p:spPr>
        <p:txBody>
          <a:bodyPr/>
          <a:lstStyle/>
          <a:p>
            <a:r>
              <a:rPr lang="en-US" dirty="0"/>
              <a:t>Analysis - Cost-Effectiveness</a:t>
            </a:r>
          </a:p>
        </p:txBody>
      </p:sp>
      <p:graphicFrame>
        <p:nvGraphicFramePr>
          <p:cNvPr id="4" name="Table 3">
            <a:extLst>
              <a:ext uri="{FF2B5EF4-FFF2-40B4-BE49-F238E27FC236}">
                <a16:creationId xmlns:a16="http://schemas.microsoft.com/office/drawing/2014/main" id="{9DD96871-BB76-4828-B8BE-EFFB27D6C90E}"/>
              </a:ext>
            </a:extLst>
          </p:cNvPr>
          <p:cNvGraphicFramePr>
            <a:graphicFrameLocks noGrp="1"/>
          </p:cNvGraphicFramePr>
          <p:nvPr>
            <p:extLst>
              <p:ext uri="{D42A27DB-BD31-4B8C-83A1-F6EECF244321}">
                <p14:modId xmlns:p14="http://schemas.microsoft.com/office/powerpoint/2010/main" val="3350763030"/>
              </p:ext>
            </p:extLst>
          </p:nvPr>
        </p:nvGraphicFramePr>
        <p:xfrm>
          <a:off x="635000" y="1524000"/>
          <a:ext cx="10922000" cy="2349500"/>
        </p:xfrm>
        <a:graphic>
          <a:graphicData uri="http://schemas.openxmlformats.org/drawingml/2006/table">
            <a:tbl>
              <a:tblPr firstRow="1" bandRow="1">
                <a:tableStyleId>{5C22544A-7EE6-4342-B048-85BDC9FD1C3A}</a:tableStyleId>
              </a:tblPr>
              <a:tblGrid>
                <a:gridCol w="2730500">
                  <a:extLst>
                    <a:ext uri="{9D8B030D-6E8A-4147-A177-3AD203B41FA5}">
                      <a16:colId xmlns:a16="http://schemas.microsoft.com/office/drawing/2014/main" val="3489851340"/>
                    </a:ext>
                  </a:extLst>
                </a:gridCol>
                <a:gridCol w="2730500">
                  <a:extLst>
                    <a:ext uri="{9D8B030D-6E8A-4147-A177-3AD203B41FA5}">
                      <a16:colId xmlns:a16="http://schemas.microsoft.com/office/drawing/2014/main" val="3819073788"/>
                    </a:ext>
                  </a:extLst>
                </a:gridCol>
                <a:gridCol w="2730500">
                  <a:extLst>
                    <a:ext uri="{9D8B030D-6E8A-4147-A177-3AD203B41FA5}">
                      <a16:colId xmlns:a16="http://schemas.microsoft.com/office/drawing/2014/main" val="3959331852"/>
                    </a:ext>
                  </a:extLst>
                </a:gridCol>
                <a:gridCol w="2730500">
                  <a:extLst>
                    <a:ext uri="{9D8B030D-6E8A-4147-A177-3AD203B41FA5}">
                      <a16:colId xmlns:a16="http://schemas.microsoft.com/office/drawing/2014/main" val="1071550899"/>
                    </a:ext>
                  </a:extLst>
                </a:gridCol>
              </a:tblGrid>
              <a:tr h="469900">
                <a:tc>
                  <a:txBody>
                    <a:bodyPr/>
                    <a:lstStyle/>
                    <a:p>
                      <a:pPr algn="ctr"/>
                      <a:r>
                        <a:rPr lang="en-US" sz="1800" b="1">
                          <a:solidFill>
                            <a:srgbClr val="FFFFFF"/>
                          </a:solidFill>
                          <a:latin typeface="Calibri"/>
                          <a:ea typeface="Calibri"/>
                          <a:cs typeface="Calibri"/>
                        </a:rPr>
                        <a:t>Cost Item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C5F7C"/>
                    </a:solidFill>
                  </a:tcPr>
                </a:tc>
                <a:tc>
                  <a:txBody>
                    <a:bodyPr/>
                    <a:lstStyle/>
                    <a:p>
                      <a:pPr algn="ctr"/>
                      <a:r>
                        <a:rPr lang="en-US" sz="1800" b="1" dirty="0">
                          <a:solidFill>
                            <a:srgbClr val="FFFFFF"/>
                          </a:solidFill>
                          <a:latin typeface="Calibri"/>
                          <a:ea typeface="Calibri"/>
                          <a:cs typeface="Calibri"/>
                        </a:rPr>
                        <a:t>This System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C5F7C"/>
                    </a:solidFill>
                  </a:tcPr>
                </a:tc>
                <a:tc>
                  <a:txBody>
                    <a:bodyPr/>
                    <a:lstStyle/>
                    <a:p>
                      <a:pPr algn="ctr"/>
                      <a:r>
                        <a:rPr lang="en-US" sz="1800" b="1">
                          <a:solidFill>
                            <a:srgbClr val="FFFFFF"/>
                          </a:solidFill>
                          <a:latin typeface="Calibri"/>
                          <a:ea typeface="Calibri"/>
                          <a:cs typeface="Calibri"/>
                        </a:rPr>
                        <a:t>Cloud STT (Google)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C5F7C"/>
                    </a:solidFill>
                  </a:tcPr>
                </a:tc>
                <a:tc>
                  <a:txBody>
                    <a:bodyPr/>
                    <a:lstStyle/>
                    <a:p>
                      <a:pPr algn="ctr"/>
                      <a:r>
                        <a:rPr lang="en-US" sz="1800" b="1">
                          <a:solidFill>
                            <a:srgbClr val="FFFFFF"/>
                          </a:solidFill>
                          <a:latin typeface="Calibri"/>
                          <a:ea typeface="Calibri"/>
                          <a:cs typeface="Calibri"/>
                        </a:rPr>
                        <a:t>Commercial (Alexa)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C5F7C"/>
                    </a:solidFill>
                  </a:tcPr>
                </a:tc>
                <a:extLst>
                  <a:ext uri="{0D108BD9-81ED-4DB2-BD59-A6C34878D82A}">
                    <a16:rowId xmlns:a16="http://schemas.microsoft.com/office/drawing/2014/main" val="2774301109"/>
                  </a:ext>
                </a:extLst>
              </a:tr>
              <a:tr h="469900">
                <a:tc>
                  <a:txBody>
                    <a:bodyPr/>
                    <a:lstStyle/>
                    <a:p>
                      <a:pPr algn="l"/>
                      <a:r>
                        <a:rPr lang="en-US" sz="1800">
                          <a:solidFill>
                            <a:srgbClr val="1B2A4A"/>
                          </a:solidFill>
                          <a:latin typeface="Calibri"/>
                          <a:ea typeface="Calibri"/>
                          <a:cs typeface="Calibri"/>
                        </a:rPr>
                        <a:t>Hardware (50 tablets)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r>
                        <a:rPr lang="en-US" sz="1800">
                          <a:solidFill>
                            <a:srgbClr val="1B2A4A"/>
                          </a:solidFill>
                          <a:latin typeface="Calibri"/>
                          <a:ea typeface="Calibri"/>
                          <a:cs typeface="Calibri"/>
                        </a:rPr>
                        <a:t>$2,500–$7,500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r>
                        <a:rPr lang="en-US" sz="1800">
                          <a:solidFill>
                            <a:srgbClr val="1B2A4A"/>
                          </a:solidFill>
                          <a:latin typeface="Calibri"/>
                          <a:ea typeface="Calibri"/>
                          <a:cs typeface="Calibri"/>
                        </a:rPr>
                        <a:t>$2,500–$7,500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r>
                        <a:rPr lang="en-US" sz="1800">
                          <a:solidFill>
                            <a:srgbClr val="1B2A4A"/>
                          </a:solidFill>
                          <a:latin typeface="Calibri"/>
                          <a:ea typeface="Calibri"/>
                          <a:cs typeface="Calibri"/>
                        </a:rPr>
                        <a:t>$5,000–$10,000+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3617666579"/>
                  </a:ext>
                </a:extLst>
              </a:tr>
              <a:tr h="469900">
                <a:tc>
                  <a:txBody>
                    <a:bodyPr/>
                    <a:lstStyle/>
                    <a:p>
                      <a:pPr algn="l"/>
                      <a:r>
                        <a:rPr lang="en-US" sz="1800">
                          <a:solidFill>
                            <a:srgbClr val="1B2A4A"/>
                          </a:solidFill>
                          <a:latin typeface="Calibri"/>
                          <a:ea typeface="Calibri"/>
                          <a:cs typeface="Calibri"/>
                        </a:rPr>
                        <a:t>Server + Network + UPS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0EDE6"/>
                    </a:solidFill>
                  </a:tcPr>
                </a:tc>
                <a:tc>
                  <a:txBody>
                    <a:bodyPr/>
                    <a:lstStyle/>
                    <a:p>
                      <a:pPr algn="ctr"/>
                      <a:r>
                        <a:rPr lang="en-US" sz="1800">
                          <a:solidFill>
                            <a:srgbClr val="1B2A4A"/>
                          </a:solidFill>
                          <a:latin typeface="Calibri"/>
                          <a:ea typeface="Calibri"/>
                          <a:cs typeface="Calibri"/>
                        </a:rPr>
                        <a:t>$720–$1,300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0EDE6"/>
                    </a:solidFill>
                  </a:tcPr>
                </a:tc>
                <a:tc>
                  <a:txBody>
                    <a:bodyPr/>
                    <a:lstStyle/>
                    <a:p>
                      <a:pPr algn="ctr"/>
                      <a:r>
                        <a:rPr lang="en-US" sz="1800">
                          <a:solidFill>
                            <a:srgbClr val="1B2A4A"/>
                          </a:solidFill>
                          <a:latin typeface="Calibri"/>
                          <a:ea typeface="Calibri"/>
                          <a:cs typeface="Calibri"/>
                        </a:rPr>
                        <a:t>$720–$1,300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0EDE6"/>
                    </a:solidFill>
                  </a:tcPr>
                </a:tc>
                <a:tc>
                  <a:txBody>
                    <a:bodyPr/>
                    <a:lstStyle/>
                    <a:p>
                      <a:pPr algn="ctr"/>
                      <a:r>
                        <a:rPr lang="en-US" sz="1800">
                          <a:solidFill>
                            <a:srgbClr val="1B2A4A"/>
                          </a:solidFill>
                          <a:latin typeface="Calibri"/>
                          <a:ea typeface="Calibri"/>
                          <a:cs typeface="Calibri"/>
                        </a:rPr>
                        <a:t>Cloud-hosted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0EDE6"/>
                    </a:solidFill>
                  </a:tcPr>
                </a:tc>
                <a:extLst>
                  <a:ext uri="{0D108BD9-81ED-4DB2-BD59-A6C34878D82A}">
                    <a16:rowId xmlns:a16="http://schemas.microsoft.com/office/drawing/2014/main" val="3210907233"/>
                  </a:ext>
                </a:extLst>
              </a:tr>
              <a:tr h="469900">
                <a:tc>
                  <a:txBody>
                    <a:bodyPr/>
                    <a:lstStyle/>
                    <a:p>
                      <a:pPr algn="l"/>
                      <a:r>
                        <a:rPr lang="en-US" sz="1800" dirty="0">
                          <a:solidFill>
                            <a:srgbClr val="1B2A4A"/>
                          </a:solidFill>
                          <a:latin typeface="Calibri"/>
                          <a:ea typeface="Calibri"/>
                          <a:cs typeface="Calibri"/>
                        </a:rPr>
                        <a:t>Software / API (3 yr)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r>
                        <a:rPr lang="en-US" sz="1800">
                          <a:solidFill>
                            <a:srgbClr val="1B2A4A"/>
                          </a:solidFill>
                          <a:latin typeface="Calibri"/>
                          <a:ea typeface="Calibri"/>
                          <a:cs typeface="Calibri"/>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r>
                        <a:rPr lang="en-US" sz="1800">
                          <a:solidFill>
                            <a:srgbClr val="1B2A4A"/>
                          </a:solidFill>
                          <a:latin typeface="Calibri"/>
                          <a:ea typeface="Calibri"/>
                          <a:cs typeface="Calibri"/>
                        </a:rPr>
                        <a:t>$1,095–$2,200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r>
                        <a:rPr lang="en-US" sz="1800">
                          <a:solidFill>
                            <a:srgbClr val="1B2A4A"/>
                          </a:solidFill>
                          <a:latin typeface="Calibri"/>
                          <a:ea typeface="Calibri"/>
                          <a:cs typeface="Calibri"/>
                        </a:rPr>
                        <a:t>Proprietary terms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3363749373"/>
                  </a:ext>
                </a:extLst>
              </a:tr>
              <a:tr h="469900">
                <a:tc>
                  <a:txBody>
                    <a:bodyPr/>
                    <a:lstStyle/>
                    <a:p>
                      <a:pPr algn="l"/>
                      <a:r>
                        <a:rPr lang="en-US" sz="1800" b="1">
                          <a:solidFill>
                            <a:srgbClr val="1B2A4A"/>
                          </a:solidFill>
                          <a:latin typeface="Calibri"/>
                          <a:ea typeface="Calibri"/>
                          <a:cs typeface="Calibri"/>
                        </a:rPr>
                        <a:t>Estimated 3-Year Total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8E4DC"/>
                    </a:solidFill>
                  </a:tcPr>
                </a:tc>
                <a:tc>
                  <a:txBody>
                    <a:bodyPr/>
                    <a:lstStyle/>
                    <a:p>
                      <a:pPr algn="ctr"/>
                      <a:r>
                        <a:rPr lang="en-US" sz="1800" b="1">
                          <a:solidFill>
                            <a:srgbClr val="6B8F71"/>
                          </a:solidFill>
                          <a:latin typeface="Calibri"/>
                          <a:ea typeface="Calibri"/>
                          <a:cs typeface="Calibri"/>
                        </a:rPr>
                        <a:t>$3,220–$8,800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8E4DC"/>
                    </a:solidFill>
                  </a:tcPr>
                </a:tc>
                <a:tc>
                  <a:txBody>
                    <a:bodyPr/>
                    <a:lstStyle/>
                    <a:p>
                      <a:pPr algn="ctr"/>
                      <a:r>
                        <a:rPr lang="en-US" sz="1800" b="1">
                          <a:solidFill>
                            <a:srgbClr val="1B2A4A"/>
                          </a:solidFill>
                          <a:latin typeface="Calibri"/>
                          <a:ea typeface="Calibri"/>
                          <a:cs typeface="Calibri"/>
                        </a:rPr>
                        <a:t>$4,315–$11,000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8E4DC"/>
                    </a:solidFill>
                  </a:tcPr>
                </a:tc>
                <a:tc>
                  <a:txBody>
                    <a:bodyPr/>
                    <a:lstStyle/>
                    <a:p>
                      <a:pPr algn="ctr"/>
                      <a:r>
                        <a:rPr lang="en-US" sz="1800" b="1" dirty="0">
                          <a:solidFill>
                            <a:srgbClr val="1B2A4A"/>
                          </a:solidFill>
                          <a:latin typeface="Calibri"/>
                          <a:ea typeface="Calibri"/>
                          <a:cs typeface="Calibri"/>
                        </a:rPr>
                        <a:t>Significantly higher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8E4DC"/>
                    </a:solidFill>
                  </a:tcPr>
                </a:tc>
                <a:extLst>
                  <a:ext uri="{0D108BD9-81ED-4DB2-BD59-A6C34878D82A}">
                    <a16:rowId xmlns:a16="http://schemas.microsoft.com/office/drawing/2014/main" val="3447345922"/>
                  </a:ext>
                </a:extLst>
              </a:tr>
            </a:tbl>
          </a:graphicData>
        </a:graphic>
      </p:graphicFrame>
      <p:sp>
        <p:nvSpPr>
          <p:cNvPr id="5" name="TextBox 4">
            <a:extLst>
              <a:ext uri="{FF2B5EF4-FFF2-40B4-BE49-F238E27FC236}">
                <a16:creationId xmlns:a16="http://schemas.microsoft.com/office/drawing/2014/main" id="{54CB8F8E-109F-4C25-AB18-4E0DB35A09FE}"/>
              </a:ext>
            </a:extLst>
          </p:cNvPr>
          <p:cNvSpPr txBox="1"/>
          <p:nvPr/>
        </p:nvSpPr>
        <p:spPr>
          <a:xfrm>
            <a:off x="635000" y="4155748"/>
            <a:ext cx="11264232" cy="2200602"/>
          </a:xfrm>
          <a:prstGeom prst="rect">
            <a:avLst/>
          </a:prstGeom>
          <a:noFill/>
        </p:spPr>
        <p:txBody>
          <a:bodyPr vertOverflow="overflow" vert="horz" wrap="square" rtlCol="0" anchor="t">
            <a:spAutoFit/>
          </a:bodyPr>
          <a:lstStyle/>
          <a:p>
            <a:pPr marL="0" indent="0">
              <a:buNone/>
            </a:pPr>
            <a:r>
              <a:rPr lang="en-US" sz="2200" b="1" dirty="0">
                <a:solidFill>
                  <a:srgbClr val="2C5F7C"/>
                </a:solidFill>
              </a:rPr>
              <a:t>Key Cost Advantages</a:t>
            </a:r>
          </a:p>
          <a:p>
            <a:pPr marL="0" indent="0">
              <a:buNone/>
            </a:pPr>
            <a:endParaRPr lang="en-US" sz="2200" b="1" dirty="0">
              <a:solidFill>
                <a:srgbClr val="2C5F7C"/>
              </a:solidFill>
            </a:endParaRPr>
          </a:p>
          <a:p>
            <a:pPr marL="228600" indent="-228600">
              <a:spcAft>
                <a:spcPts val="200"/>
              </a:spcAft>
              <a:buFont typeface="Arial"/>
              <a:buChar char="•"/>
            </a:pPr>
            <a:r>
              <a:rPr lang="en-US" sz="2200" b="1" dirty="0">
                <a:solidFill>
                  <a:srgbClr val="1B2A4A"/>
                </a:solidFill>
                <a:latin typeface="Calibri"/>
              </a:rPr>
              <a:t>$21–$59 per room per year -</a:t>
            </a:r>
            <a:r>
              <a:rPr lang="en-US" sz="2200" dirty="0">
                <a:solidFill>
                  <a:srgbClr val="1B2A4A"/>
                </a:solidFill>
                <a:latin typeface="Calibri"/>
              </a:rPr>
              <a:t> over 3 years (50-room hotel)</a:t>
            </a:r>
          </a:p>
          <a:p>
            <a:pPr marL="228600" indent="-228600">
              <a:spcAft>
                <a:spcPts val="200"/>
              </a:spcAft>
              <a:buFont typeface="Arial"/>
              <a:buChar char="•"/>
            </a:pPr>
            <a:r>
              <a:rPr lang="en-US" sz="2200" b="1" dirty="0">
                <a:solidFill>
                  <a:srgbClr val="1B2A4A"/>
                </a:solidFill>
                <a:latin typeface="Calibri"/>
              </a:rPr>
              <a:t>Zero recurring software costs</a:t>
            </a:r>
            <a:r>
              <a:rPr lang="en-US" sz="2200" dirty="0">
                <a:solidFill>
                  <a:srgbClr val="1B2A4A"/>
                </a:solidFill>
                <a:latin typeface="Calibri"/>
              </a:rPr>
              <a:t> - 100% open-source, no per-request or subscription billing</a:t>
            </a:r>
          </a:p>
          <a:p>
            <a:pPr marL="228600" indent="-228600">
              <a:spcAft>
                <a:spcPts val="200"/>
              </a:spcAft>
              <a:buFont typeface="Arial"/>
              <a:buChar char="•"/>
            </a:pPr>
            <a:r>
              <a:rPr lang="en-US" sz="2200" b="1" dirty="0">
                <a:solidFill>
                  <a:srgbClr val="1B2A4A"/>
                </a:solidFill>
                <a:latin typeface="Calibri"/>
              </a:rPr>
              <a:t>Commodity hardware</a:t>
            </a:r>
            <a:r>
              <a:rPr lang="en-US" sz="2200" dirty="0">
                <a:solidFill>
                  <a:srgbClr val="1B2A4A"/>
                </a:solidFill>
                <a:latin typeface="Calibri"/>
              </a:rPr>
              <a:t> - Android tablets ($50–$150) from local retailers, locally repairable</a:t>
            </a:r>
          </a:p>
          <a:p>
            <a:pPr marL="228600" indent="-228600">
              <a:buFont typeface="Arial"/>
              <a:buChar char="•"/>
            </a:pPr>
            <a:r>
              <a:rPr lang="en-US" sz="2200" b="1" dirty="0">
                <a:solidFill>
                  <a:srgbClr val="1B2A4A"/>
                </a:solidFill>
                <a:latin typeface="Calibri"/>
              </a:rPr>
              <a:t>Market fit</a:t>
            </a:r>
            <a:r>
              <a:rPr lang="en-US" sz="2200" dirty="0">
                <a:solidFill>
                  <a:srgbClr val="1B2A4A"/>
                </a:solidFill>
                <a:latin typeface="Calibri"/>
              </a:rPr>
              <a:t> - within reach of Sri Lankan hotels (SLTDA, 2024)</a:t>
            </a:r>
          </a:p>
        </p:txBody>
      </p:sp>
      <p:sp>
        <p:nvSpPr>
          <p:cNvPr id="3" name="Slide Number Placeholder 2">
            <a:extLst>
              <a:ext uri="{FF2B5EF4-FFF2-40B4-BE49-F238E27FC236}">
                <a16:creationId xmlns:a16="http://schemas.microsoft.com/office/drawing/2014/main" id="{66D32FE0-0880-4155-1359-868C98442EA6}"/>
              </a:ext>
            </a:extLst>
          </p:cNvPr>
          <p:cNvSpPr>
            <a:spLocks noGrp="1"/>
          </p:cNvSpPr>
          <p:nvPr>
            <p:ph type="sldNum" sz="quarter" idx="12"/>
          </p:nvPr>
        </p:nvSpPr>
        <p:spPr/>
        <p:txBody>
          <a:bodyPr/>
          <a:lstStyle/>
          <a:p>
            <a:fld id="{9890CE2D-2882-48A4-88CB-3A003AF6C150}" type="slidenum">
              <a:rPr lang="en-US" smtClean="0"/>
              <a:t>15</a:t>
            </a:fld>
            <a:endParaRPr lang="en-US"/>
          </a:p>
        </p:txBody>
      </p:sp>
    </p:spTree>
    <p:extLst>
      <p:ext uri="{BB962C8B-B14F-4D97-AF65-F5344CB8AC3E}">
        <p14:creationId xmlns:p14="http://schemas.microsoft.com/office/powerpoint/2010/main" val="37538594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5" name="Picture 34">
            <a:extLst>
              <a:ext uri="{FF2B5EF4-FFF2-40B4-BE49-F238E27FC236}">
                <a16:creationId xmlns:a16="http://schemas.microsoft.com/office/drawing/2014/main" id="{D1D98421-2F81-9AD0-8F21-D7E48E81099D}"/>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3FF7C6EB-EB2D-F0D2-773E-C2549F87A8BC}"/>
              </a:ext>
            </a:extLst>
          </p:cNvPr>
          <p:cNvSpPr>
            <a:spLocks noGrp="1"/>
          </p:cNvSpPr>
          <p:nvPr>
            <p:ph type="title"/>
          </p:nvPr>
        </p:nvSpPr>
        <p:spPr>
          <a:xfrm>
            <a:off x="407738" y="117667"/>
            <a:ext cx="11036968" cy="937895"/>
          </a:xfrm>
        </p:spPr>
        <p:txBody>
          <a:bodyPr>
            <a:normAutofit/>
          </a:bodyPr>
          <a:lstStyle/>
          <a:p>
            <a:r>
              <a:rPr lang="en-US" dirty="0"/>
              <a:t>Critical Appraisal – Strengths &amp; Limitations</a:t>
            </a:r>
          </a:p>
        </p:txBody>
      </p:sp>
      <p:sp>
        <p:nvSpPr>
          <p:cNvPr id="4" name="Slide Number Placeholder 3">
            <a:extLst>
              <a:ext uri="{FF2B5EF4-FFF2-40B4-BE49-F238E27FC236}">
                <a16:creationId xmlns:a16="http://schemas.microsoft.com/office/drawing/2014/main" id="{F94DF623-70B9-0915-3546-3D9179F3BDD8}"/>
              </a:ext>
            </a:extLst>
          </p:cNvPr>
          <p:cNvSpPr>
            <a:spLocks noGrp="1"/>
          </p:cNvSpPr>
          <p:nvPr>
            <p:ph type="sldNum" sz="quarter" idx="12"/>
          </p:nvPr>
        </p:nvSpPr>
        <p:spPr>
          <a:xfrm>
            <a:off x="11597640" y="6172201"/>
            <a:ext cx="405063" cy="465054"/>
          </a:xfrm>
        </p:spPr>
        <p:txBody>
          <a:bodyPr/>
          <a:lstStyle/>
          <a:p>
            <a:fld id="{9890CE2D-2882-48A4-88CB-3A003AF6C150}" type="slidenum">
              <a:rPr lang="en-US" smtClean="0"/>
              <a:t>16</a:t>
            </a:fld>
            <a:endParaRPr lang="en-US" dirty="0"/>
          </a:p>
        </p:txBody>
      </p:sp>
      <p:sp>
        <p:nvSpPr>
          <p:cNvPr id="9" name="Shape 3">
            <a:extLst>
              <a:ext uri="{FF2B5EF4-FFF2-40B4-BE49-F238E27FC236}">
                <a16:creationId xmlns:a16="http://schemas.microsoft.com/office/drawing/2014/main" id="{2A8CECC8-364A-891C-88F6-5ECD0FAFBDE0}"/>
              </a:ext>
            </a:extLst>
          </p:cNvPr>
          <p:cNvSpPr/>
          <p:nvPr/>
        </p:nvSpPr>
        <p:spPr>
          <a:xfrm>
            <a:off x="733393" y="1303020"/>
            <a:ext cx="5175986" cy="4757407"/>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200"/>
          </a:p>
        </p:txBody>
      </p:sp>
      <p:sp>
        <p:nvSpPr>
          <p:cNvPr id="10" name="Shape 4">
            <a:extLst>
              <a:ext uri="{FF2B5EF4-FFF2-40B4-BE49-F238E27FC236}">
                <a16:creationId xmlns:a16="http://schemas.microsoft.com/office/drawing/2014/main" id="{B8E98346-7351-F459-8648-66CE939BA50B}"/>
              </a:ext>
            </a:extLst>
          </p:cNvPr>
          <p:cNvSpPr/>
          <p:nvPr/>
        </p:nvSpPr>
        <p:spPr>
          <a:xfrm>
            <a:off x="733393" y="1303020"/>
            <a:ext cx="5175986" cy="402365"/>
          </a:xfrm>
          <a:prstGeom prst="rect">
            <a:avLst/>
          </a:prstGeom>
          <a:solidFill>
            <a:srgbClr val="16A34A"/>
          </a:solidFill>
          <a:ln w="12700">
            <a:solidFill>
              <a:srgbClr val="FFFFFF"/>
            </a:solidFill>
            <a:prstDash val="solid"/>
          </a:ln>
        </p:spPr>
        <p:txBody>
          <a:bodyPr/>
          <a:lstStyle/>
          <a:p>
            <a:endParaRPr lang="en-US" sz="1400"/>
          </a:p>
        </p:txBody>
      </p:sp>
      <p:sp>
        <p:nvSpPr>
          <p:cNvPr id="11" name="Text 5">
            <a:extLst>
              <a:ext uri="{FF2B5EF4-FFF2-40B4-BE49-F238E27FC236}">
                <a16:creationId xmlns:a16="http://schemas.microsoft.com/office/drawing/2014/main" id="{FE1AA617-09E5-8997-4283-0F673BDAD4CA}"/>
              </a:ext>
            </a:extLst>
          </p:cNvPr>
          <p:cNvSpPr/>
          <p:nvPr/>
        </p:nvSpPr>
        <p:spPr>
          <a:xfrm>
            <a:off x="791877" y="1303020"/>
            <a:ext cx="5063465" cy="402365"/>
          </a:xfrm>
          <a:prstGeom prst="rect">
            <a:avLst/>
          </a:prstGeom>
          <a:noFill/>
          <a:ln/>
        </p:spPr>
        <p:txBody>
          <a:bodyPr wrap="square" rtlCol="0" anchor="ctr"/>
          <a:lstStyle/>
          <a:p>
            <a:pPr marL="0" indent="0">
              <a:buNone/>
            </a:pPr>
            <a:r>
              <a:rPr lang="en-US" sz="1400" b="1" dirty="0">
                <a:solidFill>
                  <a:srgbClr val="FFFFFF"/>
                </a:solidFill>
              </a:rPr>
              <a:t>✓  Strengths</a:t>
            </a:r>
            <a:endParaRPr lang="en-US" sz="1400" dirty="0"/>
          </a:p>
        </p:txBody>
      </p:sp>
      <p:sp>
        <p:nvSpPr>
          <p:cNvPr id="12" name="Text 6">
            <a:extLst>
              <a:ext uri="{FF2B5EF4-FFF2-40B4-BE49-F238E27FC236}">
                <a16:creationId xmlns:a16="http://schemas.microsoft.com/office/drawing/2014/main" id="{BFABE7F8-DF1D-B790-D580-079732FD4D1A}"/>
              </a:ext>
            </a:extLst>
          </p:cNvPr>
          <p:cNvSpPr/>
          <p:nvPr/>
        </p:nvSpPr>
        <p:spPr>
          <a:xfrm>
            <a:off x="908845" y="1796796"/>
            <a:ext cx="4838422" cy="229923"/>
          </a:xfrm>
          <a:prstGeom prst="rect">
            <a:avLst/>
          </a:prstGeom>
          <a:noFill/>
          <a:ln/>
        </p:spPr>
        <p:txBody>
          <a:bodyPr wrap="square" lIns="0" tIns="0" rIns="0" bIns="0" rtlCol="0" anchor="ctr"/>
          <a:lstStyle/>
          <a:p>
            <a:pPr marL="0" indent="0">
              <a:buNone/>
            </a:pPr>
            <a:r>
              <a:rPr lang="en-US" sz="1400" b="1" dirty="0">
                <a:solidFill>
                  <a:srgbClr val="16A34A"/>
                </a:solidFill>
                <a:latin typeface="Calibri" pitchFamily="34" charset="0"/>
                <a:ea typeface="Calibri" pitchFamily="34" charset="-122"/>
                <a:cs typeface="Calibri" pitchFamily="34" charset="-120"/>
              </a:rPr>
              <a:t>Quantified the accuracy gap</a:t>
            </a:r>
            <a:endParaRPr lang="en-US" sz="1400" dirty="0"/>
          </a:p>
        </p:txBody>
      </p:sp>
      <p:sp>
        <p:nvSpPr>
          <p:cNvPr id="13" name="Text 7">
            <a:extLst>
              <a:ext uri="{FF2B5EF4-FFF2-40B4-BE49-F238E27FC236}">
                <a16:creationId xmlns:a16="http://schemas.microsoft.com/office/drawing/2014/main" id="{70BF9D54-935E-46C7-4095-72E9E37099B9}"/>
              </a:ext>
            </a:extLst>
          </p:cNvPr>
          <p:cNvSpPr/>
          <p:nvPr/>
        </p:nvSpPr>
        <p:spPr>
          <a:xfrm>
            <a:off x="908845" y="1958380"/>
            <a:ext cx="4838422" cy="364044"/>
          </a:xfrm>
          <a:prstGeom prst="rect">
            <a:avLst/>
          </a:prstGeom>
          <a:noFill/>
          <a:ln/>
        </p:spPr>
        <p:txBody>
          <a:bodyPr wrap="square" lIns="0" tIns="0" rIns="0" bIns="0" rtlCol="0" anchor="ctr"/>
          <a:lstStyle/>
          <a:p>
            <a:pPr marL="0" indent="0">
              <a:buNone/>
            </a:pPr>
            <a:r>
              <a:rPr lang="en-US" sz="1400" dirty="0">
                <a:solidFill>
                  <a:srgbClr val="475569"/>
                </a:solidFill>
                <a:latin typeface="Calibri" pitchFamily="34" charset="0"/>
                <a:ea typeface="Calibri" pitchFamily="34" charset="-122"/>
                <a:cs typeface="Calibri" pitchFamily="34" charset="-120"/>
              </a:rPr>
              <a:t>Model A: 98.07% → 89.34% on Vosk (-8.73pp)</a:t>
            </a:r>
            <a:endParaRPr lang="en-US" sz="1400" dirty="0"/>
          </a:p>
        </p:txBody>
      </p:sp>
      <p:sp>
        <p:nvSpPr>
          <p:cNvPr id="14" name="Text 8">
            <a:extLst>
              <a:ext uri="{FF2B5EF4-FFF2-40B4-BE49-F238E27FC236}">
                <a16:creationId xmlns:a16="http://schemas.microsoft.com/office/drawing/2014/main" id="{1C4BD549-CD5E-2BD3-2E0A-950EEC79F5D0}"/>
              </a:ext>
            </a:extLst>
          </p:cNvPr>
          <p:cNvSpPr/>
          <p:nvPr/>
        </p:nvSpPr>
        <p:spPr>
          <a:xfrm>
            <a:off x="908845" y="2466340"/>
            <a:ext cx="4838422" cy="229923"/>
          </a:xfrm>
          <a:prstGeom prst="rect">
            <a:avLst/>
          </a:prstGeom>
          <a:noFill/>
          <a:ln/>
        </p:spPr>
        <p:txBody>
          <a:bodyPr wrap="square" lIns="0" tIns="0" rIns="0" bIns="0" rtlCol="0" anchor="ctr"/>
          <a:lstStyle/>
          <a:p>
            <a:pPr marL="0" indent="0">
              <a:buNone/>
            </a:pPr>
            <a:r>
              <a:rPr lang="en-US" sz="1400" b="1" dirty="0">
                <a:solidFill>
                  <a:srgbClr val="16A34A"/>
                </a:solidFill>
                <a:latin typeface="Calibri" pitchFamily="34" charset="0"/>
                <a:ea typeface="Calibri" pitchFamily="34" charset="-122"/>
                <a:cs typeface="Calibri" pitchFamily="34" charset="-120"/>
              </a:rPr>
              <a:t>Noise-aware training</a:t>
            </a:r>
            <a:endParaRPr lang="en-US" sz="1400" dirty="0"/>
          </a:p>
        </p:txBody>
      </p:sp>
      <p:sp>
        <p:nvSpPr>
          <p:cNvPr id="15" name="Text 9">
            <a:extLst>
              <a:ext uri="{FF2B5EF4-FFF2-40B4-BE49-F238E27FC236}">
                <a16:creationId xmlns:a16="http://schemas.microsoft.com/office/drawing/2014/main" id="{157C8D5E-671D-2FBD-9686-9DE3956001B6}"/>
              </a:ext>
            </a:extLst>
          </p:cNvPr>
          <p:cNvSpPr/>
          <p:nvPr/>
        </p:nvSpPr>
        <p:spPr>
          <a:xfrm>
            <a:off x="908845" y="2719300"/>
            <a:ext cx="4838422" cy="364044"/>
          </a:xfrm>
          <a:prstGeom prst="rect">
            <a:avLst/>
          </a:prstGeom>
          <a:noFill/>
          <a:ln/>
        </p:spPr>
        <p:txBody>
          <a:bodyPr wrap="square" lIns="0" tIns="0" rIns="0" bIns="0" rtlCol="0" anchor="ctr"/>
          <a:lstStyle/>
          <a:p>
            <a:r>
              <a:rPr lang="en-US" sz="1400" dirty="0">
                <a:solidFill>
                  <a:srgbClr val="475569"/>
                </a:solidFill>
                <a:latin typeface="Calibri" pitchFamily="34" charset="0"/>
                <a:ea typeface="Calibri" pitchFamily="34" charset="-122"/>
                <a:cs typeface="Calibri" pitchFamily="34" charset="-120"/>
              </a:rPr>
              <a:t>Model C 99.06% on </a:t>
            </a:r>
            <a:r>
              <a:rPr lang="en-US" sz="1400" dirty="0" err="1">
                <a:solidFill>
                  <a:srgbClr val="475569"/>
                </a:solidFill>
                <a:latin typeface="Calibri" pitchFamily="34" charset="0"/>
                <a:ea typeface="Calibri" pitchFamily="34" charset="-122"/>
                <a:cs typeface="Calibri" pitchFamily="34" charset="-120"/>
              </a:rPr>
              <a:t>Vosk</a:t>
            </a:r>
            <a:r>
              <a:rPr lang="en-US" sz="1400" dirty="0">
                <a:solidFill>
                  <a:srgbClr val="475569"/>
                </a:solidFill>
                <a:latin typeface="Calibri" pitchFamily="34" charset="0"/>
                <a:ea typeface="Calibri" pitchFamily="34" charset="-122"/>
                <a:cs typeface="Calibri" pitchFamily="34" charset="-120"/>
              </a:rPr>
              <a:t> : +9.72pp Gap recovery. Outperformed both clean-only and Vosk-only baselines.</a:t>
            </a:r>
            <a:endParaRPr lang="en-US" sz="1400" dirty="0"/>
          </a:p>
        </p:txBody>
      </p:sp>
      <p:sp>
        <p:nvSpPr>
          <p:cNvPr id="16" name="Text 10">
            <a:extLst>
              <a:ext uri="{FF2B5EF4-FFF2-40B4-BE49-F238E27FC236}">
                <a16:creationId xmlns:a16="http://schemas.microsoft.com/office/drawing/2014/main" id="{DD1B92FE-DFB2-2980-CDE5-FAD28006F015}"/>
              </a:ext>
            </a:extLst>
          </p:cNvPr>
          <p:cNvSpPr/>
          <p:nvPr/>
        </p:nvSpPr>
        <p:spPr>
          <a:xfrm>
            <a:off x="896835" y="3349946"/>
            <a:ext cx="4838422" cy="229923"/>
          </a:xfrm>
          <a:prstGeom prst="rect">
            <a:avLst/>
          </a:prstGeom>
          <a:noFill/>
          <a:ln/>
        </p:spPr>
        <p:txBody>
          <a:bodyPr wrap="square" lIns="0" tIns="0" rIns="0" bIns="0" rtlCol="0" anchor="ctr"/>
          <a:lstStyle/>
          <a:p>
            <a:pPr marL="0" indent="0">
              <a:buNone/>
            </a:pPr>
            <a:r>
              <a:rPr lang="en-US" sz="1400" b="1" dirty="0">
                <a:solidFill>
                  <a:srgbClr val="16A34A"/>
                </a:solidFill>
                <a:latin typeface="Calibri" pitchFamily="34" charset="0"/>
                <a:ea typeface="Calibri" pitchFamily="34" charset="-122"/>
                <a:cs typeface="Calibri" pitchFamily="34" charset="-120"/>
              </a:rPr>
              <a:t>Rigorous experiment design</a:t>
            </a:r>
            <a:endParaRPr lang="en-US" sz="1400" dirty="0"/>
          </a:p>
        </p:txBody>
      </p:sp>
      <p:sp>
        <p:nvSpPr>
          <p:cNvPr id="17" name="Text 11">
            <a:extLst>
              <a:ext uri="{FF2B5EF4-FFF2-40B4-BE49-F238E27FC236}">
                <a16:creationId xmlns:a16="http://schemas.microsoft.com/office/drawing/2014/main" id="{468A625C-FB88-1B99-5C35-CFF52CC8F618}"/>
              </a:ext>
            </a:extLst>
          </p:cNvPr>
          <p:cNvSpPr/>
          <p:nvPr/>
        </p:nvSpPr>
        <p:spPr>
          <a:xfrm>
            <a:off x="896835" y="3633593"/>
            <a:ext cx="4838422" cy="364044"/>
          </a:xfrm>
          <a:prstGeom prst="rect">
            <a:avLst/>
          </a:prstGeom>
          <a:noFill/>
          <a:ln/>
        </p:spPr>
        <p:txBody>
          <a:bodyPr wrap="square" lIns="0" tIns="0" rIns="0" bIns="0" rtlCol="0" anchor="ctr"/>
          <a:lstStyle/>
          <a:p>
            <a:pPr marL="0" indent="0">
              <a:buNone/>
            </a:pPr>
            <a:r>
              <a:rPr lang="en-US" sz="1400" dirty="0">
                <a:solidFill>
                  <a:srgbClr val="475569"/>
                </a:solidFill>
                <a:latin typeface="Calibri" pitchFamily="34" charset="0"/>
                <a:ea typeface="Calibri" pitchFamily="34" charset="-122"/>
                <a:cs typeface="Calibri" pitchFamily="34" charset="-120"/>
              </a:rPr>
              <a:t>10,080 phrases, 18 intents, 560/intent. Fixed test set consistently across all 3 models.</a:t>
            </a:r>
            <a:endParaRPr lang="en-US" sz="1400" dirty="0"/>
          </a:p>
        </p:txBody>
      </p:sp>
      <p:sp>
        <p:nvSpPr>
          <p:cNvPr id="18" name="Text 12">
            <a:extLst>
              <a:ext uri="{FF2B5EF4-FFF2-40B4-BE49-F238E27FC236}">
                <a16:creationId xmlns:a16="http://schemas.microsoft.com/office/drawing/2014/main" id="{3B29814C-A985-59E3-EB6A-9B846C850DB8}"/>
              </a:ext>
            </a:extLst>
          </p:cNvPr>
          <p:cNvSpPr/>
          <p:nvPr/>
        </p:nvSpPr>
        <p:spPr>
          <a:xfrm>
            <a:off x="896835" y="4254096"/>
            <a:ext cx="4838422" cy="229923"/>
          </a:xfrm>
          <a:prstGeom prst="rect">
            <a:avLst/>
          </a:prstGeom>
          <a:noFill/>
          <a:ln/>
        </p:spPr>
        <p:txBody>
          <a:bodyPr wrap="square" lIns="0" tIns="0" rIns="0" bIns="0" rtlCol="0" anchor="ctr"/>
          <a:lstStyle/>
          <a:p>
            <a:pPr marL="0" indent="0">
              <a:buNone/>
            </a:pPr>
            <a:r>
              <a:rPr lang="en-US" sz="1400" b="1" dirty="0">
                <a:solidFill>
                  <a:srgbClr val="16A34A"/>
                </a:solidFill>
                <a:latin typeface="Calibri" pitchFamily="34" charset="0"/>
                <a:ea typeface="Calibri" pitchFamily="34" charset="-122"/>
                <a:cs typeface="Calibri" pitchFamily="34" charset="-120"/>
              </a:rPr>
              <a:t>Privacy by architecture</a:t>
            </a:r>
            <a:endParaRPr lang="en-US" sz="1400" dirty="0"/>
          </a:p>
        </p:txBody>
      </p:sp>
      <p:sp>
        <p:nvSpPr>
          <p:cNvPr id="19" name="Text 13">
            <a:extLst>
              <a:ext uri="{FF2B5EF4-FFF2-40B4-BE49-F238E27FC236}">
                <a16:creationId xmlns:a16="http://schemas.microsoft.com/office/drawing/2014/main" id="{9CA545E6-1E02-4370-ACD3-178FDE888760}"/>
              </a:ext>
            </a:extLst>
          </p:cNvPr>
          <p:cNvSpPr/>
          <p:nvPr/>
        </p:nvSpPr>
        <p:spPr>
          <a:xfrm>
            <a:off x="896835" y="4503208"/>
            <a:ext cx="4838422" cy="364044"/>
          </a:xfrm>
          <a:prstGeom prst="rect">
            <a:avLst/>
          </a:prstGeom>
          <a:noFill/>
          <a:ln/>
        </p:spPr>
        <p:txBody>
          <a:bodyPr wrap="square" lIns="0" tIns="0" rIns="0" bIns="0" rtlCol="0" anchor="ctr"/>
          <a:lstStyle/>
          <a:p>
            <a:pPr marL="0" indent="0">
              <a:buNone/>
            </a:pPr>
            <a:r>
              <a:rPr lang="en-US" sz="1400" dirty="0">
                <a:solidFill>
                  <a:srgbClr val="475569"/>
                </a:solidFill>
                <a:latin typeface="Calibri" pitchFamily="34" charset="0"/>
                <a:ea typeface="Calibri" pitchFamily="34" charset="-122"/>
                <a:cs typeface="Calibri" pitchFamily="34" charset="-120"/>
              </a:rPr>
              <a:t>No mechanism to send audio externally - structural guarantee, not policy-based.</a:t>
            </a:r>
            <a:endParaRPr lang="en-US" sz="1400" dirty="0"/>
          </a:p>
        </p:txBody>
      </p:sp>
      <p:sp>
        <p:nvSpPr>
          <p:cNvPr id="20" name="Text 14">
            <a:extLst>
              <a:ext uri="{FF2B5EF4-FFF2-40B4-BE49-F238E27FC236}">
                <a16:creationId xmlns:a16="http://schemas.microsoft.com/office/drawing/2014/main" id="{977DEBBD-06A6-AA91-3397-1A33E9832288}"/>
              </a:ext>
            </a:extLst>
          </p:cNvPr>
          <p:cNvSpPr/>
          <p:nvPr/>
        </p:nvSpPr>
        <p:spPr>
          <a:xfrm>
            <a:off x="908845" y="5193574"/>
            <a:ext cx="4838422" cy="229923"/>
          </a:xfrm>
          <a:prstGeom prst="rect">
            <a:avLst/>
          </a:prstGeom>
          <a:noFill/>
          <a:ln/>
        </p:spPr>
        <p:txBody>
          <a:bodyPr wrap="square" lIns="0" tIns="0" rIns="0" bIns="0" rtlCol="0" anchor="ctr"/>
          <a:lstStyle/>
          <a:p>
            <a:pPr marL="0" indent="0">
              <a:buNone/>
            </a:pPr>
            <a:r>
              <a:rPr lang="en-US" sz="1400" b="1" dirty="0">
                <a:solidFill>
                  <a:srgbClr val="16A34A"/>
                </a:solidFill>
                <a:latin typeface="Calibri" pitchFamily="34" charset="0"/>
                <a:ea typeface="Calibri" pitchFamily="34" charset="-122"/>
                <a:cs typeface="Calibri" pitchFamily="34" charset="-120"/>
              </a:rPr>
              <a:t>Cost-effectiveness proven</a:t>
            </a:r>
            <a:endParaRPr lang="en-US" sz="1400" dirty="0"/>
          </a:p>
        </p:txBody>
      </p:sp>
      <p:sp>
        <p:nvSpPr>
          <p:cNvPr id="21" name="Text 15">
            <a:extLst>
              <a:ext uri="{FF2B5EF4-FFF2-40B4-BE49-F238E27FC236}">
                <a16:creationId xmlns:a16="http://schemas.microsoft.com/office/drawing/2014/main" id="{A1A9F4A7-FEF1-92BB-B3A9-7C501EC76101}"/>
              </a:ext>
            </a:extLst>
          </p:cNvPr>
          <p:cNvSpPr/>
          <p:nvPr/>
        </p:nvSpPr>
        <p:spPr>
          <a:xfrm>
            <a:off x="896835" y="5441103"/>
            <a:ext cx="4838422" cy="364044"/>
          </a:xfrm>
          <a:prstGeom prst="rect">
            <a:avLst/>
          </a:prstGeom>
          <a:noFill/>
          <a:ln/>
        </p:spPr>
        <p:txBody>
          <a:bodyPr wrap="square" lIns="0" tIns="0" rIns="0" bIns="0" rtlCol="0" anchor="ctr"/>
          <a:lstStyle/>
          <a:p>
            <a:pPr marL="0" indent="0">
              <a:buNone/>
            </a:pPr>
            <a:r>
              <a:rPr lang="en-US" sz="1400" dirty="0">
                <a:solidFill>
                  <a:srgbClr val="475569"/>
                </a:solidFill>
                <a:latin typeface="Calibri" pitchFamily="34" charset="0"/>
                <a:ea typeface="Calibri" pitchFamily="34" charset="-122"/>
                <a:cs typeface="Calibri" pitchFamily="34" charset="-120"/>
              </a:rPr>
              <a:t>USD 21–59/room/year vs. cloud. Zero recurring software costs. Full open-source.</a:t>
            </a:r>
            <a:endParaRPr lang="en-US" sz="1400" dirty="0"/>
          </a:p>
        </p:txBody>
      </p:sp>
      <p:sp>
        <p:nvSpPr>
          <p:cNvPr id="22" name="Shape 16">
            <a:extLst>
              <a:ext uri="{FF2B5EF4-FFF2-40B4-BE49-F238E27FC236}">
                <a16:creationId xmlns:a16="http://schemas.microsoft.com/office/drawing/2014/main" id="{97870B23-2942-C6D1-6996-DAE6EDECB27D}"/>
              </a:ext>
            </a:extLst>
          </p:cNvPr>
          <p:cNvSpPr/>
          <p:nvPr/>
        </p:nvSpPr>
        <p:spPr>
          <a:xfrm>
            <a:off x="6268720" y="1303020"/>
            <a:ext cx="5175986" cy="4757407"/>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200"/>
          </a:p>
        </p:txBody>
      </p:sp>
      <p:sp>
        <p:nvSpPr>
          <p:cNvPr id="23" name="Shape 17">
            <a:extLst>
              <a:ext uri="{FF2B5EF4-FFF2-40B4-BE49-F238E27FC236}">
                <a16:creationId xmlns:a16="http://schemas.microsoft.com/office/drawing/2014/main" id="{14304ED2-2012-DF99-0A59-FE761DC9BDE1}"/>
              </a:ext>
            </a:extLst>
          </p:cNvPr>
          <p:cNvSpPr/>
          <p:nvPr/>
        </p:nvSpPr>
        <p:spPr>
          <a:xfrm>
            <a:off x="6268720" y="1303020"/>
            <a:ext cx="5175986" cy="402365"/>
          </a:xfrm>
          <a:prstGeom prst="rect">
            <a:avLst/>
          </a:prstGeom>
          <a:solidFill>
            <a:srgbClr val="D97706"/>
          </a:solidFill>
          <a:ln w="12700">
            <a:solidFill>
              <a:srgbClr val="FFFFFF"/>
            </a:solidFill>
            <a:prstDash val="solid"/>
          </a:ln>
        </p:spPr>
        <p:txBody>
          <a:bodyPr/>
          <a:lstStyle/>
          <a:p>
            <a:endParaRPr lang="en-US" sz="1400"/>
          </a:p>
        </p:txBody>
      </p:sp>
      <p:sp>
        <p:nvSpPr>
          <p:cNvPr id="24" name="Text 18">
            <a:extLst>
              <a:ext uri="{FF2B5EF4-FFF2-40B4-BE49-F238E27FC236}">
                <a16:creationId xmlns:a16="http://schemas.microsoft.com/office/drawing/2014/main" id="{BE190D1E-699A-6BFE-68FE-4AE6C73416F6}"/>
              </a:ext>
            </a:extLst>
          </p:cNvPr>
          <p:cNvSpPr/>
          <p:nvPr/>
        </p:nvSpPr>
        <p:spPr>
          <a:xfrm>
            <a:off x="6330568" y="1303020"/>
            <a:ext cx="5063465" cy="402365"/>
          </a:xfrm>
          <a:prstGeom prst="rect">
            <a:avLst/>
          </a:prstGeom>
          <a:noFill/>
          <a:ln/>
        </p:spPr>
        <p:txBody>
          <a:bodyPr wrap="square" rtlCol="0" anchor="ctr"/>
          <a:lstStyle/>
          <a:p>
            <a:pPr marL="0" indent="0">
              <a:buNone/>
            </a:pPr>
            <a:r>
              <a:rPr lang="en-US" sz="1400" b="1" dirty="0">
                <a:solidFill>
                  <a:srgbClr val="FFFFFF"/>
                </a:solidFill>
              </a:rPr>
              <a:t>⚠  Limitations</a:t>
            </a:r>
            <a:endParaRPr lang="en-US" sz="1400" dirty="0"/>
          </a:p>
        </p:txBody>
      </p:sp>
      <p:sp>
        <p:nvSpPr>
          <p:cNvPr id="25" name="Text 19">
            <a:extLst>
              <a:ext uri="{FF2B5EF4-FFF2-40B4-BE49-F238E27FC236}">
                <a16:creationId xmlns:a16="http://schemas.microsoft.com/office/drawing/2014/main" id="{1960CAD1-7B58-5524-F87A-77047DD9E84A}"/>
              </a:ext>
            </a:extLst>
          </p:cNvPr>
          <p:cNvSpPr/>
          <p:nvPr/>
        </p:nvSpPr>
        <p:spPr>
          <a:xfrm>
            <a:off x="6400482" y="1796796"/>
            <a:ext cx="4894683" cy="229923"/>
          </a:xfrm>
          <a:prstGeom prst="rect">
            <a:avLst/>
          </a:prstGeom>
          <a:noFill/>
          <a:ln/>
        </p:spPr>
        <p:txBody>
          <a:bodyPr wrap="square" lIns="0" tIns="0" rIns="0" bIns="0" rtlCol="0" anchor="ctr"/>
          <a:lstStyle/>
          <a:p>
            <a:pPr marL="0" indent="0">
              <a:buNone/>
            </a:pPr>
            <a:r>
              <a:rPr lang="en-US" sz="1400" b="1" dirty="0">
                <a:solidFill>
                  <a:srgbClr val="D97706"/>
                </a:solidFill>
                <a:latin typeface="Calibri" pitchFamily="34" charset="0"/>
                <a:ea typeface="Calibri" pitchFamily="34" charset="-122"/>
                <a:cs typeface="Calibri" pitchFamily="34" charset="-120"/>
              </a:rPr>
              <a:t>Synthetic speech only</a:t>
            </a:r>
            <a:endParaRPr lang="en-US" sz="1400" dirty="0"/>
          </a:p>
        </p:txBody>
      </p:sp>
      <p:sp>
        <p:nvSpPr>
          <p:cNvPr id="26" name="Text 20">
            <a:extLst>
              <a:ext uri="{FF2B5EF4-FFF2-40B4-BE49-F238E27FC236}">
                <a16:creationId xmlns:a16="http://schemas.microsoft.com/office/drawing/2014/main" id="{FB12D479-CB62-1DF5-47B9-06BE692ABB4F}"/>
              </a:ext>
            </a:extLst>
          </p:cNvPr>
          <p:cNvSpPr/>
          <p:nvPr/>
        </p:nvSpPr>
        <p:spPr>
          <a:xfrm>
            <a:off x="6400481" y="2066186"/>
            <a:ext cx="4894683" cy="364044"/>
          </a:xfrm>
          <a:prstGeom prst="rect">
            <a:avLst/>
          </a:prstGeom>
          <a:noFill/>
          <a:ln/>
        </p:spPr>
        <p:txBody>
          <a:bodyPr wrap="square" lIns="0" tIns="0" rIns="0" bIns="0" rtlCol="0" anchor="ctr"/>
          <a:lstStyle/>
          <a:p>
            <a:pPr marL="0" indent="0">
              <a:buNone/>
            </a:pPr>
            <a:r>
              <a:rPr lang="en-US" sz="1400" dirty="0">
                <a:solidFill>
                  <a:srgbClr val="475569"/>
                </a:solidFill>
                <a:latin typeface="Calibri" pitchFamily="34" charset="0"/>
                <a:ea typeface="Calibri" pitchFamily="34" charset="-122"/>
                <a:cs typeface="Calibri" pitchFamily="34" charset="-120"/>
              </a:rPr>
              <a:t>WER on TTS audio, not real hotel guests - real-world WER likely higher.</a:t>
            </a:r>
            <a:endParaRPr lang="en-US" sz="1400" dirty="0"/>
          </a:p>
        </p:txBody>
      </p:sp>
      <p:sp>
        <p:nvSpPr>
          <p:cNvPr id="27" name="Text 21">
            <a:extLst>
              <a:ext uri="{FF2B5EF4-FFF2-40B4-BE49-F238E27FC236}">
                <a16:creationId xmlns:a16="http://schemas.microsoft.com/office/drawing/2014/main" id="{440C6A35-5601-6E14-5611-EFE6A1E40896}"/>
              </a:ext>
            </a:extLst>
          </p:cNvPr>
          <p:cNvSpPr/>
          <p:nvPr/>
        </p:nvSpPr>
        <p:spPr>
          <a:xfrm>
            <a:off x="6400482" y="2632742"/>
            <a:ext cx="4894683" cy="229923"/>
          </a:xfrm>
          <a:prstGeom prst="rect">
            <a:avLst/>
          </a:prstGeom>
          <a:noFill/>
          <a:ln/>
        </p:spPr>
        <p:txBody>
          <a:bodyPr wrap="square" lIns="0" tIns="0" rIns="0" bIns="0" rtlCol="0" anchor="ctr"/>
          <a:lstStyle/>
          <a:p>
            <a:pPr marL="0" indent="0">
              <a:buNone/>
            </a:pPr>
            <a:r>
              <a:rPr lang="en-US" sz="1400" b="1" dirty="0">
                <a:solidFill>
                  <a:srgbClr val="D97706"/>
                </a:solidFill>
                <a:latin typeface="Calibri" pitchFamily="34" charset="0"/>
                <a:ea typeface="Calibri" pitchFamily="34" charset="-122"/>
                <a:cs typeface="Calibri" pitchFamily="34" charset="-120"/>
              </a:rPr>
              <a:t>Tokeniser mismatch on Android</a:t>
            </a:r>
            <a:endParaRPr lang="en-US" sz="1400" dirty="0"/>
          </a:p>
        </p:txBody>
      </p:sp>
      <p:sp>
        <p:nvSpPr>
          <p:cNvPr id="28" name="Text 22">
            <a:extLst>
              <a:ext uri="{FF2B5EF4-FFF2-40B4-BE49-F238E27FC236}">
                <a16:creationId xmlns:a16="http://schemas.microsoft.com/office/drawing/2014/main" id="{933498DC-7CED-B45C-4874-1C2E144850E8}"/>
              </a:ext>
            </a:extLst>
          </p:cNvPr>
          <p:cNvSpPr/>
          <p:nvPr/>
        </p:nvSpPr>
        <p:spPr>
          <a:xfrm>
            <a:off x="6409371" y="2876146"/>
            <a:ext cx="4894683" cy="364044"/>
          </a:xfrm>
          <a:prstGeom prst="rect">
            <a:avLst/>
          </a:prstGeom>
          <a:noFill/>
          <a:ln/>
        </p:spPr>
        <p:txBody>
          <a:bodyPr wrap="square" lIns="0" tIns="0" rIns="0" bIns="0" rtlCol="0" anchor="ctr"/>
          <a:lstStyle/>
          <a:p>
            <a:pPr marL="0" indent="0">
              <a:buNone/>
            </a:pPr>
            <a:r>
              <a:rPr lang="en-US" sz="1400" dirty="0">
                <a:solidFill>
                  <a:srgbClr val="475569"/>
                </a:solidFill>
                <a:latin typeface="Calibri" pitchFamily="34" charset="0"/>
                <a:ea typeface="Calibri" pitchFamily="34" charset="-122"/>
                <a:cs typeface="Calibri" pitchFamily="34" charset="-120"/>
              </a:rPr>
              <a:t>Python HuggingFace vs. simplified Kotlin tokenizer - on-device accuracy lower than reported.</a:t>
            </a:r>
            <a:endParaRPr lang="en-US" sz="1400" dirty="0"/>
          </a:p>
        </p:txBody>
      </p:sp>
      <p:sp>
        <p:nvSpPr>
          <p:cNvPr id="29" name="Text 23">
            <a:extLst>
              <a:ext uri="{FF2B5EF4-FFF2-40B4-BE49-F238E27FC236}">
                <a16:creationId xmlns:a16="http://schemas.microsoft.com/office/drawing/2014/main" id="{3F316988-3D1B-17D6-696B-53B162E4B4F5}"/>
              </a:ext>
            </a:extLst>
          </p:cNvPr>
          <p:cNvSpPr/>
          <p:nvPr/>
        </p:nvSpPr>
        <p:spPr>
          <a:xfrm>
            <a:off x="6400482" y="3492792"/>
            <a:ext cx="4894683" cy="229923"/>
          </a:xfrm>
          <a:prstGeom prst="rect">
            <a:avLst/>
          </a:prstGeom>
          <a:noFill/>
          <a:ln/>
        </p:spPr>
        <p:txBody>
          <a:bodyPr wrap="square" lIns="0" tIns="0" rIns="0" bIns="0" rtlCol="0" anchor="ctr"/>
          <a:lstStyle/>
          <a:p>
            <a:pPr marL="0" indent="0">
              <a:buNone/>
            </a:pPr>
            <a:r>
              <a:rPr lang="en-US" sz="1400" b="1" dirty="0">
                <a:solidFill>
                  <a:srgbClr val="D97706"/>
                </a:solidFill>
                <a:latin typeface="Calibri" pitchFamily="34" charset="0"/>
                <a:ea typeface="Calibri" pitchFamily="34" charset="-122"/>
                <a:cs typeface="Calibri" pitchFamily="34" charset="-120"/>
              </a:rPr>
              <a:t>No field deployment</a:t>
            </a:r>
            <a:endParaRPr lang="en-US" sz="1400" dirty="0"/>
          </a:p>
        </p:txBody>
      </p:sp>
      <p:sp>
        <p:nvSpPr>
          <p:cNvPr id="30" name="Text 24">
            <a:extLst>
              <a:ext uri="{FF2B5EF4-FFF2-40B4-BE49-F238E27FC236}">
                <a16:creationId xmlns:a16="http://schemas.microsoft.com/office/drawing/2014/main" id="{96D32DE7-93D8-070D-15CC-DAAEEF515150}"/>
              </a:ext>
            </a:extLst>
          </p:cNvPr>
          <p:cNvSpPr/>
          <p:nvPr/>
        </p:nvSpPr>
        <p:spPr>
          <a:xfrm>
            <a:off x="6400480" y="3661783"/>
            <a:ext cx="4894683" cy="364044"/>
          </a:xfrm>
          <a:prstGeom prst="rect">
            <a:avLst/>
          </a:prstGeom>
          <a:noFill/>
          <a:ln/>
        </p:spPr>
        <p:txBody>
          <a:bodyPr wrap="square" lIns="0" tIns="0" rIns="0" bIns="0" rtlCol="0" anchor="ctr"/>
          <a:lstStyle/>
          <a:p>
            <a:pPr marL="0" indent="0">
              <a:buNone/>
            </a:pPr>
            <a:r>
              <a:rPr lang="en-US" sz="1400" dirty="0">
                <a:solidFill>
                  <a:srgbClr val="475569"/>
                </a:solidFill>
                <a:latin typeface="Calibri" pitchFamily="34" charset="0"/>
                <a:ea typeface="Calibri" pitchFamily="34" charset="-122"/>
                <a:cs typeface="Calibri" pitchFamily="34" charset="-120"/>
              </a:rPr>
              <a:t>No real hotel environment testing; no real user feedback collected.</a:t>
            </a:r>
            <a:endParaRPr lang="en-US" sz="1400" dirty="0"/>
          </a:p>
        </p:txBody>
      </p:sp>
      <p:sp>
        <p:nvSpPr>
          <p:cNvPr id="31" name="Text 25">
            <a:extLst>
              <a:ext uri="{FF2B5EF4-FFF2-40B4-BE49-F238E27FC236}">
                <a16:creationId xmlns:a16="http://schemas.microsoft.com/office/drawing/2014/main" id="{91706738-D26B-1E18-0697-FFB95675F29F}"/>
              </a:ext>
            </a:extLst>
          </p:cNvPr>
          <p:cNvSpPr/>
          <p:nvPr/>
        </p:nvSpPr>
        <p:spPr>
          <a:xfrm>
            <a:off x="6400482" y="4273285"/>
            <a:ext cx="4894683" cy="229923"/>
          </a:xfrm>
          <a:prstGeom prst="rect">
            <a:avLst/>
          </a:prstGeom>
          <a:noFill/>
          <a:ln/>
        </p:spPr>
        <p:txBody>
          <a:bodyPr wrap="square" lIns="0" tIns="0" rIns="0" bIns="0" rtlCol="0" anchor="ctr"/>
          <a:lstStyle/>
          <a:p>
            <a:pPr marL="0" indent="0">
              <a:buNone/>
            </a:pPr>
            <a:r>
              <a:rPr lang="en-US" sz="1400" b="1" dirty="0">
                <a:solidFill>
                  <a:srgbClr val="D97706"/>
                </a:solidFill>
                <a:latin typeface="Calibri" pitchFamily="34" charset="0"/>
                <a:ea typeface="Calibri" pitchFamily="34" charset="-122"/>
                <a:cs typeface="Calibri" pitchFamily="34" charset="-120"/>
              </a:rPr>
              <a:t>Accent &amp; language scope</a:t>
            </a:r>
            <a:endParaRPr lang="en-US" sz="1400" dirty="0"/>
          </a:p>
        </p:txBody>
      </p:sp>
      <p:sp>
        <p:nvSpPr>
          <p:cNvPr id="32" name="Text 26">
            <a:extLst>
              <a:ext uri="{FF2B5EF4-FFF2-40B4-BE49-F238E27FC236}">
                <a16:creationId xmlns:a16="http://schemas.microsoft.com/office/drawing/2014/main" id="{903FCA1C-B1C6-7A89-E89E-D5E349720995}"/>
              </a:ext>
            </a:extLst>
          </p:cNvPr>
          <p:cNvSpPr/>
          <p:nvPr/>
        </p:nvSpPr>
        <p:spPr>
          <a:xfrm>
            <a:off x="6400480" y="4545149"/>
            <a:ext cx="4894683" cy="364044"/>
          </a:xfrm>
          <a:prstGeom prst="rect">
            <a:avLst/>
          </a:prstGeom>
          <a:noFill/>
          <a:ln/>
        </p:spPr>
        <p:txBody>
          <a:bodyPr wrap="square" lIns="0" tIns="0" rIns="0" bIns="0" rtlCol="0" anchor="ctr"/>
          <a:lstStyle/>
          <a:p>
            <a:pPr marL="0" indent="0">
              <a:buNone/>
            </a:pPr>
            <a:r>
              <a:rPr lang="en-US" sz="1400" dirty="0">
                <a:solidFill>
                  <a:srgbClr val="475569"/>
                </a:solidFill>
                <a:latin typeface="Calibri" pitchFamily="34" charset="0"/>
                <a:ea typeface="Calibri" pitchFamily="34" charset="-122"/>
                <a:cs typeface="Calibri" pitchFamily="34" charset="-120"/>
              </a:rPr>
              <a:t>Mainly English with Sri Lankan accents; other accents and languages untested.</a:t>
            </a:r>
            <a:endParaRPr lang="en-US" sz="1400" dirty="0"/>
          </a:p>
        </p:txBody>
      </p:sp>
      <p:sp>
        <p:nvSpPr>
          <p:cNvPr id="33" name="Text 27">
            <a:extLst>
              <a:ext uri="{FF2B5EF4-FFF2-40B4-BE49-F238E27FC236}">
                <a16:creationId xmlns:a16="http://schemas.microsoft.com/office/drawing/2014/main" id="{AC5ECD45-1C3A-E027-49B5-27335408946E}"/>
              </a:ext>
            </a:extLst>
          </p:cNvPr>
          <p:cNvSpPr/>
          <p:nvPr/>
        </p:nvSpPr>
        <p:spPr>
          <a:xfrm>
            <a:off x="6400482" y="5163094"/>
            <a:ext cx="4894683" cy="229923"/>
          </a:xfrm>
          <a:prstGeom prst="rect">
            <a:avLst/>
          </a:prstGeom>
          <a:noFill/>
          <a:ln/>
        </p:spPr>
        <p:txBody>
          <a:bodyPr wrap="square" lIns="0" tIns="0" rIns="0" bIns="0" rtlCol="0" anchor="ctr"/>
          <a:lstStyle/>
          <a:p>
            <a:pPr marL="0" indent="0">
              <a:buNone/>
            </a:pPr>
            <a:r>
              <a:rPr lang="en-US" sz="1400" b="1" dirty="0">
                <a:solidFill>
                  <a:srgbClr val="D97706"/>
                </a:solidFill>
                <a:latin typeface="Calibri" pitchFamily="34" charset="0"/>
                <a:ea typeface="Calibri" pitchFamily="34" charset="-122"/>
                <a:cs typeface="Calibri" pitchFamily="34" charset="-120"/>
              </a:rPr>
              <a:t>Prototype-scale architecture</a:t>
            </a:r>
            <a:endParaRPr lang="en-US" sz="1400" dirty="0"/>
          </a:p>
        </p:txBody>
      </p:sp>
      <p:sp>
        <p:nvSpPr>
          <p:cNvPr id="34" name="Text 28">
            <a:extLst>
              <a:ext uri="{FF2B5EF4-FFF2-40B4-BE49-F238E27FC236}">
                <a16:creationId xmlns:a16="http://schemas.microsoft.com/office/drawing/2014/main" id="{9D417C8C-8E3F-B3CC-96C4-2F3FE34B0183}"/>
              </a:ext>
            </a:extLst>
          </p:cNvPr>
          <p:cNvSpPr/>
          <p:nvPr/>
        </p:nvSpPr>
        <p:spPr>
          <a:xfrm>
            <a:off x="6409371" y="5441103"/>
            <a:ext cx="4894683" cy="364044"/>
          </a:xfrm>
          <a:prstGeom prst="rect">
            <a:avLst/>
          </a:prstGeom>
          <a:noFill/>
          <a:ln/>
        </p:spPr>
        <p:txBody>
          <a:bodyPr wrap="square" lIns="0" tIns="0" rIns="0" bIns="0" rtlCol="0" anchor="ctr"/>
          <a:lstStyle/>
          <a:p>
            <a:pPr marL="0" indent="0">
              <a:buNone/>
            </a:pPr>
            <a:r>
              <a:rPr lang="en-US" sz="1400" dirty="0">
                <a:solidFill>
                  <a:srgbClr val="475569"/>
                </a:solidFill>
                <a:latin typeface="Calibri" pitchFamily="34" charset="0"/>
                <a:ea typeface="Calibri" pitchFamily="34" charset="-122"/>
                <a:cs typeface="Calibri" pitchFamily="34" charset="-120"/>
              </a:rPr>
              <a:t>SQLite → PostgreSQL needed for production; not production-ready as-is.</a:t>
            </a:r>
            <a:endParaRPr lang="en-US" sz="1400" dirty="0"/>
          </a:p>
        </p:txBody>
      </p:sp>
    </p:spTree>
    <p:extLst>
      <p:ext uri="{BB962C8B-B14F-4D97-AF65-F5344CB8AC3E}">
        <p14:creationId xmlns:p14="http://schemas.microsoft.com/office/powerpoint/2010/main" val="28033806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1" name="Picture 40">
            <a:extLst>
              <a:ext uri="{FF2B5EF4-FFF2-40B4-BE49-F238E27FC236}">
                <a16:creationId xmlns:a16="http://schemas.microsoft.com/office/drawing/2014/main" id="{AFA5F0A4-AB5A-8F19-64FA-E1D9A687C7E2}"/>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Text 2"/>
          <p:cNvSpPr/>
          <p:nvPr/>
        </p:nvSpPr>
        <p:spPr>
          <a:xfrm>
            <a:off x="9875520" y="219456"/>
            <a:ext cx="1950720" cy="438912"/>
          </a:xfrm>
          <a:prstGeom prst="rect">
            <a:avLst/>
          </a:prstGeom>
          <a:noFill/>
          <a:ln/>
        </p:spPr>
        <p:txBody>
          <a:bodyPr wrap="square" rtlCol="0" anchor="ctr"/>
          <a:lstStyle/>
          <a:p>
            <a:pPr algn="ctr"/>
            <a:r>
              <a:rPr lang="en-US" sz="1133" b="1" dirty="0">
                <a:solidFill>
                  <a:srgbClr val="FFFFFF"/>
                </a:solidFill>
              </a:rPr>
              <a:t>§6  3 min</a:t>
            </a:r>
            <a:endParaRPr lang="en-US" sz="1133" dirty="0"/>
          </a:p>
        </p:txBody>
      </p:sp>
      <p:sp>
        <p:nvSpPr>
          <p:cNvPr id="5" name="Shape 3"/>
          <p:cNvSpPr/>
          <p:nvPr/>
        </p:nvSpPr>
        <p:spPr>
          <a:xfrm>
            <a:off x="609600" y="1072896"/>
            <a:ext cx="10972800" cy="999744"/>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6" name="Shape 4"/>
          <p:cNvSpPr/>
          <p:nvPr/>
        </p:nvSpPr>
        <p:spPr>
          <a:xfrm>
            <a:off x="609600" y="1072896"/>
            <a:ext cx="73152" cy="999744"/>
          </a:xfrm>
          <a:prstGeom prst="rect">
            <a:avLst/>
          </a:prstGeom>
          <a:solidFill>
            <a:srgbClr val="DC2626"/>
          </a:solidFill>
          <a:ln w="12700">
            <a:solidFill>
              <a:srgbClr val="FFFFFF"/>
            </a:solidFill>
            <a:prstDash val="solid"/>
          </a:ln>
        </p:spPr>
        <p:txBody>
          <a:bodyPr/>
          <a:lstStyle/>
          <a:p>
            <a:endParaRPr lang="en-US" sz="1600"/>
          </a:p>
        </p:txBody>
      </p:sp>
      <p:sp>
        <p:nvSpPr>
          <p:cNvPr id="9" name="Text 7"/>
          <p:cNvSpPr/>
          <p:nvPr/>
        </p:nvSpPr>
        <p:spPr>
          <a:xfrm>
            <a:off x="829056" y="1133856"/>
            <a:ext cx="9509760" cy="316992"/>
          </a:xfrm>
          <a:prstGeom prst="rect">
            <a:avLst/>
          </a:prstGeom>
          <a:noFill/>
          <a:ln/>
        </p:spPr>
        <p:txBody>
          <a:bodyPr wrap="square" lIns="0" tIns="0" rIns="0" bIns="0" rtlCol="0" anchor="ctr"/>
          <a:lstStyle/>
          <a:p>
            <a:r>
              <a:rPr lang="en-US" sz="1600" b="1" dirty="0">
                <a:solidFill>
                  <a:srgbClr val="0D2340"/>
                </a:solidFill>
                <a:latin typeface="Calibri" pitchFamily="34" charset="0"/>
                <a:ea typeface="Calibri" pitchFamily="34" charset="-122"/>
                <a:cs typeface="Calibri" pitchFamily="34" charset="-120"/>
              </a:rPr>
              <a:t>Field Deployment &amp; Real User Study</a:t>
            </a:r>
            <a:endParaRPr lang="en-US" sz="1600" dirty="0"/>
          </a:p>
        </p:txBody>
      </p:sp>
      <p:sp>
        <p:nvSpPr>
          <p:cNvPr id="10" name="Text 8"/>
          <p:cNvSpPr/>
          <p:nvPr/>
        </p:nvSpPr>
        <p:spPr>
          <a:xfrm>
            <a:off x="829056" y="1438656"/>
            <a:ext cx="4754880" cy="536448"/>
          </a:xfrm>
          <a:prstGeom prst="rect">
            <a:avLst/>
          </a:prstGeom>
          <a:noFill/>
          <a:ln/>
        </p:spPr>
        <p:txBody>
          <a:bodyPr wrap="square" lIns="0" tIns="0" rIns="0" bIns="0" rtlCol="0" anchor="ctr"/>
          <a:lstStyle/>
          <a:p>
            <a:r>
              <a:rPr lang="en-US" sz="1600" i="1" dirty="0">
                <a:solidFill>
                  <a:srgbClr val="D97706"/>
                </a:solidFill>
                <a:latin typeface="Calibri" pitchFamily="34" charset="0"/>
                <a:ea typeface="Calibri" pitchFamily="34" charset="-122"/>
                <a:cs typeface="Calibri" pitchFamily="34" charset="-120"/>
              </a:rPr>
              <a:t>Limitation: No real hotel testing — WER and UX unknown for real guests</a:t>
            </a:r>
            <a:endParaRPr lang="en-US" sz="1600" dirty="0"/>
          </a:p>
        </p:txBody>
      </p:sp>
      <p:sp>
        <p:nvSpPr>
          <p:cNvPr id="11" name="Text 9"/>
          <p:cNvSpPr/>
          <p:nvPr/>
        </p:nvSpPr>
        <p:spPr>
          <a:xfrm>
            <a:off x="6022848" y="1304544"/>
            <a:ext cx="4876800" cy="536448"/>
          </a:xfrm>
          <a:prstGeom prst="rect">
            <a:avLst/>
          </a:prstGeom>
          <a:noFill/>
          <a:ln/>
        </p:spPr>
        <p:txBody>
          <a:bodyPr wrap="square" lIns="0" tIns="0" rIns="0" bIns="0" rtlCol="0" anchor="ctr"/>
          <a:lstStyle/>
          <a:p>
            <a:r>
              <a:rPr lang="en-US" sz="1600" dirty="0">
                <a:solidFill>
                  <a:srgbClr val="475569"/>
                </a:solidFill>
                <a:latin typeface="Calibri" pitchFamily="34" charset="0"/>
                <a:ea typeface="Calibri" pitchFamily="34" charset="-122"/>
                <a:cs typeface="Calibri" pitchFamily="34" charset="-120"/>
              </a:rPr>
              <a:t>→ Deploy in a Sri Lankan hotel. Measure WER on genuine speech, collect satisfaction ratings, evaluate staff adoption.</a:t>
            </a:r>
            <a:endParaRPr lang="en-US" sz="1600" dirty="0"/>
          </a:p>
        </p:txBody>
      </p:sp>
      <p:sp>
        <p:nvSpPr>
          <p:cNvPr id="12" name="Shape 10"/>
          <p:cNvSpPr/>
          <p:nvPr/>
        </p:nvSpPr>
        <p:spPr>
          <a:xfrm>
            <a:off x="609600" y="2170176"/>
            <a:ext cx="10972800" cy="999744"/>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13" name="Shape 11"/>
          <p:cNvSpPr/>
          <p:nvPr/>
        </p:nvSpPr>
        <p:spPr>
          <a:xfrm>
            <a:off x="609600" y="2170176"/>
            <a:ext cx="73152" cy="999744"/>
          </a:xfrm>
          <a:prstGeom prst="rect">
            <a:avLst/>
          </a:prstGeom>
          <a:solidFill>
            <a:schemeClr val="tx1">
              <a:lumMod val="50000"/>
              <a:lumOff val="50000"/>
            </a:schemeClr>
          </a:solidFill>
          <a:ln w="12700">
            <a:solidFill>
              <a:srgbClr val="FFFFFF"/>
            </a:solidFill>
            <a:prstDash val="solid"/>
          </a:ln>
        </p:spPr>
        <p:txBody>
          <a:bodyPr/>
          <a:lstStyle/>
          <a:p>
            <a:endParaRPr lang="en-US" sz="1600"/>
          </a:p>
        </p:txBody>
      </p:sp>
      <p:sp>
        <p:nvSpPr>
          <p:cNvPr id="16" name="Text 14"/>
          <p:cNvSpPr/>
          <p:nvPr/>
        </p:nvSpPr>
        <p:spPr>
          <a:xfrm>
            <a:off x="829056" y="2231136"/>
            <a:ext cx="9509760" cy="316992"/>
          </a:xfrm>
          <a:prstGeom prst="rect">
            <a:avLst/>
          </a:prstGeom>
          <a:noFill/>
          <a:ln/>
        </p:spPr>
        <p:txBody>
          <a:bodyPr wrap="square" lIns="0" tIns="0" rIns="0" bIns="0" rtlCol="0" anchor="ctr"/>
          <a:lstStyle/>
          <a:p>
            <a:r>
              <a:rPr lang="en-US" sz="1600" b="1" dirty="0">
                <a:solidFill>
                  <a:srgbClr val="0D2340"/>
                </a:solidFill>
                <a:latin typeface="Calibri" pitchFamily="34" charset="0"/>
                <a:ea typeface="Calibri" pitchFamily="34" charset="-122"/>
                <a:cs typeface="Calibri" pitchFamily="34" charset="-120"/>
              </a:rPr>
              <a:t>Real Speech Data Collection &amp; Retraining</a:t>
            </a:r>
            <a:endParaRPr lang="en-US" sz="1600" dirty="0"/>
          </a:p>
        </p:txBody>
      </p:sp>
      <p:sp>
        <p:nvSpPr>
          <p:cNvPr id="17" name="Text 15"/>
          <p:cNvSpPr/>
          <p:nvPr/>
        </p:nvSpPr>
        <p:spPr>
          <a:xfrm>
            <a:off x="829056" y="2535936"/>
            <a:ext cx="4754880" cy="536448"/>
          </a:xfrm>
          <a:prstGeom prst="rect">
            <a:avLst/>
          </a:prstGeom>
          <a:noFill/>
          <a:ln/>
        </p:spPr>
        <p:txBody>
          <a:bodyPr wrap="square" lIns="0" tIns="0" rIns="0" bIns="0" rtlCol="0" anchor="ctr"/>
          <a:lstStyle/>
          <a:p>
            <a:r>
              <a:rPr lang="en-US" sz="1600" i="1" dirty="0">
                <a:solidFill>
                  <a:srgbClr val="D97706"/>
                </a:solidFill>
                <a:latin typeface="Calibri" pitchFamily="34" charset="0"/>
                <a:ea typeface="Calibri" pitchFamily="34" charset="-122"/>
                <a:cs typeface="Calibri" pitchFamily="34" charset="-120"/>
              </a:rPr>
              <a:t>Limitation: All 10,080 training phrases synthetically generated via TTS + templates</a:t>
            </a:r>
            <a:endParaRPr lang="en-US" sz="1600" dirty="0"/>
          </a:p>
        </p:txBody>
      </p:sp>
      <p:sp>
        <p:nvSpPr>
          <p:cNvPr id="18" name="Text 16"/>
          <p:cNvSpPr/>
          <p:nvPr/>
        </p:nvSpPr>
        <p:spPr>
          <a:xfrm>
            <a:off x="6096000" y="2429577"/>
            <a:ext cx="4876800" cy="536448"/>
          </a:xfrm>
          <a:prstGeom prst="rect">
            <a:avLst/>
          </a:prstGeom>
          <a:noFill/>
          <a:ln/>
        </p:spPr>
        <p:txBody>
          <a:bodyPr wrap="square" lIns="0" tIns="0" rIns="0" bIns="0" rtlCol="0" anchor="ctr"/>
          <a:lstStyle/>
          <a:p>
            <a:r>
              <a:rPr lang="en-US" sz="1600" dirty="0">
                <a:solidFill>
                  <a:srgbClr val="475569"/>
                </a:solidFill>
                <a:latin typeface="Calibri" pitchFamily="34" charset="0"/>
                <a:ea typeface="Calibri" pitchFamily="34" charset="-122"/>
                <a:cs typeface="Calibri" pitchFamily="34" charset="-120"/>
              </a:rPr>
              <a:t>→ Record real guest requests across accent varieties. Retrain Model C to close the synthetic-data gap.</a:t>
            </a:r>
            <a:endParaRPr lang="en-US" sz="1600" dirty="0"/>
          </a:p>
        </p:txBody>
      </p:sp>
      <p:sp>
        <p:nvSpPr>
          <p:cNvPr id="19" name="Shape 17"/>
          <p:cNvSpPr/>
          <p:nvPr/>
        </p:nvSpPr>
        <p:spPr>
          <a:xfrm>
            <a:off x="609600" y="3267456"/>
            <a:ext cx="10972800" cy="999744"/>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20" name="Shape 18"/>
          <p:cNvSpPr/>
          <p:nvPr/>
        </p:nvSpPr>
        <p:spPr>
          <a:xfrm>
            <a:off x="609600" y="3267456"/>
            <a:ext cx="73152" cy="999744"/>
          </a:xfrm>
          <a:prstGeom prst="rect">
            <a:avLst/>
          </a:prstGeom>
          <a:solidFill>
            <a:schemeClr val="accent2">
              <a:lumMod val="60000"/>
              <a:lumOff val="40000"/>
            </a:schemeClr>
          </a:solidFill>
          <a:ln w="12700">
            <a:solidFill>
              <a:srgbClr val="FFFFFF"/>
            </a:solidFill>
            <a:prstDash val="solid"/>
          </a:ln>
        </p:spPr>
        <p:txBody>
          <a:bodyPr/>
          <a:lstStyle/>
          <a:p>
            <a:endParaRPr lang="en-US" sz="1600"/>
          </a:p>
        </p:txBody>
      </p:sp>
      <p:sp>
        <p:nvSpPr>
          <p:cNvPr id="23" name="Text 21"/>
          <p:cNvSpPr/>
          <p:nvPr/>
        </p:nvSpPr>
        <p:spPr>
          <a:xfrm>
            <a:off x="829056" y="3328416"/>
            <a:ext cx="9509760" cy="316992"/>
          </a:xfrm>
          <a:prstGeom prst="rect">
            <a:avLst/>
          </a:prstGeom>
          <a:noFill/>
          <a:ln/>
        </p:spPr>
        <p:txBody>
          <a:bodyPr wrap="square" lIns="0" tIns="0" rIns="0" bIns="0" rtlCol="0" anchor="ctr"/>
          <a:lstStyle/>
          <a:p>
            <a:r>
              <a:rPr lang="en-US" sz="1600" b="1" dirty="0">
                <a:solidFill>
                  <a:srgbClr val="0D2340"/>
                </a:solidFill>
                <a:latin typeface="Calibri" pitchFamily="34" charset="0"/>
                <a:ea typeface="Calibri" pitchFamily="34" charset="-122"/>
                <a:cs typeface="Calibri" pitchFamily="34" charset="-120"/>
              </a:rPr>
              <a:t>Proper WordPiece Tokenisation on Android</a:t>
            </a:r>
            <a:endParaRPr lang="en-US" sz="1600" dirty="0"/>
          </a:p>
        </p:txBody>
      </p:sp>
      <p:sp>
        <p:nvSpPr>
          <p:cNvPr id="24" name="Text 22"/>
          <p:cNvSpPr/>
          <p:nvPr/>
        </p:nvSpPr>
        <p:spPr>
          <a:xfrm>
            <a:off x="829056" y="3633216"/>
            <a:ext cx="4754880" cy="536448"/>
          </a:xfrm>
          <a:prstGeom prst="rect">
            <a:avLst/>
          </a:prstGeom>
          <a:noFill/>
          <a:ln/>
        </p:spPr>
        <p:txBody>
          <a:bodyPr wrap="square" lIns="0" tIns="0" rIns="0" bIns="0" rtlCol="0" anchor="ctr"/>
          <a:lstStyle/>
          <a:p>
            <a:r>
              <a:rPr lang="en-US" sz="1600" i="1" dirty="0">
                <a:solidFill>
                  <a:srgbClr val="D97706"/>
                </a:solidFill>
                <a:latin typeface="Calibri" pitchFamily="34" charset="0"/>
                <a:ea typeface="Calibri" pitchFamily="34" charset="-122"/>
                <a:cs typeface="Calibri" pitchFamily="34" charset="-120"/>
              </a:rPr>
              <a:t>Limitation: Simplified Kotlin tokeniser causes accuracy drop vs. Python pipeline</a:t>
            </a:r>
            <a:endParaRPr lang="en-US" sz="1600" dirty="0"/>
          </a:p>
        </p:txBody>
      </p:sp>
      <p:sp>
        <p:nvSpPr>
          <p:cNvPr id="25" name="Text 23"/>
          <p:cNvSpPr/>
          <p:nvPr/>
        </p:nvSpPr>
        <p:spPr>
          <a:xfrm>
            <a:off x="6100011" y="3547070"/>
            <a:ext cx="4876800" cy="536448"/>
          </a:xfrm>
          <a:prstGeom prst="rect">
            <a:avLst/>
          </a:prstGeom>
          <a:noFill/>
          <a:ln/>
        </p:spPr>
        <p:txBody>
          <a:bodyPr wrap="square" lIns="0" tIns="0" rIns="0" bIns="0" rtlCol="0" anchor="ctr"/>
          <a:lstStyle/>
          <a:p>
            <a:r>
              <a:rPr lang="en-US" sz="1600" dirty="0">
                <a:solidFill>
                  <a:srgbClr val="475569"/>
                </a:solidFill>
                <a:latin typeface="Calibri" pitchFamily="34" charset="0"/>
                <a:ea typeface="Calibri" pitchFamily="34" charset="-122"/>
                <a:cs typeface="Calibri" pitchFamily="34" charset="-120"/>
              </a:rPr>
              <a:t>→ Implement full HuggingFace WordPiece tokeniser in Android NLUService.kt.</a:t>
            </a:r>
            <a:endParaRPr lang="en-US" sz="1600" dirty="0"/>
          </a:p>
        </p:txBody>
      </p:sp>
      <p:sp>
        <p:nvSpPr>
          <p:cNvPr id="26" name="Shape 24"/>
          <p:cNvSpPr/>
          <p:nvPr/>
        </p:nvSpPr>
        <p:spPr>
          <a:xfrm>
            <a:off x="609600" y="4364736"/>
            <a:ext cx="10972800" cy="999744"/>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27" name="Shape 25"/>
          <p:cNvSpPr/>
          <p:nvPr/>
        </p:nvSpPr>
        <p:spPr>
          <a:xfrm>
            <a:off x="609600" y="4364736"/>
            <a:ext cx="73152" cy="999744"/>
          </a:xfrm>
          <a:prstGeom prst="rect">
            <a:avLst/>
          </a:prstGeom>
          <a:solidFill>
            <a:srgbClr val="D97706"/>
          </a:solidFill>
          <a:ln w="12700">
            <a:solidFill>
              <a:srgbClr val="FFFFFF"/>
            </a:solidFill>
            <a:prstDash val="solid"/>
          </a:ln>
        </p:spPr>
        <p:txBody>
          <a:bodyPr/>
          <a:lstStyle/>
          <a:p>
            <a:endParaRPr lang="en-US" sz="1600"/>
          </a:p>
        </p:txBody>
      </p:sp>
      <p:sp>
        <p:nvSpPr>
          <p:cNvPr id="30" name="Text 28"/>
          <p:cNvSpPr/>
          <p:nvPr/>
        </p:nvSpPr>
        <p:spPr>
          <a:xfrm>
            <a:off x="829056" y="4425696"/>
            <a:ext cx="9509760" cy="316992"/>
          </a:xfrm>
          <a:prstGeom prst="rect">
            <a:avLst/>
          </a:prstGeom>
          <a:noFill/>
          <a:ln/>
        </p:spPr>
        <p:txBody>
          <a:bodyPr wrap="square" lIns="0" tIns="0" rIns="0" bIns="0" rtlCol="0" anchor="ctr"/>
          <a:lstStyle/>
          <a:p>
            <a:r>
              <a:rPr lang="en-US" sz="1600" b="1" dirty="0">
                <a:solidFill>
                  <a:srgbClr val="0D2340"/>
                </a:solidFill>
                <a:latin typeface="Calibri" pitchFamily="34" charset="0"/>
                <a:ea typeface="Calibri" pitchFamily="34" charset="-122"/>
                <a:cs typeface="Calibri" pitchFamily="34" charset="-120"/>
              </a:rPr>
              <a:t>Multilingual Support (Sinhala, Tamil, etc.)</a:t>
            </a:r>
            <a:endParaRPr lang="en-US" sz="1600" dirty="0"/>
          </a:p>
        </p:txBody>
      </p:sp>
      <p:sp>
        <p:nvSpPr>
          <p:cNvPr id="31" name="Text 29"/>
          <p:cNvSpPr/>
          <p:nvPr/>
        </p:nvSpPr>
        <p:spPr>
          <a:xfrm>
            <a:off x="829056" y="4730496"/>
            <a:ext cx="4754880" cy="536448"/>
          </a:xfrm>
          <a:prstGeom prst="rect">
            <a:avLst/>
          </a:prstGeom>
          <a:noFill/>
          <a:ln/>
        </p:spPr>
        <p:txBody>
          <a:bodyPr wrap="square" lIns="0" tIns="0" rIns="0" bIns="0" rtlCol="0" anchor="ctr"/>
          <a:lstStyle/>
          <a:p>
            <a:r>
              <a:rPr lang="en-US" sz="1600" i="1" dirty="0">
                <a:solidFill>
                  <a:srgbClr val="D97706"/>
                </a:solidFill>
                <a:latin typeface="Calibri" pitchFamily="34" charset="0"/>
                <a:ea typeface="Calibri" pitchFamily="34" charset="-122"/>
                <a:cs typeface="Calibri" pitchFamily="34" charset="-120"/>
              </a:rPr>
              <a:t>Limitation: System supports English with Sri Lankan accents only</a:t>
            </a:r>
            <a:endParaRPr lang="en-US" sz="1600" dirty="0"/>
          </a:p>
        </p:txBody>
      </p:sp>
      <p:sp>
        <p:nvSpPr>
          <p:cNvPr id="32" name="Text 30"/>
          <p:cNvSpPr/>
          <p:nvPr/>
        </p:nvSpPr>
        <p:spPr>
          <a:xfrm>
            <a:off x="6096000" y="4610341"/>
            <a:ext cx="4876800" cy="536448"/>
          </a:xfrm>
          <a:prstGeom prst="rect">
            <a:avLst/>
          </a:prstGeom>
          <a:noFill/>
          <a:ln/>
        </p:spPr>
        <p:txBody>
          <a:bodyPr wrap="square" lIns="0" tIns="0" rIns="0" bIns="0" rtlCol="0" anchor="ctr"/>
          <a:lstStyle/>
          <a:p>
            <a:r>
              <a:rPr lang="en-US" sz="1600" dirty="0">
                <a:solidFill>
                  <a:srgbClr val="475569"/>
                </a:solidFill>
                <a:latin typeface="Calibri" pitchFamily="34" charset="0"/>
                <a:ea typeface="Calibri" pitchFamily="34" charset="-122"/>
                <a:cs typeface="Calibri" pitchFamily="34" charset="-120"/>
              </a:rPr>
              <a:t>→ Extend with multilingual Vosk models and retrain NLU on Sinhala/Tamil intent phrases.</a:t>
            </a:r>
            <a:endParaRPr lang="en-US" sz="1600" dirty="0"/>
          </a:p>
        </p:txBody>
      </p:sp>
      <p:sp>
        <p:nvSpPr>
          <p:cNvPr id="33" name="Shape 31"/>
          <p:cNvSpPr/>
          <p:nvPr/>
        </p:nvSpPr>
        <p:spPr>
          <a:xfrm>
            <a:off x="609600" y="5462016"/>
            <a:ext cx="10972800" cy="999744"/>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34" name="Shape 32"/>
          <p:cNvSpPr/>
          <p:nvPr/>
        </p:nvSpPr>
        <p:spPr>
          <a:xfrm>
            <a:off x="609600" y="5462016"/>
            <a:ext cx="73152" cy="999744"/>
          </a:xfrm>
          <a:prstGeom prst="rect">
            <a:avLst/>
          </a:prstGeom>
          <a:solidFill>
            <a:schemeClr val="accent6">
              <a:lumMod val="75000"/>
            </a:schemeClr>
          </a:solidFill>
          <a:ln w="12700">
            <a:solidFill>
              <a:srgbClr val="FFFFFF"/>
            </a:solidFill>
            <a:prstDash val="solid"/>
          </a:ln>
        </p:spPr>
        <p:txBody>
          <a:bodyPr/>
          <a:lstStyle/>
          <a:p>
            <a:endParaRPr lang="en-US" sz="1600"/>
          </a:p>
        </p:txBody>
      </p:sp>
      <p:sp>
        <p:nvSpPr>
          <p:cNvPr id="37" name="Text 35"/>
          <p:cNvSpPr/>
          <p:nvPr/>
        </p:nvSpPr>
        <p:spPr>
          <a:xfrm>
            <a:off x="829056" y="5522976"/>
            <a:ext cx="9509760" cy="316992"/>
          </a:xfrm>
          <a:prstGeom prst="rect">
            <a:avLst/>
          </a:prstGeom>
          <a:noFill/>
          <a:ln/>
        </p:spPr>
        <p:txBody>
          <a:bodyPr wrap="square" lIns="0" tIns="0" rIns="0" bIns="0" rtlCol="0" anchor="ctr"/>
          <a:lstStyle/>
          <a:p>
            <a:r>
              <a:rPr lang="en-US" sz="1600" b="1" dirty="0">
                <a:solidFill>
                  <a:srgbClr val="0D2340"/>
                </a:solidFill>
                <a:latin typeface="Calibri" pitchFamily="34" charset="0"/>
                <a:ea typeface="Calibri" pitchFamily="34" charset="-122"/>
                <a:cs typeface="Calibri" pitchFamily="34" charset="-120"/>
              </a:rPr>
              <a:t>Improve NLU Layer</a:t>
            </a:r>
            <a:endParaRPr lang="en-US" sz="1600" dirty="0"/>
          </a:p>
        </p:txBody>
      </p:sp>
      <p:sp>
        <p:nvSpPr>
          <p:cNvPr id="38" name="Text 36"/>
          <p:cNvSpPr/>
          <p:nvPr/>
        </p:nvSpPr>
        <p:spPr>
          <a:xfrm>
            <a:off x="829056" y="5827776"/>
            <a:ext cx="4754880" cy="536448"/>
          </a:xfrm>
          <a:prstGeom prst="rect">
            <a:avLst/>
          </a:prstGeom>
          <a:noFill/>
          <a:ln/>
        </p:spPr>
        <p:txBody>
          <a:bodyPr wrap="square" lIns="0" tIns="0" rIns="0" bIns="0" rtlCol="0" anchor="ctr"/>
          <a:lstStyle/>
          <a:p>
            <a:r>
              <a:rPr lang="en-US" sz="1600" i="1" dirty="0">
                <a:solidFill>
                  <a:srgbClr val="D97706"/>
                </a:solidFill>
                <a:latin typeface="Calibri" pitchFamily="34" charset="0"/>
                <a:ea typeface="Calibri" pitchFamily="34" charset="-122"/>
                <a:cs typeface="Calibri" pitchFamily="34" charset="-120"/>
              </a:rPr>
              <a:t>Limitation: High WER in some categories</a:t>
            </a:r>
            <a:endParaRPr lang="en-US" sz="1600" dirty="0"/>
          </a:p>
        </p:txBody>
      </p:sp>
      <p:sp>
        <p:nvSpPr>
          <p:cNvPr id="39" name="Text 37"/>
          <p:cNvSpPr/>
          <p:nvPr/>
        </p:nvSpPr>
        <p:spPr>
          <a:xfrm>
            <a:off x="6144768" y="5715963"/>
            <a:ext cx="5437632" cy="536448"/>
          </a:xfrm>
          <a:prstGeom prst="rect">
            <a:avLst/>
          </a:prstGeom>
          <a:noFill/>
          <a:ln/>
        </p:spPr>
        <p:txBody>
          <a:bodyPr wrap="square" lIns="0" tIns="0" rIns="0" bIns="0" rtlCol="0" anchor="ctr"/>
          <a:lstStyle/>
          <a:p>
            <a:r>
              <a:rPr lang="en-US" sz="1600" dirty="0">
                <a:solidFill>
                  <a:srgbClr val="475569"/>
                </a:solidFill>
                <a:latin typeface="Calibri" pitchFamily="34" charset="0"/>
                <a:ea typeface="Calibri" pitchFamily="34" charset="-122"/>
                <a:cs typeface="Calibri" pitchFamily="34" charset="-120"/>
              </a:rPr>
              <a:t>→ Train hospitality-specific </a:t>
            </a:r>
            <a:r>
              <a:rPr lang="en-US" sz="1600" dirty="0" err="1">
                <a:solidFill>
                  <a:srgbClr val="475569"/>
                </a:solidFill>
                <a:latin typeface="Calibri" pitchFamily="34" charset="0"/>
                <a:ea typeface="Calibri" pitchFamily="34" charset="-122"/>
                <a:cs typeface="Calibri" pitchFamily="34" charset="-120"/>
              </a:rPr>
              <a:t>Vosk</a:t>
            </a:r>
            <a:r>
              <a:rPr lang="en-US" sz="1600" dirty="0">
                <a:solidFill>
                  <a:srgbClr val="475569"/>
                </a:solidFill>
                <a:latin typeface="Calibri" pitchFamily="34" charset="0"/>
                <a:ea typeface="Calibri" pitchFamily="34" charset="-122"/>
                <a:cs typeface="Calibri" pitchFamily="34" charset="-120"/>
              </a:rPr>
              <a:t> language models, Out-of-scope intent detection, Multi-step conversational request handling.</a:t>
            </a:r>
            <a:endParaRPr lang="en-US" sz="1600" dirty="0"/>
          </a:p>
        </p:txBody>
      </p:sp>
      <p:sp>
        <p:nvSpPr>
          <p:cNvPr id="40" name="Title 1">
            <a:extLst>
              <a:ext uri="{FF2B5EF4-FFF2-40B4-BE49-F238E27FC236}">
                <a16:creationId xmlns:a16="http://schemas.microsoft.com/office/drawing/2014/main" id="{D5024C71-89FF-9268-4BA5-86A4CC504FF5}"/>
              </a:ext>
            </a:extLst>
          </p:cNvPr>
          <p:cNvSpPr txBox="1">
            <a:spLocks/>
          </p:cNvSpPr>
          <p:nvPr/>
        </p:nvSpPr>
        <p:spPr>
          <a:xfrm>
            <a:off x="418057" y="254635"/>
            <a:ext cx="11453421" cy="720725"/>
          </a:xfrm>
          <a:prstGeom prst="rect">
            <a:avLst/>
          </a:prstGeom>
        </p:spPr>
        <p:txBody>
          <a:bodyPr/>
          <a:lstStyle>
            <a:lvl1pPr algn="l" defTabSz="914400" rtl="0" eaLnBrk="1" latinLnBrk="0" hangingPunct="1">
              <a:lnSpc>
                <a:spcPct val="90000"/>
              </a:lnSpc>
              <a:spcBef>
                <a:spcPct val="0"/>
              </a:spcBef>
              <a:buNone/>
              <a:defRPr sz="4400" kern="1200">
                <a:solidFill>
                  <a:srgbClr val="1B2A4A"/>
                </a:solidFill>
                <a:latin typeface="+mj-lt"/>
                <a:ea typeface="+mj-ea"/>
                <a:cs typeface="+mj-cs"/>
              </a:defRPr>
            </a:lvl1pPr>
          </a:lstStyle>
          <a:p>
            <a:r>
              <a:rPr lang="en-US" dirty="0"/>
              <a:t>Critical Appraisal - </a:t>
            </a:r>
            <a:r>
              <a:rPr lang="en-US" sz="3200" dirty="0"/>
              <a:t>Suggestions for Future Research</a:t>
            </a:r>
          </a:p>
          <a:p>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 name="Picture 39">
            <a:extLst>
              <a:ext uri="{FF2B5EF4-FFF2-40B4-BE49-F238E27FC236}">
                <a16:creationId xmlns:a16="http://schemas.microsoft.com/office/drawing/2014/main" id="{E3235893-A022-799C-5CA2-F9EAE3C786C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6" name="Text 4"/>
          <p:cNvSpPr/>
          <p:nvPr/>
        </p:nvSpPr>
        <p:spPr>
          <a:xfrm>
            <a:off x="682752" y="1562982"/>
            <a:ext cx="10850880" cy="1225134"/>
          </a:xfrm>
          <a:prstGeom prst="rect">
            <a:avLst/>
          </a:prstGeom>
          <a:noFill/>
          <a:ln/>
        </p:spPr>
        <p:txBody>
          <a:bodyPr wrap="square" rtlCol="0" anchor="ctr"/>
          <a:lstStyle/>
          <a:p>
            <a:pPr algn="ctr"/>
            <a:r>
              <a:rPr lang="en-US" i="1" dirty="0">
                <a:solidFill>
                  <a:srgbClr val="FFFFFF"/>
                </a:solidFill>
                <a:latin typeface="Calibri" pitchFamily="34" charset="0"/>
                <a:ea typeface="Calibri" pitchFamily="34" charset="-122"/>
                <a:cs typeface="Calibri" pitchFamily="34" charset="-120"/>
              </a:rPr>
              <a:t>"Can a fully offline, low-cost voice assistant achieve sufficient technical performance to be a viable alternative to traditional hotel room service communication?"</a:t>
            </a:r>
            <a:endParaRPr lang="en-US" dirty="0"/>
          </a:p>
        </p:txBody>
      </p:sp>
      <p:sp>
        <p:nvSpPr>
          <p:cNvPr id="9" name="Shape 7"/>
          <p:cNvSpPr/>
          <p:nvPr/>
        </p:nvSpPr>
        <p:spPr>
          <a:xfrm>
            <a:off x="6258344" y="1215189"/>
            <a:ext cx="2615184" cy="2394284"/>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2400"/>
          </a:p>
        </p:txBody>
      </p:sp>
      <p:sp>
        <p:nvSpPr>
          <p:cNvPr id="10" name="Shape 8"/>
          <p:cNvSpPr/>
          <p:nvPr/>
        </p:nvSpPr>
        <p:spPr>
          <a:xfrm>
            <a:off x="6258344" y="1215189"/>
            <a:ext cx="2615184" cy="438912"/>
          </a:xfrm>
          <a:prstGeom prst="rect">
            <a:avLst/>
          </a:prstGeom>
          <a:solidFill>
            <a:srgbClr val="0D2340"/>
          </a:solidFill>
          <a:ln w="12700">
            <a:solidFill>
              <a:srgbClr val="FFFFFF"/>
            </a:solidFill>
            <a:prstDash val="solid"/>
          </a:ln>
        </p:spPr>
        <p:txBody>
          <a:bodyPr/>
          <a:lstStyle/>
          <a:p>
            <a:endParaRPr lang="en-US" sz="2400"/>
          </a:p>
        </p:txBody>
      </p:sp>
      <p:sp>
        <p:nvSpPr>
          <p:cNvPr id="11" name="Text 9"/>
          <p:cNvSpPr/>
          <p:nvPr/>
        </p:nvSpPr>
        <p:spPr>
          <a:xfrm>
            <a:off x="6346144" y="1239573"/>
            <a:ext cx="2470898" cy="390144"/>
          </a:xfrm>
          <a:prstGeom prst="rect">
            <a:avLst/>
          </a:prstGeom>
          <a:noFill/>
          <a:ln/>
        </p:spPr>
        <p:txBody>
          <a:bodyPr wrap="square" rtlCol="0" anchor="ctr"/>
          <a:lstStyle/>
          <a:p>
            <a:pPr algn="ctr"/>
            <a:r>
              <a:rPr lang="en-US" sz="1733" b="1" dirty="0">
                <a:solidFill>
                  <a:srgbClr val="FFFFFF"/>
                </a:solidFill>
              </a:rPr>
              <a:t>99.06%</a:t>
            </a:r>
            <a:endParaRPr lang="en-US" sz="1733" dirty="0"/>
          </a:p>
        </p:txBody>
      </p:sp>
      <p:sp>
        <p:nvSpPr>
          <p:cNvPr id="12" name="Text 10"/>
          <p:cNvSpPr/>
          <p:nvPr/>
        </p:nvSpPr>
        <p:spPr>
          <a:xfrm>
            <a:off x="6346144" y="1702869"/>
            <a:ext cx="2470898" cy="487680"/>
          </a:xfrm>
          <a:prstGeom prst="rect">
            <a:avLst/>
          </a:prstGeom>
          <a:noFill/>
          <a:ln/>
        </p:spPr>
        <p:txBody>
          <a:bodyPr wrap="square" rtlCol="0" anchor="ctr"/>
          <a:lstStyle/>
          <a:p>
            <a:pPr algn="ctr"/>
            <a:r>
              <a:rPr lang="en-US" sz="2667" b="1" dirty="0">
                <a:solidFill>
                  <a:srgbClr val="0E7490"/>
                </a:solidFill>
                <a:latin typeface="Calibri" pitchFamily="34" charset="0"/>
                <a:ea typeface="Calibri" pitchFamily="34" charset="-122"/>
                <a:cs typeface="Calibri" pitchFamily="34" charset="-120"/>
              </a:rPr>
              <a:t>NLU Accuracy</a:t>
            </a:r>
            <a:endParaRPr lang="en-US" sz="2667" dirty="0"/>
          </a:p>
        </p:txBody>
      </p:sp>
      <p:sp>
        <p:nvSpPr>
          <p:cNvPr id="13" name="Text 11"/>
          <p:cNvSpPr/>
          <p:nvPr/>
        </p:nvSpPr>
        <p:spPr>
          <a:xfrm>
            <a:off x="6258344" y="2239317"/>
            <a:ext cx="2558698" cy="1370156"/>
          </a:xfrm>
          <a:prstGeom prst="rect">
            <a:avLst/>
          </a:prstGeom>
          <a:noFill/>
          <a:ln/>
        </p:spPr>
        <p:txBody>
          <a:bodyPr wrap="square" rtlCol="0" anchor="ctr"/>
          <a:lstStyle/>
          <a:p>
            <a:pPr algn="ctr"/>
            <a:r>
              <a:rPr lang="en-US" sz="1600" dirty="0">
                <a:solidFill>
                  <a:srgbClr val="475569"/>
                </a:solidFill>
              </a:rPr>
              <a:t>Model C on real Vosk output</a:t>
            </a:r>
            <a:endParaRPr lang="en-US" sz="1600" dirty="0"/>
          </a:p>
          <a:p>
            <a:pPr algn="ctr"/>
            <a:r>
              <a:rPr lang="en-US" sz="1600" dirty="0">
                <a:solidFill>
                  <a:srgbClr val="475569"/>
                </a:solidFill>
              </a:rPr>
              <a:t>Exceeds 90% target by 9+ pp</a:t>
            </a:r>
            <a:endParaRPr lang="en-US" sz="1600" dirty="0"/>
          </a:p>
        </p:txBody>
      </p:sp>
      <p:sp>
        <p:nvSpPr>
          <p:cNvPr id="14" name="Shape 12"/>
          <p:cNvSpPr/>
          <p:nvPr/>
        </p:nvSpPr>
        <p:spPr>
          <a:xfrm>
            <a:off x="9139722" y="1215188"/>
            <a:ext cx="2438720" cy="2394283"/>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2400"/>
          </a:p>
        </p:txBody>
      </p:sp>
      <p:sp>
        <p:nvSpPr>
          <p:cNvPr id="15" name="Shape 13"/>
          <p:cNvSpPr/>
          <p:nvPr/>
        </p:nvSpPr>
        <p:spPr>
          <a:xfrm>
            <a:off x="9139722" y="1215189"/>
            <a:ext cx="2438720" cy="428094"/>
          </a:xfrm>
          <a:prstGeom prst="rect">
            <a:avLst/>
          </a:prstGeom>
          <a:solidFill>
            <a:srgbClr val="0D2340"/>
          </a:solidFill>
          <a:ln w="12700">
            <a:solidFill>
              <a:srgbClr val="FFFFFF"/>
            </a:solidFill>
            <a:prstDash val="solid"/>
          </a:ln>
        </p:spPr>
        <p:txBody>
          <a:bodyPr/>
          <a:lstStyle/>
          <a:p>
            <a:endParaRPr lang="en-US" sz="2400"/>
          </a:p>
        </p:txBody>
      </p:sp>
      <p:sp>
        <p:nvSpPr>
          <p:cNvPr id="16" name="Text 14"/>
          <p:cNvSpPr/>
          <p:nvPr/>
        </p:nvSpPr>
        <p:spPr>
          <a:xfrm>
            <a:off x="9227522" y="1239573"/>
            <a:ext cx="2304170" cy="380528"/>
          </a:xfrm>
          <a:prstGeom prst="rect">
            <a:avLst/>
          </a:prstGeom>
          <a:noFill/>
          <a:ln/>
        </p:spPr>
        <p:txBody>
          <a:bodyPr wrap="square" rtlCol="0" anchor="ctr"/>
          <a:lstStyle/>
          <a:p>
            <a:pPr algn="ctr"/>
            <a:r>
              <a:rPr lang="en-US" sz="1733" b="1" dirty="0">
                <a:solidFill>
                  <a:srgbClr val="FFFFFF"/>
                </a:solidFill>
              </a:rPr>
              <a:t>2.8s</a:t>
            </a:r>
            <a:endParaRPr lang="en-US" sz="1733" dirty="0"/>
          </a:p>
        </p:txBody>
      </p:sp>
      <p:sp>
        <p:nvSpPr>
          <p:cNvPr id="17" name="Text 15"/>
          <p:cNvSpPr/>
          <p:nvPr/>
        </p:nvSpPr>
        <p:spPr>
          <a:xfrm>
            <a:off x="9227522" y="1702869"/>
            <a:ext cx="2304170" cy="475660"/>
          </a:xfrm>
          <a:prstGeom prst="rect">
            <a:avLst/>
          </a:prstGeom>
          <a:noFill/>
          <a:ln/>
        </p:spPr>
        <p:txBody>
          <a:bodyPr wrap="square" rtlCol="0" anchor="ctr"/>
          <a:lstStyle/>
          <a:p>
            <a:pPr algn="ctr"/>
            <a:r>
              <a:rPr lang="en-US" sz="2667" b="1" dirty="0">
                <a:solidFill>
                  <a:srgbClr val="0E7490"/>
                </a:solidFill>
                <a:latin typeface="Calibri" pitchFamily="34" charset="0"/>
                <a:ea typeface="Calibri" pitchFamily="34" charset="-122"/>
                <a:cs typeface="Calibri" pitchFamily="34" charset="-120"/>
              </a:rPr>
              <a:t>P95 Latency</a:t>
            </a:r>
            <a:endParaRPr lang="en-US" sz="2667" dirty="0"/>
          </a:p>
        </p:txBody>
      </p:sp>
      <p:sp>
        <p:nvSpPr>
          <p:cNvPr id="18" name="Text 16"/>
          <p:cNvSpPr/>
          <p:nvPr/>
        </p:nvSpPr>
        <p:spPr>
          <a:xfrm>
            <a:off x="9139722" y="2238781"/>
            <a:ext cx="2438720" cy="1370690"/>
          </a:xfrm>
          <a:prstGeom prst="rect">
            <a:avLst/>
          </a:prstGeom>
          <a:noFill/>
          <a:ln/>
        </p:spPr>
        <p:txBody>
          <a:bodyPr wrap="square" rtlCol="0" anchor="ctr"/>
          <a:lstStyle/>
          <a:p>
            <a:pPr algn="ctr"/>
            <a:r>
              <a:rPr lang="en-US" sz="1600" dirty="0">
                <a:solidFill>
                  <a:srgbClr val="475569"/>
                </a:solidFill>
              </a:rPr>
              <a:t>Well under 5-second target</a:t>
            </a:r>
            <a:endParaRPr lang="en-US" sz="1600" dirty="0"/>
          </a:p>
          <a:p>
            <a:pPr algn="ctr"/>
            <a:r>
              <a:rPr lang="en-US" sz="1600" dirty="0">
                <a:solidFill>
                  <a:srgbClr val="475569"/>
                </a:solidFill>
              </a:rPr>
              <a:t>Full pipeline end-to-end</a:t>
            </a:r>
            <a:endParaRPr lang="en-US" sz="1600" dirty="0"/>
          </a:p>
        </p:txBody>
      </p:sp>
      <p:sp>
        <p:nvSpPr>
          <p:cNvPr id="19" name="Shape 17"/>
          <p:cNvSpPr/>
          <p:nvPr/>
        </p:nvSpPr>
        <p:spPr>
          <a:xfrm>
            <a:off x="3304725" y="1215189"/>
            <a:ext cx="2687425" cy="2394284"/>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2400"/>
          </a:p>
        </p:txBody>
      </p:sp>
      <p:sp>
        <p:nvSpPr>
          <p:cNvPr id="20" name="Shape 18"/>
          <p:cNvSpPr/>
          <p:nvPr/>
        </p:nvSpPr>
        <p:spPr>
          <a:xfrm>
            <a:off x="3304725" y="1215189"/>
            <a:ext cx="2687425" cy="438912"/>
          </a:xfrm>
          <a:prstGeom prst="rect">
            <a:avLst/>
          </a:prstGeom>
          <a:solidFill>
            <a:srgbClr val="0D2340"/>
          </a:solidFill>
          <a:ln w="12700">
            <a:solidFill>
              <a:srgbClr val="FFFFFF"/>
            </a:solidFill>
            <a:prstDash val="solid"/>
          </a:ln>
        </p:spPr>
        <p:txBody>
          <a:bodyPr/>
          <a:lstStyle/>
          <a:p>
            <a:endParaRPr lang="en-US" sz="2400"/>
          </a:p>
        </p:txBody>
      </p:sp>
      <p:sp>
        <p:nvSpPr>
          <p:cNvPr id="21" name="Text 19"/>
          <p:cNvSpPr/>
          <p:nvPr/>
        </p:nvSpPr>
        <p:spPr>
          <a:xfrm>
            <a:off x="3396512" y="1239573"/>
            <a:ext cx="2539153" cy="390144"/>
          </a:xfrm>
          <a:prstGeom prst="rect">
            <a:avLst/>
          </a:prstGeom>
          <a:noFill/>
          <a:ln/>
        </p:spPr>
        <p:txBody>
          <a:bodyPr wrap="square" rtlCol="0" anchor="ctr"/>
          <a:lstStyle/>
          <a:p>
            <a:pPr algn="ctr"/>
            <a:r>
              <a:rPr lang="en-US" sz="1733" b="1" dirty="0">
                <a:solidFill>
                  <a:srgbClr val="FFFFFF"/>
                </a:solidFill>
              </a:rPr>
              <a:t>$21–59</a:t>
            </a:r>
            <a:endParaRPr lang="en-US" sz="1733" dirty="0"/>
          </a:p>
        </p:txBody>
      </p:sp>
      <p:sp>
        <p:nvSpPr>
          <p:cNvPr id="22" name="Text 20"/>
          <p:cNvSpPr/>
          <p:nvPr/>
        </p:nvSpPr>
        <p:spPr>
          <a:xfrm>
            <a:off x="3396512" y="1702869"/>
            <a:ext cx="2539153" cy="487680"/>
          </a:xfrm>
          <a:prstGeom prst="rect">
            <a:avLst/>
          </a:prstGeom>
          <a:noFill/>
          <a:ln/>
        </p:spPr>
        <p:txBody>
          <a:bodyPr wrap="square" rtlCol="0" anchor="ctr"/>
          <a:lstStyle/>
          <a:p>
            <a:pPr algn="ctr"/>
            <a:r>
              <a:rPr lang="en-US" sz="2667" b="1" dirty="0">
                <a:solidFill>
                  <a:srgbClr val="0E7490"/>
                </a:solidFill>
                <a:latin typeface="Calibri" pitchFamily="34" charset="0"/>
                <a:ea typeface="Calibri" pitchFamily="34" charset="-122"/>
                <a:cs typeface="Calibri" pitchFamily="34" charset="-120"/>
              </a:rPr>
              <a:t>/room/year</a:t>
            </a:r>
            <a:endParaRPr lang="en-US" sz="2667" dirty="0"/>
          </a:p>
        </p:txBody>
      </p:sp>
      <p:sp>
        <p:nvSpPr>
          <p:cNvPr id="23" name="Text 21"/>
          <p:cNvSpPr/>
          <p:nvPr/>
        </p:nvSpPr>
        <p:spPr>
          <a:xfrm>
            <a:off x="3396512" y="2239317"/>
            <a:ext cx="2539153" cy="1201714"/>
          </a:xfrm>
          <a:prstGeom prst="rect">
            <a:avLst/>
          </a:prstGeom>
          <a:noFill/>
          <a:ln/>
        </p:spPr>
        <p:txBody>
          <a:bodyPr wrap="square" rtlCol="0" anchor="ctr"/>
          <a:lstStyle/>
          <a:p>
            <a:pPr algn="ctr"/>
            <a:r>
              <a:rPr lang="en-US" sz="1600" dirty="0">
                <a:solidFill>
                  <a:srgbClr val="475569"/>
                </a:solidFill>
              </a:rPr>
              <a:t>3-year TCO, 50-room hotel</a:t>
            </a:r>
            <a:endParaRPr lang="en-US" sz="1600" dirty="0"/>
          </a:p>
          <a:p>
            <a:pPr algn="ctr"/>
            <a:r>
              <a:rPr lang="en-US" sz="1600" dirty="0">
                <a:solidFill>
                  <a:srgbClr val="475569"/>
                </a:solidFill>
              </a:rPr>
              <a:t>Cheaper than cloud</a:t>
            </a:r>
            <a:endParaRPr lang="en-US" sz="1600" dirty="0"/>
          </a:p>
        </p:txBody>
      </p:sp>
      <p:sp>
        <p:nvSpPr>
          <p:cNvPr id="27" name="Title 1">
            <a:extLst>
              <a:ext uri="{FF2B5EF4-FFF2-40B4-BE49-F238E27FC236}">
                <a16:creationId xmlns:a16="http://schemas.microsoft.com/office/drawing/2014/main" id="{4EAD0194-60DC-6F35-7260-0900C4F63B4C}"/>
              </a:ext>
            </a:extLst>
          </p:cNvPr>
          <p:cNvSpPr txBox="1">
            <a:spLocks/>
          </p:cNvSpPr>
          <p:nvPr/>
        </p:nvSpPr>
        <p:spPr>
          <a:xfrm>
            <a:off x="511743" y="230251"/>
            <a:ext cx="10515600" cy="812165"/>
          </a:xfrm>
          <a:prstGeom prst="rect">
            <a:avLst/>
          </a:prstGeom>
        </p:spPr>
        <p:txBody>
          <a:bodyPr/>
          <a:lstStyle>
            <a:lvl1pPr algn="l" defTabSz="914400" rtl="0" eaLnBrk="1" latinLnBrk="0" hangingPunct="1">
              <a:lnSpc>
                <a:spcPct val="90000"/>
              </a:lnSpc>
              <a:spcBef>
                <a:spcPct val="0"/>
              </a:spcBef>
              <a:buNone/>
              <a:defRPr sz="4400" kern="1200">
                <a:solidFill>
                  <a:srgbClr val="1B2A4A"/>
                </a:solidFill>
                <a:latin typeface="+mj-lt"/>
                <a:ea typeface="+mj-ea"/>
                <a:cs typeface="+mj-cs"/>
              </a:defRPr>
            </a:lvl1pPr>
          </a:lstStyle>
          <a:p>
            <a:r>
              <a:rPr lang="en-US"/>
              <a:t>Conclusion - Summary of Findings</a:t>
            </a:r>
            <a:endParaRPr lang="en-US" dirty="0"/>
          </a:p>
        </p:txBody>
      </p:sp>
      <p:sp>
        <p:nvSpPr>
          <p:cNvPr id="28" name="Shape 17">
            <a:extLst>
              <a:ext uri="{FF2B5EF4-FFF2-40B4-BE49-F238E27FC236}">
                <a16:creationId xmlns:a16="http://schemas.microsoft.com/office/drawing/2014/main" id="{9E8DD1B3-A6B5-7F95-4796-84861614CA2E}"/>
              </a:ext>
            </a:extLst>
          </p:cNvPr>
          <p:cNvSpPr/>
          <p:nvPr/>
        </p:nvSpPr>
        <p:spPr>
          <a:xfrm>
            <a:off x="605641" y="1204371"/>
            <a:ext cx="2491497" cy="2405102"/>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2400"/>
          </a:p>
        </p:txBody>
      </p:sp>
      <p:sp>
        <p:nvSpPr>
          <p:cNvPr id="29" name="Shape 18">
            <a:extLst>
              <a:ext uri="{FF2B5EF4-FFF2-40B4-BE49-F238E27FC236}">
                <a16:creationId xmlns:a16="http://schemas.microsoft.com/office/drawing/2014/main" id="{2FFAD871-7466-8A4E-D7DB-B32C55571762}"/>
              </a:ext>
            </a:extLst>
          </p:cNvPr>
          <p:cNvSpPr/>
          <p:nvPr/>
        </p:nvSpPr>
        <p:spPr>
          <a:xfrm>
            <a:off x="605641" y="1204371"/>
            <a:ext cx="2491497" cy="438912"/>
          </a:xfrm>
          <a:prstGeom prst="rect">
            <a:avLst/>
          </a:prstGeom>
          <a:solidFill>
            <a:srgbClr val="0D2340"/>
          </a:solidFill>
          <a:ln w="12700">
            <a:solidFill>
              <a:srgbClr val="FFFFFF"/>
            </a:solidFill>
            <a:prstDash val="solid"/>
          </a:ln>
        </p:spPr>
        <p:txBody>
          <a:bodyPr/>
          <a:lstStyle/>
          <a:p>
            <a:endParaRPr lang="en-US" sz="2400"/>
          </a:p>
        </p:txBody>
      </p:sp>
      <p:sp>
        <p:nvSpPr>
          <p:cNvPr id="30" name="Text 19">
            <a:extLst>
              <a:ext uri="{FF2B5EF4-FFF2-40B4-BE49-F238E27FC236}">
                <a16:creationId xmlns:a16="http://schemas.microsoft.com/office/drawing/2014/main" id="{C8173CA1-1800-C3C6-C2BA-C01117AAC468}"/>
              </a:ext>
            </a:extLst>
          </p:cNvPr>
          <p:cNvSpPr/>
          <p:nvPr/>
        </p:nvSpPr>
        <p:spPr>
          <a:xfrm>
            <a:off x="684174" y="1228755"/>
            <a:ext cx="2354035" cy="390144"/>
          </a:xfrm>
          <a:prstGeom prst="rect">
            <a:avLst/>
          </a:prstGeom>
          <a:noFill/>
          <a:ln/>
        </p:spPr>
        <p:txBody>
          <a:bodyPr wrap="square" rtlCol="0" anchor="ctr"/>
          <a:lstStyle/>
          <a:p>
            <a:pPr algn="ctr"/>
            <a:r>
              <a:rPr lang="en-US" sz="1733" b="1" dirty="0">
                <a:solidFill>
                  <a:srgbClr val="FFFFFF"/>
                </a:solidFill>
              </a:rPr>
              <a:t>100%</a:t>
            </a:r>
            <a:endParaRPr lang="en-US" sz="1733" dirty="0"/>
          </a:p>
        </p:txBody>
      </p:sp>
      <p:sp>
        <p:nvSpPr>
          <p:cNvPr id="31" name="Text 20">
            <a:extLst>
              <a:ext uri="{FF2B5EF4-FFF2-40B4-BE49-F238E27FC236}">
                <a16:creationId xmlns:a16="http://schemas.microsoft.com/office/drawing/2014/main" id="{567A1DF2-AEA6-147E-76F6-7F4E246535C1}"/>
              </a:ext>
            </a:extLst>
          </p:cNvPr>
          <p:cNvSpPr/>
          <p:nvPr/>
        </p:nvSpPr>
        <p:spPr>
          <a:xfrm>
            <a:off x="684174" y="1692051"/>
            <a:ext cx="2354035" cy="487680"/>
          </a:xfrm>
          <a:prstGeom prst="rect">
            <a:avLst/>
          </a:prstGeom>
          <a:noFill/>
          <a:ln/>
        </p:spPr>
        <p:txBody>
          <a:bodyPr wrap="square" rtlCol="0" anchor="ctr"/>
          <a:lstStyle/>
          <a:p>
            <a:pPr algn="ctr"/>
            <a:r>
              <a:rPr lang="en-US" sz="2667" b="1" dirty="0">
                <a:solidFill>
                  <a:srgbClr val="0E7490"/>
                </a:solidFill>
                <a:latin typeface="Calibri" pitchFamily="34" charset="0"/>
                <a:ea typeface="Calibri" pitchFamily="34" charset="-122"/>
                <a:cs typeface="Calibri" pitchFamily="34" charset="-120"/>
              </a:rPr>
              <a:t>Offline</a:t>
            </a:r>
            <a:endParaRPr lang="en-US" sz="2667" dirty="0"/>
          </a:p>
        </p:txBody>
      </p:sp>
      <p:sp>
        <p:nvSpPr>
          <p:cNvPr id="32" name="Text 21">
            <a:extLst>
              <a:ext uri="{FF2B5EF4-FFF2-40B4-BE49-F238E27FC236}">
                <a16:creationId xmlns:a16="http://schemas.microsoft.com/office/drawing/2014/main" id="{4A13731D-163C-8F94-3533-5D097AD9BC61}"/>
              </a:ext>
            </a:extLst>
          </p:cNvPr>
          <p:cNvSpPr/>
          <p:nvPr/>
        </p:nvSpPr>
        <p:spPr>
          <a:xfrm>
            <a:off x="586176" y="2228499"/>
            <a:ext cx="2530425" cy="1380974"/>
          </a:xfrm>
          <a:prstGeom prst="rect">
            <a:avLst/>
          </a:prstGeom>
          <a:noFill/>
          <a:ln/>
        </p:spPr>
        <p:txBody>
          <a:bodyPr wrap="square" rtlCol="0" anchor="ctr"/>
          <a:lstStyle/>
          <a:p>
            <a:pPr algn="ctr"/>
            <a:r>
              <a:rPr lang="en-US" sz="1600" dirty="0">
                <a:solidFill>
                  <a:srgbClr val="475569"/>
                </a:solidFill>
              </a:rPr>
              <a:t>No internet dependency</a:t>
            </a:r>
          </a:p>
          <a:p>
            <a:pPr algn="ctr"/>
            <a:r>
              <a:rPr lang="en-US" sz="1600" dirty="0">
                <a:solidFill>
                  <a:srgbClr val="475569"/>
                </a:solidFill>
              </a:rPr>
              <a:t>No voice data leaving device</a:t>
            </a:r>
          </a:p>
          <a:p>
            <a:pPr algn="ctr"/>
            <a:r>
              <a:rPr lang="en-US" sz="1600" dirty="0">
                <a:solidFill>
                  <a:srgbClr val="475569"/>
                </a:solidFill>
              </a:rPr>
              <a:t>Privacy Preserved</a:t>
            </a:r>
            <a:endParaRPr lang="en-US" sz="1600" dirty="0"/>
          </a:p>
        </p:txBody>
      </p:sp>
      <p:sp>
        <p:nvSpPr>
          <p:cNvPr id="33" name="Text 6">
            <a:extLst>
              <a:ext uri="{FF2B5EF4-FFF2-40B4-BE49-F238E27FC236}">
                <a16:creationId xmlns:a16="http://schemas.microsoft.com/office/drawing/2014/main" id="{0076BDC2-02BF-84A2-6AA2-0F6D69FBA067}"/>
              </a:ext>
            </a:extLst>
          </p:cNvPr>
          <p:cNvSpPr/>
          <p:nvPr/>
        </p:nvSpPr>
        <p:spPr>
          <a:xfrm>
            <a:off x="678794" y="1301906"/>
            <a:ext cx="320040" cy="292608"/>
          </a:xfrm>
          <a:prstGeom prst="rect">
            <a:avLst/>
          </a:prstGeom>
          <a:solidFill>
            <a:srgbClr val="00B050"/>
          </a:solidFill>
          <a:ln/>
        </p:spPr>
        <p:txBody>
          <a:bodyPr wrap="square" rtlCol="0" anchor="ctr"/>
          <a:lstStyle/>
          <a:p>
            <a:pPr marL="0" indent="0">
              <a:buNone/>
            </a:pPr>
            <a:r>
              <a:rPr lang="en-US" sz="1500" b="1" dirty="0">
                <a:solidFill>
                  <a:srgbClr val="FFFFFF"/>
                </a:solidFill>
              </a:rPr>
              <a:t>✓  </a:t>
            </a:r>
            <a:endParaRPr lang="en-US" sz="1500" dirty="0"/>
          </a:p>
        </p:txBody>
      </p:sp>
      <p:sp>
        <p:nvSpPr>
          <p:cNvPr id="34" name="Text 6">
            <a:extLst>
              <a:ext uri="{FF2B5EF4-FFF2-40B4-BE49-F238E27FC236}">
                <a16:creationId xmlns:a16="http://schemas.microsoft.com/office/drawing/2014/main" id="{CD2C5F8F-9E98-ACFB-ADB7-A9BF249AF402}"/>
              </a:ext>
            </a:extLst>
          </p:cNvPr>
          <p:cNvSpPr/>
          <p:nvPr/>
        </p:nvSpPr>
        <p:spPr>
          <a:xfrm>
            <a:off x="3396512" y="1299821"/>
            <a:ext cx="320040" cy="292608"/>
          </a:xfrm>
          <a:prstGeom prst="rect">
            <a:avLst/>
          </a:prstGeom>
          <a:solidFill>
            <a:srgbClr val="00B050"/>
          </a:solidFill>
          <a:ln/>
        </p:spPr>
        <p:txBody>
          <a:bodyPr wrap="square" rtlCol="0" anchor="ctr"/>
          <a:lstStyle/>
          <a:p>
            <a:pPr marL="0" indent="0">
              <a:buNone/>
            </a:pPr>
            <a:r>
              <a:rPr lang="en-US" sz="1500" b="1" dirty="0">
                <a:solidFill>
                  <a:srgbClr val="FFFFFF"/>
                </a:solidFill>
              </a:rPr>
              <a:t>✓  </a:t>
            </a:r>
            <a:endParaRPr lang="en-US" sz="1500" dirty="0"/>
          </a:p>
        </p:txBody>
      </p:sp>
      <p:sp>
        <p:nvSpPr>
          <p:cNvPr id="35" name="Text 6">
            <a:extLst>
              <a:ext uri="{FF2B5EF4-FFF2-40B4-BE49-F238E27FC236}">
                <a16:creationId xmlns:a16="http://schemas.microsoft.com/office/drawing/2014/main" id="{8B0C645F-0CB6-8796-3A75-88932767CE30}"/>
              </a:ext>
            </a:extLst>
          </p:cNvPr>
          <p:cNvSpPr/>
          <p:nvPr/>
        </p:nvSpPr>
        <p:spPr>
          <a:xfrm>
            <a:off x="6314178" y="1299591"/>
            <a:ext cx="320040" cy="292608"/>
          </a:xfrm>
          <a:prstGeom prst="rect">
            <a:avLst/>
          </a:prstGeom>
          <a:solidFill>
            <a:srgbClr val="00B050"/>
          </a:solidFill>
          <a:ln/>
        </p:spPr>
        <p:txBody>
          <a:bodyPr wrap="square" rtlCol="0" anchor="ctr"/>
          <a:lstStyle/>
          <a:p>
            <a:pPr marL="0" indent="0">
              <a:buNone/>
            </a:pPr>
            <a:r>
              <a:rPr lang="en-US" sz="1500" b="1" dirty="0">
                <a:solidFill>
                  <a:srgbClr val="FFFFFF"/>
                </a:solidFill>
              </a:rPr>
              <a:t>✓  </a:t>
            </a:r>
            <a:endParaRPr lang="en-US" sz="1500" dirty="0"/>
          </a:p>
        </p:txBody>
      </p:sp>
      <p:sp>
        <p:nvSpPr>
          <p:cNvPr id="36" name="Text 6">
            <a:extLst>
              <a:ext uri="{FF2B5EF4-FFF2-40B4-BE49-F238E27FC236}">
                <a16:creationId xmlns:a16="http://schemas.microsoft.com/office/drawing/2014/main" id="{1B7FD946-C665-F3A9-CB48-4AE59FEAF9B6}"/>
              </a:ext>
            </a:extLst>
          </p:cNvPr>
          <p:cNvSpPr/>
          <p:nvPr/>
        </p:nvSpPr>
        <p:spPr>
          <a:xfrm>
            <a:off x="9230274" y="1288341"/>
            <a:ext cx="320040" cy="292608"/>
          </a:xfrm>
          <a:prstGeom prst="rect">
            <a:avLst/>
          </a:prstGeom>
          <a:solidFill>
            <a:srgbClr val="00B050"/>
          </a:solidFill>
          <a:ln/>
        </p:spPr>
        <p:txBody>
          <a:bodyPr wrap="square" rtlCol="0" anchor="ctr"/>
          <a:lstStyle/>
          <a:p>
            <a:pPr marL="0" indent="0">
              <a:buNone/>
            </a:pPr>
            <a:r>
              <a:rPr lang="en-US" sz="1500" b="1" dirty="0">
                <a:solidFill>
                  <a:srgbClr val="FFFFFF"/>
                </a:solidFill>
              </a:rPr>
              <a:t>✓  </a:t>
            </a:r>
            <a:endParaRPr lang="en-US" sz="1500" dirty="0"/>
          </a:p>
        </p:txBody>
      </p:sp>
      <p:sp>
        <p:nvSpPr>
          <p:cNvPr id="38" name="Shape 3">
            <a:extLst>
              <a:ext uri="{FF2B5EF4-FFF2-40B4-BE49-F238E27FC236}">
                <a16:creationId xmlns:a16="http://schemas.microsoft.com/office/drawing/2014/main" id="{FAC15E71-6AB1-BD42-C00C-850415D8F9A4}"/>
              </a:ext>
            </a:extLst>
          </p:cNvPr>
          <p:cNvSpPr/>
          <p:nvPr/>
        </p:nvSpPr>
        <p:spPr>
          <a:xfrm>
            <a:off x="609600" y="3968082"/>
            <a:ext cx="10972800" cy="1804473"/>
          </a:xfrm>
          <a:prstGeom prst="rect">
            <a:avLst/>
          </a:prstGeom>
          <a:solidFill>
            <a:srgbClr val="06983E"/>
          </a:solidFill>
          <a:ln w="12700">
            <a:solidFill>
              <a:srgbClr val="FFFFFF"/>
            </a:solidFill>
            <a:prstDash val="solid"/>
          </a:ln>
        </p:spPr>
        <p:txBody>
          <a:bodyPr/>
          <a:lstStyle/>
          <a:p>
            <a:endParaRPr lang="en-US" sz="2400"/>
          </a:p>
        </p:txBody>
      </p:sp>
      <p:sp>
        <p:nvSpPr>
          <p:cNvPr id="39" name="Shape 3">
            <a:extLst>
              <a:ext uri="{FF2B5EF4-FFF2-40B4-BE49-F238E27FC236}">
                <a16:creationId xmlns:a16="http://schemas.microsoft.com/office/drawing/2014/main" id="{6465AC40-DE87-686A-9139-ACB5C77CF0C7}"/>
              </a:ext>
            </a:extLst>
          </p:cNvPr>
          <p:cNvSpPr/>
          <p:nvPr/>
        </p:nvSpPr>
        <p:spPr>
          <a:xfrm>
            <a:off x="753979" y="4125963"/>
            <a:ext cx="10515600" cy="1245569"/>
          </a:xfrm>
          <a:prstGeom prst="rect">
            <a:avLst/>
          </a:prstGeom>
          <a:noFill/>
          <a:ln w="12700">
            <a:noFill/>
            <a:prstDash val="solid"/>
          </a:ln>
        </p:spPr>
        <p:txBody>
          <a:bodyPr/>
          <a:lstStyle/>
          <a:p>
            <a:pPr algn="ctr"/>
            <a:r>
              <a:rPr lang="en-US" sz="2400" b="1" i="1" dirty="0">
                <a:solidFill>
                  <a:schemeClr val="bg1"/>
                </a:solidFill>
              </a:rPr>
              <a:t>Fully offline voice assistant system prototype, built on commodity Android hardware, achieves sufficient technical accuracy and performance to be a viable alternative to traditional room service communication in Sri Lankan hotels </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3307C0-B9D1-5078-B09D-85D5C0220A57}"/>
            </a:ext>
          </a:extLst>
        </p:cNvPr>
        <p:cNvGrpSpPr/>
        <p:nvPr/>
      </p:nvGrpSpPr>
      <p:grpSpPr>
        <a:xfrm>
          <a:off x="0" y="0"/>
          <a:ext cx="0" cy="0"/>
          <a:chOff x="0" y="0"/>
          <a:chExt cx="0" cy="0"/>
        </a:xfrm>
      </p:grpSpPr>
      <p:pic>
        <p:nvPicPr>
          <p:cNvPr id="21" name="Picture 20">
            <a:extLst>
              <a:ext uri="{FF2B5EF4-FFF2-40B4-BE49-F238E27FC236}">
                <a16:creationId xmlns:a16="http://schemas.microsoft.com/office/drawing/2014/main" id="{C712D453-885D-C6E0-A749-9DD3EB5C5991}"/>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CD86467F-08C4-042B-93AB-6EA774231DD2}"/>
              </a:ext>
            </a:extLst>
          </p:cNvPr>
          <p:cNvSpPr>
            <a:spLocks noGrp="1"/>
          </p:cNvSpPr>
          <p:nvPr>
            <p:ph type="title"/>
          </p:nvPr>
        </p:nvSpPr>
        <p:spPr>
          <a:xfrm>
            <a:off x="553994" y="216293"/>
            <a:ext cx="10515600" cy="812165"/>
          </a:xfrm>
        </p:spPr>
        <p:txBody>
          <a:bodyPr/>
          <a:lstStyle/>
          <a:p>
            <a:r>
              <a:rPr lang="en-US" dirty="0"/>
              <a:t>Conclusion</a:t>
            </a:r>
          </a:p>
        </p:txBody>
      </p:sp>
      <p:sp>
        <p:nvSpPr>
          <p:cNvPr id="4" name="Slide Number Placeholder 3">
            <a:extLst>
              <a:ext uri="{FF2B5EF4-FFF2-40B4-BE49-F238E27FC236}">
                <a16:creationId xmlns:a16="http://schemas.microsoft.com/office/drawing/2014/main" id="{CE0A529F-6FB0-FBF7-9C1D-64EAD902B7E8}"/>
              </a:ext>
            </a:extLst>
          </p:cNvPr>
          <p:cNvSpPr>
            <a:spLocks noGrp="1"/>
          </p:cNvSpPr>
          <p:nvPr>
            <p:ph type="sldNum" sz="quarter" idx="12"/>
          </p:nvPr>
        </p:nvSpPr>
        <p:spPr/>
        <p:txBody>
          <a:bodyPr/>
          <a:lstStyle/>
          <a:p>
            <a:fld id="{9890CE2D-2882-48A4-88CB-3A003AF6C150}" type="slidenum">
              <a:rPr lang="en-US" smtClean="0"/>
              <a:t>19</a:t>
            </a:fld>
            <a:endParaRPr lang="en-US"/>
          </a:p>
        </p:txBody>
      </p:sp>
      <p:sp>
        <p:nvSpPr>
          <p:cNvPr id="6" name="Content Placeholder 5">
            <a:extLst>
              <a:ext uri="{FF2B5EF4-FFF2-40B4-BE49-F238E27FC236}">
                <a16:creationId xmlns:a16="http://schemas.microsoft.com/office/drawing/2014/main" id="{04B34EE2-B9C8-7BAD-18E8-8248A4DB909F}"/>
              </a:ext>
            </a:extLst>
          </p:cNvPr>
          <p:cNvSpPr>
            <a:spLocks noGrp="1"/>
          </p:cNvSpPr>
          <p:nvPr>
            <p:ph idx="1"/>
          </p:nvPr>
        </p:nvSpPr>
        <p:spPr>
          <a:xfrm>
            <a:off x="696605" y="1157199"/>
            <a:ext cx="10515600" cy="4739006"/>
          </a:xfrm>
        </p:spPr>
        <p:txBody>
          <a:bodyPr>
            <a:normAutofit/>
          </a:bodyPr>
          <a:lstStyle/>
          <a:p>
            <a:pPr marL="0" indent="0">
              <a:buNone/>
            </a:pPr>
            <a:r>
              <a:rPr lang="en-US" dirty="0">
                <a:ln w="0"/>
                <a:solidFill>
                  <a:schemeClr val="accent1"/>
                </a:solidFill>
                <a:effectLst>
                  <a:outerShdw blurRad="38100" dist="25400" dir="5400000" algn="ctr" rotWithShape="0">
                    <a:srgbClr val="6E747A">
                      <a:alpha val="43000"/>
                    </a:srgbClr>
                  </a:outerShdw>
                </a:effectLst>
              </a:rPr>
              <a:t>Contributions to the Field</a:t>
            </a:r>
          </a:p>
          <a:p>
            <a:pPr marL="0" indent="0">
              <a:buNone/>
            </a:pPr>
            <a:endParaRPr lang="en-US" dirty="0">
              <a:ln w="0"/>
              <a:solidFill>
                <a:schemeClr val="accent1"/>
              </a:solidFill>
              <a:effectLst>
                <a:outerShdw blurRad="38100" dist="25400" dir="5400000" algn="ctr" rotWithShape="0">
                  <a:srgbClr val="6E747A">
                    <a:alpha val="43000"/>
                  </a:srgbClr>
                </a:outerShdw>
              </a:effectLst>
            </a:endParaRPr>
          </a:p>
        </p:txBody>
      </p:sp>
      <p:sp>
        <p:nvSpPr>
          <p:cNvPr id="3" name="Shape 3">
            <a:extLst>
              <a:ext uri="{FF2B5EF4-FFF2-40B4-BE49-F238E27FC236}">
                <a16:creationId xmlns:a16="http://schemas.microsoft.com/office/drawing/2014/main" id="{ED331312-474D-40C3-70A5-E135151A821B}"/>
              </a:ext>
            </a:extLst>
          </p:cNvPr>
          <p:cNvSpPr/>
          <p:nvPr/>
        </p:nvSpPr>
        <p:spPr>
          <a:xfrm>
            <a:off x="955306" y="2007829"/>
            <a:ext cx="5140691" cy="1636295"/>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5" name="Shape 4">
            <a:extLst>
              <a:ext uri="{FF2B5EF4-FFF2-40B4-BE49-F238E27FC236}">
                <a16:creationId xmlns:a16="http://schemas.microsoft.com/office/drawing/2014/main" id="{2AFED3B6-2708-DF7D-0BC2-9F208E97995D}"/>
              </a:ext>
            </a:extLst>
          </p:cNvPr>
          <p:cNvSpPr/>
          <p:nvPr/>
        </p:nvSpPr>
        <p:spPr>
          <a:xfrm>
            <a:off x="955306" y="2007830"/>
            <a:ext cx="5140691" cy="621792"/>
          </a:xfrm>
          <a:prstGeom prst="rect">
            <a:avLst/>
          </a:prstGeom>
          <a:solidFill>
            <a:srgbClr val="0E7490"/>
          </a:solidFill>
          <a:ln w="12700">
            <a:solidFill>
              <a:srgbClr val="FFFFFF"/>
            </a:solidFill>
            <a:prstDash val="solid"/>
          </a:ln>
        </p:spPr>
        <p:txBody>
          <a:bodyPr/>
          <a:lstStyle/>
          <a:p>
            <a:endParaRPr lang="en-US" sz="1600"/>
          </a:p>
        </p:txBody>
      </p:sp>
      <p:sp>
        <p:nvSpPr>
          <p:cNvPr id="7" name="Text 5">
            <a:extLst>
              <a:ext uri="{FF2B5EF4-FFF2-40B4-BE49-F238E27FC236}">
                <a16:creationId xmlns:a16="http://schemas.microsoft.com/office/drawing/2014/main" id="{D8D2B802-AAAC-9601-1B01-C316C2BAD59B}"/>
              </a:ext>
            </a:extLst>
          </p:cNvPr>
          <p:cNvSpPr/>
          <p:nvPr/>
        </p:nvSpPr>
        <p:spPr>
          <a:xfrm>
            <a:off x="1046747" y="2044405"/>
            <a:ext cx="4912216" cy="490889"/>
          </a:xfrm>
          <a:prstGeom prst="rect">
            <a:avLst/>
          </a:prstGeom>
          <a:noFill/>
          <a:ln/>
        </p:spPr>
        <p:txBody>
          <a:bodyPr wrap="square" rtlCol="0" anchor="ctr"/>
          <a:lstStyle/>
          <a:p>
            <a:pPr marL="0" indent="0">
              <a:buNone/>
            </a:pPr>
            <a:r>
              <a:rPr lang="en-US" sz="1600" b="1" dirty="0">
                <a:solidFill>
                  <a:srgbClr val="FFFFFF"/>
                </a:solidFill>
              </a:rPr>
              <a:t>C1  Hospitality-Domain NLU Dataset</a:t>
            </a:r>
            <a:endParaRPr lang="en-US" sz="1600" dirty="0"/>
          </a:p>
        </p:txBody>
      </p:sp>
      <p:sp>
        <p:nvSpPr>
          <p:cNvPr id="8" name="Text 6">
            <a:extLst>
              <a:ext uri="{FF2B5EF4-FFF2-40B4-BE49-F238E27FC236}">
                <a16:creationId xmlns:a16="http://schemas.microsoft.com/office/drawing/2014/main" id="{638E851D-010E-F3DC-633D-344D7C9B345F}"/>
              </a:ext>
            </a:extLst>
          </p:cNvPr>
          <p:cNvSpPr/>
          <p:nvPr/>
        </p:nvSpPr>
        <p:spPr>
          <a:xfrm>
            <a:off x="1065035" y="2741280"/>
            <a:ext cx="4889368" cy="785422"/>
          </a:xfrm>
          <a:prstGeom prst="rect">
            <a:avLst/>
          </a:prstGeom>
          <a:noFill/>
          <a:ln/>
        </p:spPr>
        <p:txBody>
          <a:bodyPr wrap="square" rtlCol="0" anchor="ctr"/>
          <a:lstStyle/>
          <a:p>
            <a:pPr marL="0" indent="0">
              <a:buNone/>
            </a:pPr>
            <a:r>
              <a:rPr lang="en-US" sz="1600" dirty="0">
                <a:solidFill>
                  <a:srgbClr val="475569"/>
                </a:solidFill>
                <a:latin typeface="Calibri" pitchFamily="34" charset="0"/>
                <a:ea typeface="Calibri" pitchFamily="34" charset="-122"/>
                <a:cs typeface="Calibri" pitchFamily="34" charset="-120"/>
              </a:rPr>
              <a:t>10,080 labelled phrases, 18 intents, paired Vosk-noisy versions. Reusable for hotel automation and multilingual AI research.</a:t>
            </a:r>
            <a:endParaRPr lang="en-US" sz="1600" dirty="0"/>
          </a:p>
        </p:txBody>
      </p:sp>
      <p:sp>
        <p:nvSpPr>
          <p:cNvPr id="9" name="Shape 7">
            <a:extLst>
              <a:ext uri="{FF2B5EF4-FFF2-40B4-BE49-F238E27FC236}">
                <a16:creationId xmlns:a16="http://schemas.microsoft.com/office/drawing/2014/main" id="{BCBF4F91-4533-23A2-FBA6-E4D69CB3CC78}"/>
              </a:ext>
            </a:extLst>
          </p:cNvPr>
          <p:cNvSpPr/>
          <p:nvPr/>
        </p:nvSpPr>
        <p:spPr>
          <a:xfrm>
            <a:off x="6213108" y="2007829"/>
            <a:ext cx="5140691" cy="1636295"/>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10" name="Shape 8">
            <a:extLst>
              <a:ext uri="{FF2B5EF4-FFF2-40B4-BE49-F238E27FC236}">
                <a16:creationId xmlns:a16="http://schemas.microsoft.com/office/drawing/2014/main" id="{52A16661-9448-229A-4380-C7C4681E8EBC}"/>
              </a:ext>
            </a:extLst>
          </p:cNvPr>
          <p:cNvSpPr/>
          <p:nvPr/>
        </p:nvSpPr>
        <p:spPr>
          <a:xfrm>
            <a:off x="6213108" y="2007830"/>
            <a:ext cx="5140691" cy="621792"/>
          </a:xfrm>
          <a:prstGeom prst="rect">
            <a:avLst/>
          </a:prstGeom>
          <a:solidFill>
            <a:srgbClr val="D97706"/>
          </a:solidFill>
          <a:ln w="12700">
            <a:solidFill>
              <a:srgbClr val="FFFFFF"/>
            </a:solidFill>
            <a:prstDash val="solid"/>
          </a:ln>
        </p:spPr>
        <p:txBody>
          <a:bodyPr/>
          <a:lstStyle/>
          <a:p>
            <a:endParaRPr lang="en-US" sz="1600"/>
          </a:p>
        </p:txBody>
      </p:sp>
      <p:sp>
        <p:nvSpPr>
          <p:cNvPr id="11" name="Text 9">
            <a:extLst>
              <a:ext uri="{FF2B5EF4-FFF2-40B4-BE49-F238E27FC236}">
                <a16:creationId xmlns:a16="http://schemas.microsoft.com/office/drawing/2014/main" id="{2AB9A38C-C934-1BA7-1009-E930FF5783CA}"/>
              </a:ext>
            </a:extLst>
          </p:cNvPr>
          <p:cNvSpPr/>
          <p:nvPr/>
        </p:nvSpPr>
        <p:spPr>
          <a:xfrm>
            <a:off x="6261877" y="2044405"/>
            <a:ext cx="4912216" cy="490889"/>
          </a:xfrm>
          <a:prstGeom prst="rect">
            <a:avLst/>
          </a:prstGeom>
          <a:noFill/>
          <a:ln/>
        </p:spPr>
        <p:txBody>
          <a:bodyPr wrap="square" rtlCol="0" anchor="ctr"/>
          <a:lstStyle/>
          <a:p>
            <a:pPr marL="0" indent="0">
              <a:buNone/>
            </a:pPr>
            <a:r>
              <a:rPr lang="en-US" sz="1600" b="1" dirty="0">
                <a:solidFill>
                  <a:srgbClr val="FFFFFF"/>
                </a:solidFill>
              </a:rPr>
              <a:t>C2  Noise-Aware NLU Training</a:t>
            </a:r>
            <a:endParaRPr lang="en-US" sz="1600" dirty="0"/>
          </a:p>
        </p:txBody>
      </p:sp>
      <p:sp>
        <p:nvSpPr>
          <p:cNvPr id="12" name="Text 10">
            <a:extLst>
              <a:ext uri="{FF2B5EF4-FFF2-40B4-BE49-F238E27FC236}">
                <a16:creationId xmlns:a16="http://schemas.microsoft.com/office/drawing/2014/main" id="{ADD59E4F-A369-2E83-F498-A65E0FF4771E}"/>
              </a:ext>
            </a:extLst>
          </p:cNvPr>
          <p:cNvSpPr/>
          <p:nvPr/>
        </p:nvSpPr>
        <p:spPr>
          <a:xfrm>
            <a:off x="6275897" y="2705182"/>
            <a:ext cx="4889368" cy="785422"/>
          </a:xfrm>
          <a:prstGeom prst="rect">
            <a:avLst/>
          </a:prstGeom>
          <a:noFill/>
          <a:ln/>
        </p:spPr>
        <p:txBody>
          <a:bodyPr wrap="square" rtlCol="0" anchor="ctr"/>
          <a:lstStyle/>
          <a:p>
            <a:pPr marL="0" indent="0">
              <a:buNone/>
            </a:pPr>
            <a:r>
              <a:rPr lang="en-US" sz="1600" dirty="0">
                <a:solidFill>
                  <a:srgbClr val="475569"/>
                </a:solidFill>
                <a:latin typeface="Calibri" pitchFamily="34" charset="0"/>
                <a:ea typeface="Calibri" pitchFamily="34" charset="-122"/>
                <a:cs typeface="Calibri" pitchFamily="34" charset="-120"/>
              </a:rPr>
              <a:t>First measurement of STT noise degrading NLU in hospitality. Mixed training achieves 99.06% - replicable beyond this domain.</a:t>
            </a:r>
            <a:endParaRPr lang="en-US" sz="1600" dirty="0"/>
          </a:p>
        </p:txBody>
      </p:sp>
      <p:sp>
        <p:nvSpPr>
          <p:cNvPr id="13" name="Shape 11">
            <a:extLst>
              <a:ext uri="{FF2B5EF4-FFF2-40B4-BE49-F238E27FC236}">
                <a16:creationId xmlns:a16="http://schemas.microsoft.com/office/drawing/2014/main" id="{D32365FD-5ECB-77FE-B0AC-242E2A020B52}"/>
              </a:ext>
            </a:extLst>
          </p:cNvPr>
          <p:cNvSpPr/>
          <p:nvPr/>
        </p:nvSpPr>
        <p:spPr>
          <a:xfrm>
            <a:off x="955307" y="3918685"/>
            <a:ext cx="5140694" cy="1636295"/>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14" name="Shape 12">
            <a:extLst>
              <a:ext uri="{FF2B5EF4-FFF2-40B4-BE49-F238E27FC236}">
                <a16:creationId xmlns:a16="http://schemas.microsoft.com/office/drawing/2014/main" id="{606B84E5-1C4B-9643-CD21-E01A4BFD9095}"/>
              </a:ext>
            </a:extLst>
          </p:cNvPr>
          <p:cNvSpPr/>
          <p:nvPr/>
        </p:nvSpPr>
        <p:spPr>
          <a:xfrm>
            <a:off x="955307" y="3918686"/>
            <a:ext cx="5140694" cy="621792"/>
          </a:xfrm>
          <a:prstGeom prst="rect">
            <a:avLst/>
          </a:prstGeom>
          <a:solidFill>
            <a:srgbClr val="0D2340"/>
          </a:solidFill>
          <a:ln w="12700">
            <a:solidFill>
              <a:srgbClr val="FFFFFF"/>
            </a:solidFill>
            <a:prstDash val="solid"/>
          </a:ln>
        </p:spPr>
        <p:txBody>
          <a:bodyPr/>
          <a:lstStyle/>
          <a:p>
            <a:endParaRPr lang="en-US" sz="1600"/>
          </a:p>
        </p:txBody>
      </p:sp>
      <p:sp>
        <p:nvSpPr>
          <p:cNvPr id="15" name="Text 13">
            <a:extLst>
              <a:ext uri="{FF2B5EF4-FFF2-40B4-BE49-F238E27FC236}">
                <a16:creationId xmlns:a16="http://schemas.microsoft.com/office/drawing/2014/main" id="{8CCAF96D-082C-AADD-3EFE-1F8F12924650}"/>
              </a:ext>
            </a:extLst>
          </p:cNvPr>
          <p:cNvSpPr/>
          <p:nvPr/>
        </p:nvSpPr>
        <p:spPr>
          <a:xfrm>
            <a:off x="1046747" y="3955261"/>
            <a:ext cx="4912219" cy="490889"/>
          </a:xfrm>
          <a:prstGeom prst="rect">
            <a:avLst/>
          </a:prstGeom>
          <a:noFill/>
          <a:ln/>
        </p:spPr>
        <p:txBody>
          <a:bodyPr wrap="square" rtlCol="0" anchor="ctr"/>
          <a:lstStyle/>
          <a:p>
            <a:pPr marL="0" indent="0">
              <a:buNone/>
            </a:pPr>
            <a:r>
              <a:rPr lang="en-US" sz="1600" b="1" dirty="0">
                <a:solidFill>
                  <a:srgbClr val="FFFFFF"/>
                </a:solidFill>
              </a:rPr>
              <a:t>C3  Fully Offline Prototype</a:t>
            </a:r>
            <a:endParaRPr lang="en-US" sz="1600" dirty="0"/>
          </a:p>
        </p:txBody>
      </p:sp>
      <p:sp>
        <p:nvSpPr>
          <p:cNvPr id="16" name="Text 14">
            <a:extLst>
              <a:ext uri="{FF2B5EF4-FFF2-40B4-BE49-F238E27FC236}">
                <a16:creationId xmlns:a16="http://schemas.microsoft.com/office/drawing/2014/main" id="{96F816BC-7235-21D6-B4FC-B2667769060C}"/>
              </a:ext>
            </a:extLst>
          </p:cNvPr>
          <p:cNvSpPr/>
          <p:nvPr/>
        </p:nvSpPr>
        <p:spPr>
          <a:xfrm>
            <a:off x="1065034" y="4616038"/>
            <a:ext cx="4889371" cy="785422"/>
          </a:xfrm>
          <a:prstGeom prst="rect">
            <a:avLst/>
          </a:prstGeom>
          <a:noFill/>
          <a:ln/>
        </p:spPr>
        <p:txBody>
          <a:bodyPr wrap="square" rtlCol="0" anchor="ctr"/>
          <a:lstStyle/>
          <a:p>
            <a:pPr marL="0" indent="0">
              <a:buNone/>
            </a:pPr>
            <a:r>
              <a:rPr lang="en-US" sz="1600" dirty="0">
                <a:solidFill>
                  <a:srgbClr val="475569"/>
                </a:solidFill>
                <a:latin typeface="Calibri" pitchFamily="34" charset="0"/>
                <a:ea typeface="Calibri" pitchFamily="34" charset="-122"/>
                <a:cs typeface="Calibri" pitchFamily="34" charset="-120"/>
              </a:rPr>
              <a:t>Working end-to-end system on commodity Android. No cloud, no vendor lock-in. Addresses a gap no prior solution covers.</a:t>
            </a:r>
            <a:endParaRPr lang="en-US" sz="1600" dirty="0"/>
          </a:p>
        </p:txBody>
      </p:sp>
      <p:sp>
        <p:nvSpPr>
          <p:cNvPr id="17" name="Shape 15">
            <a:extLst>
              <a:ext uri="{FF2B5EF4-FFF2-40B4-BE49-F238E27FC236}">
                <a16:creationId xmlns:a16="http://schemas.microsoft.com/office/drawing/2014/main" id="{13ABB375-D0BB-93D4-EF59-E020ADC593C2}"/>
              </a:ext>
            </a:extLst>
          </p:cNvPr>
          <p:cNvSpPr/>
          <p:nvPr/>
        </p:nvSpPr>
        <p:spPr>
          <a:xfrm>
            <a:off x="6213108" y="3934326"/>
            <a:ext cx="5140691" cy="1636295"/>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18" name="Shape 16">
            <a:extLst>
              <a:ext uri="{FF2B5EF4-FFF2-40B4-BE49-F238E27FC236}">
                <a16:creationId xmlns:a16="http://schemas.microsoft.com/office/drawing/2014/main" id="{71C78C62-7075-45BE-BA43-58F239A525AB}"/>
              </a:ext>
            </a:extLst>
          </p:cNvPr>
          <p:cNvSpPr/>
          <p:nvPr/>
        </p:nvSpPr>
        <p:spPr>
          <a:xfrm>
            <a:off x="6213108" y="3934327"/>
            <a:ext cx="5140691" cy="621792"/>
          </a:xfrm>
          <a:prstGeom prst="rect">
            <a:avLst/>
          </a:prstGeom>
          <a:solidFill>
            <a:srgbClr val="16A34A"/>
          </a:solidFill>
          <a:ln w="12700">
            <a:solidFill>
              <a:srgbClr val="FFFFFF"/>
            </a:solidFill>
            <a:prstDash val="solid"/>
          </a:ln>
        </p:spPr>
        <p:txBody>
          <a:bodyPr/>
          <a:lstStyle/>
          <a:p>
            <a:endParaRPr lang="en-US" sz="1600"/>
          </a:p>
        </p:txBody>
      </p:sp>
      <p:sp>
        <p:nvSpPr>
          <p:cNvPr id="19" name="Text 17">
            <a:extLst>
              <a:ext uri="{FF2B5EF4-FFF2-40B4-BE49-F238E27FC236}">
                <a16:creationId xmlns:a16="http://schemas.microsoft.com/office/drawing/2014/main" id="{FA71AC4A-6C56-40A2-6AA5-DE2509A47A58}"/>
              </a:ext>
            </a:extLst>
          </p:cNvPr>
          <p:cNvSpPr/>
          <p:nvPr/>
        </p:nvSpPr>
        <p:spPr>
          <a:xfrm>
            <a:off x="6304549" y="3970902"/>
            <a:ext cx="4912216" cy="490889"/>
          </a:xfrm>
          <a:prstGeom prst="rect">
            <a:avLst/>
          </a:prstGeom>
          <a:noFill/>
          <a:ln/>
        </p:spPr>
        <p:txBody>
          <a:bodyPr wrap="square" rtlCol="0" anchor="ctr"/>
          <a:lstStyle/>
          <a:p>
            <a:pPr marL="0" indent="0">
              <a:buNone/>
            </a:pPr>
            <a:r>
              <a:rPr lang="en-US" sz="1600" b="1" dirty="0">
                <a:solidFill>
                  <a:srgbClr val="FFFFFF"/>
                </a:solidFill>
              </a:rPr>
              <a:t>C4  Hybrid NLU Pipeline</a:t>
            </a:r>
            <a:endParaRPr lang="en-US" sz="1600" dirty="0"/>
          </a:p>
        </p:txBody>
      </p:sp>
      <p:sp>
        <p:nvSpPr>
          <p:cNvPr id="20" name="Text 18">
            <a:extLst>
              <a:ext uri="{FF2B5EF4-FFF2-40B4-BE49-F238E27FC236}">
                <a16:creationId xmlns:a16="http://schemas.microsoft.com/office/drawing/2014/main" id="{162DBDBD-A730-E05A-E892-B8DFEDD25387}"/>
              </a:ext>
            </a:extLst>
          </p:cNvPr>
          <p:cNvSpPr/>
          <p:nvPr/>
        </p:nvSpPr>
        <p:spPr>
          <a:xfrm>
            <a:off x="6322837" y="4595586"/>
            <a:ext cx="4889368" cy="785422"/>
          </a:xfrm>
          <a:prstGeom prst="rect">
            <a:avLst/>
          </a:prstGeom>
          <a:noFill/>
          <a:ln/>
        </p:spPr>
        <p:txBody>
          <a:bodyPr wrap="square" rtlCol="0" anchor="ctr"/>
          <a:lstStyle/>
          <a:p>
            <a:pPr marL="0" indent="0">
              <a:buNone/>
            </a:pPr>
            <a:r>
              <a:rPr lang="en-US" sz="1600" dirty="0">
                <a:solidFill>
                  <a:srgbClr val="475569"/>
                </a:solidFill>
                <a:latin typeface="Calibri" pitchFamily="34" charset="0"/>
                <a:ea typeface="Calibri" pitchFamily="34" charset="-122"/>
                <a:cs typeface="Calibri" pitchFamily="34" charset="-120"/>
              </a:rPr>
              <a:t>Rule-based (0.99 conf., &lt;5 ms) + MobileBERT (62 ms). Designed for offline Android where server-side inference is unavailable.</a:t>
            </a:r>
            <a:endParaRPr lang="en-US" sz="1600" dirty="0"/>
          </a:p>
        </p:txBody>
      </p:sp>
    </p:spTree>
    <p:extLst>
      <p:ext uri="{BB962C8B-B14F-4D97-AF65-F5344CB8AC3E}">
        <p14:creationId xmlns:p14="http://schemas.microsoft.com/office/powerpoint/2010/main" val="34279002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64B410-C390-5D1B-32FA-3CCCE0818E89}"/>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4EA2AB2D-4337-2FFA-1F43-3C42EA648467}"/>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6CF1ED25-F37D-FEC5-962D-29101B5449AB}"/>
              </a:ext>
            </a:extLst>
          </p:cNvPr>
          <p:cNvSpPr>
            <a:spLocks noGrp="1"/>
          </p:cNvSpPr>
          <p:nvPr>
            <p:ph type="title"/>
          </p:nvPr>
        </p:nvSpPr>
        <p:spPr>
          <a:xfrm>
            <a:off x="492211" y="136525"/>
            <a:ext cx="10515600" cy="812165"/>
          </a:xfrm>
        </p:spPr>
        <p:txBody>
          <a:bodyPr/>
          <a:lstStyle/>
          <a:p>
            <a:r>
              <a:rPr lang="en-US" dirty="0"/>
              <a:t>Conclusion</a:t>
            </a:r>
          </a:p>
        </p:txBody>
      </p:sp>
      <p:sp>
        <p:nvSpPr>
          <p:cNvPr id="4" name="Slide Number Placeholder 3">
            <a:extLst>
              <a:ext uri="{FF2B5EF4-FFF2-40B4-BE49-F238E27FC236}">
                <a16:creationId xmlns:a16="http://schemas.microsoft.com/office/drawing/2014/main" id="{21E0F794-E6F0-17E2-D6F7-1350FCF6FF73}"/>
              </a:ext>
            </a:extLst>
          </p:cNvPr>
          <p:cNvSpPr>
            <a:spLocks noGrp="1"/>
          </p:cNvSpPr>
          <p:nvPr>
            <p:ph type="sldNum" sz="quarter" idx="12"/>
          </p:nvPr>
        </p:nvSpPr>
        <p:spPr/>
        <p:txBody>
          <a:bodyPr/>
          <a:lstStyle/>
          <a:p>
            <a:fld id="{9890CE2D-2882-48A4-88CB-3A003AF6C150}" type="slidenum">
              <a:rPr lang="en-US" smtClean="0"/>
              <a:t>20</a:t>
            </a:fld>
            <a:endParaRPr lang="en-US"/>
          </a:p>
        </p:txBody>
      </p:sp>
      <p:sp>
        <p:nvSpPr>
          <p:cNvPr id="6" name="Content Placeholder 5">
            <a:extLst>
              <a:ext uri="{FF2B5EF4-FFF2-40B4-BE49-F238E27FC236}">
                <a16:creationId xmlns:a16="http://schemas.microsoft.com/office/drawing/2014/main" id="{DBA40E3E-ACAA-B63C-8839-50312DFFAB23}"/>
              </a:ext>
            </a:extLst>
          </p:cNvPr>
          <p:cNvSpPr>
            <a:spLocks noGrp="1"/>
          </p:cNvSpPr>
          <p:nvPr>
            <p:ph idx="1"/>
          </p:nvPr>
        </p:nvSpPr>
        <p:spPr>
          <a:xfrm>
            <a:off x="656751" y="1283017"/>
            <a:ext cx="10515600" cy="4739006"/>
          </a:xfrm>
        </p:spPr>
        <p:txBody>
          <a:bodyPr>
            <a:normAutofit/>
          </a:bodyPr>
          <a:lstStyle/>
          <a:p>
            <a:pPr marL="0" indent="0">
              <a:buNone/>
            </a:pPr>
            <a:r>
              <a:rPr lang="en-US" dirty="0">
                <a:ln w="0"/>
                <a:solidFill>
                  <a:schemeClr val="accent1"/>
                </a:solidFill>
                <a:effectLst>
                  <a:outerShdw blurRad="38100" dist="25400" dir="5400000" algn="ctr" rotWithShape="0">
                    <a:srgbClr val="6E747A">
                      <a:alpha val="43000"/>
                    </a:srgbClr>
                  </a:outerShdw>
                </a:effectLst>
              </a:rPr>
              <a:t>Practical Implications</a:t>
            </a:r>
          </a:p>
          <a:p>
            <a:pPr algn="just">
              <a:buFont typeface="Wingdings" panose="05000000000000000000" pitchFamily="2" charset="2"/>
              <a:buChar char="§"/>
            </a:pPr>
            <a:r>
              <a:rPr lang="en-US" sz="2000" dirty="0"/>
              <a:t>The system provides a to traditional hotel communication methods </a:t>
            </a:r>
          </a:p>
          <a:p>
            <a:pPr algn="just">
              <a:buFont typeface="Wingdings" panose="05000000000000000000" pitchFamily="2" charset="2"/>
              <a:buChar char="§"/>
            </a:pPr>
            <a:r>
              <a:rPr lang="en-US" sz="2000" dirty="0"/>
              <a:t>Hotels can deploy the solution using low-cost Android tablets and local network infrastructure without paying recurring cloud or subscription fees.</a:t>
            </a:r>
          </a:p>
          <a:p>
            <a:pPr>
              <a:buFont typeface="Wingdings" panose="05000000000000000000" pitchFamily="2" charset="2"/>
              <a:buChar char="§"/>
            </a:pPr>
            <a:r>
              <a:rPr lang="en-US" sz="2000" dirty="0"/>
              <a:t>Compared to commercial cloud-based platforms, the solution offers:</a:t>
            </a:r>
          </a:p>
          <a:p>
            <a:pPr lvl="1"/>
            <a:r>
              <a:rPr lang="en-US" sz="2000" dirty="0"/>
              <a:t>Zero recurring software costs </a:t>
            </a:r>
          </a:p>
          <a:p>
            <a:pPr lvl="1"/>
            <a:r>
              <a:rPr lang="en-US" sz="2000" dirty="0"/>
              <a:t>No internet dependency </a:t>
            </a:r>
          </a:p>
          <a:p>
            <a:pPr lvl="1"/>
            <a:r>
              <a:rPr lang="en-US" sz="2000" dirty="0"/>
              <a:t>No vendor lock-in </a:t>
            </a:r>
          </a:p>
          <a:p>
            <a:pPr lvl="1"/>
            <a:r>
              <a:rPr lang="en-US" sz="2000" dirty="0"/>
              <a:t>Improved guest privacy because voice data never leaves the device</a:t>
            </a:r>
          </a:p>
        </p:txBody>
      </p:sp>
    </p:spTree>
    <p:extLst>
      <p:ext uri="{BB962C8B-B14F-4D97-AF65-F5344CB8AC3E}">
        <p14:creationId xmlns:p14="http://schemas.microsoft.com/office/powerpoint/2010/main" val="357133311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1273B7-E13E-8340-872A-C0AF470994F3}"/>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EBAB7C25-914E-F7EA-D4EC-7F6E8E7902AC}"/>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A94731E7-6B21-7D36-482E-B4A19DA8EC40}"/>
              </a:ext>
            </a:extLst>
          </p:cNvPr>
          <p:cNvSpPr>
            <a:spLocks noGrp="1"/>
          </p:cNvSpPr>
          <p:nvPr>
            <p:ph type="title"/>
          </p:nvPr>
        </p:nvSpPr>
        <p:spPr>
          <a:xfrm>
            <a:off x="479854" y="176531"/>
            <a:ext cx="10515600" cy="812165"/>
          </a:xfrm>
        </p:spPr>
        <p:txBody>
          <a:bodyPr/>
          <a:lstStyle/>
          <a:p>
            <a:r>
              <a:rPr lang="en-US" dirty="0"/>
              <a:t>Conclusion</a:t>
            </a:r>
          </a:p>
        </p:txBody>
      </p:sp>
      <p:sp>
        <p:nvSpPr>
          <p:cNvPr id="4" name="Slide Number Placeholder 3">
            <a:extLst>
              <a:ext uri="{FF2B5EF4-FFF2-40B4-BE49-F238E27FC236}">
                <a16:creationId xmlns:a16="http://schemas.microsoft.com/office/drawing/2014/main" id="{6D512C39-EBF2-06E9-9C1B-ADB9D8C1A364}"/>
              </a:ext>
            </a:extLst>
          </p:cNvPr>
          <p:cNvSpPr>
            <a:spLocks noGrp="1"/>
          </p:cNvSpPr>
          <p:nvPr>
            <p:ph type="sldNum" sz="quarter" idx="12"/>
          </p:nvPr>
        </p:nvSpPr>
        <p:spPr/>
        <p:txBody>
          <a:bodyPr/>
          <a:lstStyle/>
          <a:p>
            <a:fld id="{9890CE2D-2882-48A4-88CB-3A003AF6C150}" type="slidenum">
              <a:rPr lang="en-US" smtClean="0"/>
              <a:t>21</a:t>
            </a:fld>
            <a:endParaRPr lang="en-US"/>
          </a:p>
        </p:txBody>
      </p:sp>
      <p:sp>
        <p:nvSpPr>
          <p:cNvPr id="6" name="Content Placeholder 5">
            <a:extLst>
              <a:ext uri="{FF2B5EF4-FFF2-40B4-BE49-F238E27FC236}">
                <a16:creationId xmlns:a16="http://schemas.microsoft.com/office/drawing/2014/main" id="{C2E4BB28-F3F5-ECA7-3E6E-D60163582FFA}"/>
              </a:ext>
            </a:extLst>
          </p:cNvPr>
          <p:cNvSpPr>
            <a:spLocks noGrp="1"/>
          </p:cNvSpPr>
          <p:nvPr>
            <p:ph idx="1"/>
          </p:nvPr>
        </p:nvSpPr>
        <p:spPr>
          <a:xfrm>
            <a:off x="838200" y="1303020"/>
            <a:ext cx="10515600" cy="4739006"/>
          </a:xfrm>
        </p:spPr>
        <p:txBody>
          <a:bodyPr>
            <a:normAutofit/>
          </a:bodyPr>
          <a:lstStyle/>
          <a:p>
            <a:pPr marL="0" indent="0">
              <a:buNone/>
            </a:pPr>
            <a:r>
              <a:rPr lang="en-US" dirty="0">
                <a:ln w="0"/>
                <a:solidFill>
                  <a:schemeClr val="accent1"/>
                </a:solidFill>
                <a:effectLst>
                  <a:outerShdw blurRad="38100" dist="25400" dir="5400000" algn="ctr" rotWithShape="0">
                    <a:srgbClr val="6E747A">
                      <a:alpha val="43000"/>
                    </a:srgbClr>
                  </a:outerShdw>
                </a:effectLst>
              </a:rPr>
              <a:t>Practical Implications</a:t>
            </a:r>
          </a:p>
          <a:p>
            <a:pPr algn="just">
              <a:buFont typeface="Wingdings" panose="05000000000000000000" pitchFamily="2" charset="2"/>
              <a:buChar char="§"/>
            </a:pPr>
            <a:r>
              <a:rPr lang="en-US" sz="2000" dirty="0"/>
              <a:t>The estimated deployment cost for a 50-room hotel is approximately USD 3,200 -8,800 over three years, making it affordable for hotels in Sri Lanka and similar developing economies.</a:t>
            </a:r>
          </a:p>
          <a:p>
            <a:pPr>
              <a:buFont typeface="Wingdings" panose="05000000000000000000" pitchFamily="2" charset="2"/>
              <a:buChar char="§"/>
            </a:pPr>
            <a:r>
              <a:rPr lang="en-US" sz="2000" dirty="0"/>
              <a:t>The findings also provide recommendations for future deployment, including:</a:t>
            </a:r>
          </a:p>
          <a:p>
            <a:pPr lvl="1"/>
            <a:r>
              <a:rPr lang="en-US" sz="2000" dirty="0"/>
              <a:t>Collecting real guest speech data</a:t>
            </a:r>
          </a:p>
          <a:p>
            <a:pPr lvl="1"/>
            <a:r>
              <a:rPr lang="en-US" sz="2000" dirty="0"/>
              <a:t>Implementing proper </a:t>
            </a:r>
            <a:r>
              <a:rPr lang="en-US" sz="2000" dirty="0" err="1"/>
              <a:t>WordPiece</a:t>
            </a:r>
            <a:r>
              <a:rPr lang="en-US" sz="2000" dirty="0"/>
              <a:t> tokenization on Android</a:t>
            </a:r>
          </a:p>
          <a:p>
            <a:pPr lvl="1"/>
            <a:r>
              <a:rPr lang="en-US" sz="2000" dirty="0"/>
              <a:t>Adding multilingual support</a:t>
            </a:r>
          </a:p>
          <a:p>
            <a:pPr lvl="1"/>
            <a:r>
              <a:rPr lang="en-US" sz="2000" dirty="0"/>
              <a:t>Conducting real hotel field studies</a:t>
            </a:r>
          </a:p>
          <a:p>
            <a:pPr marL="457200" lvl="1" indent="0">
              <a:buNone/>
            </a:pPr>
            <a:endParaRPr lang="en-US" sz="2000" dirty="0"/>
          </a:p>
        </p:txBody>
      </p:sp>
    </p:spTree>
    <p:extLst>
      <p:ext uri="{BB962C8B-B14F-4D97-AF65-F5344CB8AC3E}">
        <p14:creationId xmlns:p14="http://schemas.microsoft.com/office/powerpoint/2010/main" val="32465770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F7CBA-B995-8887-F2FE-3F24239CBCA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CEDED7F-D045-16DD-E0CF-E836336EFB9F}"/>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2985BA93-43FA-8CE0-7143-C999E8E5F72B}"/>
              </a:ext>
            </a:extLst>
          </p:cNvPr>
          <p:cNvSpPr>
            <a:spLocks noGrp="1"/>
          </p:cNvSpPr>
          <p:nvPr>
            <p:ph type="title"/>
          </p:nvPr>
        </p:nvSpPr>
        <p:spPr>
          <a:xfrm>
            <a:off x="541638" y="136525"/>
            <a:ext cx="10515600" cy="1325563"/>
          </a:xfrm>
        </p:spPr>
        <p:txBody>
          <a:bodyPr/>
          <a:lstStyle/>
          <a:p>
            <a:r>
              <a:rPr lang="en-US" dirty="0"/>
              <a:t>Demo</a:t>
            </a:r>
          </a:p>
        </p:txBody>
      </p:sp>
      <p:sp>
        <p:nvSpPr>
          <p:cNvPr id="3" name="Content Placeholder 2">
            <a:extLst>
              <a:ext uri="{FF2B5EF4-FFF2-40B4-BE49-F238E27FC236}">
                <a16:creationId xmlns:a16="http://schemas.microsoft.com/office/drawing/2014/main" id="{E57E02D6-D19A-7D6B-9D0D-661DA471BABA}"/>
              </a:ext>
            </a:extLst>
          </p:cNvPr>
          <p:cNvSpPr>
            <a:spLocks noGrp="1"/>
          </p:cNvSpPr>
          <p:nvPr>
            <p:ph idx="1"/>
          </p:nvPr>
        </p:nvSpPr>
        <p:spPr/>
        <p:txBody>
          <a:bodyPr/>
          <a:lstStyle/>
          <a:p>
            <a:pPr marL="0" indent="0">
              <a:buNone/>
            </a:pPr>
            <a:endParaRPr lang="en-US" sz="1300" dirty="0"/>
          </a:p>
        </p:txBody>
      </p:sp>
      <p:sp>
        <p:nvSpPr>
          <p:cNvPr id="4" name="Slide Number Placeholder 3">
            <a:extLst>
              <a:ext uri="{FF2B5EF4-FFF2-40B4-BE49-F238E27FC236}">
                <a16:creationId xmlns:a16="http://schemas.microsoft.com/office/drawing/2014/main" id="{42FBEEFE-DC07-02EB-BBE7-E5B00C43BCE3}"/>
              </a:ext>
            </a:extLst>
          </p:cNvPr>
          <p:cNvSpPr>
            <a:spLocks noGrp="1"/>
          </p:cNvSpPr>
          <p:nvPr>
            <p:ph type="sldNum" sz="quarter" idx="12"/>
          </p:nvPr>
        </p:nvSpPr>
        <p:spPr/>
        <p:txBody>
          <a:bodyPr/>
          <a:lstStyle/>
          <a:p>
            <a:fld id="{9890CE2D-2882-48A4-88CB-3A003AF6C150}" type="slidenum">
              <a:rPr lang="en-US" smtClean="0"/>
              <a:t>22</a:t>
            </a:fld>
            <a:endParaRPr lang="en-US"/>
          </a:p>
        </p:txBody>
      </p:sp>
    </p:spTree>
    <p:extLst>
      <p:ext uri="{BB962C8B-B14F-4D97-AF65-F5344CB8AC3E}">
        <p14:creationId xmlns:p14="http://schemas.microsoft.com/office/powerpoint/2010/main" val="2993209256"/>
      </p:ext>
    </p:extLst>
  </p:cSld>
  <p:clrMapOvr>
    <a:masterClrMapping/>
  </p:clrMapOvr>
</p:sld>
</file>

<file path=ppt/theme/theme1.xml><?xml version="1.0" encoding="utf-8"?>
<a:theme xmlns:a="http://schemas.openxmlformats.org/drawingml/2006/main" name="Office Theme [1774707681357]">
  <a:themeElements>
    <a:clrScheme name="Academic Formal">
      <a:dk1>
        <a:srgbClr val="1B2A4A"/>
      </a:dk1>
      <a:lt1>
        <a:srgbClr val="F7F5F0"/>
      </a:lt1>
      <a:dk2>
        <a:srgbClr val="2C3E6B"/>
      </a:dk2>
      <a:lt2>
        <a:srgbClr val="EBE8E0"/>
      </a:lt2>
      <a:accent1>
        <a:srgbClr val="2C5F7C"/>
      </a:accent1>
      <a:accent2>
        <a:srgbClr val="6B8F71"/>
      </a:accent2>
      <a:accent3>
        <a:srgbClr val="C4956A"/>
      </a:accent3>
      <a:accent4>
        <a:srgbClr val="8B6F9C"/>
      </a:accent4>
      <a:accent5>
        <a:srgbClr val="4A7C8F"/>
      </a:accent5>
      <a:accent6>
        <a:srgbClr val="9B7653"/>
      </a:accent6>
      <a:hlink>
        <a:srgbClr val="467886"/>
      </a:hlink>
      <a:folHlink>
        <a:srgbClr val="96607D"/>
      </a:folHlink>
    </a:clrScheme>
    <a:fontScheme name="Academic Formal">
      <a:majorFont>
        <a:latin typeface="Georgia"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89"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F74B2DD8-8821-4663-BB90-C7B2341542B2}">
  <we:reference id="wa200010001" version="1.0.0.1" store="en-US" storeType="OMEX"/>
  <we:alternateReferences>
    <we:reference id="wa200010001" version="1.0.0.1" store="en-US"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1190</TotalTime>
  <Words>2353</Words>
  <Application>Microsoft Office PowerPoint</Application>
  <PresentationFormat>Widescreen</PresentationFormat>
  <Paragraphs>430</Paragraphs>
  <Slides>22</Slides>
  <Notes>20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22</vt:i4>
      </vt:variant>
    </vt:vector>
  </HeadingPairs>
  <TitlesOfParts>
    <vt:vector size="30" baseType="lpstr">
      <vt:lpstr>Amasis MT Pro</vt:lpstr>
      <vt:lpstr>Amasis MT Pro Medium</vt:lpstr>
      <vt:lpstr>Aptos</vt:lpstr>
      <vt:lpstr>Arial</vt:lpstr>
      <vt:lpstr>Calibri</vt:lpstr>
      <vt:lpstr>Georgia</vt:lpstr>
      <vt:lpstr>Wingdings</vt:lpstr>
      <vt:lpstr>Office Theme [1774707681357]</vt:lpstr>
      <vt:lpstr>Low-Cost Offline Voice Assistant  for Hospitality Services in Sri Lanka  Using Small-Scale Neural Models</vt:lpstr>
      <vt:lpstr>PowerPoint Presentation</vt:lpstr>
      <vt:lpstr>Research Question</vt:lpstr>
      <vt:lpstr>PowerPoint Presentation</vt:lpstr>
      <vt:lpstr>PowerPoint Presentation</vt:lpstr>
      <vt:lpstr>PowerPoint Presentation</vt:lpstr>
      <vt:lpstr>PowerPoint Presentation</vt:lpstr>
      <vt:lpstr>Design and Architecture </vt:lpstr>
      <vt:lpstr>Design and Architecture </vt:lpstr>
      <vt:lpstr>Technology Stack</vt:lpstr>
      <vt:lpstr>Implementation</vt:lpstr>
      <vt:lpstr>Analysis - Speech Recognition</vt:lpstr>
      <vt:lpstr>Analysis - Models Evaluation Results</vt:lpstr>
      <vt:lpstr>Analysis - System Testing</vt:lpstr>
      <vt:lpstr>Analysis - Cost-Effectiveness</vt:lpstr>
      <vt:lpstr>Critical Appraisal – Strengths &amp; Limitations</vt:lpstr>
      <vt:lpstr>PowerPoint Presentation</vt:lpstr>
      <vt:lpstr>PowerPoint Presentation</vt:lpstr>
      <vt:lpstr>Conclusion</vt:lpstr>
      <vt:lpstr>Conclusion</vt:lpstr>
      <vt:lpstr>Conclusion</vt:lpstr>
      <vt:lpstr>Demo</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Dinesh Wijesuriya</dc:creator>
  <cp:lastModifiedBy>Dinesh Wijesuriya</cp:lastModifiedBy>
  <cp:revision>104</cp:revision>
  <dcterms:created xsi:type="dcterms:W3CDTF">2026-03-28T14:21:21Z</dcterms:created>
  <dcterms:modified xsi:type="dcterms:W3CDTF">2026-05-16T18:24:30Z</dcterms:modified>
</cp:coreProperties>
</file>